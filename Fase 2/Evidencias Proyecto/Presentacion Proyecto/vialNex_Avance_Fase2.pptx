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" charset="1" panose="020F0502020204030204"/>
      <p:regular r:id="rId27"/>
    </p:embeddedFont>
    <p:embeddedFont>
      <p:font typeface="Calibri (MS) Bold" charset="1" panose="020F0702030404030204"/>
      <p:regular r:id="rId28"/>
    </p:embeddedFont>
    <p:embeddedFont>
      <p:font typeface="Calibri (MS) Italics" charset="1" panose="020F05020202040A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notesMaster" Target="notesMasters/notesMaster1.xml"/><Relationship Id="rId25" Type="http://schemas.openxmlformats.org/officeDocument/2006/relationships/theme" Target="theme/theme2.xml"/><Relationship Id="rId26" Type="http://schemas.openxmlformats.org/officeDocument/2006/relationships/notesSlide" Target="notesSlides/notesSlide1.xml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notesSlide" Target="notesSlides/notesSlide2.xml"/><Relationship Id="rId30" Type="http://schemas.openxmlformats.org/officeDocument/2006/relationships/notesSlide" Target="notesSlides/notesSlide3.xml"/><Relationship Id="rId31" Type="http://schemas.openxmlformats.org/officeDocument/2006/relationships/font" Target="fonts/font31.fntdata"/><Relationship Id="rId32" Type="http://schemas.openxmlformats.org/officeDocument/2006/relationships/notesSlide" Target="notesSlides/notesSlide4.xml"/><Relationship Id="rId33" Type="http://schemas.openxmlformats.org/officeDocument/2006/relationships/notesSlide" Target="notesSlides/notesSlide5.xml"/><Relationship Id="rId34" Type="http://schemas.openxmlformats.org/officeDocument/2006/relationships/notesSlide" Target="notesSlides/notesSlide6.xml"/><Relationship Id="rId35" Type="http://schemas.openxmlformats.org/officeDocument/2006/relationships/notesSlide" Target="notesSlides/notesSlide7.xml"/><Relationship Id="rId36" Type="http://schemas.openxmlformats.org/officeDocument/2006/relationships/notesSlide" Target="notesSlides/notes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Presentamos vialNex, una plataforma web y móvil para la gestión de operaciones de distribución de última milla.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12.jpeg"/><Relationship Id="rId5" Type="http://schemas.openxmlformats.org/officeDocument/2006/relationships/image" Target="../media/image13.jpeg"/><Relationship Id="rId6" Type="http://schemas.openxmlformats.org/officeDocument/2006/relationships/image" Target="../media/image14.jpeg"/><Relationship Id="rId7" Type="http://schemas.openxmlformats.org/officeDocument/2006/relationships/image" Target="../media/image15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16.jpeg"/><Relationship Id="rId5" Type="http://schemas.openxmlformats.org/officeDocument/2006/relationships/image" Target="../media/image17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" y="2057400"/>
            <a:ext cx="6309360" cy="1851660"/>
            <a:chOff x="0" y="0"/>
            <a:chExt cx="8412480" cy="2468880"/>
          </a:xfrm>
        </p:grpSpPr>
        <p:sp>
          <p:nvSpPr>
            <p:cNvPr name="Freeform 3" id="3" descr="/mnt/user-data/outputs/logo/vialnex-logo-blanco-transp-1024.png"/>
            <p:cNvSpPr/>
            <p:nvPr/>
          </p:nvSpPr>
          <p:spPr>
            <a:xfrm flipH="false" flipV="false" rot="0">
              <a:off x="0" y="0"/>
              <a:ext cx="8412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2468880"/>
                  </a:lnTo>
                  <a:lnTo>
                    <a:pt x="0" y="2468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387" r="0" b="-1438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440180" y="4251960"/>
            <a:ext cx="11795760" cy="1303020"/>
            <a:chOff x="0" y="0"/>
            <a:chExt cx="15727680" cy="1737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7276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390" r="0" b="-126390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133350"/>
              <a:ext cx="15727680" cy="1870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Plataforma web y móvil para la gestión de operaciones de distribución y transporte de carga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0655" y="5819775"/>
            <a:ext cx="1939290" cy="60198"/>
            <a:chOff x="0" y="0"/>
            <a:chExt cx="2585720" cy="802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5720" cy="80264"/>
            </a:xfrm>
            <a:custGeom>
              <a:avLst/>
              <a:gdLst/>
              <a:ahLst/>
              <a:cxnLst/>
              <a:rect r="r" b="b" t="t" l="l"/>
              <a:pathLst>
                <a:path h="80264" w="2585720">
                  <a:moveTo>
                    <a:pt x="0" y="0"/>
                  </a:moveTo>
                  <a:lnTo>
                    <a:pt x="2585720" y="0"/>
                  </a:lnTo>
                  <a:lnTo>
                    <a:pt x="2585720" y="80264"/>
                  </a:lnTo>
                  <a:lnTo>
                    <a:pt x="0" y="80264"/>
                  </a:ln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1440180" y="6309360"/>
            <a:ext cx="11658600" cy="1645920"/>
            <a:chOff x="0" y="0"/>
            <a:chExt cx="1554480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44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019" r="0" b="-88019"/>
              </a:stretch>
            </a:blipFill>
          </p:spPr>
          <p:txBody>
            <a:bodyPr/>
            <a:p/>
          </p:txBody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1554480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1950" b="true">
                  <a:solidFill>
                    <a:srgbClr val="BBCED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Proyecto APT · Fase 2: Desarrollo del proyecto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BBCE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Asignatura Capstone · Ingeniería en Informática · Duoc UC</a:t>
              </a:r>
            </a:p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BBCE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Integrantes: Cristobal Peña , Bernardo Rojas, Javier Morales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64640" y="2743200"/>
            <a:ext cx="3017520" cy="3017520"/>
            <a:chOff x="0" y="0"/>
            <a:chExt cx="4023360" cy="4023360"/>
          </a:xfrm>
        </p:grpSpPr>
        <p:sp>
          <p:nvSpPr>
            <p:cNvPr name="Freeform 13" id="13" descr="/mnt/user-data/outputs/logo/vialnex-isotipo-512.png"/>
            <p:cNvSpPr/>
            <p:nvPr/>
          </p:nvSpPr>
          <p:spPr>
            <a:xfrm flipH="false" flipV="false" rot="0">
              <a:off x="0" y="0"/>
              <a:ext cx="4023360" cy="4023360"/>
            </a:xfrm>
            <a:custGeom>
              <a:avLst/>
              <a:gdLst/>
              <a:ahLst/>
              <a:cxnLst/>
              <a:rect r="r" b="b" t="t" l="l"/>
              <a:pathLst>
                <a:path h="40233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0"/>
                  </a:lnTo>
                  <a:lnTo>
                    <a:pt x="0" y="402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0"/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Contenido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 que vamos a revisar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390775"/>
            <a:ext cx="7837170" cy="1802130"/>
            <a:chOff x="0" y="0"/>
            <a:chExt cx="10449560" cy="2402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9560" cy="2402840"/>
            </a:xfrm>
            <a:custGeom>
              <a:avLst/>
              <a:gdLst/>
              <a:ahLst/>
              <a:cxnLst/>
              <a:rect r="r" b="b" t="t" l="l"/>
              <a:pathLst>
                <a:path h="2402840" w="10449560">
                  <a:moveTo>
                    <a:pt x="0" y="166370"/>
                  </a:moveTo>
                  <a:cubicBezTo>
                    <a:pt x="0" y="74422"/>
                    <a:pt x="74422" y="0"/>
                    <a:pt x="166370" y="0"/>
                  </a:cubicBezTo>
                  <a:lnTo>
                    <a:pt x="10283190" y="0"/>
                  </a:lnTo>
                  <a:cubicBezTo>
                    <a:pt x="10375011" y="0"/>
                    <a:pt x="10449560" y="74422"/>
                    <a:pt x="10449560" y="166370"/>
                  </a:cubicBezTo>
                  <a:lnTo>
                    <a:pt x="10449560" y="2236470"/>
                  </a:lnTo>
                  <a:cubicBezTo>
                    <a:pt x="10449560" y="2328291"/>
                    <a:pt x="10375138" y="2402840"/>
                    <a:pt x="10283190" y="2402840"/>
                  </a:cubicBezTo>
                  <a:lnTo>
                    <a:pt x="166370" y="2402840"/>
                  </a:lnTo>
                  <a:cubicBezTo>
                    <a:pt x="74422" y="2402840"/>
                    <a:pt x="0" y="2328418"/>
                    <a:pt x="0" y="223647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4168" y="2729484"/>
            <a:ext cx="1234440" cy="685800"/>
            <a:chOff x="0" y="0"/>
            <a:chExt cx="164592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5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64592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6A3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606040" y="2729484"/>
            <a:ext cx="5760720" cy="438912"/>
            <a:chOff x="0" y="0"/>
            <a:chExt cx="7680960" cy="585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80960" cy="585216"/>
            </a:xfrm>
            <a:custGeom>
              <a:avLst/>
              <a:gdLst/>
              <a:ahLst/>
              <a:cxnLst/>
              <a:rect r="r" b="b" t="t" l="l"/>
              <a:pathLst>
                <a:path h="585216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68096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Estado de avance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06040" y="3223260"/>
            <a:ext cx="5897880" cy="685800"/>
            <a:chOff x="0" y="0"/>
            <a:chExt cx="786384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63840" cy="914400"/>
            </a:xfrm>
            <a:custGeom>
              <a:avLst/>
              <a:gdLst/>
              <a:ahLst/>
              <a:cxnLst/>
              <a:rect r="r" b="b" t="t" l="l"/>
              <a:pathLst>
                <a:path h="91440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863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Qué está operativo hoy en la web y en la app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17355" y="2390775"/>
            <a:ext cx="7837170" cy="1802130"/>
            <a:chOff x="0" y="0"/>
            <a:chExt cx="10449560" cy="2402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49560" cy="2402840"/>
            </a:xfrm>
            <a:custGeom>
              <a:avLst/>
              <a:gdLst/>
              <a:ahLst/>
              <a:cxnLst/>
              <a:rect r="r" b="b" t="t" l="l"/>
              <a:pathLst>
                <a:path h="2402840" w="10449560">
                  <a:moveTo>
                    <a:pt x="0" y="166370"/>
                  </a:moveTo>
                  <a:cubicBezTo>
                    <a:pt x="0" y="74422"/>
                    <a:pt x="74422" y="0"/>
                    <a:pt x="166370" y="0"/>
                  </a:cubicBezTo>
                  <a:lnTo>
                    <a:pt x="10283190" y="0"/>
                  </a:lnTo>
                  <a:cubicBezTo>
                    <a:pt x="10375011" y="0"/>
                    <a:pt x="10449560" y="74422"/>
                    <a:pt x="10449560" y="166370"/>
                  </a:cubicBezTo>
                  <a:lnTo>
                    <a:pt x="10449560" y="2236470"/>
                  </a:lnTo>
                  <a:cubicBezTo>
                    <a:pt x="10449560" y="2328291"/>
                    <a:pt x="10375138" y="2402840"/>
                    <a:pt x="10283190" y="2402840"/>
                  </a:cubicBezTo>
                  <a:lnTo>
                    <a:pt x="166370" y="2402840"/>
                  </a:lnTo>
                  <a:cubicBezTo>
                    <a:pt x="74422" y="2402840"/>
                    <a:pt x="0" y="2328418"/>
                    <a:pt x="0" y="223647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10928" y="2729484"/>
            <a:ext cx="1234440" cy="685800"/>
            <a:chOff x="0" y="0"/>
            <a:chExt cx="164592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5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64592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6A3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0" y="2729484"/>
            <a:ext cx="5760720" cy="438912"/>
            <a:chOff x="0" y="0"/>
            <a:chExt cx="7680960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80960" cy="585216"/>
            </a:xfrm>
            <a:custGeom>
              <a:avLst/>
              <a:gdLst/>
              <a:ahLst/>
              <a:cxnLst/>
              <a:rect r="r" b="b" t="t" l="l"/>
              <a:pathLst>
                <a:path h="585216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68096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web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0" y="3223260"/>
            <a:ext cx="5897880" cy="685800"/>
            <a:chOff x="0" y="0"/>
            <a:chExt cx="786384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863840" cy="914400"/>
            </a:xfrm>
            <a:custGeom>
              <a:avLst/>
              <a:gdLst/>
              <a:ahLst/>
              <a:cxnLst/>
              <a:rect r="r" b="b" t="t" l="l"/>
              <a:pathLst>
                <a:path h="91440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863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Acceso, venta, órdenes, monitoreo y usuarios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0595" y="4585335"/>
            <a:ext cx="7837170" cy="1802130"/>
            <a:chOff x="0" y="0"/>
            <a:chExt cx="10449560" cy="2402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49560" cy="2402840"/>
            </a:xfrm>
            <a:custGeom>
              <a:avLst/>
              <a:gdLst/>
              <a:ahLst/>
              <a:cxnLst/>
              <a:rect r="r" b="b" t="t" l="l"/>
              <a:pathLst>
                <a:path h="2402840" w="10449560">
                  <a:moveTo>
                    <a:pt x="0" y="166370"/>
                  </a:moveTo>
                  <a:cubicBezTo>
                    <a:pt x="0" y="74422"/>
                    <a:pt x="74422" y="0"/>
                    <a:pt x="166370" y="0"/>
                  </a:cubicBezTo>
                  <a:lnTo>
                    <a:pt x="10283190" y="0"/>
                  </a:lnTo>
                  <a:cubicBezTo>
                    <a:pt x="10375011" y="0"/>
                    <a:pt x="10449560" y="74422"/>
                    <a:pt x="10449560" y="166370"/>
                  </a:cubicBezTo>
                  <a:lnTo>
                    <a:pt x="10449560" y="2236470"/>
                  </a:lnTo>
                  <a:cubicBezTo>
                    <a:pt x="10449560" y="2328291"/>
                    <a:pt x="10375138" y="2402840"/>
                    <a:pt x="10283190" y="2402840"/>
                  </a:cubicBezTo>
                  <a:lnTo>
                    <a:pt x="166370" y="2402840"/>
                  </a:lnTo>
                  <a:cubicBezTo>
                    <a:pt x="74422" y="2402840"/>
                    <a:pt x="0" y="2328418"/>
                    <a:pt x="0" y="223647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44168" y="4924044"/>
            <a:ext cx="1234440" cy="685800"/>
            <a:chOff x="0" y="0"/>
            <a:chExt cx="164592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5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164592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6A3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606040" y="4924044"/>
            <a:ext cx="5760720" cy="438912"/>
            <a:chOff x="0" y="0"/>
            <a:chExt cx="7680960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80960" cy="585216"/>
            </a:xfrm>
            <a:custGeom>
              <a:avLst/>
              <a:gdLst/>
              <a:ahLst/>
              <a:cxnLst/>
              <a:rect r="r" b="b" t="t" l="l"/>
              <a:pathLst>
                <a:path h="585216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768096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móvil y pruebas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606040" y="5417820"/>
            <a:ext cx="5897880" cy="685800"/>
            <a:chOff x="0" y="0"/>
            <a:chExt cx="786384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863840" cy="914400"/>
            </a:xfrm>
            <a:custGeom>
              <a:avLst/>
              <a:gdLst/>
              <a:ahLst/>
              <a:cxnLst/>
              <a:rect r="r" b="b" t="t" l="l"/>
              <a:pathLst>
                <a:path h="91440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863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Bodega y escáner de códigos de barras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17355" y="4585335"/>
            <a:ext cx="7837170" cy="1802130"/>
            <a:chOff x="0" y="0"/>
            <a:chExt cx="10449560" cy="2402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449560" cy="2402840"/>
            </a:xfrm>
            <a:custGeom>
              <a:avLst/>
              <a:gdLst/>
              <a:ahLst/>
              <a:cxnLst/>
              <a:rect r="r" b="b" t="t" l="l"/>
              <a:pathLst>
                <a:path h="2402840" w="10449560">
                  <a:moveTo>
                    <a:pt x="0" y="166370"/>
                  </a:moveTo>
                  <a:cubicBezTo>
                    <a:pt x="0" y="74422"/>
                    <a:pt x="74422" y="0"/>
                    <a:pt x="166370" y="0"/>
                  </a:cubicBezTo>
                  <a:lnTo>
                    <a:pt x="10283190" y="0"/>
                  </a:lnTo>
                  <a:cubicBezTo>
                    <a:pt x="10375011" y="0"/>
                    <a:pt x="10449560" y="74422"/>
                    <a:pt x="10449560" y="166370"/>
                  </a:cubicBezTo>
                  <a:lnTo>
                    <a:pt x="10449560" y="2236470"/>
                  </a:lnTo>
                  <a:cubicBezTo>
                    <a:pt x="10449560" y="2328291"/>
                    <a:pt x="10375138" y="2402840"/>
                    <a:pt x="10283190" y="2402840"/>
                  </a:cubicBezTo>
                  <a:lnTo>
                    <a:pt x="166370" y="2402840"/>
                  </a:lnTo>
                  <a:cubicBezTo>
                    <a:pt x="74422" y="2402840"/>
                    <a:pt x="0" y="2328418"/>
                    <a:pt x="0" y="223647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9710928" y="4924044"/>
            <a:ext cx="1234440" cy="685800"/>
            <a:chOff x="0" y="0"/>
            <a:chExt cx="164592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5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164592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6A3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972800" y="4924044"/>
            <a:ext cx="5760720" cy="438912"/>
            <a:chOff x="0" y="0"/>
            <a:chExt cx="7680960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680960" cy="585216"/>
            </a:xfrm>
            <a:custGeom>
              <a:avLst/>
              <a:gdLst/>
              <a:ahLst/>
              <a:cxnLst/>
              <a:rect r="r" b="b" t="t" l="l"/>
              <a:pathLst>
                <a:path h="585216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768096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Datos, API e infraestructura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972800" y="5417820"/>
            <a:ext cx="5897880" cy="685800"/>
            <a:chOff x="0" y="0"/>
            <a:chExt cx="7863840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863840" cy="914400"/>
            </a:xfrm>
            <a:custGeom>
              <a:avLst/>
              <a:gdLst/>
              <a:ahLst/>
              <a:cxnLst/>
              <a:rect r="r" b="b" t="t" l="l"/>
              <a:pathLst>
                <a:path h="91440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7863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 de datos, servicio y despliegue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50595" y="6779895"/>
            <a:ext cx="7837170" cy="1802130"/>
            <a:chOff x="0" y="0"/>
            <a:chExt cx="10449560" cy="2402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49560" cy="2402840"/>
            </a:xfrm>
            <a:custGeom>
              <a:avLst/>
              <a:gdLst/>
              <a:ahLst/>
              <a:cxnLst/>
              <a:rect r="r" b="b" t="t" l="l"/>
              <a:pathLst>
                <a:path h="2402840" w="10449560">
                  <a:moveTo>
                    <a:pt x="0" y="166370"/>
                  </a:moveTo>
                  <a:cubicBezTo>
                    <a:pt x="0" y="74422"/>
                    <a:pt x="74422" y="0"/>
                    <a:pt x="166370" y="0"/>
                  </a:cubicBezTo>
                  <a:lnTo>
                    <a:pt x="10283190" y="0"/>
                  </a:lnTo>
                  <a:cubicBezTo>
                    <a:pt x="10375011" y="0"/>
                    <a:pt x="10449560" y="74422"/>
                    <a:pt x="10449560" y="166370"/>
                  </a:cubicBezTo>
                  <a:lnTo>
                    <a:pt x="10449560" y="2236470"/>
                  </a:lnTo>
                  <a:cubicBezTo>
                    <a:pt x="10449560" y="2328291"/>
                    <a:pt x="10375138" y="2402840"/>
                    <a:pt x="10283190" y="2402840"/>
                  </a:cubicBezTo>
                  <a:lnTo>
                    <a:pt x="166370" y="2402840"/>
                  </a:lnTo>
                  <a:cubicBezTo>
                    <a:pt x="74422" y="2402840"/>
                    <a:pt x="0" y="2328418"/>
                    <a:pt x="0" y="223647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44168" y="7118604"/>
            <a:ext cx="1234440" cy="685800"/>
            <a:chOff x="0" y="0"/>
            <a:chExt cx="164592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45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164592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6A3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606040" y="7118604"/>
            <a:ext cx="5760720" cy="438912"/>
            <a:chOff x="0" y="0"/>
            <a:chExt cx="768096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680960" cy="585216"/>
            </a:xfrm>
            <a:custGeom>
              <a:avLst/>
              <a:gdLst/>
              <a:ahLst/>
              <a:cxnLst/>
              <a:rect r="r" b="b" t="t" l="l"/>
              <a:pathLst>
                <a:path h="585216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768096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Innovación y competencias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606040" y="7612380"/>
            <a:ext cx="5897880" cy="685800"/>
            <a:chOff x="0" y="0"/>
            <a:chExt cx="7863840" cy="914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863840" cy="914400"/>
            </a:xfrm>
            <a:custGeom>
              <a:avLst/>
              <a:gdLst/>
              <a:ahLst/>
              <a:cxnLst/>
              <a:rect r="r" b="b" t="t" l="l"/>
              <a:pathLst>
                <a:path h="91440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863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Tablero de rentabilidad y perfil de egreso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317355" y="6779895"/>
            <a:ext cx="7837170" cy="1802130"/>
            <a:chOff x="0" y="0"/>
            <a:chExt cx="10449560" cy="24028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49560" cy="2402840"/>
            </a:xfrm>
            <a:custGeom>
              <a:avLst/>
              <a:gdLst/>
              <a:ahLst/>
              <a:cxnLst/>
              <a:rect r="r" b="b" t="t" l="l"/>
              <a:pathLst>
                <a:path h="2402840" w="10449560">
                  <a:moveTo>
                    <a:pt x="0" y="166370"/>
                  </a:moveTo>
                  <a:cubicBezTo>
                    <a:pt x="0" y="74422"/>
                    <a:pt x="74422" y="0"/>
                    <a:pt x="166370" y="0"/>
                  </a:cubicBezTo>
                  <a:lnTo>
                    <a:pt x="10283190" y="0"/>
                  </a:lnTo>
                  <a:cubicBezTo>
                    <a:pt x="10375011" y="0"/>
                    <a:pt x="10449560" y="74422"/>
                    <a:pt x="10449560" y="166370"/>
                  </a:cubicBezTo>
                  <a:lnTo>
                    <a:pt x="10449560" y="2236470"/>
                  </a:lnTo>
                  <a:cubicBezTo>
                    <a:pt x="10449560" y="2328291"/>
                    <a:pt x="10375138" y="2402840"/>
                    <a:pt x="10283190" y="2402840"/>
                  </a:cubicBezTo>
                  <a:lnTo>
                    <a:pt x="166370" y="2402840"/>
                  </a:lnTo>
                  <a:cubicBezTo>
                    <a:pt x="74422" y="2402840"/>
                    <a:pt x="0" y="2328418"/>
                    <a:pt x="0" y="223647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7" id="67"/>
          <p:cNvGrpSpPr/>
          <p:nvPr/>
        </p:nvGrpSpPr>
        <p:grpSpPr>
          <a:xfrm rot="0">
            <a:off x="9710928" y="7118604"/>
            <a:ext cx="1234440" cy="685800"/>
            <a:chOff x="0" y="0"/>
            <a:chExt cx="1645920" cy="914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645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76200"/>
              <a:ext cx="164592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6A3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972800" y="7118604"/>
            <a:ext cx="5760720" cy="438912"/>
            <a:chOff x="0" y="0"/>
            <a:chExt cx="7680960" cy="5852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680960" cy="585216"/>
            </a:xfrm>
            <a:custGeom>
              <a:avLst/>
              <a:gdLst/>
              <a:ahLst/>
              <a:cxnLst/>
              <a:rect r="r" b="b" t="t" l="l"/>
              <a:pathLst>
                <a:path h="585216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768096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y próximos pasos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972800" y="7612380"/>
            <a:ext cx="5897880" cy="685800"/>
            <a:chOff x="0" y="0"/>
            <a:chExt cx="7863840" cy="914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863840" cy="914400"/>
            </a:xfrm>
            <a:custGeom>
              <a:avLst/>
              <a:gdLst/>
              <a:ahLst/>
              <a:cxnLst/>
              <a:rect r="r" b="b" t="t" l="l"/>
              <a:pathLst>
                <a:path h="91440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7863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Equipo, plan de trabajo, evidencias y ajustes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Estado de avance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Qué está operativo hoy en la aplicación web y en la app móvil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0120" y="2359152"/>
            <a:ext cx="5623560" cy="1988820"/>
            <a:chOff x="0" y="0"/>
            <a:chExt cx="7498080" cy="2651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98080" cy="2651760"/>
            </a:xfrm>
            <a:custGeom>
              <a:avLst/>
              <a:gdLst/>
              <a:ahLst/>
              <a:cxnLst/>
              <a:rect r="r" b="b" t="t" l="l"/>
              <a:pathLst>
                <a:path h="2651760" w="7498080">
                  <a:moveTo>
                    <a:pt x="0" y="125603"/>
                  </a:moveTo>
                  <a:cubicBezTo>
                    <a:pt x="0" y="56261"/>
                    <a:pt x="56261" y="0"/>
                    <a:pt x="125603" y="0"/>
                  </a:cubicBezTo>
                  <a:lnTo>
                    <a:pt x="7372477" y="0"/>
                  </a:lnTo>
                  <a:cubicBezTo>
                    <a:pt x="7441819" y="0"/>
                    <a:pt x="7498080" y="56261"/>
                    <a:pt x="7498080" y="125603"/>
                  </a:cubicBezTo>
                  <a:lnTo>
                    <a:pt x="7498080" y="2526157"/>
                  </a:lnTo>
                  <a:cubicBezTo>
                    <a:pt x="7498080" y="2595499"/>
                    <a:pt x="7441819" y="2651760"/>
                    <a:pt x="7372477" y="2651760"/>
                  </a:cubicBezTo>
                  <a:lnTo>
                    <a:pt x="125603" y="2651760"/>
                  </a:lnTo>
                  <a:cubicBezTo>
                    <a:pt x="56261" y="2651760"/>
                    <a:pt x="0" y="2595499"/>
                    <a:pt x="0" y="2526157"/>
                  </a:cubicBezTo>
                  <a:close/>
                </a:path>
              </a:pathLst>
            </a:custGeom>
            <a:solidFill>
              <a:srgbClr val="0F2E42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03020" y="2564892"/>
            <a:ext cx="5074920" cy="685800"/>
            <a:chOff x="0" y="0"/>
            <a:chExt cx="676656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66560" cy="914400"/>
            </a:xfrm>
            <a:custGeom>
              <a:avLst/>
              <a:gdLst/>
              <a:ahLst/>
              <a:cxnLst/>
              <a:rect r="r" b="b" t="t" l="l"/>
              <a:pathLst>
                <a:path h="91440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189" r="0" b="-94189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676656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16A3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de 12</a:t>
              </a: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módulos web disponibles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03020" y="3299079"/>
            <a:ext cx="5006340" cy="89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C9D6DF"/>
                </a:solidFill>
                <a:latin typeface="Calibri (MS)"/>
                <a:ea typeface="Calibri (MS)"/>
                <a:cs typeface="Calibri (MS)"/>
                <a:sym typeface="Calibri (MS)"/>
              </a:rPr>
              <a:t>Acceso, registro de usuarios, venta, orden de transporte y monitoreo con cierre.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0595" y="4571619"/>
            <a:ext cx="5642610" cy="2007870"/>
            <a:chOff x="0" y="0"/>
            <a:chExt cx="7523480" cy="2677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23480" cy="2677160"/>
            </a:xfrm>
            <a:custGeom>
              <a:avLst/>
              <a:gdLst/>
              <a:ahLst/>
              <a:cxnLst/>
              <a:rect r="r" b="b" t="t" l="l"/>
              <a:pathLst>
                <a:path h="2677160" w="7523480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7396607" y="0"/>
                  </a:lnTo>
                  <a:cubicBezTo>
                    <a:pt x="7466584" y="0"/>
                    <a:pt x="7523480" y="56769"/>
                    <a:pt x="7523480" y="126873"/>
                  </a:cubicBezTo>
                  <a:lnTo>
                    <a:pt x="7523480" y="2550287"/>
                  </a:lnTo>
                  <a:cubicBezTo>
                    <a:pt x="7523480" y="2620264"/>
                    <a:pt x="7466711" y="2677160"/>
                    <a:pt x="7396607" y="2677160"/>
                  </a:cubicBezTo>
                  <a:lnTo>
                    <a:pt x="126873" y="2677160"/>
                  </a:lnTo>
                  <a:cubicBezTo>
                    <a:pt x="56896" y="2677160"/>
                    <a:pt x="0" y="2620391"/>
                    <a:pt x="0" y="25502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03020" y="4786884"/>
            <a:ext cx="5074920" cy="685800"/>
            <a:chOff x="0" y="0"/>
            <a:chExt cx="676656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66560" cy="914400"/>
            </a:xfrm>
            <a:custGeom>
              <a:avLst/>
              <a:gdLst/>
              <a:ahLst/>
              <a:cxnLst/>
              <a:rect r="r" b="b" t="t" l="l"/>
              <a:pathLst>
                <a:path h="91440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189" r="0" b="-94189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676656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16A3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Bodega</a:t>
              </a: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app móvil operativa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03020" y="5521071"/>
            <a:ext cx="5006340" cy="89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Cola de órdenes, escaneo de códigos, reporte con foto y confirmación de carga.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0595" y="6793611"/>
            <a:ext cx="5642610" cy="2007870"/>
            <a:chOff x="0" y="0"/>
            <a:chExt cx="7523480" cy="2677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23480" cy="2677160"/>
            </a:xfrm>
            <a:custGeom>
              <a:avLst/>
              <a:gdLst/>
              <a:ahLst/>
              <a:cxnLst/>
              <a:rect r="r" b="b" t="t" l="l"/>
              <a:pathLst>
                <a:path h="2677160" w="7523480">
                  <a:moveTo>
                    <a:pt x="0" y="126873"/>
                  </a:moveTo>
                  <a:cubicBezTo>
                    <a:pt x="0" y="56769"/>
                    <a:pt x="56769" y="0"/>
                    <a:pt x="126873" y="0"/>
                  </a:cubicBezTo>
                  <a:lnTo>
                    <a:pt x="7396607" y="0"/>
                  </a:lnTo>
                  <a:cubicBezTo>
                    <a:pt x="7466584" y="0"/>
                    <a:pt x="7523480" y="56769"/>
                    <a:pt x="7523480" y="126873"/>
                  </a:cubicBezTo>
                  <a:lnTo>
                    <a:pt x="7523480" y="2550287"/>
                  </a:lnTo>
                  <a:cubicBezTo>
                    <a:pt x="7523480" y="2620264"/>
                    <a:pt x="7466711" y="2677160"/>
                    <a:pt x="7396607" y="2677160"/>
                  </a:cubicBezTo>
                  <a:lnTo>
                    <a:pt x="126873" y="2677160"/>
                  </a:lnTo>
                  <a:cubicBezTo>
                    <a:pt x="56896" y="2677160"/>
                    <a:pt x="0" y="2620391"/>
                    <a:pt x="0" y="25502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03020" y="7008876"/>
            <a:ext cx="5074920" cy="685800"/>
            <a:chOff x="0" y="0"/>
            <a:chExt cx="676656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66560" cy="914400"/>
            </a:xfrm>
            <a:custGeom>
              <a:avLst/>
              <a:gdLst/>
              <a:ahLst/>
              <a:cxnLst/>
              <a:rect r="r" b="b" t="t" l="l"/>
              <a:pathLst>
                <a:path h="91440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189" r="0" b="-94189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676656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16A3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 casos</a:t>
              </a: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pruebas del escáner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03020" y="7743063"/>
            <a:ext cx="5006340" cy="89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Ejecutadas con etiquetas EAN-13 de prueba sobre órdenes reales del conjunto de datos.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63740" y="2263902"/>
            <a:ext cx="10149840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50" b="true">
                <a:solidFill>
                  <a:srgbClr val="0F2E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Módulos de la aplicación web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054215" y="3007995"/>
            <a:ext cx="3242310" cy="704850"/>
            <a:chOff x="0" y="0"/>
            <a:chExt cx="4323080" cy="939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23080" cy="939800"/>
            </a:xfrm>
            <a:custGeom>
              <a:avLst/>
              <a:gdLst/>
              <a:ahLst/>
              <a:cxnLst/>
              <a:rect r="r" b="b" t="t" l="l"/>
              <a:pathLst>
                <a:path h="939800" w="43230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4135120" y="0"/>
                  </a:lnTo>
                  <a:cubicBezTo>
                    <a:pt x="4238879" y="0"/>
                    <a:pt x="4323080" y="84201"/>
                    <a:pt x="4323080" y="187960"/>
                  </a:cubicBezTo>
                  <a:lnTo>
                    <a:pt x="4323080" y="751840"/>
                  </a:lnTo>
                  <a:cubicBezTo>
                    <a:pt x="4323080" y="855599"/>
                    <a:pt x="4238879" y="939800"/>
                    <a:pt x="4135120" y="939800"/>
                  </a:cubicBezTo>
                  <a:lnTo>
                    <a:pt x="187960" y="939800"/>
                  </a:lnTo>
                  <a:cubicBezTo>
                    <a:pt x="84201" y="939800"/>
                    <a:pt x="0" y="855599"/>
                    <a:pt x="0" y="751840"/>
                  </a:cubicBezTo>
                  <a:close/>
                </a:path>
              </a:pathLst>
            </a:custGeom>
            <a:solidFill>
              <a:srgbClr val="E3F4F1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7259955" y="3254883"/>
            <a:ext cx="211074" cy="211074"/>
            <a:chOff x="0" y="0"/>
            <a:chExt cx="281432" cy="2814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7584948" y="3017520"/>
            <a:ext cx="2606040" cy="685800"/>
            <a:chOff x="0" y="0"/>
            <a:chExt cx="347472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3474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483215" y="3007995"/>
            <a:ext cx="3242310" cy="704850"/>
            <a:chOff x="0" y="0"/>
            <a:chExt cx="4323080" cy="939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23080" cy="939800"/>
            </a:xfrm>
            <a:custGeom>
              <a:avLst/>
              <a:gdLst/>
              <a:ahLst/>
              <a:cxnLst/>
              <a:rect r="r" b="b" t="t" l="l"/>
              <a:pathLst>
                <a:path h="939800" w="43230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4135120" y="0"/>
                  </a:lnTo>
                  <a:cubicBezTo>
                    <a:pt x="4238879" y="0"/>
                    <a:pt x="4323080" y="84201"/>
                    <a:pt x="4323080" y="187960"/>
                  </a:cubicBezTo>
                  <a:lnTo>
                    <a:pt x="4323080" y="751840"/>
                  </a:lnTo>
                  <a:cubicBezTo>
                    <a:pt x="4323080" y="855599"/>
                    <a:pt x="4238879" y="939800"/>
                    <a:pt x="4135120" y="939800"/>
                  </a:cubicBezTo>
                  <a:lnTo>
                    <a:pt x="187960" y="939800"/>
                  </a:lnTo>
                  <a:cubicBezTo>
                    <a:pt x="84201" y="939800"/>
                    <a:pt x="0" y="855599"/>
                    <a:pt x="0" y="751840"/>
                  </a:cubicBezTo>
                  <a:close/>
                </a:path>
              </a:pathLst>
            </a:custGeom>
            <a:solidFill>
              <a:srgbClr val="E3F4F1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688955" y="3254883"/>
            <a:ext cx="211074" cy="211074"/>
            <a:chOff x="0" y="0"/>
            <a:chExt cx="281432" cy="2814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013948" y="3017520"/>
            <a:ext cx="2606040" cy="685800"/>
            <a:chOff x="0" y="0"/>
            <a:chExt cx="347472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3474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Registro de usuarios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912215" y="3007995"/>
            <a:ext cx="3242310" cy="704850"/>
            <a:chOff x="0" y="0"/>
            <a:chExt cx="4323080" cy="939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23080" cy="939800"/>
            </a:xfrm>
            <a:custGeom>
              <a:avLst/>
              <a:gdLst/>
              <a:ahLst/>
              <a:cxnLst/>
              <a:rect r="r" b="b" t="t" l="l"/>
              <a:pathLst>
                <a:path h="939800" w="43230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4135120" y="0"/>
                  </a:lnTo>
                  <a:cubicBezTo>
                    <a:pt x="4238879" y="0"/>
                    <a:pt x="4323080" y="84201"/>
                    <a:pt x="4323080" y="187960"/>
                  </a:cubicBezTo>
                  <a:lnTo>
                    <a:pt x="4323080" y="751840"/>
                  </a:lnTo>
                  <a:cubicBezTo>
                    <a:pt x="4323080" y="855599"/>
                    <a:pt x="4238879" y="939800"/>
                    <a:pt x="4135120" y="939800"/>
                  </a:cubicBezTo>
                  <a:lnTo>
                    <a:pt x="187960" y="939800"/>
                  </a:lnTo>
                  <a:cubicBezTo>
                    <a:pt x="84201" y="939800"/>
                    <a:pt x="0" y="855599"/>
                    <a:pt x="0" y="751840"/>
                  </a:cubicBezTo>
                  <a:close/>
                </a:path>
              </a:pathLst>
            </a:custGeom>
            <a:solidFill>
              <a:srgbClr val="E3F4F1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117955" y="3254883"/>
            <a:ext cx="211074" cy="211074"/>
            <a:chOff x="0" y="0"/>
            <a:chExt cx="281432" cy="2814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442948" y="3017520"/>
            <a:ext cx="2606040" cy="685800"/>
            <a:chOff x="0" y="0"/>
            <a:chExt cx="347472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3474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Interfaz de venta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054215" y="3858387"/>
            <a:ext cx="3242310" cy="704850"/>
            <a:chOff x="0" y="0"/>
            <a:chExt cx="4323080" cy="939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23080" cy="939800"/>
            </a:xfrm>
            <a:custGeom>
              <a:avLst/>
              <a:gdLst/>
              <a:ahLst/>
              <a:cxnLst/>
              <a:rect r="r" b="b" t="t" l="l"/>
              <a:pathLst>
                <a:path h="939800" w="43230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4135120" y="0"/>
                  </a:lnTo>
                  <a:cubicBezTo>
                    <a:pt x="4238879" y="0"/>
                    <a:pt x="4323080" y="84201"/>
                    <a:pt x="4323080" y="187960"/>
                  </a:cubicBezTo>
                  <a:lnTo>
                    <a:pt x="4323080" y="751840"/>
                  </a:lnTo>
                  <a:cubicBezTo>
                    <a:pt x="4323080" y="855599"/>
                    <a:pt x="4238879" y="939800"/>
                    <a:pt x="4135120" y="939800"/>
                  </a:cubicBezTo>
                  <a:lnTo>
                    <a:pt x="187960" y="939800"/>
                  </a:lnTo>
                  <a:cubicBezTo>
                    <a:pt x="84201" y="939800"/>
                    <a:pt x="0" y="855599"/>
                    <a:pt x="0" y="751840"/>
                  </a:cubicBezTo>
                  <a:close/>
                </a:path>
              </a:pathLst>
            </a:custGeom>
            <a:solidFill>
              <a:srgbClr val="E3F4F1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7259955" y="4105275"/>
            <a:ext cx="211074" cy="211074"/>
            <a:chOff x="0" y="0"/>
            <a:chExt cx="281432" cy="28143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7584948" y="3867912"/>
            <a:ext cx="2606040" cy="685800"/>
            <a:chOff x="0" y="0"/>
            <a:chExt cx="347472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3474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Orden de transporte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483215" y="3858387"/>
            <a:ext cx="3242310" cy="704850"/>
            <a:chOff x="0" y="0"/>
            <a:chExt cx="4323080" cy="939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323080" cy="939800"/>
            </a:xfrm>
            <a:custGeom>
              <a:avLst/>
              <a:gdLst/>
              <a:ahLst/>
              <a:cxnLst/>
              <a:rect r="r" b="b" t="t" l="l"/>
              <a:pathLst>
                <a:path h="939800" w="43230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4135120" y="0"/>
                  </a:lnTo>
                  <a:cubicBezTo>
                    <a:pt x="4238879" y="0"/>
                    <a:pt x="4323080" y="84201"/>
                    <a:pt x="4323080" y="187960"/>
                  </a:cubicBezTo>
                  <a:lnTo>
                    <a:pt x="4323080" y="751840"/>
                  </a:lnTo>
                  <a:cubicBezTo>
                    <a:pt x="4323080" y="855599"/>
                    <a:pt x="4238879" y="939800"/>
                    <a:pt x="4135120" y="939800"/>
                  </a:cubicBezTo>
                  <a:lnTo>
                    <a:pt x="187960" y="939800"/>
                  </a:lnTo>
                  <a:cubicBezTo>
                    <a:pt x="84201" y="939800"/>
                    <a:pt x="0" y="855599"/>
                    <a:pt x="0" y="751840"/>
                  </a:cubicBezTo>
                  <a:close/>
                </a:path>
              </a:pathLst>
            </a:custGeom>
            <a:solidFill>
              <a:srgbClr val="E3F4F1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688955" y="4105275"/>
            <a:ext cx="211074" cy="211074"/>
            <a:chOff x="0" y="0"/>
            <a:chExt cx="281432" cy="28143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013948" y="3867912"/>
            <a:ext cx="2606040" cy="685800"/>
            <a:chOff x="0" y="0"/>
            <a:chExt cx="3474720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3474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Monitoreo y cierre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912215" y="3858387"/>
            <a:ext cx="3242310" cy="704850"/>
            <a:chOff x="0" y="0"/>
            <a:chExt cx="4323080" cy="939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323080" cy="939800"/>
            </a:xfrm>
            <a:custGeom>
              <a:avLst/>
              <a:gdLst/>
              <a:ahLst/>
              <a:cxnLst/>
              <a:rect r="r" b="b" t="t" l="l"/>
              <a:pathLst>
                <a:path h="939800" w="43230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4135120" y="0"/>
                  </a:lnTo>
                  <a:cubicBezTo>
                    <a:pt x="4238879" y="0"/>
                    <a:pt x="4323080" y="84201"/>
                    <a:pt x="4323080" y="187960"/>
                  </a:cubicBezTo>
                  <a:lnTo>
                    <a:pt x="4323080" y="751840"/>
                  </a:lnTo>
                  <a:cubicBezTo>
                    <a:pt x="4323080" y="855599"/>
                    <a:pt x="4238879" y="939800"/>
                    <a:pt x="4135120" y="939800"/>
                  </a:cubicBezTo>
                  <a:lnTo>
                    <a:pt x="187960" y="939800"/>
                  </a:lnTo>
                  <a:cubicBezTo>
                    <a:pt x="84201" y="939800"/>
                    <a:pt x="0" y="855599"/>
                    <a:pt x="0" y="75184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117955" y="4105275"/>
            <a:ext cx="211074" cy="211074"/>
            <a:chOff x="0" y="0"/>
            <a:chExt cx="281432" cy="28143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B7C4CE"/>
            </a:solidFill>
            <a:ln w="19050" cap="sq">
              <a:solidFill>
                <a:srgbClr val="B7C4CE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442948" y="3867912"/>
            <a:ext cx="2606040" cy="685800"/>
            <a:chOff x="0" y="0"/>
            <a:chExt cx="3474720" cy="914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3474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Ruta y cambio de ruta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054215" y="4708779"/>
            <a:ext cx="3242310" cy="704850"/>
            <a:chOff x="0" y="0"/>
            <a:chExt cx="4323080" cy="939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23080" cy="939800"/>
            </a:xfrm>
            <a:custGeom>
              <a:avLst/>
              <a:gdLst/>
              <a:ahLst/>
              <a:cxnLst/>
              <a:rect r="r" b="b" t="t" l="l"/>
              <a:pathLst>
                <a:path h="939800" w="43230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4135120" y="0"/>
                  </a:lnTo>
                  <a:cubicBezTo>
                    <a:pt x="4238879" y="0"/>
                    <a:pt x="4323080" y="84201"/>
                    <a:pt x="4323080" y="187960"/>
                  </a:cubicBezTo>
                  <a:lnTo>
                    <a:pt x="4323080" y="751840"/>
                  </a:lnTo>
                  <a:cubicBezTo>
                    <a:pt x="4323080" y="855599"/>
                    <a:pt x="4238879" y="939800"/>
                    <a:pt x="4135120" y="939800"/>
                  </a:cubicBezTo>
                  <a:lnTo>
                    <a:pt x="187960" y="939800"/>
                  </a:lnTo>
                  <a:cubicBezTo>
                    <a:pt x="84201" y="939800"/>
                    <a:pt x="0" y="855599"/>
                    <a:pt x="0" y="75184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3" id="73"/>
          <p:cNvGrpSpPr/>
          <p:nvPr/>
        </p:nvGrpSpPr>
        <p:grpSpPr>
          <a:xfrm rot="0">
            <a:off x="7259955" y="4955667"/>
            <a:ext cx="211074" cy="211074"/>
            <a:chOff x="0" y="0"/>
            <a:chExt cx="281432" cy="2814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B7C4CE"/>
            </a:solidFill>
            <a:ln w="19050" cap="sq">
              <a:solidFill>
                <a:srgbClr val="B7C4CE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5" id="75"/>
          <p:cNvGrpSpPr/>
          <p:nvPr/>
        </p:nvGrpSpPr>
        <p:grpSpPr>
          <a:xfrm rot="0">
            <a:off x="7584948" y="4718304"/>
            <a:ext cx="2606040" cy="685800"/>
            <a:chOff x="0" y="0"/>
            <a:chExt cx="3474720" cy="914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  <p:txBody>
            <a:bodyPr/>
            <a:p/>
          </p:txBody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3474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Gestión de flota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483215" y="4708779"/>
            <a:ext cx="3242310" cy="704850"/>
            <a:chOff x="0" y="0"/>
            <a:chExt cx="4323080" cy="939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323080" cy="939800"/>
            </a:xfrm>
            <a:custGeom>
              <a:avLst/>
              <a:gdLst/>
              <a:ahLst/>
              <a:cxnLst/>
              <a:rect r="r" b="b" t="t" l="l"/>
              <a:pathLst>
                <a:path h="939800" w="43230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4135120" y="0"/>
                  </a:lnTo>
                  <a:cubicBezTo>
                    <a:pt x="4238879" y="0"/>
                    <a:pt x="4323080" y="84201"/>
                    <a:pt x="4323080" y="187960"/>
                  </a:cubicBezTo>
                  <a:lnTo>
                    <a:pt x="4323080" y="751840"/>
                  </a:lnTo>
                  <a:cubicBezTo>
                    <a:pt x="4323080" y="855599"/>
                    <a:pt x="4238879" y="939800"/>
                    <a:pt x="4135120" y="939800"/>
                  </a:cubicBezTo>
                  <a:lnTo>
                    <a:pt x="187960" y="939800"/>
                  </a:lnTo>
                  <a:cubicBezTo>
                    <a:pt x="84201" y="939800"/>
                    <a:pt x="0" y="855599"/>
                    <a:pt x="0" y="75184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688955" y="4955667"/>
            <a:ext cx="211074" cy="211074"/>
            <a:chOff x="0" y="0"/>
            <a:chExt cx="281432" cy="28143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B7C4CE"/>
            </a:solidFill>
            <a:ln w="19050" cap="sq">
              <a:solidFill>
                <a:srgbClr val="B7C4CE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013948" y="4718304"/>
            <a:ext cx="2606040" cy="685800"/>
            <a:chOff x="0" y="0"/>
            <a:chExt cx="3474720" cy="914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  <p:txBody>
            <a:bodyPr/>
            <a:p/>
          </p:txBody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3474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Mantenimiento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912215" y="4708779"/>
            <a:ext cx="3242310" cy="704850"/>
            <a:chOff x="0" y="0"/>
            <a:chExt cx="4323080" cy="9398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323080" cy="939800"/>
            </a:xfrm>
            <a:custGeom>
              <a:avLst/>
              <a:gdLst/>
              <a:ahLst/>
              <a:cxnLst/>
              <a:rect r="r" b="b" t="t" l="l"/>
              <a:pathLst>
                <a:path h="939800" w="43230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4135120" y="0"/>
                  </a:lnTo>
                  <a:cubicBezTo>
                    <a:pt x="4238879" y="0"/>
                    <a:pt x="4323080" y="84201"/>
                    <a:pt x="4323080" y="187960"/>
                  </a:cubicBezTo>
                  <a:lnTo>
                    <a:pt x="4323080" y="751840"/>
                  </a:lnTo>
                  <a:cubicBezTo>
                    <a:pt x="4323080" y="855599"/>
                    <a:pt x="4238879" y="939800"/>
                    <a:pt x="4135120" y="939800"/>
                  </a:cubicBezTo>
                  <a:lnTo>
                    <a:pt x="187960" y="939800"/>
                  </a:lnTo>
                  <a:cubicBezTo>
                    <a:pt x="84201" y="939800"/>
                    <a:pt x="0" y="855599"/>
                    <a:pt x="0" y="75184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117955" y="4955667"/>
            <a:ext cx="211074" cy="211074"/>
            <a:chOff x="0" y="0"/>
            <a:chExt cx="281432" cy="28143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B7C4CE"/>
            </a:solidFill>
            <a:ln w="19050" cap="sq">
              <a:solidFill>
                <a:srgbClr val="B7C4CE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9" id="89"/>
          <p:cNvGrpSpPr/>
          <p:nvPr/>
        </p:nvGrpSpPr>
        <p:grpSpPr>
          <a:xfrm rot="0">
            <a:off x="14442948" y="4718304"/>
            <a:ext cx="2606040" cy="685800"/>
            <a:chOff x="0" y="0"/>
            <a:chExt cx="3474720" cy="9144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  <p:txBody>
            <a:bodyPr/>
            <a:p/>
          </p:txBody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3474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054215" y="5559171"/>
            <a:ext cx="3242310" cy="704850"/>
            <a:chOff x="0" y="0"/>
            <a:chExt cx="4323080" cy="9398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323080" cy="939800"/>
            </a:xfrm>
            <a:custGeom>
              <a:avLst/>
              <a:gdLst/>
              <a:ahLst/>
              <a:cxnLst/>
              <a:rect r="r" b="b" t="t" l="l"/>
              <a:pathLst>
                <a:path h="939800" w="43230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4135120" y="0"/>
                  </a:lnTo>
                  <a:cubicBezTo>
                    <a:pt x="4238879" y="0"/>
                    <a:pt x="4323080" y="84201"/>
                    <a:pt x="4323080" y="187960"/>
                  </a:cubicBezTo>
                  <a:lnTo>
                    <a:pt x="4323080" y="751840"/>
                  </a:lnTo>
                  <a:cubicBezTo>
                    <a:pt x="4323080" y="855599"/>
                    <a:pt x="4238879" y="939800"/>
                    <a:pt x="4135120" y="939800"/>
                  </a:cubicBezTo>
                  <a:lnTo>
                    <a:pt x="187960" y="939800"/>
                  </a:lnTo>
                  <a:cubicBezTo>
                    <a:pt x="84201" y="939800"/>
                    <a:pt x="0" y="855599"/>
                    <a:pt x="0" y="75184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4" id="94"/>
          <p:cNvGrpSpPr/>
          <p:nvPr/>
        </p:nvGrpSpPr>
        <p:grpSpPr>
          <a:xfrm rot="0">
            <a:off x="7259955" y="5806059"/>
            <a:ext cx="211074" cy="211074"/>
            <a:chOff x="0" y="0"/>
            <a:chExt cx="281432" cy="28143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B7C4CE"/>
            </a:solidFill>
            <a:ln w="19050" cap="sq">
              <a:solidFill>
                <a:srgbClr val="B7C4CE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6" id="96"/>
          <p:cNvGrpSpPr/>
          <p:nvPr/>
        </p:nvGrpSpPr>
        <p:grpSpPr>
          <a:xfrm rot="0">
            <a:off x="7584948" y="5568696"/>
            <a:ext cx="2606040" cy="685800"/>
            <a:chOff x="0" y="0"/>
            <a:chExt cx="3474720" cy="9144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  <p:txBody>
            <a:bodyPr/>
            <a:p/>
          </p:txBody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3474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Zoom de camiones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483215" y="5559171"/>
            <a:ext cx="3242310" cy="704850"/>
            <a:chOff x="0" y="0"/>
            <a:chExt cx="4323080" cy="9398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323080" cy="939800"/>
            </a:xfrm>
            <a:custGeom>
              <a:avLst/>
              <a:gdLst/>
              <a:ahLst/>
              <a:cxnLst/>
              <a:rect r="r" b="b" t="t" l="l"/>
              <a:pathLst>
                <a:path h="939800" w="43230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4135120" y="0"/>
                  </a:lnTo>
                  <a:cubicBezTo>
                    <a:pt x="4238879" y="0"/>
                    <a:pt x="4323080" y="84201"/>
                    <a:pt x="4323080" y="187960"/>
                  </a:cubicBezTo>
                  <a:lnTo>
                    <a:pt x="4323080" y="751840"/>
                  </a:lnTo>
                  <a:cubicBezTo>
                    <a:pt x="4323080" y="855599"/>
                    <a:pt x="4238879" y="939800"/>
                    <a:pt x="4135120" y="939800"/>
                  </a:cubicBezTo>
                  <a:lnTo>
                    <a:pt x="187960" y="939800"/>
                  </a:lnTo>
                  <a:cubicBezTo>
                    <a:pt x="84201" y="939800"/>
                    <a:pt x="0" y="855599"/>
                    <a:pt x="0" y="75184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688955" y="5806059"/>
            <a:ext cx="211074" cy="211074"/>
            <a:chOff x="0" y="0"/>
            <a:chExt cx="281432" cy="28143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B7C4CE"/>
            </a:solidFill>
            <a:ln w="19050" cap="sq">
              <a:solidFill>
                <a:srgbClr val="B7C4CE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1013948" y="5568696"/>
            <a:ext cx="2606040" cy="685800"/>
            <a:chOff x="0" y="0"/>
            <a:chExt cx="3474720" cy="9144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  <p:txBody>
            <a:bodyPr/>
            <a:p/>
          </p:txBody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3474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Costos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3912215" y="5559171"/>
            <a:ext cx="3242310" cy="704850"/>
            <a:chOff x="0" y="0"/>
            <a:chExt cx="4323080" cy="9398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323080" cy="939800"/>
            </a:xfrm>
            <a:custGeom>
              <a:avLst/>
              <a:gdLst/>
              <a:ahLst/>
              <a:cxnLst/>
              <a:rect r="r" b="b" t="t" l="l"/>
              <a:pathLst>
                <a:path h="939800" w="43230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4135120" y="0"/>
                  </a:lnTo>
                  <a:cubicBezTo>
                    <a:pt x="4238879" y="0"/>
                    <a:pt x="4323080" y="84201"/>
                    <a:pt x="4323080" y="187960"/>
                  </a:cubicBezTo>
                  <a:lnTo>
                    <a:pt x="4323080" y="751840"/>
                  </a:lnTo>
                  <a:cubicBezTo>
                    <a:pt x="4323080" y="855599"/>
                    <a:pt x="4238879" y="939800"/>
                    <a:pt x="4135120" y="939800"/>
                  </a:cubicBezTo>
                  <a:lnTo>
                    <a:pt x="187960" y="939800"/>
                  </a:lnTo>
                  <a:cubicBezTo>
                    <a:pt x="84201" y="939800"/>
                    <a:pt x="0" y="855599"/>
                    <a:pt x="0" y="75184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4117955" y="5806059"/>
            <a:ext cx="211074" cy="211074"/>
            <a:chOff x="0" y="0"/>
            <a:chExt cx="281432" cy="28143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B7C4CE"/>
            </a:solidFill>
            <a:ln w="19050" cap="sq">
              <a:solidFill>
                <a:srgbClr val="B7C4CE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4442948" y="5568696"/>
            <a:ext cx="2606040" cy="685800"/>
            <a:chOff x="0" y="0"/>
            <a:chExt cx="3474720" cy="9144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474720" cy="914400"/>
            </a:xfrm>
            <a:custGeom>
              <a:avLst/>
              <a:gdLst/>
              <a:ahLst/>
              <a:cxnLst/>
              <a:rect r="r" b="b" t="t" l="l"/>
              <a:pathLst>
                <a:path h="9144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  <p:txBody>
            <a:bodyPr/>
            <a:p/>
          </p:txBody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3474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</a:t>
              </a: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7063740" y="6460998"/>
            <a:ext cx="10149840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50" b="true">
                <a:solidFill>
                  <a:srgbClr val="0F2E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Aplicación móvil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7054215" y="7191375"/>
            <a:ext cx="4956810" cy="704850"/>
            <a:chOff x="0" y="0"/>
            <a:chExt cx="6609080" cy="9398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609080" cy="939800"/>
            </a:xfrm>
            <a:custGeom>
              <a:avLst/>
              <a:gdLst/>
              <a:ahLst/>
              <a:cxnLst/>
              <a:rect r="r" b="b" t="t" l="l"/>
              <a:pathLst>
                <a:path h="939800" w="66090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6421120" y="0"/>
                  </a:lnTo>
                  <a:cubicBezTo>
                    <a:pt x="6524879" y="0"/>
                    <a:pt x="6609080" y="84201"/>
                    <a:pt x="6609080" y="187960"/>
                  </a:cubicBezTo>
                  <a:lnTo>
                    <a:pt x="6609080" y="751840"/>
                  </a:lnTo>
                  <a:cubicBezTo>
                    <a:pt x="6609080" y="855599"/>
                    <a:pt x="6524879" y="939800"/>
                    <a:pt x="6421120" y="939800"/>
                  </a:cubicBezTo>
                  <a:lnTo>
                    <a:pt x="187960" y="939800"/>
                  </a:lnTo>
                  <a:cubicBezTo>
                    <a:pt x="84201" y="939800"/>
                    <a:pt x="0" y="855599"/>
                    <a:pt x="0" y="751840"/>
                  </a:cubicBezTo>
                  <a:close/>
                </a:path>
              </a:pathLst>
            </a:custGeom>
            <a:solidFill>
              <a:srgbClr val="E3F4F1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7259955" y="7438263"/>
            <a:ext cx="211074" cy="211074"/>
            <a:chOff x="0" y="0"/>
            <a:chExt cx="281432" cy="28143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7584948" y="7200900"/>
            <a:ext cx="4251960" cy="685800"/>
            <a:chOff x="0" y="0"/>
            <a:chExt cx="5669280" cy="9144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669280" cy="914400"/>
            </a:xfrm>
            <a:custGeom>
              <a:avLst/>
              <a:gdLst/>
              <a:ahLst/>
              <a:cxnLst/>
              <a:rect r="r" b="b" t="t" l="l"/>
              <a:pathLst>
                <a:path h="9144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07" r="0" b="-70807"/>
              </a:stretch>
            </a:blipFill>
          </p:spPr>
          <p:txBody>
            <a:bodyPr/>
            <a:p/>
          </p:txBody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56692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Bodega: carga de órdenes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2266295" y="7191375"/>
            <a:ext cx="4956810" cy="704850"/>
            <a:chOff x="0" y="0"/>
            <a:chExt cx="6609080" cy="9398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609080" cy="939800"/>
            </a:xfrm>
            <a:custGeom>
              <a:avLst/>
              <a:gdLst/>
              <a:ahLst/>
              <a:cxnLst/>
              <a:rect r="r" b="b" t="t" l="l"/>
              <a:pathLst>
                <a:path h="939800" w="6609080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6421120" y="0"/>
                  </a:lnTo>
                  <a:cubicBezTo>
                    <a:pt x="6524879" y="0"/>
                    <a:pt x="6609080" y="84201"/>
                    <a:pt x="6609080" y="187960"/>
                  </a:cubicBezTo>
                  <a:lnTo>
                    <a:pt x="6609080" y="751840"/>
                  </a:lnTo>
                  <a:cubicBezTo>
                    <a:pt x="6609080" y="855599"/>
                    <a:pt x="6524879" y="939800"/>
                    <a:pt x="6421120" y="939800"/>
                  </a:cubicBezTo>
                  <a:lnTo>
                    <a:pt x="187960" y="939800"/>
                  </a:lnTo>
                  <a:cubicBezTo>
                    <a:pt x="84201" y="939800"/>
                    <a:pt x="0" y="855599"/>
                    <a:pt x="0" y="75184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2472035" y="7438263"/>
            <a:ext cx="211074" cy="211074"/>
            <a:chOff x="0" y="0"/>
            <a:chExt cx="281432" cy="28143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B7C4CE"/>
            </a:solidFill>
            <a:ln w="19050" cap="sq">
              <a:solidFill>
                <a:srgbClr val="B7C4CE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2797028" y="7200900"/>
            <a:ext cx="4251960" cy="685800"/>
            <a:chOff x="0" y="0"/>
            <a:chExt cx="5669280" cy="9144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669280" cy="914400"/>
            </a:xfrm>
            <a:custGeom>
              <a:avLst/>
              <a:gdLst/>
              <a:ahLst/>
              <a:cxnLst/>
              <a:rect r="r" b="b" t="t" l="l"/>
              <a:pathLst>
                <a:path h="9144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07" r="0" b="-70807"/>
              </a:stretch>
            </a:blipFill>
          </p:spPr>
          <p:txBody>
            <a:bodyPr/>
            <a:p/>
          </p:txBody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56692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Conductor: ruta y entregas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7054215" y="8398383"/>
            <a:ext cx="211074" cy="211074"/>
            <a:chOff x="0" y="0"/>
            <a:chExt cx="281432" cy="28143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7379208" y="8298180"/>
            <a:ext cx="2057400" cy="411480"/>
            <a:chOff x="0" y="0"/>
            <a:chExt cx="2743200" cy="54864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743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  <p:txBody>
            <a:bodyPr/>
            <a:p/>
          </p:txBody>
        </p:sp>
        <p:sp>
          <p:nvSpPr>
            <p:cNvPr name="TextBox 132" id="132"/>
            <p:cNvSpPr txBox="true"/>
            <p:nvPr/>
          </p:nvSpPr>
          <p:spPr>
            <a:xfrm>
              <a:off x="0" y="-57150"/>
              <a:ext cx="274320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Disponible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248775" y="8398383"/>
            <a:ext cx="211074" cy="211074"/>
            <a:chOff x="0" y="0"/>
            <a:chExt cx="281432" cy="28143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140716"/>
                  </a:moveTo>
                  <a:cubicBezTo>
                    <a:pt x="0" y="62992"/>
                    <a:pt x="62992" y="0"/>
                    <a:pt x="140716" y="0"/>
                  </a:cubicBezTo>
                  <a:cubicBezTo>
                    <a:pt x="218440" y="0"/>
                    <a:pt x="281432" y="62992"/>
                    <a:pt x="281432" y="140716"/>
                  </a:cubicBezTo>
                  <a:cubicBezTo>
                    <a:pt x="281432" y="218440"/>
                    <a:pt x="218440" y="281432"/>
                    <a:pt x="140716" y="281432"/>
                  </a:cubicBezTo>
                  <a:cubicBezTo>
                    <a:pt x="62992" y="281432"/>
                    <a:pt x="0" y="218440"/>
                    <a:pt x="0" y="140716"/>
                  </a:cubicBezTo>
                  <a:close/>
                </a:path>
              </a:pathLst>
            </a:custGeom>
            <a:solidFill>
              <a:srgbClr val="B7C4CE"/>
            </a:solidFill>
            <a:ln w="19050" cap="sq">
              <a:solidFill>
                <a:srgbClr val="B7C4CE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573768" y="8298180"/>
            <a:ext cx="4114800" cy="411480"/>
            <a:chOff x="0" y="0"/>
            <a:chExt cx="5486400" cy="54864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  <p:txBody>
            <a:bodyPr/>
            <a:p/>
          </p:txBody>
        </p:sp>
        <p:sp>
          <p:nvSpPr>
            <p:cNvPr name="TextBox 137" id="137"/>
            <p:cNvSpPr txBox="true"/>
            <p:nvPr/>
          </p:nvSpPr>
          <p:spPr>
            <a:xfrm>
              <a:off x="0" y="-57150"/>
              <a:ext cx="548640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Próximo incremento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web · Acceso y panel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Ingreso por correo con acceso rápido por perfil, y un panel con el estado de cada módulo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349627"/>
            <a:ext cx="8042910" cy="3828698"/>
            <a:chOff x="0" y="0"/>
            <a:chExt cx="10723880" cy="5104930"/>
          </a:xfrm>
        </p:grpSpPr>
        <p:sp>
          <p:nvSpPr>
            <p:cNvPr name="Freeform 11" id="11" descr="w_login.png"/>
            <p:cNvSpPr/>
            <p:nvPr/>
          </p:nvSpPr>
          <p:spPr>
            <a:xfrm flipH="false" flipV="false" rot="0">
              <a:off x="0" y="0"/>
              <a:ext cx="10723880" cy="5104892"/>
            </a:xfrm>
            <a:custGeom>
              <a:avLst/>
              <a:gdLst/>
              <a:ahLst/>
              <a:cxnLst/>
              <a:rect r="r" b="b" t="t" l="l"/>
              <a:pathLst>
                <a:path h="5104892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5104892"/>
                  </a:lnTo>
                  <a:lnTo>
                    <a:pt x="0" y="5104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0" t="0" r="-130" b="0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89923" y="2349627"/>
            <a:ext cx="8042910" cy="3759051"/>
            <a:chOff x="0" y="0"/>
            <a:chExt cx="10723880" cy="5012068"/>
          </a:xfrm>
        </p:grpSpPr>
        <p:sp>
          <p:nvSpPr>
            <p:cNvPr name="Freeform 13" id="13" descr="w_panel.png"/>
            <p:cNvSpPr/>
            <p:nvPr/>
          </p:nvSpPr>
          <p:spPr>
            <a:xfrm flipH="false" flipV="false" rot="0">
              <a:off x="0" y="0"/>
              <a:ext cx="10723880" cy="5012055"/>
            </a:xfrm>
            <a:custGeom>
              <a:avLst/>
              <a:gdLst/>
              <a:ahLst/>
              <a:cxnLst/>
              <a:rect r="r" b="b" t="t" l="l"/>
              <a:pathLst>
                <a:path h="5012055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5012055"/>
                  </a:lnTo>
                  <a:lnTo>
                    <a:pt x="0" y="5012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5" t="0" r="-135" b="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0595" y="6642735"/>
            <a:ext cx="8042910" cy="2145030"/>
            <a:chOff x="0" y="0"/>
            <a:chExt cx="10723880" cy="2860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238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723880">
                  <a:moveTo>
                    <a:pt x="0" y="135509"/>
                  </a:moveTo>
                  <a:cubicBezTo>
                    <a:pt x="0" y="60706"/>
                    <a:pt x="60706" y="0"/>
                    <a:pt x="135509" y="0"/>
                  </a:cubicBezTo>
                  <a:lnTo>
                    <a:pt x="10588371" y="0"/>
                  </a:lnTo>
                  <a:cubicBezTo>
                    <a:pt x="10663174" y="0"/>
                    <a:pt x="10723880" y="60706"/>
                    <a:pt x="10723880" y="135509"/>
                  </a:cubicBezTo>
                  <a:lnTo>
                    <a:pt x="10723880" y="2724531"/>
                  </a:lnTo>
                  <a:cubicBezTo>
                    <a:pt x="10723880" y="2799334"/>
                    <a:pt x="10663174" y="2860040"/>
                    <a:pt x="10588371" y="2860040"/>
                  </a:cubicBezTo>
                  <a:lnTo>
                    <a:pt x="135509" y="2860040"/>
                  </a:lnTo>
                  <a:cubicBezTo>
                    <a:pt x="60706" y="2860040"/>
                    <a:pt x="0" y="2799334"/>
                    <a:pt x="0" y="27245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93495" y="6971919"/>
            <a:ext cx="265938" cy="265938"/>
            <a:chOff x="0" y="0"/>
            <a:chExt cx="354584" cy="3545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4500" y="6885432"/>
            <a:ext cx="6995160" cy="438912"/>
            <a:chOff x="0" y="0"/>
            <a:chExt cx="932688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26880" cy="585216"/>
            </a:xfrm>
            <a:custGeom>
              <a:avLst/>
              <a:gdLst/>
              <a:ahLst/>
              <a:cxnLst/>
              <a:rect r="r" b="b" t="t" l="l"/>
              <a:pathLst>
                <a:path h="585216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542" r="0" b="-260542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9326880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Acceso por perfil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03020" y="7390638"/>
            <a:ext cx="7338060" cy="122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Cinco perfiles web: administrador, vendedor, despachador, jefe de flota y consulta de dashboard. El acceso rápido permite recorrer cada vista durante la demostración.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89923" y="6642735"/>
            <a:ext cx="8042910" cy="2145030"/>
            <a:chOff x="0" y="0"/>
            <a:chExt cx="10723880" cy="2860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238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723880">
                  <a:moveTo>
                    <a:pt x="0" y="135509"/>
                  </a:moveTo>
                  <a:cubicBezTo>
                    <a:pt x="0" y="60706"/>
                    <a:pt x="60706" y="0"/>
                    <a:pt x="135509" y="0"/>
                  </a:cubicBezTo>
                  <a:lnTo>
                    <a:pt x="10588371" y="0"/>
                  </a:lnTo>
                  <a:cubicBezTo>
                    <a:pt x="10663174" y="0"/>
                    <a:pt x="10723880" y="60706"/>
                    <a:pt x="10723880" y="135509"/>
                  </a:cubicBezTo>
                  <a:lnTo>
                    <a:pt x="10723880" y="2724531"/>
                  </a:lnTo>
                  <a:cubicBezTo>
                    <a:pt x="10723880" y="2799334"/>
                    <a:pt x="10663174" y="2860040"/>
                    <a:pt x="10588371" y="2860040"/>
                  </a:cubicBezTo>
                  <a:lnTo>
                    <a:pt x="135509" y="2860040"/>
                  </a:lnTo>
                  <a:cubicBezTo>
                    <a:pt x="60706" y="2860040"/>
                    <a:pt x="0" y="2799334"/>
                    <a:pt x="0" y="27245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32823" y="6971919"/>
            <a:ext cx="265938" cy="265938"/>
            <a:chOff x="0" y="0"/>
            <a:chExt cx="354584" cy="3545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3828" y="6885432"/>
            <a:ext cx="6995160" cy="438912"/>
            <a:chOff x="0" y="0"/>
            <a:chExt cx="9326880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26880" cy="585216"/>
            </a:xfrm>
            <a:custGeom>
              <a:avLst/>
              <a:gdLst/>
              <a:ahLst/>
              <a:cxnLst/>
              <a:rect r="r" b="b" t="t" l="l"/>
              <a:pathLst>
                <a:path h="585216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542" r="0" b="-260542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9326880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Panel por módulos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642348" y="7390638"/>
            <a:ext cx="7338060" cy="122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Cada módulo indica si está disponible o en un próximo incremento. Hoy están disponibles registro de usuarios, interfaz de venta, orden de transporte y monitoreo con cierre.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web · Venta y orden de transporte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venta registrada genera su orden de transporte y pasa a la bodega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341931" y="2349627"/>
            <a:ext cx="5908374" cy="2780929"/>
            <a:chOff x="0" y="0"/>
            <a:chExt cx="7066280" cy="3325927"/>
          </a:xfrm>
        </p:grpSpPr>
        <p:sp>
          <p:nvSpPr>
            <p:cNvPr name="Freeform 11" id="11" descr="w_ventas.png"/>
            <p:cNvSpPr/>
            <p:nvPr/>
          </p:nvSpPr>
          <p:spPr>
            <a:xfrm flipH="false" flipV="false" rot="0">
              <a:off x="0" y="0"/>
              <a:ext cx="7066280" cy="3325876"/>
            </a:xfrm>
            <a:custGeom>
              <a:avLst/>
              <a:gdLst/>
              <a:ahLst/>
              <a:cxnLst/>
              <a:rect r="r" b="b" t="t" l="l"/>
              <a:pathLst>
                <a:path h="3325876" w="7066280">
                  <a:moveTo>
                    <a:pt x="0" y="0"/>
                  </a:moveTo>
                  <a:lnTo>
                    <a:pt x="7066280" y="0"/>
                  </a:lnTo>
                  <a:lnTo>
                    <a:pt x="7066280" y="3325876"/>
                  </a:lnTo>
                  <a:lnTo>
                    <a:pt x="0" y="3325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3" t="0" r="-203" b="-1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6546723"/>
            <a:ext cx="5299710" cy="1902333"/>
            <a:chOff x="0" y="0"/>
            <a:chExt cx="7066280" cy="25364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66280" cy="2536444"/>
            </a:xfrm>
            <a:custGeom>
              <a:avLst/>
              <a:gdLst/>
              <a:ahLst/>
              <a:cxnLst/>
              <a:rect r="r" b="b" t="t" l="l"/>
              <a:pathLst>
                <a:path h="2536444" w="7066280">
                  <a:moveTo>
                    <a:pt x="0" y="120123"/>
                  </a:moveTo>
                  <a:cubicBezTo>
                    <a:pt x="0" y="53820"/>
                    <a:pt x="89789" y="0"/>
                    <a:pt x="200406" y="0"/>
                  </a:cubicBezTo>
                  <a:lnTo>
                    <a:pt x="6865874" y="0"/>
                  </a:lnTo>
                  <a:cubicBezTo>
                    <a:pt x="6976618" y="0"/>
                    <a:pt x="7066280" y="53820"/>
                    <a:pt x="7066280" y="120123"/>
                  </a:cubicBezTo>
                  <a:lnTo>
                    <a:pt x="7066280" y="2416321"/>
                  </a:lnTo>
                  <a:cubicBezTo>
                    <a:pt x="7066280" y="2482701"/>
                    <a:pt x="6976491" y="2536444"/>
                    <a:pt x="6865874" y="2536444"/>
                  </a:cubicBezTo>
                  <a:lnTo>
                    <a:pt x="200406" y="2536444"/>
                  </a:lnTo>
                  <a:cubicBezTo>
                    <a:pt x="89789" y="2536444"/>
                    <a:pt x="0" y="2482625"/>
                    <a:pt x="0" y="241632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1600" y="6875907"/>
            <a:ext cx="265938" cy="265938"/>
            <a:chOff x="0" y="0"/>
            <a:chExt cx="354584" cy="3545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92605" y="6789420"/>
            <a:ext cx="4251960" cy="438912"/>
            <a:chOff x="0" y="0"/>
            <a:chExt cx="5669280" cy="5852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69280" cy="585216"/>
            </a:xfrm>
            <a:custGeom>
              <a:avLst/>
              <a:gdLst/>
              <a:ahLst/>
              <a:cxnLst/>
              <a:rect r="r" b="b" t="t" l="l"/>
              <a:pathLst>
                <a:path h="58521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761" r="0" b="-138761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5669280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Ventas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81125" y="7294626"/>
            <a:ext cx="4594860" cy="225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Listado con búsqueda por cliente y filtro por estado. La venta V-1001 ya figura en bodega armando.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05575" y="2349627"/>
            <a:ext cx="5299710" cy="2780929"/>
            <a:chOff x="0" y="0"/>
            <a:chExt cx="7066280" cy="3707905"/>
          </a:xfrm>
        </p:grpSpPr>
        <p:sp>
          <p:nvSpPr>
            <p:cNvPr name="Freeform 21" id="21" descr="w_nueva.png"/>
            <p:cNvSpPr/>
            <p:nvPr/>
          </p:nvSpPr>
          <p:spPr>
            <a:xfrm flipH="false" flipV="false" rot="0">
              <a:off x="0" y="0"/>
              <a:ext cx="7066280" cy="3707892"/>
            </a:xfrm>
            <a:custGeom>
              <a:avLst/>
              <a:gdLst/>
              <a:ahLst/>
              <a:cxnLst/>
              <a:rect r="r" b="b" t="t" l="l"/>
              <a:pathLst>
                <a:path h="3707892" w="7066280">
                  <a:moveTo>
                    <a:pt x="0" y="0"/>
                  </a:moveTo>
                  <a:lnTo>
                    <a:pt x="7066280" y="0"/>
                  </a:lnTo>
                  <a:lnTo>
                    <a:pt x="7066280" y="3707892"/>
                  </a:lnTo>
                  <a:lnTo>
                    <a:pt x="0" y="3707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3" t="0" r="-163" b="0"/>
              </a:stretch>
            </a:blip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83680" y="6546723"/>
            <a:ext cx="5299710" cy="1902333"/>
            <a:chOff x="0" y="0"/>
            <a:chExt cx="7066280" cy="25364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66280" cy="2536444"/>
            </a:xfrm>
            <a:custGeom>
              <a:avLst/>
              <a:gdLst/>
              <a:ahLst/>
              <a:cxnLst/>
              <a:rect r="r" b="b" t="t" l="l"/>
              <a:pathLst>
                <a:path h="2536444" w="7066280">
                  <a:moveTo>
                    <a:pt x="0" y="120123"/>
                  </a:moveTo>
                  <a:cubicBezTo>
                    <a:pt x="0" y="53820"/>
                    <a:pt x="89789" y="0"/>
                    <a:pt x="200406" y="0"/>
                  </a:cubicBezTo>
                  <a:lnTo>
                    <a:pt x="6865874" y="0"/>
                  </a:lnTo>
                  <a:cubicBezTo>
                    <a:pt x="6976618" y="0"/>
                    <a:pt x="7066280" y="53820"/>
                    <a:pt x="7066280" y="120123"/>
                  </a:cubicBezTo>
                  <a:lnTo>
                    <a:pt x="7066280" y="2416321"/>
                  </a:lnTo>
                  <a:cubicBezTo>
                    <a:pt x="7066280" y="2482701"/>
                    <a:pt x="6976491" y="2536444"/>
                    <a:pt x="6865874" y="2536444"/>
                  </a:cubicBezTo>
                  <a:lnTo>
                    <a:pt x="200406" y="2536444"/>
                  </a:lnTo>
                  <a:cubicBezTo>
                    <a:pt x="89789" y="2536444"/>
                    <a:pt x="0" y="2482625"/>
                    <a:pt x="0" y="241632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6926580" y="6875907"/>
            <a:ext cx="265938" cy="265938"/>
            <a:chOff x="0" y="0"/>
            <a:chExt cx="354584" cy="3545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47585" y="6789420"/>
            <a:ext cx="4251960" cy="438912"/>
            <a:chOff x="0" y="0"/>
            <a:chExt cx="5669280" cy="585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69280" cy="585216"/>
            </a:xfrm>
            <a:custGeom>
              <a:avLst/>
              <a:gdLst/>
              <a:ahLst/>
              <a:cxnLst/>
              <a:rect r="r" b="b" t="t" l="l"/>
              <a:pathLst>
                <a:path h="58521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761" r="0" b="-138761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5669280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Nueva venta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936105" y="7294626"/>
            <a:ext cx="4594860" cy="225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Cliente, comuna de destino, productos del catálogo, folio y guía de despacho. Admite carga desde Excel o CSV con plantilla.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060555" y="2349627"/>
            <a:ext cx="5932138" cy="2793873"/>
            <a:chOff x="0" y="0"/>
            <a:chExt cx="7066280" cy="3328022"/>
          </a:xfrm>
        </p:grpSpPr>
        <p:sp>
          <p:nvSpPr>
            <p:cNvPr name="Freeform 31" id="31" descr="w_ordenes.png"/>
            <p:cNvSpPr/>
            <p:nvPr/>
          </p:nvSpPr>
          <p:spPr>
            <a:xfrm flipH="false" flipV="false" rot="0">
              <a:off x="0" y="0"/>
              <a:ext cx="7066280" cy="3328035"/>
            </a:xfrm>
            <a:custGeom>
              <a:avLst/>
              <a:gdLst/>
              <a:ahLst/>
              <a:cxnLst/>
              <a:rect r="r" b="b" t="t" l="l"/>
              <a:pathLst>
                <a:path h="3328035" w="7066280">
                  <a:moveTo>
                    <a:pt x="0" y="0"/>
                  </a:moveTo>
                  <a:lnTo>
                    <a:pt x="7066280" y="0"/>
                  </a:lnTo>
                  <a:lnTo>
                    <a:pt x="7066280" y="3328035"/>
                  </a:lnTo>
                  <a:lnTo>
                    <a:pt x="0" y="332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03" t="0" r="-203" b="0"/>
              </a:stretch>
            </a:blip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138660" y="6546723"/>
            <a:ext cx="5299710" cy="1902333"/>
            <a:chOff x="0" y="0"/>
            <a:chExt cx="7066280" cy="25364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66280" cy="2536444"/>
            </a:xfrm>
            <a:custGeom>
              <a:avLst/>
              <a:gdLst/>
              <a:ahLst/>
              <a:cxnLst/>
              <a:rect r="r" b="b" t="t" l="l"/>
              <a:pathLst>
                <a:path h="2536444" w="7066280">
                  <a:moveTo>
                    <a:pt x="0" y="120123"/>
                  </a:moveTo>
                  <a:cubicBezTo>
                    <a:pt x="0" y="53820"/>
                    <a:pt x="89789" y="0"/>
                    <a:pt x="200406" y="0"/>
                  </a:cubicBezTo>
                  <a:lnTo>
                    <a:pt x="6865874" y="0"/>
                  </a:lnTo>
                  <a:cubicBezTo>
                    <a:pt x="6976618" y="0"/>
                    <a:pt x="7066280" y="53820"/>
                    <a:pt x="7066280" y="120123"/>
                  </a:cubicBezTo>
                  <a:lnTo>
                    <a:pt x="7066280" y="2416321"/>
                  </a:lnTo>
                  <a:cubicBezTo>
                    <a:pt x="7066280" y="2482701"/>
                    <a:pt x="6976491" y="2536444"/>
                    <a:pt x="6865874" y="2536444"/>
                  </a:cubicBezTo>
                  <a:lnTo>
                    <a:pt x="200406" y="2536444"/>
                  </a:lnTo>
                  <a:cubicBezTo>
                    <a:pt x="89789" y="2536444"/>
                    <a:pt x="0" y="2482625"/>
                    <a:pt x="0" y="241632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81560" y="6875907"/>
            <a:ext cx="265938" cy="265938"/>
            <a:chOff x="0" y="0"/>
            <a:chExt cx="354584" cy="3545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902565" y="6789420"/>
            <a:ext cx="4251960" cy="438912"/>
            <a:chOff x="0" y="0"/>
            <a:chExt cx="5669280" cy="5852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69280" cy="585216"/>
            </a:xfrm>
            <a:custGeom>
              <a:avLst/>
              <a:gdLst/>
              <a:ahLst/>
              <a:cxnLst/>
              <a:rect r="r" b="b" t="t" l="l"/>
              <a:pathLst>
                <a:path h="58521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8761" r="0" b="-138761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5669280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Órdenes de transporte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491085" y="7294626"/>
            <a:ext cx="4594860" cy="225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Las ventas pendientes generan su orden de transporte con un clic y quedan listadas con guía, comuna y estado.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web · Monitoreo y usuarios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despachador sigue la operación en curso y el administrador gestiona accesos y perfiles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349627"/>
            <a:ext cx="8042910" cy="3660553"/>
            <a:chOff x="0" y="0"/>
            <a:chExt cx="10723880" cy="4880737"/>
          </a:xfrm>
        </p:grpSpPr>
        <p:sp>
          <p:nvSpPr>
            <p:cNvPr name="Freeform 11" id="11" descr="w_monitoreo.png"/>
            <p:cNvSpPr/>
            <p:nvPr/>
          </p:nvSpPr>
          <p:spPr>
            <a:xfrm flipH="false" flipV="false" rot="0">
              <a:off x="0" y="0"/>
              <a:ext cx="10723880" cy="4880737"/>
            </a:xfrm>
            <a:custGeom>
              <a:avLst/>
              <a:gdLst/>
              <a:ahLst/>
              <a:cxnLst/>
              <a:rect r="r" b="b" t="t" l="l"/>
              <a:pathLst>
                <a:path h="4880737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4880737"/>
                  </a:lnTo>
                  <a:lnTo>
                    <a:pt x="0" y="4880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2" t="0" r="-142" b="0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89923" y="2349627"/>
            <a:ext cx="8042910" cy="3608013"/>
            <a:chOff x="0" y="0"/>
            <a:chExt cx="10723880" cy="4810684"/>
          </a:xfrm>
        </p:grpSpPr>
        <p:sp>
          <p:nvSpPr>
            <p:cNvPr name="Freeform 13" id="13" descr="w_usuarios.png"/>
            <p:cNvSpPr/>
            <p:nvPr/>
          </p:nvSpPr>
          <p:spPr>
            <a:xfrm flipH="false" flipV="false" rot="0">
              <a:off x="0" y="0"/>
              <a:ext cx="10723880" cy="4810633"/>
            </a:xfrm>
            <a:custGeom>
              <a:avLst/>
              <a:gdLst/>
              <a:ahLst/>
              <a:cxnLst/>
              <a:rect r="r" b="b" t="t" l="l"/>
              <a:pathLst>
                <a:path h="4810633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4810633"/>
                  </a:lnTo>
                  <a:lnTo>
                    <a:pt x="0" y="4810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6" t="0" r="-146" b="-1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0595" y="6327267"/>
            <a:ext cx="4855807" cy="2693670"/>
            <a:chOff x="0" y="0"/>
            <a:chExt cx="6474409" cy="3591560"/>
          </a:xfrm>
        </p:grpSpPr>
        <p:sp>
          <p:nvSpPr>
            <p:cNvPr name="Freeform 15" id="15" descr="w_crear.png"/>
            <p:cNvSpPr/>
            <p:nvPr/>
          </p:nvSpPr>
          <p:spPr>
            <a:xfrm flipH="false" flipV="false" rot="0">
              <a:off x="0" y="0"/>
              <a:ext cx="6474460" cy="3591560"/>
            </a:xfrm>
            <a:custGeom>
              <a:avLst/>
              <a:gdLst/>
              <a:ahLst/>
              <a:cxnLst/>
              <a:rect r="r" b="b" t="t" l="l"/>
              <a:pathLst>
                <a:path h="3591560" w="6474460">
                  <a:moveTo>
                    <a:pt x="0" y="0"/>
                  </a:moveTo>
                  <a:lnTo>
                    <a:pt x="6474460" y="0"/>
                  </a:lnTo>
                  <a:lnTo>
                    <a:pt x="6474460" y="3591560"/>
                  </a:lnTo>
                  <a:lnTo>
                    <a:pt x="0" y="3591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8" t="0" r="-157" b="0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94095" y="6327267"/>
            <a:ext cx="5505450" cy="2693670"/>
            <a:chOff x="0" y="0"/>
            <a:chExt cx="7340600" cy="3591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40600" cy="3591560"/>
            </a:xfrm>
            <a:custGeom>
              <a:avLst/>
              <a:gdLst/>
              <a:ahLst/>
              <a:cxnLst/>
              <a:rect r="r" b="b" t="t" l="l"/>
              <a:pathLst>
                <a:path h="3591560" w="7340600">
                  <a:moveTo>
                    <a:pt x="0" y="170180"/>
                  </a:moveTo>
                  <a:cubicBezTo>
                    <a:pt x="0" y="76200"/>
                    <a:pt x="76200" y="0"/>
                    <a:pt x="170180" y="0"/>
                  </a:cubicBezTo>
                  <a:lnTo>
                    <a:pt x="7170420" y="0"/>
                  </a:lnTo>
                  <a:cubicBezTo>
                    <a:pt x="7264400" y="0"/>
                    <a:pt x="7340600" y="76200"/>
                    <a:pt x="7340600" y="170180"/>
                  </a:cubicBezTo>
                  <a:lnTo>
                    <a:pt x="7340600" y="3421380"/>
                  </a:lnTo>
                  <a:cubicBezTo>
                    <a:pt x="7340600" y="3515360"/>
                    <a:pt x="7264400" y="3591560"/>
                    <a:pt x="7170420" y="3591560"/>
                  </a:cubicBezTo>
                  <a:lnTo>
                    <a:pt x="170180" y="3591560"/>
                  </a:lnTo>
                  <a:cubicBezTo>
                    <a:pt x="76200" y="3591560"/>
                    <a:pt x="0" y="3515360"/>
                    <a:pt x="0" y="34213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36995" y="6656451"/>
            <a:ext cx="265938" cy="265938"/>
            <a:chOff x="0" y="0"/>
            <a:chExt cx="354584" cy="3545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58000" y="6569964"/>
            <a:ext cx="4457700" cy="438912"/>
            <a:chOff x="0" y="0"/>
            <a:chExt cx="5943600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4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894" r="0" b="-147894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5943600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Monitoreo y cierre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446520" y="7084695"/>
            <a:ext cx="480060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Camiones en ruta, bultos entregados, entregas fallidas y camiones sobre el punto de equilibrio, con alertas por camión.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827383" y="6327267"/>
            <a:ext cx="5505450" cy="2693670"/>
            <a:chOff x="0" y="0"/>
            <a:chExt cx="7340600" cy="35915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40600" cy="3591560"/>
            </a:xfrm>
            <a:custGeom>
              <a:avLst/>
              <a:gdLst/>
              <a:ahLst/>
              <a:cxnLst/>
              <a:rect r="r" b="b" t="t" l="l"/>
              <a:pathLst>
                <a:path h="3591560" w="7340600">
                  <a:moveTo>
                    <a:pt x="0" y="170180"/>
                  </a:moveTo>
                  <a:cubicBezTo>
                    <a:pt x="0" y="76200"/>
                    <a:pt x="76200" y="0"/>
                    <a:pt x="170180" y="0"/>
                  </a:cubicBezTo>
                  <a:lnTo>
                    <a:pt x="7170420" y="0"/>
                  </a:lnTo>
                  <a:cubicBezTo>
                    <a:pt x="7264400" y="0"/>
                    <a:pt x="7340600" y="76200"/>
                    <a:pt x="7340600" y="170180"/>
                  </a:cubicBezTo>
                  <a:lnTo>
                    <a:pt x="7340600" y="3421380"/>
                  </a:lnTo>
                  <a:cubicBezTo>
                    <a:pt x="7340600" y="3515360"/>
                    <a:pt x="7264400" y="3591560"/>
                    <a:pt x="7170420" y="3591560"/>
                  </a:cubicBezTo>
                  <a:lnTo>
                    <a:pt x="170180" y="3591560"/>
                  </a:lnTo>
                  <a:cubicBezTo>
                    <a:pt x="76200" y="3591560"/>
                    <a:pt x="0" y="3515360"/>
                    <a:pt x="0" y="342138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70283" y="6656451"/>
            <a:ext cx="265938" cy="265938"/>
            <a:chOff x="0" y="0"/>
            <a:chExt cx="354584" cy="3545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91288" y="6569964"/>
            <a:ext cx="4457700" cy="438912"/>
            <a:chOff x="0" y="0"/>
            <a:chExt cx="5943600" cy="585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43600" cy="585216"/>
            </a:xfrm>
            <a:custGeom>
              <a:avLst/>
              <a:gdLst/>
              <a:ahLst/>
              <a:cxnLst/>
              <a:rect r="r" b="b" t="t" l="l"/>
              <a:pathLst>
                <a:path h="585216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894" r="0" b="-147894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5943600" cy="661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Usuarios y roles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179808" y="7084695"/>
            <a:ext cx="480060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Cada usuario se habilita para la web, la app móvil o ambas: en la app con rol de bodega o conductor, y en la web con sus roles.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móvil · Bodega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bodeguero recibe la orden con sus posiciones y confirma la carga desde el teléfono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212467"/>
            <a:ext cx="2824591" cy="6191250"/>
            <a:chOff x="0" y="0"/>
            <a:chExt cx="3766122" cy="8255000"/>
          </a:xfrm>
        </p:grpSpPr>
        <p:sp>
          <p:nvSpPr>
            <p:cNvPr name="Freeform 11" id="11" descr="m_login.jpg"/>
            <p:cNvSpPr/>
            <p:nvPr/>
          </p:nvSpPr>
          <p:spPr>
            <a:xfrm flipH="false" flipV="false" rot="0">
              <a:off x="0" y="0"/>
              <a:ext cx="3766185" cy="8255000"/>
            </a:xfrm>
            <a:custGeom>
              <a:avLst/>
              <a:gdLst/>
              <a:ahLst/>
              <a:cxnLst/>
              <a:rect r="r" b="b" t="t" l="l"/>
              <a:pathLst>
                <a:path h="8255000" w="3766185">
                  <a:moveTo>
                    <a:pt x="0" y="0"/>
                  </a:moveTo>
                  <a:lnTo>
                    <a:pt x="3766185" y="0"/>
                  </a:lnTo>
                  <a:lnTo>
                    <a:pt x="3766185" y="8255000"/>
                  </a:lnTo>
                  <a:lnTo>
                    <a:pt x="0" y="825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4" r="1" b="-184"/>
              </a:stretch>
            </a:blipFill>
          </p:spPr>
          <p:txBody>
            <a:bodyPr/>
            <a:p/>
          </p:txBody>
        </p:sp>
      </p:grpSp>
      <p:sp>
        <p:nvSpPr>
          <p:cNvPr name="TextBox 12" id="12"/>
          <p:cNvSpPr txBox="true"/>
          <p:nvPr/>
        </p:nvSpPr>
        <p:spPr>
          <a:xfrm rot="0">
            <a:off x="960120" y="8456295"/>
            <a:ext cx="281178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75" b="true">
                <a:solidFill>
                  <a:srgbClr val="0F2E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Ingreso por perfil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132707" y="2212467"/>
            <a:ext cx="2824591" cy="6191250"/>
            <a:chOff x="0" y="0"/>
            <a:chExt cx="3766122" cy="8255000"/>
          </a:xfrm>
        </p:grpSpPr>
        <p:sp>
          <p:nvSpPr>
            <p:cNvPr name="Freeform 14" id="14" descr="m_cola.jpg"/>
            <p:cNvSpPr/>
            <p:nvPr/>
          </p:nvSpPr>
          <p:spPr>
            <a:xfrm flipH="false" flipV="false" rot="0">
              <a:off x="0" y="0"/>
              <a:ext cx="3766185" cy="8255000"/>
            </a:xfrm>
            <a:custGeom>
              <a:avLst/>
              <a:gdLst/>
              <a:ahLst/>
              <a:cxnLst/>
              <a:rect r="r" b="b" t="t" l="l"/>
              <a:pathLst>
                <a:path h="8255000" w="3766185">
                  <a:moveTo>
                    <a:pt x="0" y="0"/>
                  </a:moveTo>
                  <a:lnTo>
                    <a:pt x="3766185" y="0"/>
                  </a:lnTo>
                  <a:lnTo>
                    <a:pt x="3766185" y="8255000"/>
                  </a:lnTo>
                  <a:lnTo>
                    <a:pt x="0" y="825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4" r="1" b="-184"/>
              </a:stretch>
            </a:blipFill>
          </p:spPr>
          <p:txBody>
            <a:bodyPr/>
            <a:p/>
          </p:txBody>
        </p:sp>
      </p:grpSp>
      <p:sp>
        <p:nvSpPr>
          <p:cNvPr name="TextBox 15" id="15"/>
          <p:cNvSpPr txBox="true"/>
          <p:nvPr/>
        </p:nvSpPr>
        <p:spPr>
          <a:xfrm rot="0">
            <a:off x="4142232" y="8456295"/>
            <a:ext cx="281178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75" b="true">
                <a:solidFill>
                  <a:srgbClr val="0F2E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Órdenes por cargar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314819" y="2212467"/>
            <a:ext cx="2824591" cy="6191250"/>
            <a:chOff x="0" y="0"/>
            <a:chExt cx="3766122" cy="8255000"/>
          </a:xfrm>
        </p:grpSpPr>
        <p:sp>
          <p:nvSpPr>
            <p:cNvPr name="Freeform 17" id="17" descr="m_orden.jpg"/>
            <p:cNvSpPr/>
            <p:nvPr/>
          </p:nvSpPr>
          <p:spPr>
            <a:xfrm flipH="false" flipV="false" rot="0">
              <a:off x="0" y="0"/>
              <a:ext cx="3766185" cy="8255000"/>
            </a:xfrm>
            <a:custGeom>
              <a:avLst/>
              <a:gdLst/>
              <a:ahLst/>
              <a:cxnLst/>
              <a:rect r="r" b="b" t="t" l="l"/>
              <a:pathLst>
                <a:path h="8255000" w="3766185">
                  <a:moveTo>
                    <a:pt x="0" y="0"/>
                  </a:moveTo>
                  <a:lnTo>
                    <a:pt x="3766185" y="0"/>
                  </a:lnTo>
                  <a:lnTo>
                    <a:pt x="3766185" y="8255000"/>
                  </a:lnTo>
                  <a:lnTo>
                    <a:pt x="0" y="825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84" r="1" b="-184"/>
              </a:stretch>
            </a:blipFill>
          </p:spPr>
          <p:txBody>
            <a:bodyPr/>
            <a:p/>
          </p:txBody>
        </p:sp>
      </p:grpSp>
      <p:sp>
        <p:nvSpPr>
          <p:cNvPr name="TextBox 18" id="18"/>
          <p:cNvSpPr txBox="true"/>
          <p:nvPr/>
        </p:nvSpPr>
        <p:spPr>
          <a:xfrm rot="0">
            <a:off x="7324344" y="8456295"/>
            <a:ext cx="281178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75" b="true">
                <a:solidFill>
                  <a:srgbClr val="0F2E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Posiciones de la orden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96931" y="2212467"/>
            <a:ext cx="2824591" cy="6191250"/>
            <a:chOff x="0" y="0"/>
            <a:chExt cx="3766122" cy="8255000"/>
          </a:xfrm>
        </p:grpSpPr>
        <p:sp>
          <p:nvSpPr>
            <p:cNvPr name="Freeform 20" id="20" descr="m_reporte.jpg"/>
            <p:cNvSpPr/>
            <p:nvPr/>
          </p:nvSpPr>
          <p:spPr>
            <a:xfrm flipH="false" flipV="false" rot="0">
              <a:off x="0" y="0"/>
              <a:ext cx="3766185" cy="8255000"/>
            </a:xfrm>
            <a:custGeom>
              <a:avLst/>
              <a:gdLst/>
              <a:ahLst/>
              <a:cxnLst/>
              <a:rect r="r" b="b" t="t" l="l"/>
              <a:pathLst>
                <a:path h="8255000" w="3766185">
                  <a:moveTo>
                    <a:pt x="0" y="0"/>
                  </a:moveTo>
                  <a:lnTo>
                    <a:pt x="3766185" y="0"/>
                  </a:lnTo>
                  <a:lnTo>
                    <a:pt x="3766185" y="8255000"/>
                  </a:lnTo>
                  <a:lnTo>
                    <a:pt x="0" y="825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84" r="1" b="-184"/>
              </a:stretch>
            </a:blipFill>
          </p:spPr>
          <p:txBody>
            <a:bodyPr/>
            <a:p/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506456" y="8456295"/>
            <a:ext cx="281178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75" b="true">
                <a:solidFill>
                  <a:srgbClr val="0F2E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Reporte de problema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784580" y="2221992"/>
            <a:ext cx="3538728" cy="6693408"/>
            <a:chOff x="0" y="0"/>
            <a:chExt cx="4718304" cy="89245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18304" cy="8924544"/>
            </a:xfrm>
            <a:custGeom>
              <a:avLst/>
              <a:gdLst/>
              <a:ahLst/>
              <a:cxnLst/>
              <a:rect r="r" b="b" t="t" l="l"/>
              <a:pathLst>
                <a:path h="8924544" w="4718304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4494784" y="0"/>
                  </a:lnTo>
                  <a:cubicBezTo>
                    <a:pt x="4618228" y="0"/>
                    <a:pt x="4718304" y="100076"/>
                    <a:pt x="4718304" y="223520"/>
                  </a:cubicBezTo>
                  <a:lnTo>
                    <a:pt x="4718304" y="8701024"/>
                  </a:lnTo>
                  <a:cubicBezTo>
                    <a:pt x="4718304" y="8824468"/>
                    <a:pt x="4618228" y="8924544"/>
                    <a:pt x="4494784" y="8924544"/>
                  </a:cubicBezTo>
                  <a:lnTo>
                    <a:pt x="223520" y="8924544"/>
                  </a:lnTo>
                  <a:cubicBezTo>
                    <a:pt x="100076" y="8924544"/>
                    <a:pt x="0" y="8824468"/>
                    <a:pt x="0" y="8701024"/>
                  </a:cubicBezTo>
                  <a:close/>
                </a:path>
              </a:pathLst>
            </a:custGeom>
            <a:solidFill>
              <a:srgbClr val="0F2E42"/>
            </a:solidFill>
          </p:spPr>
          <p:txBody>
            <a:bodyPr/>
            <a:p/>
          </p:txBody>
        </p:sp>
      </p:grpSp>
      <p:sp>
        <p:nvSpPr>
          <p:cNvPr name="TextBox 24" id="24"/>
          <p:cNvSpPr txBox="true"/>
          <p:nvPr/>
        </p:nvSpPr>
        <p:spPr>
          <a:xfrm rot="0">
            <a:off x="14086332" y="2420112"/>
            <a:ext cx="301752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 b="true">
                <a:solidFill>
                  <a:srgbClr val="16A39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Reglas en la app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86332" y="3107055"/>
            <a:ext cx="3017520" cy="553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Carga resuelta. </a:t>
            </a:r>
            <a:r>
              <a:rPr lang="en-US" sz="1575">
                <a:solidFill>
                  <a:srgbClr val="C9D6DF"/>
                </a:solidFill>
                <a:latin typeface="Calibri (MS)"/>
                <a:ea typeface="Calibri (MS)"/>
                <a:cs typeface="Calibri (MS)"/>
                <a:sym typeface="Calibri (MS)"/>
              </a:rPr>
              <a:t>El botón de confirmar se habilita solo cuando todas las posiciones están cargadas o reportadas.</a:t>
            </a:r>
          </a:p>
          <a:p>
            <a:pPr algn="l">
              <a:lnSpc>
                <a:spcPts val="2173"/>
              </a:lnSpc>
            </a:pPr>
            <a:r>
              <a:rPr lang="en-US" sz="157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Motivos cerrados. </a:t>
            </a:r>
            <a:r>
              <a:rPr lang="en-US" sz="1575">
                <a:solidFill>
                  <a:srgbClr val="C9D6DF"/>
                </a:solidFill>
                <a:latin typeface="Calibri (MS)"/>
                <a:ea typeface="Calibri (MS)"/>
                <a:cs typeface="Calibri (MS)"/>
                <a:sym typeface="Calibri (MS)"/>
              </a:rPr>
              <a:t>Sin stock en bodega, producto dañado (exige foto) o no corresponde al pedido.</a:t>
            </a:r>
          </a:p>
          <a:p>
            <a:pPr algn="l">
              <a:lnSpc>
                <a:spcPts val="2173"/>
              </a:lnSpc>
            </a:pPr>
            <a:r>
              <a:rPr lang="en-US" sz="157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Carga parcial. </a:t>
            </a:r>
            <a:r>
              <a:rPr lang="en-US" sz="1575">
                <a:solidFill>
                  <a:srgbClr val="C9D6DF"/>
                </a:solidFill>
                <a:latin typeface="Calibri (MS)"/>
                <a:ea typeface="Calibri (MS)"/>
                <a:cs typeface="Calibri (MS)"/>
                <a:sym typeface="Calibri (MS)"/>
              </a:rPr>
              <a:t>Si hay posiciones reportadas, la carga se confirma como parcial.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Pruebas del escáner de códigos de barras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Seis casos con etiquetas EAN-13 de prueba: el código se valida contra la orden abierta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349627"/>
            <a:ext cx="9620250" cy="842010"/>
            <a:chOff x="0" y="0"/>
            <a:chExt cx="12827000" cy="1122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2700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2827000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12692253" y="0"/>
                  </a:lnTo>
                  <a:cubicBezTo>
                    <a:pt x="12766675" y="0"/>
                    <a:pt x="12827000" y="60325"/>
                    <a:pt x="12827000" y="134747"/>
                  </a:cubicBezTo>
                  <a:lnTo>
                    <a:pt x="12827000" y="987933"/>
                  </a:lnTo>
                  <a:cubicBezTo>
                    <a:pt x="12827000" y="1062355"/>
                    <a:pt x="12766675" y="1122680"/>
                    <a:pt x="12692253" y="1122680"/>
                  </a:cubicBezTo>
                  <a:lnTo>
                    <a:pt x="134747" y="1122680"/>
                  </a:lnTo>
                  <a:cubicBezTo>
                    <a:pt x="60325" y="1122680"/>
                    <a:pt x="0" y="1062355"/>
                    <a:pt x="0" y="987933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03020" y="2359152"/>
            <a:ext cx="2606040" cy="822960"/>
            <a:chOff x="0" y="0"/>
            <a:chExt cx="347472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74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2" r="0" b="-11702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34747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Escaneo correcto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09060" y="2359152"/>
            <a:ext cx="4869180" cy="822960"/>
            <a:chOff x="0" y="0"/>
            <a:chExt cx="649224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9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286" r="0" b="-65286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4922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posición queda marcada como cargada y la barra avanza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46820" y="2578608"/>
            <a:ext cx="1508760" cy="384048"/>
            <a:chOff x="0" y="0"/>
            <a:chExt cx="201168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1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0116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755648" y="0"/>
                  </a:lnTo>
                  <a:cubicBezTo>
                    <a:pt x="1896999" y="0"/>
                    <a:pt x="2011680" y="114681"/>
                    <a:pt x="2011680" y="256032"/>
                  </a:cubicBezTo>
                  <a:cubicBezTo>
                    <a:pt x="2011680" y="397383"/>
                    <a:pt x="1896999" y="512064"/>
                    <a:pt x="1755648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46820" y="2578608"/>
            <a:ext cx="1508760" cy="384048"/>
            <a:chOff x="0" y="0"/>
            <a:chExt cx="2011680" cy="5120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1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01168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Realizado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0595" y="3309747"/>
            <a:ext cx="9620250" cy="842010"/>
            <a:chOff x="0" y="0"/>
            <a:chExt cx="12827000" cy="1122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2700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2827000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12692253" y="0"/>
                  </a:lnTo>
                  <a:cubicBezTo>
                    <a:pt x="12766675" y="0"/>
                    <a:pt x="12827000" y="60325"/>
                    <a:pt x="12827000" y="134747"/>
                  </a:cubicBezTo>
                  <a:lnTo>
                    <a:pt x="12827000" y="987933"/>
                  </a:lnTo>
                  <a:cubicBezTo>
                    <a:pt x="12827000" y="1062355"/>
                    <a:pt x="12766675" y="1122680"/>
                    <a:pt x="12692253" y="1122680"/>
                  </a:cubicBezTo>
                  <a:lnTo>
                    <a:pt x="134747" y="1122680"/>
                  </a:lnTo>
                  <a:cubicBezTo>
                    <a:pt x="60325" y="1122680"/>
                    <a:pt x="0" y="1062355"/>
                    <a:pt x="0" y="98793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3020" y="3319272"/>
            <a:ext cx="2606040" cy="822960"/>
            <a:chOff x="0" y="0"/>
            <a:chExt cx="347472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74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2" r="0" b="-11702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34747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Código repetido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909060" y="3319272"/>
            <a:ext cx="4869180" cy="822960"/>
            <a:chOff x="0" y="0"/>
            <a:chExt cx="649224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9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286" r="0" b="-65286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4922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Avisa que ya estaba cargada y no la duplica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846820" y="3538728"/>
            <a:ext cx="1508760" cy="384048"/>
            <a:chOff x="0" y="0"/>
            <a:chExt cx="2011680" cy="5120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11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0116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755648" y="0"/>
                  </a:lnTo>
                  <a:cubicBezTo>
                    <a:pt x="1896999" y="0"/>
                    <a:pt x="2011680" y="114681"/>
                    <a:pt x="2011680" y="256032"/>
                  </a:cubicBezTo>
                  <a:cubicBezTo>
                    <a:pt x="2011680" y="397383"/>
                    <a:pt x="1896999" y="512064"/>
                    <a:pt x="1755648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846820" y="3538728"/>
            <a:ext cx="1508760" cy="384048"/>
            <a:chOff x="0" y="0"/>
            <a:chExt cx="2011680" cy="5120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11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01168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Realizado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0595" y="4269867"/>
            <a:ext cx="9620250" cy="842010"/>
            <a:chOff x="0" y="0"/>
            <a:chExt cx="12827000" cy="1122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2700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2827000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12692253" y="0"/>
                  </a:lnTo>
                  <a:cubicBezTo>
                    <a:pt x="12766675" y="0"/>
                    <a:pt x="12827000" y="60325"/>
                    <a:pt x="12827000" y="134747"/>
                  </a:cubicBezTo>
                  <a:lnTo>
                    <a:pt x="12827000" y="987933"/>
                  </a:lnTo>
                  <a:cubicBezTo>
                    <a:pt x="12827000" y="1062355"/>
                    <a:pt x="12766675" y="1122680"/>
                    <a:pt x="12692253" y="1122680"/>
                  </a:cubicBezTo>
                  <a:lnTo>
                    <a:pt x="134747" y="1122680"/>
                  </a:lnTo>
                  <a:cubicBezTo>
                    <a:pt x="60325" y="1122680"/>
                    <a:pt x="0" y="1062355"/>
                    <a:pt x="0" y="987933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03020" y="4279392"/>
            <a:ext cx="2606040" cy="822960"/>
            <a:chOff x="0" y="0"/>
            <a:chExt cx="347472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74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2" r="0" b="-11702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34747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Código ajeno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909060" y="4279392"/>
            <a:ext cx="4869180" cy="822960"/>
            <a:chOff x="0" y="0"/>
            <a:chExt cx="649224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9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286" r="0" b="-65286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4922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Rechaza el código indicando que no pertenece a la orden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846820" y="4498848"/>
            <a:ext cx="1508760" cy="384048"/>
            <a:chOff x="0" y="0"/>
            <a:chExt cx="2011680" cy="5120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11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0116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755648" y="0"/>
                  </a:lnTo>
                  <a:cubicBezTo>
                    <a:pt x="1896999" y="0"/>
                    <a:pt x="2011680" y="114681"/>
                    <a:pt x="2011680" y="256032"/>
                  </a:cubicBezTo>
                  <a:cubicBezTo>
                    <a:pt x="2011680" y="397383"/>
                    <a:pt x="1896999" y="512064"/>
                    <a:pt x="1755648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8846820" y="4498848"/>
            <a:ext cx="1508760" cy="384048"/>
            <a:chOff x="0" y="0"/>
            <a:chExt cx="2011680" cy="5120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11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201168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Realizado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50595" y="5229987"/>
            <a:ext cx="9620250" cy="842010"/>
            <a:chOff x="0" y="0"/>
            <a:chExt cx="12827000" cy="11226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82700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2827000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12692253" y="0"/>
                  </a:lnTo>
                  <a:cubicBezTo>
                    <a:pt x="12766675" y="0"/>
                    <a:pt x="12827000" y="60325"/>
                    <a:pt x="12827000" y="134747"/>
                  </a:cubicBezTo>
                  <a:lnTo>
                    <a:pt x="12827000" y="987933"/>
                  </a:lnTo>
                  <a:cubicBezTo>
                    <a:pt x="12827000" y="1062355"/>
                    <a:pt x="12766675" y="1122680"/>
                    <a:pt x="12692253" y="1122680"/>
                  </a:cubicBezTo>
                  <a:lnTo>
                    <a:pt x="134747" y="1122680"/>
                  </a:lnTo>
                  <a:cubicBezTo>
                    <a:pt x="60325" y="1122680"/>
                    <a:pt x="0" y="1062355"/>
                    <a:pt x="0" y="98793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03020" y="5239512"/>
            <a:ext cx="2606040" cy="822960"/>
            <a:chOff x="0" y="0"/>
            <a:chExt cx="347472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74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2" r="0" b="-11702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34747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Carga completa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909060" y="5239512"/>
            <a:ext cx="4869180" cy="822960"/>
            <a:chOff x="0" y="0"/>
            <a:chExt cx="6492240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49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286" r="0" b="-65286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4922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 todas las posiciones cargadas se habilita la confirmación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846820" y="5458968"/>
            <a:ext cx="1508760" cy="384048"/>
            <a:chOff x="0" y="0"/>
            <a:chExt cx="2011680" cy="5120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11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0116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755648" y="0"/>
                  </a:lnTo>
                  <a:cubicBezTo>
                    <a:pt x="1896999" y="0"/>
                    <a:pt x="2011680" y="114681"/>
                    <a:pt x="2011680" y="256032"/>
                  </a:cubicBezTo>
                  <a:cubicBezTo>
                    <a:pt x="2011680" y="397383"/>
                    <a:pt x="1896999" y="512064"/>
                    <a:pt x="1755648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8846820" y="5458968"/>
            <a:ext cx="1508760" cy="384048"/>
            <a:chOff x="0" y="0"/>
            <a:chExt cx="2011680" cy="51206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11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01168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Realizado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0595" y="6190107"/>
            <a:ext cx="9620250" cy="842010"/>
            <a:chOff x="0" y="0"/>
            <a:chExt cx="12827000" cy="1122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82700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2827000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12692253" y="0"/>
                  </a:lnTo>
                  <a:cubicBezTo>
                    <a:pt x="12766675" y="0"/>
                    <a:pt x="12827000" y="60325"/>
                    <a:pt x="12827000" y="134747"/>
                  </a:cubicBezTo>
                  <a:lnTo>
                    <a:pt x="12827000" y="987933"/>
                  </a:lnTo>
                  <a:cubicBezTo>
                    <a:pt x="12827000" y="1062355"/>
                    <a:pt x="12766675" y="1122680"/>
                    <a:pt x="12692253" y="1122680"/>
                  </a:cubicBezTo>
                  <a:lnTo>
                    <a:pt x="134747" y="1122680"/>
                  </a:lnTo>
                  <a:cubicBezTo>
                    <a:pt x="60325" y="1122680"/>
                    <a:pt x="0" y="1062355"/>
                    <a:pt x="0" y="987933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03020" y="6199632"/>
            <a:ext cx="2606040" cy="822960"/>
            <a:chOff x="0" y="0"/>
            <a:chExt cx="347472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74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2" r="0" b="-11702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34747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Carga parcial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909060" y="6199632"/>
            <a:ext cx="4869180" cy="822960"/>
            <a:chOff x="0" y="0"/>
            <a:chExt cx="649224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49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286" r="0" b="-65286"/>
              </a:stretch>
            </a:blipFill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64922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 posiciones reportadas sin stock, confirma carga parcial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846820" y="6419088"/>
            <a:ext cx="1508760" cy="384048"/>
            <a:chOff x="0" y="0"/>
            <a:chExt cx="2011680" cy="5120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11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0116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755648" y="0"/>
                  </a:lnTo>
                  <a:cubicBezTo>
                    <a:pt x="1896999" y="0"/>
                    <a:pt x="2011680" y="114681"/>
                    <a:pt x="2011680" y="256032"/>
                  </a:cubicBezTo>
                  <a:cubicBezTo>
                    <a:pt x="2011680" y="397383"/>
                    <a:pt x="1896999" y="512064"/>
                    <a:pt x="1755648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8846820" y="6419088"/>
            <a:ext cx="1508760" cy="384048"/>
            <a:chOff x="0" y="0"/>
            <a:chExt cx="2011680" cy="51206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011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201168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Realizado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50595" y="7150227"/>
            <a:ext cx="9620250" cy="842010"/>
            <a:chOff x="0" y="0"/>
            <a:chExt cx="12827000" cy="1122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82700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2827000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12692253" y="0"/>
                  </a:lnTo>
                  <a:cubicBezTo>
                    <a:pt x="12766675" y="0"/>
                    <a:pt x="12827000" y="60325"/>
                    <a:pt x="12827000" y="134747"/>
                  </a:cubicBezTo>
                  <a:lnTo>
                    <a:pt x="12827000" y="987933"/>
                  </a:lnTo>
                  <a:cubicBezTo>
                    <a:pt x="12827000" y="1062355"/>
                    <a:pt x="12766675" y="1122680"/>
                    <a:pt x="12692253" y="1122680"/>
                  </a:cubicBezTo>
                  <a:lnTo>
                    <a:pt x="134747" y="1122680"/>
                  </a:lnTo>
                  <a:cubicBezTo>
                    <a:pt x="60325" y="1122680"/>
                    <a:pt x="0" y="1062355"/>
                    <a:pt x="0" y="98793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03020" y="7159752"/>
            <a:ext cx="2606040" cy="822960"/>
            <a:chOff x="0" y="0"/>
            <a:chExt cx="3474720" cy="10972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474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2" r="0" b="-11702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66675"/>
              <a:ext cx="34747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Producto dañado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3909060" y="7159752"/>
            <a:ext cx="4869180" cy="822960"/>
            <a:chOff x="0" y="0"/>
            <a:chExt cx="6492240" cy="10972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492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286" r="0" b="-65286"/>
              </a:stretch>
            </a:blipFill>
          </p:spPr>
          <p:txBody>
            <a:bodyPr/>
            <a:p/>
          </p:txBody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64922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Exige tomar una foto antes de aceptar el motivo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846820" y="7379208"/>
            <a:ext cx="1508760" cy="384048"/>
            <a:chOff x="0" y="0"/>
            <a:chExt cx="2011680" cy="5120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011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0116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755648" y="0"/>
                  </a:lnTo>
                  <a:cubicBezTo>
                    <a:pt x="1896999" y="0"/>
                    <a:pt x="2011680" y="114681"/>
                    <a:pt x="2011680" y="256032"/>
                  </a:cubicBezTo>
                  <a:cubicBezTo>
                    <a:pt x="2011680" y="397383"/>
                    <a:pt x="1896999" y="512064"/>
                    <a:pt x="1755648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85" id="85"/>
          <p:cNvGrpSpPr/>
          <p:nvPr/>
        </p:nvGrpSpPr>
        <p:grpSpPr>
          <a:xfrm rot="0">
            <a:off x="8846820" y="7379208"/>
            <a:ext cx="1508760" cy="384048"/>
            <a:chOff x="0" y="0"/>
            <a:chExt cx="2011680" cy="51206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011680" cy="512064"/>
            </a:xfrm>
            <a:custGeom>
              <a:avLst/>
              <a:gdLst/>
              <a:ahLst/>
              <a:cxnLst/>
              <a:rect r="r" b="b" t="t" l="l"/>
              <a:pathLst>
                <a:path h="512064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  <p:txBody>
            <a:bodyPr/>
            <a:p/>
          </p:txBody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201168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Realizado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960120" y="8181975"/>
            <a:ext cx="9601200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Hoja de etiquetas de prueba: 3 órdenes y 10 posiciones con códigos EAN-13 válidos. Se puede imprimir o mostrar en pantalla.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1031855" y="2212467"/>
            <a:ext cx="2824591" cy="6191250"/>
            <a:chOff x="0" y="0"/>
            <a:chExt cx="3766122" cy="8255000"/>
          </a:xfrm>
        </p:grpSpPr>
        <p:sp>
          <p:nvSpPr>
            <p:cNvPr name="Freeform 90" id="90" descr="m_ajeno.jpg"/>
            <p:cNvSpPr/>
            <p:nvPr/>
          </p:nvSpPr>
          <p:spPr>
            <a:xfrm flipH="false" flipV="false" rot="0">
              <a:off x="0" y="0"/>
              <a:ext cx="3766185" cy="8255000"/>
            </a:xfrm>
            <a:custGeom>
              <a:avLst/>
              <a:gdLst/>
              <a:ahLst/>
              <a:cxnLst/>
              <a:rect r="r" b="b" t="t" l="l"/>
              <a:pathLst>
                <a:path h="8255000" w="3766185">
                  <a:moveTo>
                    <a:pt x="0" y="0"/>
                  </a:moveTo>
                  <a:lnTo>
                    <a:pt x="3766185" y="0"/>
                  </a:lnTo>
                  <a:lnTo>
                    <a:pt x="3766185" y="8255000"/>
                  </a:lnTo>
                  <a:lnTo>
                    <a:pt x="0" y="825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4" r="1" b="-184"/>
              </a:stretch>
            </a:blipFill>
          </p:spPr>
          <p:txBody>
            <a:bodyPr/>
            <a:p/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323695" y="2212467"/>
            <a:ext cx="2824591" cy="6191250"/>
            <a:chOff x="0" y="0"/>
            <a:chExt cx="3766122" cy="8255000"/>
          </a:xfrm>
        </p:grpSpPr>
        <p:sp>
          <p:nvSpPr>
            <p:cNvPr name="Freeform 92" id="92" descr="m_repetido.jpg"/>
            <p:cNvSpPr/>
            <p:nvPr/>
          </p:nvSpPr>
          <p:spPr>
            <a:xfrm flipH="false" flipV="false" rot="0">
              <a:off x="0" y="0"/>
              <a:ext cx="3766185" cy="8255000"/>
            </a:xfrm>
            <a:custGeom>
              <a:avLst/>
              <a:gdLst/>
              <a:ahLst/>
              <a:cxnLst/>
              <a:rect r="r" b="b" t="t" l="l"/>
              <a:pathLst>
                <a:path h="8255000" w="3766185">
                  <a:moveTo>
                    <a:pt x="0" y="0"/>
                  </a:moveTo>
                  <a:lnTo>
                    <a:pt x="3766185" y="0"/>
                  </a:lnTo>
                  <a:lnTo>
                    <a:pt x="3766185" y="8255000"/>
                  </a:lnTo>
                  <a:lnTo>
                    <a:pt x="0" y="825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4" r="1" b="-184"/>
              </a:stretch>
            </a:blipFill>
          </p:spPr>
          <p:txBody>
            <a:bodyPr/>
            <a:p/>
          </p:txBody>
        </p:sp>
      </p:grpSp>
      <p:sp>
        <p:nvSpPr>
          <p:cNvPr name="TextBox 93" id="93"/>
          <p:cNvSpPr txBox="true"/>
          <p:nvPr/>
        </p:nvSpPr>
        <p:spPr>
          <a:xfrm rot="0">
            <a:off x="11041380" y="8456295"/>
            <a:ext cx="281178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75" b="true">
                <a:solidFill>
                  <a:srgbClr val="0F2E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Código ajeno rechazado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4333220" y="8456295"/>
            <a:ext cx="281178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75" b="true">
                <a:solidFill>
                  <a:srgbClr val="0F2E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Código repetido detectado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 de datos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único modelo relacional compartido por la aplicación web y la app móvil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349627"/>
            <a:ext cx="11129010" cy="6602730"/>
            <a:chOff x="0" y="0"/>
            <a:chExt cx="14838680" cy="8803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838680" cy="8803640"/>
            </a:xfrm>
            <a:custGeom>
              <a:avLst/>
              <a:gdLst/>
              <a:ahLst/>
              <a:cxnLst/>
              <a:rect r="r" b="b" t="t" l="l"/>
              <a:pathLst>
                <a:path h="8803640" w="14838680">
                  <a:moveTo>
                    <a:pt x="0" y="264160"/>
                  </a:moveTo>
                  <a:cubicBezTo>
                    <a:pt x="0" y="118237"/>
                    <a:pt x="118237" y="0"/>
                    <a:pt x="264160" y="0"/>
                  </a:cubicBezTo>
                  <a:lnTo>
                    <a:pt x="14574520" y="0"/>
                  </a:lnTo>
                  <a:cubicBezTo>
                    <a:pt x="14720443" y="0"/>
                    <a:pt x="14838680" y="118237"/>
                    <a:pt x="14838680" y="264160"/>
                  </a:cubicBezTo>
                  <a:lnTo>
                    <a:pt x="14838680" y="8539480"/>
                  </a:lnTo>
                  <a:cubicBezTo>
                    <a:pt x="14838680" y="8685403"/>
                    <a:pt x="14720443" y="8803640"/>
                    <a:pt x="14574520" y="8803640"/>
                  </a:cubicBezTo>
                  <a:lnTo>
                    <a:pt x="264160" y="8803640"/>
                  </a:lnTo>
                  <a:cubicBezTo>
                    <a:pt x="118237" y="8803640"/>
                    <a:pt x="0" y="8685403"/>
                    <a:pt x="0" y="853948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9FB3C2"/>
              </a:solidFill>
              <a:prstDash val="dash"/>
              <a:miter/>
            </a:ln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81560" y="2359152"/>
            <a:ext cx="4800600" cy="2125980"/>
            <a:chOff x="0" y="0"/>
            <a:chExt cx="6400800" cy="2834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08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400800">
                  <a:moveTo>
                    <a:pt x="0" y="134239"/>
                  </a:moveTo>
                  <a:cubicBezTo>
                    <a:pt x="0" y="60071"/>
                    <a:pt x="60071" y="0"/>
                    <a:pt x="134239" y="0"/>
                  </a:cubicBezTo>
                  <a:lnTo>
                    <a:pt x="6266561" y="0"/>
                  </a:lnTo>
                  <a:cubicBezTo>
                    <a:pt x="6340729" y="0"/>
                    <a:pt x="6400800" y="60071"/>
                    <a:pt x="6400800" y="134239"/>
                  </a:cubicBezTo>
                  <a:lnTo>
                    <a:pt x="6400800" y="2700401"/>
                  </a:lnTo>
                  <a:cubicBezTo>
                    <a:pt x="6400800" y="2774569"/>
                    <a:pt x="6340729" y="2834640"/>
                    <a:pt x="6266561" y="2834640"/>
                  </a:cubicBezTo>
                  <a:lnTo>
                    <a:pt x="134239" y="2834640"/>
                  </a:lnTo>
                  <a:cubicBezTo>
                    <a:pt x="60071" y="2834640"/>
                    <a:pt x="0" y="2774569"/>
                    <a:pt x="0" y="2700401"/>
                  </a:cubicBezTo>
                  <a:close/>
                </a:path>
              </a:pathLst>
            </a:custGeom>
            <a:solidFill>
              <a:srgbClr val="0F2E42"/>
            </a:solidFill>
          </p:spPr>
          <p:txBody>
            <a:bodyPr/>
            <a:p/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783312" y="2502408"/>
            <a:ext cx="425196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 b="true">
                <a:solidFill>
                  <a:srgbClr val="16A39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83312" y="3079623"/>
            <a:ext cx="4251960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C9D6D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en el servidor del equipo, con acceso remoto por túnel seguro (Cloudflare).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472035" y="4722495"/>
            <a:ext cx="4819650" cy="4229862"/>
            <a:chOff x="0" y="0"/>
            <a:chExt cx="6426200" cy="56398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26200" cy="5639816"/>
            </a:xfrm>
            <a:custGeom>
              <a:avLst/>
              <a:gdLst/>
              <a:ahLst/>
              <a:cxnLst/>
              <a:rect r="r" b="b" t="t" l="l"/>
              <a:pathLst>
                <a:path h="5639816" w="6426200">
                  <a:moveTo>
                    <a:pt x="0" y="267208"/>
                  </a:moveTo>
                  <a:cubicBezTo>
                    <a:pt x="0" y="119634"/>
                    <a:pt x="119634" y="0"/>
                    <a:pt x="267208" y="0"/>
                  </a:cubicBezTo>
                  <a:lnTo>
                    <a:pt x="6158992" y="0"/>
                  </a:lnTo>
                  <a:cubicBezTo>
                    <a:pt x="6306566" y="0"/>
                    <a:pt x="6426200" y="119634"/>
                    <a:pt x="6426200" y="267208"/>
                  </a:cubicBezTo>
                  <a:lnTo>
                    <a:pt x="6426200" y="5372608"/>
                  </a:lnTo>
                  <a:cubicBezTo>
                    <a:pt x="6426200" y="5520182"/>
                    <a:pt x="6306566" y="5639816"/>
                    <a:pt x="6158992" y="5639816"/>
                  </a:cubicBezTo>
                  <a:lnTo>
                    <a:pt x="267208" y="5639816"/>
                  </a:lnTo>
                  <a:cubicBezTo>
                    <a:pt x="119634" y="5639816"/>
                    <a:pt x="0" y="5520182"/>
                    <a:pt x="0" y="53726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783312" y="4861560"/>
            <a:ext cx="425196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0"/>
              </a:lnSpc>
            </a:pPr>
            <a:r>
              <a:rPr lang="en-US" sz="1950" b="true">
                <a:solidFill>
                  <a:srgbClr val="0F2E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Entidades principales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83312" y="5400675"/>
            <a:ext cx="4251960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Comercial: clientes, ventas, detalle_ventas, comunas, zonas.</a:t>
            </a:r>
          </a:p>
          <a:p lvl="0">
            <a:pPr algn="l">
              <a:lnSpc>
                <a:spcPts val="2574"/>
              </a:lnSpc>
            </a:pPr>
            <a:r>
              <a:rPr lang="en-US" sz="1650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Operación: ordenes, guias, posiciones, eventos_carga.</a:t>
            </a:r>
          </a:p>
          <a:p lvl="0">
            <a:pPr algn="l">
              <a:lnSpc>
                <a:spcPts val="2574"/>
              </a:lnSpc>
            </a:pPr>
            <a:r>
              <a:rPr lang="en-US" sz="1650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Transporte: vehiculos, rutas, paradas_ruta, entregas, entregas_bultos.</a:t>
            </a:r>
          </a:p>
          <a:p lvl="0">
            <a:pPr algn="l">
              <a:lnSpc>
                <a:spcPts val="2574"/>
              </a:lnSpc>
            </a:pPr>
            <a:r>
              <a:rPr lang="en-US" sz="1650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Seguridad: usuarios, roles, usuarios_roles.</a:t>
            </a:r>
          </a:p>
          <a:p lvl="0">
            <a:pPr algn="l">
              <a:lnSpc>
                <a:spcPts val="2574"/>
              </a:lnSpc>
            </a:pPr>
            <a:r>
              <a:rPr lang="en-US" sz="1650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35 tablas en total.</a:t>
            </a:r>
          </a:p>
        </p:txBody>
      </p:sp>
      <p:pic>
        <p:nvPicPr>
          <p:cNvPr id="22" name="Picture 21" descr="mode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933" y="2606040"/>
            <a:ext cx="10250333" cy="60899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e infraestructura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servicio común para la web y la app, desplegado en el servidor del equipo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349627"/>
            <a:ext cx="11129010" cy="6602730"/>
            <a:chOff x="0" y="0"/>
            <a:chExt cx="14838680" cy="8803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838680" cy="8803640"/>
            </a:xfrm>
            <a:custGeom>
              <a:avLst/>
              <a:gdLst/>
              <a:ahLst/>
              <a:cxnLst/>
              <a:rect r="r" b="b" t="t" l="l"/>
              <a:pathLst>
                <a:path h="8803640" w="14838680">
                  <a:moveTo>
                    <a:pt x="0" y="264160"/>
                  </a:moveTo>
                  <a:cubicBezTo>
                    <a:pt x="0" y="118237"/>
                    <a:pt x="118237" y="0"/>
                    <a:pt x="264160" y="0"/>
                  </a:cubicBezTo>
                  <a:lnTo>
                    <a:pt x="14574520" y="0"/>
                  </a:lnTo>
                  <a:cubicBezTo>
                    <a:pt x="14720443" y="0"/>
                    <a:pt x="14838680" y="118237"/>
                    <a:pt x="14838680" y="264160"/>
                  </a:cubicBezTo>
                  <a:lnTo>
                    <a:pt x="14838680" y="8539480"/>
                  </a:lnTo>
                  <a:cubicBezTo>
                    <a:pt x="14838680" y="8685403"/>
                    <a:pt x="14720443" y="8803640"/>
                    <a:pt x="14574520" y="8803640"/>
                  </a:cubicBezTo>
                  <a:lnTo>
                    <a:pt x="264160" y="8803640"/>
                  </a:lnTo>
                  <a:cubicBezTo>
                    <a:pt x="118237" y="8803640"/>
                    <a:pt x="0" y="8685403"/>
                    <a:pt x="0" y="8539480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9FB3C2"/>
              </a:solidFill>
              <a:prstDash val="dash"/>
              <a:miter/>
            </a:ln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72035" y="2349627"/>
            <a:ext cx="4819650" cy="2049018"/>
            <a:chOff x="0" y="0"/>
            <a:chExt cx="6426200" cy="27320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26200" cy="2732024"/>
            </a:xfrm>
            <a:custGeom>
              <a:avLst/>
              <a:gdLst/>
              <a:ahLst/>
              <a:cxnLst/>
              <a:rect r="r" b="b" t="t" l="l"/>
              <a:pathLst>
                <a:path h="2732024" w="6426200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6296787" y="0"/>
                  </a:lnTo>
                  <a:cubicBezTo>
                    <a:pt x="6368288" y="0"/>
                    <a:pt x="6426200" y="57912"/>
                    <a:pt x="6426200" y="129413"/>
                  </a:cubicBezTo>
                  <a:lnTo>
                    <a:pt x="6426200" y="2602611"/>
                  </a:lnTo>
                  <a:cubicBezTo>
                    <a:pt x="6426200" y="2674112"/>
                    <a:pt x="6368288" y="2732024"/>
                    <a:pt x="6296787" y="2732024"/>
                  </a:cubicBezTo>
                  <a:lnTo>
                    <a:pt x="129413" y="2732024"/>
                  </a:lnTo>
                  <a:cubicBezTo>
                    <a:pt x="57912" y="2732024"/>
                    <a:pt x="0" y="2674112"/>
                    <a:pt x="0" y="260261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773787" y="2651379"/>
            <a:ext cx="238506" cy="238506"/>
            <a:chOff x="0" y="0"/>
            <a:chExt cx="318008" cy="3180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167360" y="2537460"/>
            <a:ext cx="3840480" cy="466344"/>
            <a:chOff x="0" y="0"/>
            <a:chExt cx="5120640" cy="6217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65" r="0" b="-110465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5120640" cy="697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Servicio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783312" y="3065907"/>
            <a:ext cx="4251960" cy="121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API REST consumida por la web y la app móvil; WebSocket para el monitoreo en tiempo real.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472035" y="4585335"/>
            <a:ext cx="4819650" cy="2049018"/>
            <a:chOff x="0" y="0"/>
            <a:chExt cx="6426200" cy="27320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26200" cy="2732024"/>
            </a:xfrm>
            <a:custGeom>
              <a:avLst/>
              <a:gdLst/>
              <a:ahLst/>
              <a:cxnLst/>
              <a:rect r="r" b="b" t="t" l="l"/>
              <a:pathLst>
                <a:path h="2732024" w="6426200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6296787" y="0"/>
                  </a:lnTo>
                  <a:cubicBezTo>
                    <a:pt x="6368288" y="0"/>
                    <a:pt x="6426200" y="57912"/>
                    <a:pt x="6426200" y="129413"/>
                  </a:cubicBezTo>
                  <a:lnTo>
                    <a:pt x="6426200" y="2602611"/>
                  </a:lnTo>
                  <a:cubicBezTo>
                    <a:pt x="6426200" y="2674112"/>
                    <a:pt x="6368288" y="2732024"/>
                    <a:pt x="6296787" y="2732024"/>
                  </a:cubicBezTo>
                  <a:lnTo>
                    <a:pt x="129413" y="2732024"/>
                  </a:lnTo>
                  <a:cubicBezTo>
                    <a:pt x="57912" y="2732024"/>
                    <a:pt x="0" y="2674112"/>
                    <a:pt x="0" y="260261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773787" y="4887087"/>
            <a:ext cx="238506" cy="238506"/>
            <a:chOff x="0" y="0"/>
            <a:chExt cx="318008" cy="3180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C87B2E"/>
            </a:solidFill>
            <a:ln w="19050" cap="sq">
              <a:solidFill>
                <a:srgbClr val="C87B2E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167360" y="4773168"/>
            <a:ext cx="3840480" cy="466344"/>
            <a:chOff x="0" y="0"/>
            <a:chExt cx="5120640" cy="6217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65" r="0" b="-110465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5120640" cy="697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Estado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783312" y="5301615"/>
            <a:ext cx="4251960" cy="121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Publicada en api.vialnex.app, con su documentación en /api/docs. La consumen la aplicación web y la aplicación móvil.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472035" y="6821043"/>
            <a:ext cx="4819650" cy="2049018"/>
            <a:chOff x="0" y="0"/>
            <a:chExt cx="6426200" cy="27320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26200" cy="2732024"/>
            </a:xfrm>
            <a:custGeom>
              <a:avLst/>
              <a:gdLst/>
              <a:ahLst/>
              <a:cxnLst/>
              <a:rect r="r" b="b" t="t" l="l"/>
              <a:pathLst>
                <a:path h="2732024" w="6426200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6296787" y="0"/>
                  </a:lnTo>
                  <a:cubicBezTo>
                    <a:pt x="6368288" y="0"/>
                    <a:pt x="6426200" y="57912"/>
                    <a:pt x="6426200" y="129413"/>
                  </a:cubicBezTo>
                  <a:lnTo>
                    <a:pt x="6426200" y="2602611"/>
                  </a:lnTo>
                  <a:cubicBezTo>
                    <a:pt x="6426200" y="2674112"/>
                    <a:pt x="6368288" y="2732024"/>
                    <a:pt x="6296787" y="2732024"/>
                  </a:cubicBezTo>
                  <a:lnTo>
                    <a:pt x="129413" y="2732024"/>
                  </a:lnTo>
                  <a:cubicBezTo>
                    <a:pt x="57912" y="2732024"/>
                    <a:pt x="0" y="2674112"/>
                    <a:pt x="0" y="260261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773787" y="7122795"/>
            <a:ext cx="238506" cy="238506"/>
            <a:chOff x="0" y="0"/>
            <a:chExt cx="318008" cy="3180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167360" y="7008876"/>
            <a:ext cx="3840480" cy="466344"/>
            <a:chOff x="0" y="0"/>
            <a:chExt cx="5120640" cy="6217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20640" cy="621792"/>
            </a:xfrm>
            <a:custGeom>
              <a:avLst/>
              <a:gdLst/>
              <a:ahLst/>
              <a:cxnLst/>
              <a:rect r="r" b="b" t="t" l="l"/>
              <a:pathLst>
                <a:path h="6217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65" r="0" b="-110465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5120640" cy="697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Despliegue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783312" y="7537323"/>
            <a:ext cx="4251960" cy="121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Servidor del equipo con túnel seguro de Cloudflare. Web en vialnex.app y app con build en Expo.</a:t>
            </a:r>
          </a:p>
        </p:txBody>
      </p:sp>
      <p:pic>
        <p:nvPicPr>
          <p:cNvPr id="38" name="Picture 37" descr="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933" y="2606040"/>
            <a:ext cx="10250333" cy="60899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2344400" cy="822960"/>
            <a:chOff x="0" y="0"/>
            <a:chExt cx="16459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645920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Componente de innovación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Tablero de rentabilidad: saber al cierre del día si el camión ganó o perdió plata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253615"/>
            <a:ext cx="10443210" cy="7219950"/>
            <a:chOff x="0" y="0"/>
            <a:chExt cx="13924280" cy="9626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24280" cy="9626600"/>
            </a:xfrm>
            <a:custGeom>
              <a:avLst/>
              <a:gdLst/>
              <a:ahLst/>
              <a:cxnLst/>
              <a:rect r="r" b="b" t="t" l="l"/>
              <a:pathLst>
                <a:path h="9626600" w="13924280">
                  <a:moveTo>
                    <a:pt x="0" y="91694"/>
                  </a:moveTo>
                  <a:cubicBezTo>
                    <a:pt x="0" y="41021"/>
                    <a:pt x="41021" y="0"/>
                    <a:pt x="91694" y="0"/>
                  </a:cubicBezTo>
                  <a:lnTo>
                    <a:pt x="13832587" y="0"/>
                  </a:lnTo>
                  <a:cubicBezTo>
                    <a:pt x="13883260" y="0"/>
                    <a:pt x="13924280" y="41021"/>
                    <a:pt x="13924280" y="91694"/>
                  </a:cubicBezTo>
                  <a:lnTo>
                    <a:pt x="13924280" y="9534906"/>
                  </a:lnTo>
                  <a:cubicBezTo>
                    <a:pt x="13924280" y="9585579"/>
                    <a:pt x="13883260" y="9626600"/>
                    <a:pt x="13832587" y="9626600"/>
                  </a:cubicBezTo>
                  <a:lnTo>
                    <a:pt x="91694" y="9626600"/>
                  </a:lnTo>
                  <a:cubicBezTo>
                    <a:pt x="41021" y="9626600"/>
                    <a:pt x="0" y="9585579"/>
                    <a:pt x="0" y="953490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4311" y="2267331"/>
            <a:ext cx="10415778" cy="457962"/>
            <a:chOff x="0" y="0"/>
            <a:chExt cx="13887704" cy="610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887704" cy="610616"/>
            </a:xfrm>
            <a:custGeom>
              <a:avLst/>
              <a:gdLst/>
              <a:ahLst/>
              <a:cxnLst/>
              <a:rect r="r" b="b" t="t" l="l"/>
              <a:pathLst>
                <a:path h="610616" w="13887704">
                  <a:moveTo>
                    <a:pt x="0" y="0"/>
                  </a:moveTo>
                  <a:lnTo>
                    <a:pt x="13887704" y="0"/>
                  </a:lnTo>
                  <a:lnTo>
                    <a:pt x="13887704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F2F6F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0051" y="2404491"/>
            <a:ext cx="169926" cy="169926"/>
            <a:chOff x="0" y="0"/>
            <a:chExt cx="226568" cy="2265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E06C5B"/>
            </a:solidFill>
            <a:ln w="19050" cap="sq">
              <a:solidFill>
                <a:srgbClr val="E06C5B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44371" y="2404491"/>
            <a:ext cx="169926" cy="169926"/>
            <a:chOff x="0" y="0"/>
            <a:chExt cx="226568" cy="2265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E8B84B"/>
            </a:solidFill>
            <a:ln w="19050" cap="sq">
              <a:solidFill>
                <a:srgbClr val="E8B84B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8691" y="2404491"/>
            <a:ext cx="169926" cy="169926"/>
            <a:chOff x="0" y="0"/>
            <a:chExt cx="226568" cy="2265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5BB98C"/>
            </a:solidFill>
            <a:ln w="19050" cap="sq">
              <a:solidFill>
                <a:srgbClr val="5BB98C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18836" y="2352008"/>
            <a:ext cx="8929688" cy="288608"/>
            <a:chOff x="0" y="0"/>
            <a:chExt cx="11906250" cy="3848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906250" cy="384683"/>
            </a:xfrm>
            <a:custGeom>
              <a:avLst/>
              <a:gdLst/>
              <a:ahLst/>
              <a:cxnLst/>
              <a:rect r="r" b="b" t="t" l="l"/>
              <a:pathLst>
                <a:path h="384683" w="11906250">
                  <a:moveTo>
                    <a:pt x="0" y="96139"/>
                  </a:moveTo>
                  <a:cubicBezTo>
                    <a:pt x="0" y="43053"/>
                    <a:pt x="43053" y="0"/>
                    <a:pt x="96139" y="0"/>
                  </a:cubicBezTo>
                  <a:lnTo>
                    <a:pt x="11809984" y="0"/>
                  </a:lnTo>
                  <a:cubicBezTo>
                    <a:pt x="11863070" y="0"/>
                    <a:pt x="11906250" y="43053"/>
                    <a:pt x="11906250" y="96139"/>
                  </a:cubicBezTo>
                  <a:lnTo>
                    <a:pt x="11906250" y="288544"/>
                  </a:lnTo>
                  <a:cubicBezTo>
                    <a:pt x="11906250" y="341630"/>
                    <a:pt x="11863197" y="384683"/>
                    <a:pt x="11809984" y="384683"/>
                  </a:cubicBezTo>
                  <a:lnTo>
                    <a:pt x="96139" y="384683"/>
                  </a:lnTo>
                  <a:cubicBezTo>
                    <a:pt x="43053" y="384810"/>
                    <a:pt x="0" y="341757"/>
                    <a:pt x="0" y="28854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63140" y="2359152"/>
            <a:ext cx="8641080" cy="274320"/>
            <a:chOff x="0" y="0"/>
            <a:chExt cx="11521440" cy="365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521440" cy="365760"/>
            </a:xfrm>
            <a:custGeom>
              <a:avLst/>
              <a:gdLst/>
              <a:ahLst/>
              <a:cxnLst/>
              <a:rect r="r" b="b" t="t" l="l"/>
              <a:pathLst>
                <a:path h="36576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3778" r="0" b="-563778"/>
              </a:stretch>
            </a:blipFill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152144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vialnex.cl/dashboard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4311" y="2706243"/>
            <a:ext cx="2076450" cy="6753606"/>
            <a:chOff x="0" y="0"/>
            <a:chExt cx="2768600" cy="90048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68600" cy="9004808"/>
            </a:xfrm>
            <a:custGeom>
              <a:avLst/>
              <a:gdLst/>
              <a:ahLst/>
              <a:cxnLst/>
              <a:rect r="r" b="b" t="t" l="l"/>
              <a:pathLst>
                <a:path h="9004808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9004808"/>
                  </a:lnTo>
                  <a:lnTo>
                    <a:pt x="0" y="9004808"/>
                  </a:lnTo>
                  <a:close/>
                </a:path>
              </a:pathLst>
            </a:custGeom>
            <a:solidFill>
              <a:srgbClr val="0F2E42"/>
            </a:solidFill>
            <a:ln w="19050" cap="sq">
              <a:solidFill>
                <a:srgbClr val="0F2E42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24712" y="2839212"/>
            <a:ext cx="1371600" cy="397764"/>
            <a:chOff x="0" y="0"/>
            <a:chExt cx="1828800" cy="530352"/>
          </a:xfrm>
        </p:grpSpPr>
        <p:sp>
          <p:nvSpPr>
            <p:cNvPr name="Freeform 28" id="28" descr="/mnt/user-data/outputs/logo/vialnex-logo-blanco-transp-1024.png"/>
            <p:cNvSpPr/>
            <p:nvPr/>
          </p:nvSpPr>
          <p:spPr>
            <a:xfrm flipH="false" flipV="false" rot="0">
              <a:off x="0" y="0"/>
              <a:ext cx="1828800" cy="530352"/>
            </a:xfrm>
            <a:custGeom>
              <a:avLst/>
              <a:gdLst/>
              <a:ahLst/>
              <a:cxnLst/>
              <a:rect r="r" b="b" t="t" l="l"/>
              <a:pathLst>
                <a:path h="5303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0352"/>
                  </a:lnTo>
                  <a:lnTo>
                    <a:pt x="0" y="530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160" r="0" b="-1516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52347" y="3597783"/>
            <a:ext cx="128778" cy="128778"/>
            <a:chOff x="0" y="0"/>
            <a:chExt cx="171704" cy="1717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1704" cy="171704"/>
            </a:xfrm>
            <a:custGeom>
              <a:avLst/>
              <a:gdLst/>
              <a:ahLst/>
              <a:cxnLst/>
              <a:rect r="r" b="b" t="t" l="l"/>
              <a:pathLst>
                <a:path h="171704" w="171704">
                  <a:moveTo>
                    <a:pt x="0" y="85852"/>
                  </a:moveTo>
                  <a:cubicBezTo>
                    <a:pt x="0" y="38481"/>
                    <a:pt x="38481" y="0"/>
                    <a:pt x="85852" y="0"/>
                  </a:cubicBezTo>
                  <a:cubicBezTo>
                    <a:pt x="133223" y="0"/>
                    <a:pt x="171704" y="38481"/>
                    <a:pt x="171704" y="85852"/>
                  </a:cubicBezTo>
                  <a:cubicBezTo>
                    <a:pt x="171704" y="133223"/>
                    <a:pt x="133223" y="171704"/>
                    <a:pt x="85852" y="171704"/>
                  </a:cubicBezTo>
                  <a:cubicBezTo>
                    <a:pt x="38481" y="171704"/>
                    <a:pt x="0" y="133223"/>
                    <a:pt x="0" y="85852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81328" y="3497580"/>
            <a:ext cx="1440180" cy="329184"/>
            <a:chOff x="0" y="0"/>
            <a:chExt cx="1920240" cy="4389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20240" cy="438912"/>
            </a:xfrm>
            <a:custGeom>
              <a:avLst/>
              <a:gdLst/>
              <a:ahLst/>
              <a:cxnLst/>
              <a:rect r="r" b="b" t="t" l="l"/>
              <a:pathLst>
                <a:path h="43891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9202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Panel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52347" y="4050411"/>
            <a:ext cx="128778" cy="128778"/>
            <a:chOff x="0" y="0"/>
            <a:chExt cx="171704" cy="1717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704" cy="171704"/>
            </a:xfrm>
            <a:custGeom>
              <a:avLst/>
              <a:gdLst/>
              <a:ahLst/>
              <a:cxnLst/>
              <a:rect r="r" b="b" t="t" l="l"/>
              <a:pathLst>
                <a:path h="171704" w="171704">
                  <a:moveTo>
                    <a:pt x="0" y="85852"/>
                  </a:moveTo>
                  <a:cubicBezTo>
                    <a:pt x="0" y="38481"/>
                    <a:pt x="38481" y="0"/>
                    <a:pt x="85852" y="0"/>
                  </a:cubicBezTo>
                  <a:cubicBezTo>
                    <a:pt x="133223" y="0"/>
                    <a:pt x="171704" y="38481"/>
                    <a:pt x="171704" y="85852"/>
                  </a:cubicBezTo>
                  <a:cubicBezTo>
                    <a:pt x="171704" y="133223"/>
                    <a:pt x="133223" y="171704"/>
                    <a:pt x="85852" y="171704"/>
                  </a:cubicBezTo>
                  <a:cubicBezTo>
                    <a:pt x="38481" y="171704"/>
                    <a:pt x="0" y="133223"/>
                    <a:pt x="0" y="85852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81328" y="3950208"/>
            <a:ext cx="1440180" cy="329184"/>
            <a:chOff x="0" y="0"/>
            <a:chExt cx="1920240" cy="43891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20240" cy="438912"/>
            </a:xfrm>
            <a:custGeom>
              <a:avLst/>
              <a:gdLst/>
              <a:ahLst/>
              <a:cxnLst/>
              <a:rect r="r" b="b" t="t" l="l"/>
              <a:pathLst>
                <a:path h="43891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9202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Ventas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52347" y="4503039"/>
            <a:ext cx="128778" cy="128778"/>
            <a:chOff x="0" y="0"/>
            <a:chExt cx="171704" cy="1717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1704" cy="171704"/>
            </a:xfrm>
            <a:custGeom>
              <a:avLst/>
              <a:gdLst/>
              <a:ahLst/>
              <a:cxnLst/>
              <a:rect r="r" b="b" t="t" l="l"/>
              <a:pathLst>
                <a:path h="171704" w="171704">
                  <a:moveTo>
                    <a:pt x="0" y="85852"/>
                  </a:moveTo>
                  <a:cubicBezTo>
                    <a:pt x="0" y="38481"/>
                    <a:pt x="38481" y="0"/>
                    <a:pt x="85852" y="0"/>
                  </a:cubicBezTo>
                  <a:cubicBezTo>
                    <a:pt x="133223" y="0"/>
                    <a:pt x="171704" y="38481"/>
                    <a:pt x="171704" y="85852"/>
                  </a:cubicBezTo>
                  <a:cubicBezTo>
                    <a:pt x="171704" y="133223"/>
                    <a:pt x="133223" y="171704"/>
                    <a:pt x="85852" y="171704"/>
                  </a:cubicBezTo>
                  <a:cubicBezTo>
                    <a:pt x="38481" y="171704"/>
                    <a:pt x="0" y="133223"/>
                    <a:pt x="0" y="85852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81328" y="4402836"/>
            <a:ext cx="1440180" cy="329184"/>
            <a:chOff x="0" y="0"/>
            <a:chExt cx="1920240" cy="4389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20240" cy="438912"/>
            </a:xfrm>
            <a:custGeom>
              <a:avLst/>
              <a:gdLst/>
              <a:ahLst/>
              <a:cxnLst/>
              <a:rect r="r" b="b" t="t" l="l"/>
              <a:pathLst>
                <a:path h="43891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9202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Órdenes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52347" y="4955667"/>
            <a:ext cx="128778" cy="128778"/>
            <a:chOff x="0" y="0"/>
            <a:chExt cx="171704" cy="1717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171704"/>
            </a:xfrm>
            <a:custGeom>
              <a:avLst/>
              <a:gdLst/>
              <a:ahLst/>
              <a:cxnLst/>
              <a:rect r="r" b="b" t="t" l="l"/>
              <a:pathLst>
                <a:path h="171704" w="171704">
                  <a:moveTo>
                    <a:pt x="0" y="85852"/>
                  </a:moveTo>
                  <a:cubicBezTo>
                    <a:pt x="0" y="38481"/>
                    <a:pt x="38481" y="0"/>
                    <a:pt x="85852" y="0"/>
                  </a:cubicBezTo>
                  <a:cubicBezTo>
                    <a:pt x="133223" y="0"/>
                    <a:pt x="171704" y="38481"/>
                    <a:pt x="171704" y="85852"/>
                  </a:cubicBezTo>
                  <a:cubicBezTo>
                    <a:pt x="171704" y="133223"/>
                    <a:pt x="133223" y="171704"/>
                    <a:pt x="85852" y="171704"/>
                  </a:cubicBezTo>
                  <a:cubicBezTo>
                    <a:pt x="38481" y="171704"/>
                    <a:pt x="0" y="133223"/>
                    <a:pt x="0" y="85852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81328" y="4855464"/>
            <a:ext cx="1440180" cy="329184"/>
            <a:chOff x="0" y="0"/>
            <a:chExt cx="1920240" cy="43891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20240" cy="438912"/>
            </a:xfrm>
            <a:custGeom>
              <a:avLst/>
              <a:gdLst/>
              <a:ahLst/>
              <a:cxnLst/>
              <a:rect r="r" b="b" t="t" l="l"/>
              <a:pathLst>
                <a:path h="43891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9202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Rutas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52347" y="5408295"/>
            <a:ext cx="128778" cy="128778"/>
            <a:chOff x="0" y="0"/>
            <a:chExt cx="171704" cy="1717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71704" cy="171704"/>
            </a:xfrm>
            <a:custGeom>
              <a:avLst/>
              <a:gdLst/>
              <a:ahLst/>
              <a:cxnLst/>
              <a:rect r="r" b="b" t="t" l="l"/>
              <a:pathLst>
                <a:path h="171704" w="171704">
                  <a:moveTo>
                    <a:pt x="0" y="85852"/>
                  </a:moveTo>
                  <a:cubicBezTo>
                    <a:pt x="0" y="38481"/>
                    <a:pt x="38481" y="0"/>
                    <a:pt x="85852" y="0"/>
                  </a:cubicBezTo>
                  <a:cubicBezTo>
                    <a:pt x="133223" y="0"/>
                    <a:pt x="171704" y="38481"/>
                    <a:pt x="171704" y="85852"/>
                  </a:cubicBezTo>
                  <a:cubicBezTo>
                    <a:pt x="171704" y="133223"/>
                    <a:pt x="133223" y="171704"/>
                    <a:pt x="85852" y="171704"/>
                  </a:cubicBezTo>
                  <a:cubicBezTo>
                    <a:pt x="38481" y="171704"/>
                    <a:pt x="0" y="133223"/>
                    <a:pt x="0" y="85852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81328" y="5308092"/>
            <a:ext cx="1440180" cy="329184"/>
            <a:chOff x="0" y="0"/>
            <a:chExt cx="1920240" cy="4389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20240" cy="438912"/>
            </a:xfrm>
            <a:custGeom>
              <a:avLst/>
              <a:gdLst/>
              <a:ahLst/>
              <a:cxnLst/>
              <a:rect r="r" b="b" t="t" l="l"/>
              <a:pathLst>
                <a:path h="43891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19202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Monitoreo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52347" y="5860923"/>
            <a:ext cx="128778" cy="128778"/>
            <a:chOff x="0" y="0"/>
            <a:chExt cx="171704" cy="1717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1704" cy="171704"/>
            </a:xfrm>
            <a:custGeom>
              <a:avLst/>
              <a:gdLst/>
              <a:ahLst/>
              <a:cxnLst/>
              <a:rect r="r" b="b" t="t" l="l"/>
              <a:pathLst>
                <a:path h="171704" w="171704">
                  <a:moveTo>
                    <a:pt x="0" y="85852"/>
                  </a:moveTo>
                  <a:cubicBezTo>
                    <a:pt x="0" y="38481"/>
                    <a:pt x="38481" y="0"/>
                    <a:pt x="85852" y="0"/>
                  </a:cubicBezTo>
                  <a:cubicBezTo>
                    <a:pt x="133223" y="0"/>
                    <a:pt x="171704" y="38481"/>
                    <a:pt x="171704" y="85852"/>
                  </a:cubicBezTo>
                  <a:cubicBezTo>
                    <a:pt x="171704" y="133223"/>
                    <a:pt x="133223" y="171704"/>
                    <a:pt x="85852" y="171704"/>
                  </a:cubicBezTo>
                  <a:cubicBezTo>
                    <a:pt x="38481" y="171704"/>
                    <a:pt x="0" y="133223"/>
                    <a:pt x="0" y="85852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81328" y="5760720"/>
            <a:ext cx="1440180" cy="329184"/>
            <a:chOff x="0" y="0"/>
            <a:chExt cx="1920240" cy="4389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920240" cy="438912"/>
            </a:xfrm>
            <a:custGeom>
              <a:avLst/>
              <a:gdLst/>
              <a:ahLst/>
              <a:cxnLst/>
              <a:rect r="r" b="b" t="t" l="l"/>
              <a:pathLst>
                <a:path h="43891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9202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Flota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74039" y="6162675"/>
            <a:ext cx="1856994" cy="430530"/>
            <a:chOff x="0" y="0"/>
            <a:chExt cx="2475992" cy="574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75992" cy="574040"/>
            </a:xfrm>
            <a:custGeom>
              <a:avLst/>
              <a:gdLst/>
              <a:ahLst/>
              <a:cxnLst/>
              <a:rect r="r" b="b" t="t" l="l"/>
              <a:pathLst>
                <a:path h="574040" w="2475992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lnTo>
                    <a:pt x="2380361" y="0"/>
                  </a:lnTo>
                  <a:cubicBezTo>
                    <a:pt x="2433193" y="0"/>
                    <a:pt x="2475992" y="42799"/>
                    <a:pt x="2475992" y="95631"/>
                  </a:cubicBezTo>
                  <a:lnTo>
                    <a:pt x="2475992" y="478409"/>
                  </a:lnTo>
                  <a:cubicBezTo>
                    <a:pt x="2475992" y="531241"/>
                    <a:pt x="2433193" y="574040"/>
                    <a:pt x="2380361" y="574040"/>
                  </a:cubicBezTo>
                  <a:lnTo>
                    <a:pt x="95631" y="574040"/>
                  </a:lnTo>
                  <a:cubicBezTo>
                    <a:pt x="42799" y="574040"/>
                    <a:pt x="0" y="531241"/>
                    <a:pt x="0" y="47840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52347" y="6313551"/>
            <a:ext cx="128778" cy="128778"/>
            <a:chOff x="0" y="0"/>
            <a:chExt cx="171704" cy="17170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71704" cy="171704"/>
            </a:xfrm>
            <a:custGeom>
              <a:avLst/>
              <a:gdLst/>
              <a:ahLst/>
              <a:cxnLst/>
              <a:rect r="r" b="b" t="t" l="l"/>
              <a:pathLst>
                <a:path h="171704" w="171704">
                  <a:moveTo>
                    <a:pt x="0" y="85852"/>
                  </a:moveTo>
                  <a:cubicBezTo>
                    <a:pt x="0" y="38481"/>
                    <a:pt x="38481" y="0"/>
                    <a:pt x="85852" y="0"/>
                  </a:cubicBezTo>
                  <a:cubicBezTo>
                    <a:pt x="133223" y="0"/>
                    <a:pt x="171704" y="38481"/>
                    <a:pt x="171704" y="85852"/>
                  </a:cubicBezTo>
                  <a:cubicBezTo>
                    <a:pt x="171704" y="133223"/>
                    <a:pt x="133223" y="171704"/>
                    <a:pt x="85852" y="171704"/>
                  </a:cubicBezTo>
                  <a:cubicBezTo>
                    <a:pt x="38481" y="171704"/>
                    <a:pt x="0" y="133223"/>
                    <a:pt x="0" y="858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81328" y="6213348"/>
            <a:ext cx="1440180" cy="329184"/>
            <a:chOff x="0" y="0"/>
            <a:chExt cx="1920240" cy="4389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20240" cy="438912"/>
            </a:xfrm>
            <a:custGeom>
              <a:avLst/>
              <a:gdLst/>
              <a:ahLst/>
              <a:cxnLst/>
              <a:rect r="r" b="b" t="t" l="l"/>
              <a:pathLst>
                <a:path h="438912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  <p:txBody>
            <a:bodyPr/>
            <a:p/>
          </p:txBody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192024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3291840" y="2743200"/>
            <a:ext cx="5486400" cy="384048"/>
            <a:chOff x="0" y="0"/>
            <a:chExt cx="7315200" cy="51206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315200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731520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Rentabilidad por camión · hoy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3284696" y="3216116"/>
            <a:ext cx="2346008" cy="1001840"/>
            <a:chOff x="0" y="0"/>
            <a:chExt cx="3128010" cy="133578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128010" cy="1335786"/>
            </a:xfrm>
            <a:custGeom>
              <a:avLst/>
              <a:gdLst/>
              <a:ahLst/>
              <a:cxnLst/>
              <a:rect r="r" b="b" t="t" l="l"/>
              <a:pathLst>
                <a:path h="1335786" w="312801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3016758" y="0"/>
                  </a:lnTo>
                  <a:cubicBezTo>
                    <a:pt x="3078226" y="0"/>
                    <a:pt x="3128010" y="49784"/>
                    <a:pt x="3128010" y="111252"/>
                  </a:cubicBezTo>
                  <a:lnTo>
                    <a:pt x="3128010" y="1224534"/>
                  </a:lnTo>
                  <a:cubicBezTo>
                    <a:pt x="3128010" y="1286002"/>
                    <a:pt x="3078226" y="1335786"/>
                    <a:pt x="301675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2F6F9"/>
            </a:solidFill>
            <a:ln w="14288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1" id="71"/>
          <p:cNvGrpSpPr/>
          <p:nvPr/>
        </p:nvGrpSpPr>
        <p:grpSpPr>
          <a:xfrm rot="0">
            <a:off x="3456432" y="3332988"/>
            <a:ext cx="2002536" cy="274320"/>
            <a:chOff x="0" y="0"/>
            <a:chExt cx="2670048" cy="3657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670048" cy="365760"/>
            </a:xfrm>
            <a:custGeom>
              <a:avLst/>
              <a:gdLst/>
              <a:ahLst/>
              <a:cxnLst/>
              <a:rect r="r" b="b" t="t" l="l"/>
              <a:pathLst>
                <a:path h="36576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0"/>
              </a:stretch>
            </a:blipFill>
          </p:spPr>
          <p:txBody>
            <a:bodyPr/>
            <a:p/>
          </p:txBody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2670048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Bultos del día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456432" y="3579876"/>
            <a:ext cx="2002536" cy="493776"/>
            <a:chOff x="0" y="0"/>
            <a:chExt cx="2670048" cy="65836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670048" cy="658368"/>
            </a:xfrm>
            <a:custGeom>
              <a:avLst/>
              <a:gdLst/>
              <a:ahLst/>
              <a:cxnLst/>
              <a:rect r="r" b="b" t="t" l="l"/>
              <a:pathLst>
                <a:path h="658368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22" r="0" b="-29022"/>
              </a:stretch>
            </a:blipFill>
          </p:spPr>
          <p:txBody>
            <a:bodyPr/>
            <a:p/>
          </p:txBody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2670048" cy="715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148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794724" y="3216116"/>
            <a:ext cx="2346008" cy="1001840"/>
            <a:chOff x="0" y="0"/>
            <a:chExt cx="3128010" cy="133578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128010" cy="1335786"/>
            </a:xfrm>
            <a:custGeom>
              <a:avLst/>
              <a:gdLst/>
              <a:ahLst/>
              <a:cxnLst/>
              <a:rect r="r" b="b" t="t" l="l"/>
              <a:pathLst>
                <a:path h="1335786" w="312801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3016758" y="0"/>
                  </a:lnTo>
                  <a:cubicBezTo>
                    <a:pt x="3078226" y="0"/>
                    <a:pt x="3128010" y="49784"/>
                    <a:pt x="3128010" y="111252"/>
                  </a:cubicBezTo>
                  <a:lnTo>
                    <a:pt x="3128010" y="1224534"/>
                  </a:lnTo>
                  <a:cubicBezTo>
                    <a:pt x="3128010" y="1286002"/>
                    <a:pt x="3078226" y="1335786"/>
                    <a:pt x="301675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2F6F9"/>
            </a:solidFill>
            <a:ln w="14288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9" id="79"/>
          <p:cNvGrpSpPr/>
          <p:nvPr/>
        </p:nvGrpSpPr>
        <p:grpSpPr>
          <a:xfrm rot="0">
            <a:off x="5966460" y="3332988"/>
            <a:ext cx="2002536" cy="274320"/>
            <a:chOff x="0" y="0"/>
            <a:chExt cx="2670048" cy="3657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670048" cy="365760"/>
            </a:xfrm>
            <a:custGeom>
              <a:avLst/>
              <a:gdLst/>
              <a:ahLst/>
              <a:cxnLst/>
              <a:rect r="r" b="b" t="t" l="l"/>
              <a:pathLst>
                <a:path h="36576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0"/>
              </a:stretch>
            </a:blipFill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2670048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Equilibrio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966460" y="3579876"/>
            <a:ext cx="2002536" cy="493776"/>
            <a:chOff x="0" y="0"/>
            <a:chExt cx="2670048" cy="65836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670048" cy="658368"/>
            </a:xfrm>
            <a:custGeom>
              <a:avLst/>
              <a:gdLst/>
              <a:ahLst/>
              <a:cxnLst/>
              <a:rect r="r" b="b" t="t" l="l"/>
              <a:pathLst>
                <a:path h="658368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22" r="0" b="-29022"/>
              </a:stretch>
            </a:blipFill>
          </p:spPr>
          <p:txBody>
            <a:bodyPr/>
            <a:p/>
          </p:txBody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2670048" cy="715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5A6B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25/camión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304752" y="3216116"/>
            <a:ext cx="2346008" cy="1001840"/>
            <a:chOff x="0" y="0"/>
            <a:chExt cx="3128010" cy="133578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128010" cy="1335786"/>
            </a:xfrm>
            <a:custGeom>
              <a:avLst/>
              <a:gdLst/>
              <a:ahLst/>
              <a:cxnLst/>
              <a:rect r="r" b="b" t="t" l="l"/>
              <a:pathLst>
                <a:path h="1335786" w="312801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3016758" y="0"/>
                  </a:lnTo>
                  <a:cubicBezTo>
                    <a:pt x="3078226" y="0"/>
                    <a:pt x="3128010" y="49784"/>
                    <a:pt x="3128010" y="111252"/>
                  </a:cubicBezTo>
                  <a:lnTo>
                    <a:pt x="3128010" y="1224534"/>
                  </a:lnTo>
                  <a:cubicBezTo>
                    <a:pt x="3128010" y="1286002"/>
                    <a:pt x="3078226" y="1335786"/>
                    <a:pt x="3016758" y="1335786"/>
                  </a:cubicBezTo>
                  <a:lnTo>
                    <a:pt x="111252" y="1335786"/>
                  </a:lnTo>
                  <a:cubicBezTo>
                    <a:pt x="49784" y="1335786"/>
                    <a:pt x="0" y="1286002"/>
                    <a:pt x="0" y="1224534"/>
                  </a:cubicBezTo>
                  <a:close/>
                </a:path>
              </a:pathLst>
            </a:custGeom>
            <a:solidFill>
              <a:srgbClr val="F2F6F9"/>
            </a:solidFill>
            <a:ln w="14288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7" id="87"/>
          <p:cNvGrpSpPr/>
          <p:nvPr/>
        </p:nvGrpSpPr>
        <p:grpSpPr>
          <a:xfrm rot="0">
            <a:off x="8476488" y="3332988"/>
            <a:ext cx="2002536" cy="274320"/>
            <a:chOff x="0" y="0"/>
            <a:chExt cx="2670048" cy="3657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670048" cy="365760"/>
            </a:xfrm>
            <a:custGeom>
              <a:avLst/>
              <a:gdLst/>
              <a:ahLst/>
              <a:cxnLst/>
              <a:rect r="r" b="b" t="t" l="l"/>
              <a:pathLst>
                <a:path h="36576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0"/>
              </a:stretch>
            </a:blipFill>
          </p:spPr>
          <p:txBody>
            <a:bodyPr/>
            <a:p/>
          </p:txBody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2670048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Camiones sobre meta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8476488" y="3579876"/>
            <a:ext cx="2002536" cy="493776"/>
            <a:chOff x="0" y="0"/>
            <a:chExt cx="2670048" cy="65836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670048" cy="658368"/>
            </a:xfrm>
            <a:custGeom>
              <a:avLst/>
              <a:gdLst/>
              <a:ahLst/>
              <a:cxnLst/>
              <a:rect r="r" b="b" t="t" l="l"/>
              <a:pathLst>
                <a:path h="658368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22" r="0" b="-29022"/>
              </a:stretch>
            </a:blipFill>
          </p:spPr>
          <p:txBody>
            <a:bodyPr/>
            <a:p/>
          </p:txBody>
        </p:sp>
        <p:sp>
          <p:nvSpPr>
            <p:cNvPr name="TextBox 92" id="92"/>
            <p:cNvSpPr txBox="true"/>
            <p:nvPr/>
          </p:nvSpPr>
          <p:spPr>
            <a:xfrm>
              <a:off x="0" y="-57150"/>
              <a:ext cx="2670048" cy="715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6A3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de 6</a:t>
              </a:r>
            </a:p>
          </p:txBody>
        </p:sp>
      </p:grpSp>
      <p:pic>
        <p:nvPicPr>
          <p:cNvPr name="Picture 93" id="9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55164" y="3689604"/>
            <a:ext cx="9217152" cy="4279392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 rot="0">
            <a:off x="3291840" y="7269480"/>
            <a:ext cx="7543800" cy="342900"/>
            <a:chOff x="0" y="0"/>
            <a:chExt cx="10058400" cy="4572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0584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  <p:txBody>
            <a:bodyPr/>
            <a:p/>
          </p:txBody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100584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i="true">
                  <a:solidFill>
                    <a:srgbClr val="5A6B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Bultos entregados por camión · línea de equilibrio en 25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3291840" y="7680960"/>
            <a:ext cx="7543800" cy="822960"/>
            <a:chOff x="0" y="0"/>
            <a:chExt cx="10058400" cy="10972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058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  <p:txBody>
            <a:bodyPr/>
            <a:p/>
          </p:txBody>
        </p:sp>
        <p:sp>
          <p:nvSpPr>
            <p:cNvPr name="TextBox 99" id="99"/>
            <p:cNvSpPr txBox="true"/>
            <p:nvPr/>
          </p:nvSpPr>
          <p:spPr>
            <a:xfrm>
              <a:off x="0" y="-57150"/>
              <a:ext cx="100584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reporte de cobranza vive aquí: qué servicios entregados aún no se han cobrado, incluidos los falsos fletes por entregas fallidas imputables al cliente.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864340" y="2359152"/>
            <a:ext cx="5486400" cy="438912"/>
            <a:chOff x="0" y="0"/>
            <a:chExt cx="7315200" cy="58521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315200" cy="585216"/>
            </a:xfrm>
            <a:custGeom>
              <a:avLst/>
              <a:gdLst/>
              <a:ahLst/>
              <a:cxnLst/>
              <a:rect r="r" b="b" t="t" l="l"/>
              <a:pathLst>
                <a:path h="58521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  <p:txBody>
            <a:bodyPr/>
            <a:p/>
          </p:txBody>
        </p:sp>
        <p:sp>
          <p:nvSpPr>
            <p:cNvPr name="TextBox 102" id="102"/>
            <p:cNvSpPr txBox="true"/>
            <p:nvPr/>
          </p:nvSpPr>
          <p:spPr>
            <a:xfrm>
              <a:off x="0" y="-57150"/>
              <a:ext cx="7315200" cy="642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Alternativas evaluadas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1847671" y="3000851"/>
            <a:ext cx="5451158" cy="1981009"/>
            <a:chOff x="0" y="0"/>
            <a:chExt cx="7268210" cy="264134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268210" cy="2641346"/>
            </a:xfrm>
            <a:custGeom>
              <a:avLst/>
              <a:gdLst/>
              <a:ahLst/>
              <a:cxnLst/>
              <a:rect r="r" b="b" t="t" l="l"/>
              <a:pathLst>
                <a:path h="2641346" w="726821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7119366" y="0"/>
                  </a:lnTo>
                  <a:cubicBezTo>
                    <a:pt x="7201535" y="0"/>
                    <a:pt x="7268210" y="66675"/>
                    <a:pt x="7268210" y="148844"/>
                  </a:cubicBezTo>
                  <a:lnTo>
                    <a:pt x="7268210" y="2492502"/>
                  </a:lnTo>
                  <a:cubicBezTo>
                    <a:pt x="7268210" y="2574671"/>
                    <a:pt x="7201535" y="2641346"/>
                    <a:pt x="7119366" y="2641346"/>
                  </a:cubicBezTo>
                  <a:lnTo>
                    <a:pt x="148844" y="2641346"/>
                  </a:lnTo>
                  <a:cubicBezTo>
                    <a:pt x="66675" y="2641346"/>
                    <a:pt x="0" y="2574671"/>
                    <a:pt x="0" y="2492502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179808" y="3209544"/>
            <a:ext cx="3429000" cy="384048"/>
            <a:chOff x="0" y="0"/>
            <a:chExt cx="4572000" cy="51206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572000" cy="512064"/>
            </a:xfrm>
            <a:custGeom>
              <a:avLst/>
              <a:gdLst/>
              <a:ahLst/>
              <a:cxnLst/>
              <a:rect r="r" b="b" t="t" l="l"/>
              <a:pathLst>
                <a:path h="51206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  <p:txBody>
            <a:bodyPr/>
            <a:p/>
          </p:txBody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45720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Tablero de rentabilidad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5558135" y="3213735"/>
            <a:ext cx="1459230" cy="361950"/>
            <a:chOff x="0" y="0"/>
            <a:chExt cx="1945640" cy="4826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945640" cy="482600"/>
            </a:xfrm>
            <a:custGeom>
              <a:avLst/>
              <a:gdLst/>
              <a:ahLst/>
              <a:cxnLst/>
              <a:rect r="r" b="b" t="t" l="l"/>
              <a:pathLst>
                <a:path h="482600" w="1945640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1713992" y="0"/>
                  </a:lnTo>
                  <a:cubicBezTo>
                    <a:pt x="1841881" y="0"/>
                    <a:pt x="1945640" y="103759"/>
                    <a:pt x="1945640" y="231648"/>
                  </a:cubicBezTo>
                  <a:lnTo>
                    <a:pt x="1945640" y="250952"/>
                  </a:lnTo>
                  <a:cubicBezTo>
                    <a:pt x="1945640" y="378841"/>
                    <a:pt x="1841881" y="482600"/>
                    <a:pt x="1713992" y="482600"/>
                  </a:cubicBezTo>
                  <a:lnTo>
                    <a:pt x="231648" y="482600"/>
                  </a:lnTo>
                  <a:cubicBezTo>
                    <a:pt x="103759" y="482600"/>
                    <a:pt x="0" y="378841"/>
                    <a:pt x="0" y="250952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5567660" y="3223260"/>
            <a:ext cx="1440180" cy="342900"/>
            <a:chOff x="0" y="0"/>
            <a:chExt cx="1920240" cy="4572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920240" cy="457200"/>
            </a:xfrm>
            <a:custGeom>
              <a:avLst/>
              <a:gdLst/>
              <a:ahLst/>
              <a:cxnLst/>
              <a:rect r="r" b="b" t="t" l="l"/>
              <a:pathLst>
                <a:path h="45720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  <p:txBody>
            <a:bodyPr/>
            <a:p/>
          </p:txBody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192024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sz="11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Seleccionada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179808" y="3675888"/>
            <a:ext cx="4800600" cy="1165860"/>
            <a:chOff x="0" y="0"/>
            <a:chExt cx="6400800" cy="15544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400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32" r="0" b="-30232"/>
              </a:stretch>
            </a:blipFill>
          </p:spPr>
          <p:txBody>
            <a:bodyPr/>
            <a:p/>
          </p:txBody>
        </p:sp>
        <p:sp>
          <p:nvSpPr>
            <p:cNvPr name="TextBox 115" id="115"/>
            <p:cNvSpPr txBox="true"/>
            <p:nvPr/>
          </p:nvSpPr>
          <p:spPr>
            <a:xfrm>
              <a:off x="0" y="-57150"/>
              <a:ext cx="640080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 bultos entregados contra el punto de equilibrio por camión y jornada. Usa datos que los módulos previos ya generan.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854815" y="5202555"/>
            <a:ext cx="5436870" cy="1966722"/>
            <a:chOff x="0" y="0"/>
            <a:chExt cx="7249160" cy="262229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7249160" cy="2622296"/>
            </a:xfrm>
            <a:custGeom>
              <a:avLst/>
              <a:gdLst/>
              <a:ahLst/>
              <a:cxnLst/>
              <a:rect r="r" b="b" t="t" l="l"/>
              <a:pathLst>
                <a:path h="2622296" w="724916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7101459" y="0"/>
                  </a:lnTo>
                  <a:cubicBezTo>
                    <a:pt x="7182993" y="0"/>
                    <a:pt x="7249160" y="66167"/>
                    <a:pt x="7249160" y="147701"/>
                  </a:cubicBezTo>
                  <a:lnTo>
                    <a:pt x="7249160" y="2474595"/>
                  </a:lnTo>
                  <a:cubicBezTo>
                    <a:pt x="7249160" y="2556129"/>
                    <a:pt x="7182993" y="2622296"/>
                    <a:pt x="710145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179808" y="5404104"/>
            <a:ext cx="3429000" cy="384048"/>
            <a:chOff x="0" y="0"/>
            <a:chExt cx="4572000" cy="51206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572000" cy="512064"/>
            </a:xfrm>
            <a:custGeom>
              <a:avLst/>
              <a:gdLst/>
              <a:ahLst/>
              <a:cxnLst/>
              <a:rect r="r" b="b" t="t" l="l"/>
              <a:pathLst>
                <a:path h="51206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  <p:txBody>
            <a:bodyPr/>
            <a:p/>
          </p:txBody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45720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Optimizador automático de rutas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5558135" y="5408295"/>
            <a:ext cx="1459230" cy="361950"/>
            <a:chOff x="0" y="0"/>
            <a:chExt cx="1945640" cy="4826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945640" cy="482600"/>
            </a:xfrm>
            <a:custGeom>
              <a:avLst/>
              <a:gdLst/>
              <a:ahLst/>
              <a:cxnLst/>
              <a:rect r="r" b="b" t="t" l="l"/>
              <a:pathLst>
                <a:path h="482600" w="1945640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1713992" y="0"/>
                  </a:lnTo>
                  <a:cubicBezTo>
                    <a:pt x="1841881" y="0"/>
                    <a:pt x="1945640" y="103759"/>
                    <a:pt x="1945640" y="231648"/>
                  </a:cubicBezTo>
                  <a:lnTo>
                    <a:pt x="1945640" y="250952"/>
                  </a:lnTo>
                  <a:cubicBezTo>
                    <a:pt x="1945640" y="378841"/>
                    <a:pt x="1841881" y="482600"/>
                    <a:pt x="1713992" y="482600"/>
                  </a:cubicBezTo>
                  <a:lnTo>
                    <a:pt x="231648" y="482600"/>
                  </a:lnTo>
                  <a:cubicBezTo>
                    <a:pt x="103759" y="482600"/>
                    <a:pt x="0" y="378841"/>
                    <a:pt x="0" y="250952"/>
                  </a:cubicBezTo>
                  <a:close/>
                </a:path>
              </a:pathLst>
            </a:custGeom>
            <a:solidFill>
              <a:srgbClr val="E3E9ED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5567660" y="5417820"/>
            <a:ext cx="1440180" cy="342900"/>
            <a:chOff x="0" y="0"/>
            <a:chExt cx="1920240" cy="4572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920240" cy="457200"/>
            </a:xfrm>
            <a:custGeom>
              <a:avLst/>
              <a:gdLst/>
              <a:ahLst/>
              <a:cxnLst/>
              <a:rect r="r" b="b" t="t" l="l"/>
              <a:pathLst>
                <a:path h="45720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  <p:txBody>
            <a:bodyPr/>
            <a:p/>
          </p:txBody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192024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sz="1125" b="true">
                  <a:solidFill>
                    <a:srgbClr val="5A6B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Descartada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2179808" y="5870448"/>
            <a:ext cx="4800600" cy="1165860"/>
            <a:chOff x="0" y="0"/>
            <a:chExt cx="6400800" cy="155448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400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32" r="0" b="-30232"/>
              </a:stretch>
            </a:blipFill>
          </p:spPr>
          <p:txBody>
            <a:bodyPr/>
            <a:p/>
          </p:txBody>
        </p:sp>
        <p:sp>
          <p:nvSpPr>
            <p:cNvPr name="TextBox 128" id="128"/>
            <p:cNvSpPr txBox="true"/>
            <p:nvPr/>
          </p:nvSpPr>
          <p:spPr>
            <a:xfrm>
              <a:off x="0" y="-57150"/>
              <a:ext cx="640080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Alto valor, pero requiere resolver un problema de optimización que excede el semestre disponible.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1854815" y="7397115"/>
            <a:ext cx="5436870" cy="1966722"/>
            <a:chOff x="0" y="0"/>
            <a:chExt cx="7249160" cy="262229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249160" cy="2622296"/>
            </a:xfrm>
            <a:custGeom>
              <a:avLst/>
              <a:gdLst/>
              <a:ahLst/>
              <a:cxnLst/>
              <a:rect r="r" b="b" t="t" l="l"/>
              <a:pathLst>
                <a:path h="2622296" w="724916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7101459" y="0"/>
                  </a:lnTo>
                  <a:cubicBezTo>
                    <a:pt x="7182993" y="0"/>
                    <a:pt x="7249160" y="66167"/>
                    <a:pt x="7249160" y="147701"/>
                  </a:cubicBezTo>
                  <a:lnTo>
                    <a:pt x="7249160" y="2474595"/>
                  </a:lnTo>
                  <a:cubicBezTo>
                    <a:pt x="7249160" y="2556129"/>
                    <a:pt x="7182993" y="2622296"/>
                    <a:pt x="710145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2179808" y="7598664"/>
            <a:ext cx="3429000" cy="384048"/>
            <a:chOff x="0" y="0"/>
            <a:chExt cx="4572000" cy="51206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572000" cy="512064"/>
            </a:xfrm>
            <a:custGeom>
              <a:avLst/>
              <a:gdLst/>
              <a:ahLst/>
              <a:cxnLst/>
              <a:rect r="r" b="b" t="t" l="l"/>
              <a:pathLst>
                <a:path h="51206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  <p:txBody>
            <a:bodyPr/>
            <a:p/>
          </p:txBody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45720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Digitalización con OCR de guías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5558135" y="7602855"/>
            <a:ext cx="1459230" cy="361950"/>
            <a:chOff x="0" y="0"/>
            <a:chExt cx="1945640" cy="48260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945640" cy="482600"/>
            </a:xfrm>
            <a:custGeom>
              <a:avLst/>
              <a:gdLst/>
              <a:ahLst/>
              <a:cxnLst/>
              <a:rect r="r" b="b" t="t" l="l"/>
              <a:pathLst>
                <a:path h="482600" w="1945640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1713992" y="0"/>
                  </a:lnTo>
                  <a:cubicBezTo>
                    <a:pt x="1841881" y="0"/>
                    <a:pt x="1945640" y="103759"/>
                    <a:pt x="1945640" y="231648"/>
                  </a:cubicBezTo>
                  <a:lnTo>
                    <a:pt x="1945640" y="250952"/>
                  </a:lnTo>
                  <a:cubicBezTo>
                    <a:pt x="1945640" y="378841"/>
                    <a:pt x="1841881" y="482600"/>
                    <a:pt x="1713992" y="482600"/>
                  </a:cubicBezTo>
                  <a:lnTo>
                    <a:pt x="231648" y="482600"/>
                  </a:lnTo>
                  <a:cubicBezTo>
                    <a:pt x="103759" y="482600"/>
                    <a:pt x="0" y="378841"/>
                    <a:pt x="0" y="250952"/>
                  </a:cubicBezTo>
                  <a:close/>
                </a:path>
              </a:pathLst>
            </a:custGeom>
            <a:solidFill>
              <a:srgbClr val="E3E9ED"/>
            </a:solidFill>
            <a:ln w="19050" cap="sq">
              <a:solidFill>
                <a:srgbClr val="E3E9ED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5567660" y="7612380"/>
            <a:ext cx="1440180" cy="342900"/>
            <a:chOff x="0" y="0"/>
            <a:chExt cx="1920240" cy="45720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920240" cy="457200"/>
            </a:xfrm>
            <a:custGeom>
              <a:avLst/>
              <a:gdLst/>
              <a:ahLst/>
              <a:cxnLst/>
              <a:rect r="r" b="b" t="t" l="l"/>
              <a:pathLst>
                <a:path h="457200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  <p:txBody>
            <a:bodyPr/>
            <a:p/>
          </p:txBody>
        </p:sp>
        <p:sp>
          <p:nvSpPr>
            <p:cNvPr name="TextBox 138" id="138"/>
            <p:cNvSpPr txBox="true"/>
            <p:nvPr/>
          </p:nvSpPr>
          <p:spPr>
            <a:xfrm>
              <a:off x="0" y="-28575"/>
              <a:ext cx="192024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sz="1125" b="true">
                  <a:solidFill>
                    <a:srgbClr val="5A6B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Descartada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2179808" y="8065008"/>
            <a:ext cx="4800600" cy="1165860"/>
            <a:chOff x="0" y="0"/>
            <a:chExt cx="6400800" cy="155448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6400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32" r="0" b="-30232"/>
              </a:stretch>
            </a:blipFill>
          </p:spPr>
          <p:txBody>
            <a:bodyPr/>
            <a:p/>
          </p:txBody>
        </p:sp>
        <p:sp>
          <p:nvSpPr>
            <p:cNvPr name="TextBox 141" id="141"/>
            <p:cNvSpPr txBox="true"/>
            <p:nvPr/>
          </p:nvSpPr>
          <p:spPr>
            <a:xfrm>
              <a:off x="0" y="-57150"/>
              <a:ext cx="640080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Innecesaria: las guías nacen digitales con la orden de transporte, no hay papel que digitalizar.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3921740" y="754380"/>
            <a:ext cx="3360420" cy="493776"/>
            <a:chOff x="0" y="0"/>
            <a:chExt cx="4480560" cy="658368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480560" cy="658368"/>
            </a:xfrm>
            <a:custGeom>
              <a:avLst/>
              <a:gdLst/>
              <a:ahLst/>
              <a:cxnLst/>
              <a:rect r="r" b="b" t="t" l="l"/>
              <a:pathLst>
                <a:path h="658368" w="448056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4151376" y="0"/>
                  </a:lnTo>
                  <a:cubicBezTo>
                    <a:pt x="4333240" y="0"/>
                    <a:pt x="4480560" y="147320"/>
                    <a:pt x="4480560" y="329184"/>
                  </a:cubicBezTo>
                  <a:cubicBezTo>
                    <a:pt x="4480560" y="511048"/>
                    <a:pt x="4333240" y="658368"/>
                    <a:pt x="415137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D8E2E9"/>
            </a:solidFill>
          </p:spPr>
          <p:txBody>
            <a:bodyPr/>
            <a:p/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3921740" y="754380"/>
            <a:ext cx="3360420" cy="493776"/>
            <a:chOff x="0" y="0"/>
            <a:chExt cx="4480560" cy="65836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480560" cy="658368"/>
            </a:xfrm>
            <a:custGeom>
              <a:avLst/>
              <a:gdLst/>
              <a:ahLst/>
              <a:cxnLst/>
              <a:rect r="r" b="b" t="t" l="l"/>
              <a:pathLst>
                <a:path h="658368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06" r="0" b="-82606"/>
              </a:stretch>
            </a:blipFill>
          </p:spPr>
          <p:txBody>
            <a:bodyPr/>
            <a:p/>
          </p:txBody>
        </p:sp>
        <p:sp>
          <p:nvSpPr>
            <p:cNvPr name="TextBox 146" id="146"/>
            <p:cNvSpPr txBox="true"/>
            <p:nvPr/>
          </p:nvSpPr>
          <p:spPr>
            <a:xfrm>
              <a:off x="0" y="-57150"/>
              <a:ext cx="4480560" cy="715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6"/>
                </a:lnSpc>
              </a:pPr>
              <a:r>
                <a:rPr lang="en-US" sz="1425" b="true">
                  <a:solidFill>
                    <a:srgbClr val="5A6B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Alcance incremental · pendiente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Competencias del perfil de egreso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proyecto moviliza cuatro competencias de especialidad; el mínimo exigido es tres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390775"/>
            <a:ext cx="11403330" cy="1459230"/>
            <a:chOff x="0" y="0"/>
            <a:chExt cx="15204440" cy="1945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04441" cy="1945640"/>
            </a:xfrm>
            <a:custGeom>
              <a:avLst/>
              <a:gdLst/>
              <a:ahLst/>
              <a:cxnLst/>
              <a:rect r="r" b="b" t="t" l="l"/>
              <a:pathLst>
                <a:path h="1945640" w="15204441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15056231" y="0"/>
                  </a:lnTo>
                  <a:cubicBezTo>
                    <a:pt x="15138146" y="0"/>
                    <a:pt x="15204441" y="66421"/>
                    <a:pt x="15204441" y="148209"/>
                  </a:cubicBezTo>
                  <a:lnTo>
                    <a:pt x="15204441" y="1797431"/>
                  </a:lnTo>
                  <a:cubicBezTo>
                    <a:pt x="15204441" y="1879346"/>
                    <a:pt x="15138019" y="1945640"/>
                    <a:pt x="150562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93495" y="2843403"/>
            <a:ext cx="567690" cy="567690"/>
            <a:chOff x="0" y="0"/>
            <a:chExt cx="756920" cy="756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3020" y="2852928"/>
            <a:ext cx="548640" cy="548640"/>
            <a:chOff x="0" y="0"/>
            <a:chExt cx="73152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25980" y="2619756"/>
            <a:ext cx="9875520" cy="411480"/>
            <a:chOff x="0" y="0"/>
            <a:chExt cx="1316736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67361" cy="548640"/>
            </a:xfrm>
            <a:custGeom>
              <a:avLst/>
              <a:gdLst/>
              <a:ahLst/>
              <a:cxnLst/>
              <a:rect r="r" b="b" t="t" l="l"/>
              <a:pathLst>
                <a:path h="54864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16736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Desarrollar una solución de software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25980" y="3058668"/>
            <a:ext cx="9875520" cy="685800"/>
            <a:chOff x="0" y="0"/>
            <a:chExt cx="1316736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167361" cy="914400"/>
            </a:xfrm>
            <a:custGeom>
              <a:avLst/>
              <a:gdLst/>
              <a:ahLst/>
              <a:cxnLst/>
              <a:rect r="r" b="b" t="t" l="l"/>
              <a:pathLst>
                <a:path h="91440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584" r="0" b="-230584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31673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Aplicación web responsiva, aplicación móvil y un servicio que las integra, todos sobre un contrato de interfaz común.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0595" y="4036695"/>
            <a:ext cx="11403330" cy="1459230"/>
            <a:chOff x="0" y="0"/>
            <a:chExt cx="15204440" cy="1945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04441" cy="1945640"/>
            </a:xfrm>
            <a:custGeom>
              <a:avLst/>
              <a:gdLst/>
              <a:ahLst/>
              <a:cxnLst/>
              <a:rect r="r" b="b" t="t" l="l"/>
              <a:pathLst>
                <a:path h="1945640" w="15204441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15056231" y="0"/>
                  </a:lnTo>
                  <a:cubicBezTo>
                    <a:pt x="15138146" y="0"/>
                    <a:pt x="15204441" y="66421"/>
                    <a:pt x="15204441" y="148209"/>
                  </a:cubicBezTo>
                  <a:lnTo>
                    <a:pt x="15204441" y="1797431"/>
                  </a:lnTo>
                  <a:cubicBezTo>
                    <a:pt x="15204441" y="1879346"/>
                    <a:pt x="15138019" y="1945640"/>
                    <a:pt x="150562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93495" y="4489323"/>
            <a:ext cx="567690" cy="567690"/>
            <a:chOff x="0" y="0"/>
            <a:chExt cx="756920" cy="756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03020" y="4498848"/>
            <a:ext cx="548640" cy="548640"/>
            <a:chOff x="0" y="0"/>
            <a:chExt cx="73152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125980" y="4265676"/>
            <a:ext cx="9875520" cy="411480"/>
            <a:chOff x="0" y="0"/>
            <a:chExt cx="1316736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167361" cy="548640"/>
            </a:xfrm>
            <a:custGeom>
              <a:avLst/>
              <a:gdLst/>
              <a:ahLst/>
              <a:cxnLst/>
              <a:rect r="r" b="b" t="t" l="l"/>
              <a:pathLst>
                <a:path h="54864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316736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Construir modelos de datos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125980" y="4704588"/>
            <a:ext cx="9875520" cy="685800"/>
            <a:chOff x="0" y="0"/>
            <a:chExt cx="1316736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167361" cy="914400"/>
            </a:xfrm>
            <a:custGeom>
              <a:avLst/>
              <a:gdLst/>
              <a:ahLst/>
              <a:cxnLst/>
              <a:rect r="r" b="b" t="t" l="l"/>
              <a:pathLst>
                <a:path h="91440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584" r="0" b="-230584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31673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 relacional que vincula venta, orden, posiciones, guías, vehículo, ruta, entrega, costo y tarifa.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0595" y="5682615"/>
            <a:ext cx="11403330" cy="1459230"/>
            <a:chOff x="0" y="0"/>
            <a:chExt cx="15204440" cy="1945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204441" cy="1945640"/>
            </a:xfrm>
            <a:custGeom>
              <a:avLst/>
              <a:gdLst/>
              <a:ahLst/>
              <a:cxnLst/>
              <a:rect r="r" b="b" t="t" l="l"/>
              <a:pathLst>
                <a:path h="1945640" w="15204441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15056231" y="0"/>
                  </a:lnTo>
                  <a:cubicBezTo>
                    <a:pt x="15138146" y="0"/>
                    <a:pt x="15204441" y="66421"/>
                    <a:pt x="15204441" y="148209"/>
                  </a:cubicBezTo>
                  <a:lnTo>
                    <a:pt x="15204441" y="1797431"/>
                  </a:lnTo>
                  <a:cubicBezTo>
                    <a:pt x="15204441" y="1879346"/>
                    <a:pt x="15138019" y="1945640"/>
                    <a:pt x="150562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93495" y="6135243"/>
            <a:ext cx="567690" cy="567690"/>
            <a:chOff x="0" y="0"/>
            <a:chExt cx="756920" cy="756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03020" y="6144768"/>
            <a:ext cx="548640" cy="548640"/>
            <a:chOff x="0" y="0"/>
            <a:chExt cx="7315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125980" y="5911596"/>
            <a:ext cx="9875520" cy="411480"/>
            <a:chOff x="0" y="0"/>
            <a:chExt cx="1316736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167361" cy="548640"/>
            </a:xfrm>
            <a:custGeom>
              <a:avLst/>
              <a:gdLst/>
              <a:ahLst/>
              <a:cxnLst/>
              <a:rect r="r" b="b" t="t" l="l"/>
              <a:pathLst>
                <a:path h="54864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316736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Gestionar proyectos informáticos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125980" y="6350508"/>
            <a:ext cx="9875520" cy="685800"/>
            <a:chOff x="0" y="0"/>
            <a:chExt cx="1316736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167361" cy="914400"/>
            </a:xfrm>
            <a:custGeom>
              <a:avLst/>
              <a:gdLst/>
              <a:ahLst/>
              <a:cxnLst/>
              <a:rect r="r" b="b" t="t" l="l"/>
              <a:pathLst>
                <a:path h="91440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584" r="0" b="-230584"/>
              </a:stretch>
            </a:blip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31673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Doce módulos sobre dos plataformas, tres integrantes, un semestre: alcance priorizado y contrato de interfaz temprano.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50595" y="7328535"/>
            <a:ext cx="11403330" cy="1459230"/>
            <a:chOff x="0" y="0"/>
            <a:chExt cx="15204440" cy="1945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204441" cy="1945640"/>
            </a:xfrm>
            <a:custGeom>
              <a:avLst/>
              <a:gdLst/>
              <a:ahLst/>
              <a:cxnLst/>
              <a:rect r="r" b="b" t="t" l="l"/>
              <a:pathLst>
                <a:path h="1945640" w="15204441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15056231" y="0"/>
                  </a:lnTo>
                  <a:cubicBezTo>
                    <a:pt x="15138146" y="0"/>
                    <a:pt x="15204441" y="66421"/>
                    <a:pt x="15204441" y="148209"/>
                  </a:cubicBezTo>
                  <a:lnTo>
                    <a:pt x="15204441" y="1797431"/>
                  </a:lnTo>
                  <a:cubicBezTo>
                    <a:pt x="15204441" y="1879346"/>
                    <a:pt x="15138019" y="1945640"/>
                    <a:pt x="15056231" y="1945640"/>
                  </a:cubicBezTo>
                  <a:lnTo>
                    <a:pt x="148209" y="1945640"/>
                  </a:lnTo>
                  <a:cubicBezTo>
                    <a:pt x="66421" y="1945640"/>
                    <a:pt x="0" y="1879219"/>
                    <a:pt x="0" y="179743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93495" y="7781163"/>
            <a:ext cx="567690" cy="567690"/>
            <a:chOff x="0" y="0"/>
            <a:chExt cx="756920" cy="7569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03020" y="7790688"/>
            <a:ext cx="548640" cy="548640"/>
            <a:chOff x="0" y="0"/>
            <a:chExt cx="73152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125980" y="7557516"/>
            <a:ext cx="9875520" cy="411480"/>
            <a:chOff x="0" y="0"/>
            <a:chExt cx="1316736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167361" cy="548640"/>
            </a:xfrm>
            <a:custGeom>
              <a:avLst/>
              <a:gdLst/>
              <a:ahLst/>
              <a:cxnLst/>
              <a:rect r="r" b="b" t="t" l="l"/>
              <a:pathLst>
                <a:path h="54864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316736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Realizar pruebas de certificación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125980" y="7996428"/>
            <a:ext cx="9875520" cy="685800"/>
            <a:chOff x="0" y="0"/>
            <a:chExt cx="13167360" cy="914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167361" cy="914400"/>
            </a:xfrm>
            <a:custGeom>
              <a:avLst/>
              <a:gdLst/>
              <a:ahLst/>
              <a:cxnLst/>
              <a:rect r="r" b="b" t="t" l="l"/>
              <a:pathLst>
                <a:path h="91440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584" r="0" b="-230584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31673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Pruebas funcionales, de integración entre web y móvil, y de aceptación, con mejoras derivadas de sus resultados.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814935" y="2390775"/>
            <a:ext cx="4476750" cy="6671310"/>
            <a:chOff x="0" y="0"/>
            <a:chExt cx="5969000" cy="8895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690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596900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5822061" y="0"/>
                  </a:lnTo>
                  <a:cubicBezTo>
                    <a:pt x="5903214" y="0"/>
                    <a:pt x="5969000" y="65786"/>
                    <a:pt x="5969000" y="146939"/>
                  </a:cubicBezTo>
                  <a:lnTo>
                    <a:pt x="5969000" y="8748141"/>
                  </a:lnTo>
                  <a:cubicBezTo>
                    <a:pt x="5969000" y="8829294"/>
                    <a:pt x="5903214" y="8895080"/>
                    <a:pt x="5822061" y="8895080"/>
                  </a:cubicBezTo>
                  <a:lnTo>
                    <a:pt x="146939" y="8895080"/>
                  </a:lnTo>
                  <a:cubicBezTo>
                    <a:pt x="65786" y="8895080"/>
                    <a:pt x="0" y="8829294"/>
                    <a:pt x="0" y="8748141"/>
                  </a:cubicBezTo>
                  <a:close/>
                </a:path>
              </a:pathLst>
            </a:custGeom>
            <a:solidFill>
              <a:srgbClr val="0F2E42"/>
            </a:solidFill>
            <a:ln w="19050" cap="sq">
              <a:solidFill>
                <a:srgbClr val="0F2E42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167360" y="2743200"/>
            <a:ext cx="3840480" cy="1371600"/>
            <a:chOff x="0" y="0"/>
            <a:chExt cx="5120640" cy="1828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120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190500"/>
              <a:ext cx="5120640" cy="201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160"/>
                </a:lnSpc>
              </a:pPr>
              <a:r>
                <a:rPr lang="en-US" sz="9300" b="true">
                  <a:solidFill>
                    <a:srgbClr val="16A39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167360" y="4114800"/>
            <a:ext cx="3840480" cy="822960"/>
            <a:chOff x="0" y="0"/>
            <a:chExt cx="512064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120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66675"/>
              <a:ext cx="51206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4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competencias de especialidad movilizadas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167360" y="5143500"/>
            <a:ext cx="3840480" cy="3566160"/>
            <a:chOff x="0" y="0"/>
            <a:chExt cx="5120640" cy="47548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20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139" t="0" r="-69139" b="0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66675"/>
              <a:ext cx="5120640" cy="4821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BBCE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criterios del Proyecto APT exigen integrar al menos tres competencias del perfil de egreso.</a:t>
              </a:r>
            </a:p>
            <a:p>
              <a:pPr algn="l">
                <a:lnSpc>
                  <a:spcPts val="2376"/>
                </a:lnSpc>
              </a:pPr>
            </a:p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BBCE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vialNex las cubre todas porque recorre el ciclo completo de una solución informática sobre dos plataformas: levantamiento, modelamiento, construcción, pruebas e implantación.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 y equipo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Scrum con sprints de dos semanas y una división por capa tecnológica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5832" y="2386012"/>
            <a:ext cx="3046095" cy="2085975"/>
            <a:chOff x="0" y="0"/>
            <a:chExt cx="4061460" cy="2781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1460" cy="2781300"/>
            </a:xfrm>
            <a:custGeom>
              <a:avLst/>
              <a:gdLst/>
              <a:ahLst/>
              <a:cxnLst/>
              <a:rect r="r" b="b" t="t" l="l"/>
              <a:pathLst>
                <a:path h="2781300" w="406146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913124" y="0"/>
                  </a:lnTo>
                  <a:cubicBezTo>
                    <a:pt x="3995039" y="0"/>
                    <a:pt x="4061460" y="66421"/>
                    <a:pt x="4061460" y="148336"/>
                  </a:cubicBezTo>
                  <a:lnTo>
                    <a:pt x="4061460" y="2632964"/>
                  </a:lnTo>
                  <a:cubicBezTo>
                    <a:pt x="4061460" y="2714879"/>
                    <a:pt x="3995039" y="2781300"/>
                    <a:pt x="3913124" y="2781300"/>
                  </a:cubicBezTo>
                  <a:lnTo>
                    <a:pt x="148336" y="2781300"/>
                  </a:lnTo>
                  <a:cubicBezTo>
                    <a:pt x="66421" y="2781300"/>
                    <a:pt x="0" y="2714879"/>
                    <a:pt x="0" y="263296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56335" y="2596515"/>
            <a:ext cx="512826" cy="512826"/>
            <a:chOff x="0" y="0"/>
            <a:chExt cx="683768" cy="6837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3768" cy="683768"/>
            </a:xfrm>
            <a:custGeom>
              <a:avLst/>
              <a:gdLst/>
              <a:ahLst/>
              <a:cxnLst/>
              <a:rect r="r" b="b" t="t" l="l"/>
              <a:pathLst>
                <a:path h="683768" w="683768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cubicBezTo>
                    <a:pt x="530733" y="0"/>
                    <a:pt x="683768" y="153035"/>
                    <a:pt x="683768" y="341884"/>
                  </a:cubicBezTo>
                  <a:cubicBezTo>
                    <a:pt x="683768" y="530733"/>
                    <a:pt x="530733" y="683768"/>
                    <a:pt x="341884" y="683768"/>
                  </a:cubicBez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5860" y="2606040"/>
            <a:ext cx="493776" cy="493776"/>
            <a:chOff x="0" y="0"/>
            <a:chExt cx="658368" cy="6583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5860" y="3209544"/>
            <a:ext cx="2606040" cy="411480"/>
            <a:chOff x="0" y="0"/>
            <a:chExt cx="347472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474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Levantamiento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5860" y="3621024"/>
            <a:ext cx="2633472" cy="754380"/>
            <a:chOff x="0" y="0"/>
            <a:chExt cx="3511296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112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20" r="0" b="-18020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511296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Procesos, historias de usuario y reglas de negocio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417180">
            <a:off x="3984860" y="3419475"/>
            <a:ext cx="314735" cy="0"/>
          </a:xfrm>
          <a:prstGeom prst="line">
            <a:avLst/>
          </a:prstGeom>
          <a:ln cap="rnd" w="19050">
            <a:solidFill>
              <a:srgbClr val="D8E2E9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4" id="24"/>
          <p:cNvGrpSpPr/>
          <p:nvPr/>
        </p:nvGrpSpPr>
        <p:grpSpPr>
          <a:xfrm rot="0">
            <a:off x="4292536" y="2386012"/>
            <a:ext cx="3046095" cy="2085975"/>
            <a:chOff x="0" y="0"/>
            <a:chExt cx="4061460" cy="27813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1460" cy="2781300"/>
            </a:xfrm>
            <a:custGeom>
              <a:avLst/>
              <a:gdLst/>
              <a:ahLst/>
              <a:cxnLst/>
              <a:rect r="r" b="b" t="t" l="l"/>
              <a:pathLst>
                <a:path h="2781300" w="406146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913124" y="0"/>
                  </a:lnTo>
                  <a:cubicBezTo>
                    <a:pt x="3995039" y="0"/>
                    <a:pt x="4061460" y="66421"/>
                    <a:pt x="4061460" y="148336"/>
                  </a:cubicBezTo>
                  <a:lnTo>
                    <a:pt x="4061460" y="2632964"/>
                  </a:lnTo>
                  <a:cubicBezTo>
                    <a:pt x="4061460" y="2714879"/>
                    <a:pt x="3995039" y="2781300"/>
                    <a:pt x="3913124" y="2781300"/>
                  </a:cubicBezTo>
                  <a:lnTo>
                    <a:pt x="148336" y="2781300"/>
                  </a:lnTo>
                  <a:cubicBezTo>
                    <a:pt x="66421" y="2781300"/>
                    <a:pt x="0" y="2714879"/>
                    <a:pt x="0" y="263296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03039" y="2596515"/>
            <a:ext cx="512826" cy="512826"/>
            <a:chOff x="0" y="0"/>
            <a:chExt cx="683768" cy="6837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3768" cy="683768"/>
            </a:xfrm>
            <a:custGeom>
              <a:avLst/>
              <a:gdLst/>
              <a:ahLst/>
              <a:cxnLst/>
              <a:rect r="r" b="b" t="t" l="l"/>
              <a:pathLst>
                <a:path h="683768" w="683768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cubicBezTo>
                    <a:pt x="530733" y="0"/>
                    <a:pt x="683768" y="153035"/>
                    <a:pt x="683768" y="341884"/>
                  </a:cubicBezTo>
                  <a:cubicBezTo>
                    <a:pt x="683768" y="530733"/>
                    <a:pt x="530733" y="683768"/>
                    <a:pt x="341884" y="683768"/>
                  </a:cubicBez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4512564" y="2606040"/>
            <a:ext cx="493776" cy="493776"/>
            <a:chOff x="0" y="0"/>
            <a:chExt cx="658368" cy="6583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512564" y="3209544"/>
            <a:ext cx="2606040" cy="411480"/>
            <a:chOff x="0" y="0"/>
            <a:chExt cx="347472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474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Diseño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512564" y="3621024"/>
            <a:ext cx="2633472" cy="754380"/>
            <a:chOff x="0" y="0"/>
            <a:chExt cx="3511296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112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20" r="0" b="-18020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3511296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 de datos, contrato de interfaz y prototipos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417180">
            <a:off x="7331564" y="3419475"/>
            <a:ext cx="314735" cy="0"/>
          </a:xfrm>
          <a:prstGeom prst="line">
            <a:avLst/>
          </a:prstGeom>
          <a:ln cap="rnd" w="19050">
            <a:solidFill>
              <a:srgbClr val="D8E2E9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38" id="38"/>
          <p:cNvGrpSpPr/>
          <p:nvPr/>
        </p:nvGrpSpPr>
        <p:grpSpPr>
          <a:xfrm rot="0">
            <a:off x="7639240" y="2386012"/>
            <a:ext cx="3046095" cy="2085975"/>
            <a:chOff x="0" y="0"/>
            <a:chExt cx="4061460" cy="2781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61460" cy="2781300"/>
            </a:xfrm>
            <a:custGeom>
              <a:avLst/>
              <a:gdLst/>
              <a:ahLst/>
              <a:cxnLst/>
              <a:rect r="r" b="b" t="t" l="l"/>
              <a:pathLst>
                <a:path h="2781300" w="406146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913124" y="0"/>
                  </a:lnTo>
                  <a:cubicBezTo>
                    <a:pt x="3995039" y="0"/>
                    <a:pt x="4061460" y="66421"/>
                    <a:pt x="4061460" y="148336"/>
                  </a:cubicBezTo>
                  <a:lnTo>
                    <a:pt x="4061460" y="2632964"/>
                  </a:lnTo>
                  <a:cubicBezTo>
                    <a:pt x="4061460" y="2714879"/>
                    <a:pt x="3995039" y="2781300"/>
                    <a:pt x="3913124" y="2781300"/>
                  </a:cubicBezTo>
                  <a:lnTo>
                    <a:pt x="148336" y="2781300"/>
                  </a:lnTo>
                  <a:cubicBezTo>
                    <a:pt x="66421" y="2781300"/>
                    <a:pt x="0" y="2714879"/>
                    <a:pt x="0" y="263296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7849743" y="2596515"/>
            <a:ext cx="512826" cy="512826"/>
            <a:chOff x="0" y="0"/>
            <a:chExt cx="683768" cy="6837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3768" cy="683768"/>
            </a:xfrm>
            <a:custGeom>
              <a:avLst/>
              <a:gdLst/>
              <a:ahLst/>
              <a:cxnLst/>
              <a:rect r="r" b="b" t="t" l="l"/>
              <a:pathLst>
                <a:path h="683768" w="683768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cubicBezTo>
                    <a:pt x="530733" y="0"/>
                    <a:pt x="683768" y="153035"/>
                    <a:pt x="683768" y="341884"/>
                  </a:cubicBezTo>
                  <a:cubicBezTo>
                    <a:pt x="683768" y="530733"/>
                    <a:pt x="530733" y="683768"/>
                    <a:pt x="341884" y="683768"/>
                  </a:cubicBez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7859268" y="2606040"/>
            <a:ext cx="493776" cy="493776"/>
            <a:chOff x="0" y="0"/>
            <a:chExt cx="658368" cy="6583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859268" y="3209544"/>
            <a:ext cx="2606040" cy="411480"/>
            <a:chOff x="0" y="0"/>
            <a:chExt cx="347472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474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Construcción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859268" y="3621024"/>
            <a:ext cx="2633472" cy="754380"/>
            <a:chOff x="0" y="0"/>
            <a:chExt cx="3511296" cy="1005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112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20" r="0" b="-18020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3511296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Módulos por incrementos, partiendo por el núcleo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417180">
            <a:off x="10678268" y="3419475"/>
            <a:ext cx="314735" cy="0"/>
          </a:xfrm>
          <a:prstGeom prst="line">
            <a:avLst/>
          </a:prstGeom>
          <a:ln cap="rnd" w="19050">
            <a:solidFill>
              <a:srgbClr val="D8E2E9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52" id="52"/>
          <p:cNvGrpSpPr/>
          <p:nvPr/>
        </p:nvGrpSpPr>
        <p:grpSpPr>
          <a:xfrm rot="0">
            <a:off x="10990707" y="2390775"/>
            <a:ext cx="3036570" cy="2076450"/>
            <a:chOff x="0" y="0"/>
            <a:chExt cx="4048760" cy="2768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04876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04876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3901059" y="0"/>
                  </a:lnTo>
                  <a:cubicBezTo>
                    <a:pt x="3982593" y="0"/>
                    <a:pt x="4048760" y="66167"/>
                    <a:pt x="4048760" y="147701"/>
                  </a:cubicBezTo>
                  <a:lnTo>
                    <a:pt x="4048760" y="2620899"/>
                  </a:lnTo>
                  <a:cubicBezTo>
                    <a:pt x="4048760" y="2702433"/>
                    <a:pt x="3982593" y="2768600"/>
                    <a:pt x="390105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196447" y="2596515"/>
            <a:ext cx="512826" cy="512826"/>
            <a:chOff x="0" y="0"/>
            <a:chExt cx="683768" cy="6837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3768" cy="683768"/>
            </a:xfrm>
            <a:custGeom>
              <a:avLst/>
              <a:gdLst/>
              <a:ahLst/>
              <a:cxnLst/>
              <a:rect r="r" b="b" t="t" l="l"/>
              <a:pathLst>
                <a:path h="683768" w="683768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cubicBezTo>
                    <a:pt x="530733" y="0"/>
                    <a:pt x="683768" y="153035"/>
                    <a:pt x="683768" y="341884"/>
                  </a:cubicBezTo>
                  <a:cubicBezTo>
                    <a:pt x="683768" y="530733"/>
                    <a:pt x="530733" y="683768"/>
                    <a:pt x="341884" y="683768"/>
                  </a:cubicBez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205972" y="2606040"/>
            <a:ext cx="493776" cy="493776"/>
            <a:chOff x="0" y="0"/>
            <a:chExt cx="658368" cy="6583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205972" y="3209544"/>
            <a:ext cx="2606040" cy="411480"/>
            <a:chOff x="0" y="0"/>
            <a:chExt cx="347472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474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Pruebas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205972" y="3621024"/>
            <a:ext cx="2633472" cy="754380"/>
            <a:chOff x="0" y="0"/>
            <a:chExt cx="3511296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5112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20" r="0" b="-18020"/>
              </a:stretch>
            </a:blipFill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3511296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 de pruebas, hallazgos y mejoras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 rot="417180">
            <a:off x="14024972" y="3419475"/>
            <a:ext cx="314735" cy="0"/>
          </a:xfrm>
          <a:prstGeom prst="line">
            <a:avLst/>
          </a:prstGeom>
          <a:ln cap="rnd" w="19050">
            <a:solidFill>
              <a:srgbClr val="D8E2E9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66" id="66"/>
          <p:cNvGrpSpPr/>
          <p:nvPr/>
        </p:nvGrpSpPr>
        <p:grpSpPr>
          <a:xfrm rot="0">
            <a:off x="14337411" y="2390775"/>
            <a:ext cx="3036570" cy="2076450"/>
            <a:chOff x="0" y="0"/>
            <a:chExt cx="4048760" cy="2768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4876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04876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3901059" y="0"/>
                  </a:lnTo>
                  <a:cubicBezTo>
                    <a:pt x="3982593" y="0"/>
                    <a:pt x="4048760" y="66167"/>
                    <a:pt x="4048760" y="147701"/>
                  </a:cubicBezTo>
                  <a:lnTo>
                    <a:pt x="4048760" y="2620899"/>
                  </a:lnTo>
                  <a:cubicBezTo>
                    <a:pt x="4048760" y="2702433"/>
                    <a:pt x="3982593" y="2768600"/>
                    <a:pt x="390105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543151" y="2596515"/>
            <a:ext cx="512826" cy="512826"/>
            <a:chOff x="0" y="0"/>
            <a:chExt cx="683768" cy="6837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83768" cy="683768"/>
            </a:xfrm>
            <a:custGeom>
              <a:avLst/>
              <a:gdLst/>
              <a:ahLst/>
              <a:cxnLst/>
              <a:rect r="r" b="b" t="t" l="l"/>
              <a:pathLst>
                <a:path h="683768" w="683768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cubicBezTo>
                    <a:pt x="530733" y="0"/>
                    <a:pt x="683768" y="153035"/>
                    <a:pt x="683768" y="341884"/>
                  </a:cubicBezTo>
                  <a:cubicBezTo>
                    <a:pt x="683768" y="530733"/>
                    <a:pt x="530733" y="683768"/>
                    <a:pt x="341884" y="683768"/>
                  </a:cubicBez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552676" y="2606040"/>
            <a:ext cx="493776" cy="493776"/>
            <a:chOff x="0" y="0"/>
            <a:chExt cx="658368" cy="65836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552676" y="3209544"/>
            <a:ext cx="2606040" cy="411480"/>
            <a:chOff x="0" y="0"/>
            <a:chExt cx="347472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474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Implantación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552676" y="3621024"/>
            <a:ext cx="2633472" cy="754380"/>
            <a:chOff x="0" y="0"/>
            <a:chExt cx="3511296" cy="10058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511296" cy="1005840"/>
            </a:xfrm>
            <a:custGeom>
              <a:avLst/>
              <a:gdLst/>
              <a:ahLst/>
              <a:cxnLst/>
              <a:rect r="r" b="b" t="t" l="l"/>
              <a:pathLst>
                <a:path h="1005840" w="3511296">
                  <a:moveTo>
                    <a:pt x="0" y="0"/>
                  </a:moveTo>
                  <a:lnTo>
                    <a:pt x="3511296" y="0"/>
                  </a:lnTo>
                  <a:lnTo>
                    <a:pt x="351129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20" r="0" b="-18020"/>
              </a:stretch>
            </a:blipFill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3511296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Despliegue, manuales y cierre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60120" y="4869180"/>
            <a:ext cx="8229600" cy="480060"/>
            <a:chOff x="0" y="0"/>
            <a:chExt cx="10972800" cy="6400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0972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Una capa por integrante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50595" y="5476875"/>
            <a:ext cx="5162550" cy="3173730"/>
            <a:chOff x="0" y="0"/>
            <a:chExt cx="6883400" cy="4231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8834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68834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736207" y="0"/>
                  </a:lnTo>
                  <a:cubicBezTo>
                    <a:pt x="6817487" y="0"/>
                    <a:pt x="6883400" y="65913"/>
                    <a:pt x="6883400" y="147193"/>
                  </a:cubicBezTo>
                  <a:lnTo>
                    <a:pt x="6883400" y="4084447"/>
                  </a:lnTo>
                  <a:cubicBezTo>
                    <a:pt x="6883400" y="4165727"/>
                    <a:pt x="6817487" y="4231640"/>
                    <a:pt x="673620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34643" y="5819775"/>
            <a:ext cx="2213610" cy="430530"/>
            <a:chOff x="0" y="0"/>
            <a:chExt cx="2951480" cy="5740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951480" cy="574040"/>
            </a:xfrm>
            <a:custGeom>
              <a:avLst/>
              <a:gdLst/>
              <a:ahLst/>
              <a:cxnLst/>
              <a:rect r="r" b="b" t="t" l="l"/>
              <a:pathLst>
                <a:path h="574040" w="295148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lnTo>
                    <a:pt x="2664460" y="0"/>
                  </a:lnTo>
                  <a:cubicBezTo>
                    <a:pt x="2822956" y="0"/>
                    <a:pt x="2951480" y="128524"/>
                    <a:pt x="2951480" y="287020"/>
                  </a:cubicBezTo>
                  <a:cubicBezTo>
                    <a:pt x="2951480" y="445516"/>
                    <a:pt x="2822956" y="574040"/>
                    <a:pt x="2664460" y="574040"/>
                  </a:cubicBezTo>
                  <a:lnTo>
                    <a:pt x="287020" y="574040"/>
                  </a:ln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44168" y="5829300"/>
            <a:ext cx="2194560" cy="411480"/>
            <a:chOff x="0" y="0"/>
            <a:chExt cx="2926080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  <p:txBody>
            <a:bodyPr/>
            <a:p/>
          </p:txBody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9260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Bernardo Rojas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44168" y="6419088"/>
            <a:ext cx="4389120" cy="754380"/>
            <a:chOff x="0" y="0"/>
            <a:chExt cx="5852160" cy="10058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852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  <p:txBody>
            <a:bodyPr/>
            <a:p/>
          </p:txBody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585216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Servicio y datos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44168" y="7242048"/>
            <a:ext cx="4389120" cy="1303020"/>
            <a:chOff x="0" y="0"/>
            <a:chExt cx="5852160" cy="17373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8521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33" r="0" b="-15633"/>
              </a:stretch>
            </a:blipFill>
          </p:spPr>
          <p:txBody>
            <a:bodyPr/>
            <a:p/>
          </p:txBody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585216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 de datos, servicio y contrato de interfaz, autenticación y roles, motor de cálculo de tarifas y reglas de negocio. 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505575" y="5476875"/>
            <a:ext cx="5162550" cy="3173730"/>
            <a:chOff x="0" y="0"/>
            <a:chExt cx="6883400" cy="4231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8834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68834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736207" y="0"/>
                  </a:lnTo>
                  <a:cubicBezTo>
                    <a:pt x="6817487" y="0"/>
                    <a:pt x="6883400" y="65913"/>
                    <a:pt x="6883400" y="147193"/>
                  </a:cubicBezTo>
                  <a:lnTo>
                    <a:pt x="6883400" y="4084447"/>
                  </a:lnTo>
                  <a:cubicBezTo>
                    <a:pt x="6883400" y="4165727"/>
                    <a:pt x="6817487" y="4231640"/>
                    <a:pt x="673620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6889623" y="5819775"/>
            <a:ext cx="2213610" cy="430530"/>
            <a:chOff x="0" y="0"/>
            <a:chExt cx="2951480" cy="5740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951480" cy="574040"/>
            </a:xfrm>
            <a:custGeom>
              <a:avLst/>
              <a:gdLst/>
              <a:ahLst/>
              <a:cxnLst/>
              <a:rect r="r" b="b" t="t" l="l"/>
              <a:pathLst>
                <a:path h="574040" w="295148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lnTo>
                    <a:pt x="2664460" y="0"/>
                  </a:lnTo>
                  <a:cubicBezTo>
                    <a:pt x="2822956" y="0"/>
                    <a:pt x="2951480" y="128524"/>
                    <a:pt x="2951480" y="287020"/>
                  </a:cubicBezTo>
                  <a:cubicBezTo>
                    <a:pt x="2951480" y="445516"/>
                    <a:pt x="2822956" y="574040"/>
                    <a:pt x="2664460" y="574040"/>
                  </a:cubicBezTo>
                  <a:lnTo>
                    <a:pt x="287020" y="574040"/>
                  </a:ln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9" id="99"/>
          <p:cNvGrpSpPr/>
          <p:nvPr/>
        </p:nvGrpSpPr>
        <p:grpSpPr>
          <a:xfrm rot="0">
            <a:off x="6899148" y="5829300"/>
            <a:ext cx="2194560" cy="411480"/>
            <a:chOff x="0" y="0"/>
            <a:chExt cx="292608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29260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Cristóbal Peña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6899148" y="6419088"/>
            <a:ext cx="4389120" cy="754380"/>
            <a:chOff x="0" y="0"/>
            <a:chExt cx="5852160" cy="10058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852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  <p:txBody>
            <a:bodyPr/>
            <a:p/>
          </p:txBody>
        </p:sp>
        <p:sp>
          <p:nvSpPr>
            <p:cNvPr name="TextBox 104" id="104"/>
            <p:cNvSpPr txBox="true"/>
            <p:nvPr/>
          </p:nvSpPr>
          <p:spPr>
            <a:xfrm>
              <a:off x="0" y="-57150"/>
              <a:ext cx="585216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web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6899148" y="7242048"/>
            <a:ext cx="4389120" cy="1303020"/>
            <a:chOff x="0" y="0"/>
            <a:chExt cx="5852160" cy="173736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8521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33" r="0" b="-15633"/>
              </a:stretch>
            </a:blipFill>
          </p:spPr>
          <p:txBody>
            <a:bodyPr/>
            <a:p/>
          </p:txBody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585216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Interfaz de venta, orden de transporte, ruta, monitoreo, flota, personal, costos y dashboard con el reporte de cobranza.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060555" y="5476875"/>
            <a:ext cx="5162550" cy="3173730"/>
            <a:chOff x="0" y="0"/>
            <a:chExt cx="6883400" cy="42316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8834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68834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736207" y="0"/>
                  </a:lnTo>
                  <a:cubicBezTo>
                    <a:pt x="6817487" y="0"/>
                    <a:pt x="6883400" y="65913"/>
                    <a:pt x="6883400" y="147193"/>
                  </a:cubicBezTo>
                  <a:lnTo>
                    <a:pt x="6883400" y="4084447"/>
                  </a:lnTo>
                  <a:cubicBezTo>
                    <a:pt x="6883400" y="4165727"/>
                    <a:pt x="6817487" y="4231640"/>
                    <a:pt x="673620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444603" y="5819775"/>
            <a:ext cx="2213610" cy="430530"/>
            <a:chOff x="0" y="0"/>
            <a:chExt cx="2951480" cy="5740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951480" cy="574040"/>
            </a:xfrm>
            <a:custGeom>
              <a:avLst/>
              <a:gdLst/>
              <a:ahLst/>
              <a:cxnLst/>
              <a:rect r="r" b="b" t="t" l="l"/>
              <a:pathLst>
                <a:path h="574040" w="295148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lnTo>
                    <a:pt x="2664460" y="0"/>
                  </a:lnTo>
                  <a:cubicBezTo>
                    <a:pt x="2822956" y="0"/>
                    <a:pt x="2951480" y="128524"/>
                    <a:pt x="2951480" y="287020"/>
                  </a:cubicBezTo>
                  <a:cubicBezTo>
                    <a:pt x="2951480" y="445516"/>
                    <a:pt x="2822956" y="574040"/>
                    <a:pt x="2664460" y="574040"/>
                  </a:cubicBezTo>
                  <a:lnTo>
                    <a:pt x="287020" y="574040"/>
                  </a:ln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2454128" y="5829300"/>
            <a:ext cx="2194560" cy="411480"/>
            <a:chOff x="0" y="0"/>
            <a:chExt cx="2926080" cy="5486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926080" cy="548640"/>
            </a:xfrm>
            <a:custGeom>
              <a:avLst/>
              <a:gdLst/>
              <a:ahLst/>
              <a:cxnLst/>
              <a:rect r="r" b="b" t="t" l="l"/>
              <a:pathLst>
                <a:path h="5486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  <p:txBody>
            <a:bodyPr/>
            <a:p/>
          </p:txBody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29260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Javier Morales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454128" y="6419088"/>
            <a:ext cx="4389120" cy="754380"/>
            <a:chOff x="0" y="0"/>
            <a:chExt cx="5852160" cy="10058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8521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  <p:txBody>
            <a:bodyPr/>
            <a:p/>
          </p:txBody>
        </p:sp>
        <p:sp>
          <p:nvSpPr>
            <p:cNvPr name="TextBox 117" id="117"/>
            <p:cNvSpPr txBox="true"/>
            <p:nvPr/>
          </p:nvSpPr>
          <p:spPr>
            <a:xfrm>
              <a:off x="0" y="-57150"/>
              <a:ext cx="585216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móvil y calidad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454128" y="7242048"/>
            <a:ext cx="4389120" cy="1303020"/>
            <a:chOff x="0" y="0"/>
            <a:chExt cx="5852160" cy="173736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8521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33" r="0" b="-15633"/>
              </a:stretch>
            </a:blipFill>
          </p:spPr>
          <p:txBody>
            <a:bodyPr/>
            <a:p/>
          </p:txBody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585216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del bodeguero y del conductor, prototipos de interfaz, plan de pruebas sobre ambas aplicaciones y manual de usuario.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de trabajo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Planificación original del semestre; el estado real se detalla en la lámina siguiente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59655" y="2185035"/>
            <a:ext cx="2762250" cy="567690"/>
            <a:chOff x="0" y="0"/>
            <a:chExt cx="3683000" cy="756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83000" cy="756920"/>
            </a:xfrm>
            <a:custGeom>
              <a:avLst/>
              <a:gdLst/>
              <a:ahLst/>
              <a:cxnLst/>
              <a:rect r="r" b="b" t="t" l="l"/>
              <a:pathLst>
                <a:path h="756920" w="3683000">
                  <a:moveTo>
                    <a:pt x="0" y="113538"/>
                  </a:moveTo>
                  <a:cubicBezTo>
                    <a:pt x="0" y="50800"/>
                    <a:pt x="50800" y="0"/>
                    <a:pt x="113538" y="0"/>
                  </a:cubicBezTo>
                  <a:lnTo>
                    <a:pt x="3569462" y="0"/>
                  </a:lnTo>
                  <a:cubicBezTo>
                    <a:pt x="3632200" y="0"/>
                    <a:pt x="3683000" y="50800"/>
                    <a:pt x="3683000" y="113538"/>
                  </a:cubicBezTo>
                  <a:lnTo>
                    <a:pt x="3683000" y="643382"/>
                  </a:lnTo>
                  <a:cubicBezTo>
                    <a:pt x="3683000" y="706120"/>
                    <a:pt x="3632200" y="756920"/>
                    <a:pt x="3569462" y="756920"/>
                  </a:cubicBezTo>
                  <a:lnTo>
                    <a:pt x="113538" y="756920"/>
                  </a:lnTo>
                  <a:cubicBezTo>
                    <a:pt x="50800" y="756920"/>
                    <a:pt x="0" y="706120"/>
                    <a:pt x="0" y="643382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4869180" y="2194560"/>
            <a:ext cx="2743200" cy="548640"/>
            <a:chOff x="0" y="0"/>
            <a:chExt cx="36576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657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1 · S1 – S4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02855" y="2185035"/>
            <a:ext cx="8248650" cy="567690"/>
            <a:chOff x="0" y="0"/>
            <a:chExt cx="10998200" cy="756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98200" cy="756920"/>
            </a:xfrm>
            <a:custGeom>
              <a:avLst/>
              <a:gdLst/>
              <a:ahLst/>
              <a:cxnLst/>
              <a:rect r="r" b="b" t="t" l="l"/>
              <a:pathLst>
                <a:path h="756920" w="10998200">
                  <a:moveTo>
                    <a:pt x="0" y="113538"/>
                  </a:moveTo>
                  <a:cubicBezTo>
                    <a:pt x="0" y="50800"/>
                    <a:pt x="50800" y="0"/>
                    <a:pt x="113538" y="0"/>
                  </a:cubicBezTo>
                  <a:lnTo>
                    <a:pt x="10884662" y="0"/>
                  </a:lnTo>
                  <a:cubicBezTo>
                    <a:pt x="10947400" y="0"/>
                    <a:pt x="10998200" y="50800"/>
                    <a:pt x="10998200" y="113538"/>
                  </a:cubicBezTo>
                  <a:lnTo>
                    <a:pt x="10998200" y="643382"/>
                  </a:lnTo>
                  <a:cubicBezTo>
                    <a:pt x="10998200" y="706120"/>
                    <a:pt x="10947400" y="756920"/>
                    <a:pt x="10884662" y="756920"/>
                  </a:cubicBezTo>
                  <a:lnTo>
                    <a:pt x="113538" y="756920"/>
                  </a:lnTo>
                  <a:cubicBezTo>
                    <a:pt x="50800" y="756920"/>
                    <a:pt x="0" y="706120"/>
                    <a:pt x="0" y="643382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12380" y="2194560"/>
            <a:ext cx="8229600" cy="548640"/>
            <a:chOff x="0" y="0"/>
            <a:chExt cx="109728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972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2 · S5 – S16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832455" y="2185035"/>
            <a:ext cx="1390650" cy="567690"/>
            <a:chOff x="0" y="0"/>
            <a:chExt cx="1854200" cy="756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54200" cy="756920"/>
            </a:xfrm>
            <a:custGeom>
              <a:avLst/>
              <a:gdLst/>
              <a:ahLst/>
              <a:cxnLst/>
              <a:rect r="r" b="b" t="t" l="l"/>
              <a:pathLst>
                <a:path h="756920" w="1854200">
                  <a:moveTo>
                    <a:pt x="0" y="113538"/>
                  </a:moveTo>
                  <a:cubicBezTo>
                    <a:pt x="0" y="50800"/>
                    <a:pt x="50800" y="0"/>
                    <a:pt x="113538" y="0"/>
                  </a:cubicBezTo>
                  <a:lnTo>
                    <a:pt x="1740662" y="0"/>
                  </a:lnTo>
                  <a:cubicBezTo>
                    <a:pt x="1803400" y="0"/>
                    <a:pt x="1854200" y="50800"/>
                    <a:pt x="1854200" y="113538"/>
                  </a:cubicBezTo>
                  <a:lnTo>
                    <a:pt x="1854200" y="643382"/>
                  </a:lnTo>
                  <a:cubicBezTo>
                    <a:pt x="1854200" y="706120"/>
                    <a:pt x="1803400" y="756920"/>
                    <a:pt x="1740662" y="756920"/>
                  </a:cubicBezTo>
                  <a:lnTo>
                    <a:pt x="113538" y="756920"/>
                  </a:lnTo>
                  <a:cubicBezTo>
                    <a:pt x="50800" y="756920"/>
                    <a:pt x="0" y="706120"/>
                    <a:pt x="0" y="643382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841980" y="2194560"/>
            <a:ext cx="1371600" cy="548640"/>
            <a:chOff x="0" y="0"/>
            <a:chExt cx="18288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828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Fase 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2894076"/>
            <a:ext cx="3703320" cy="301752"/>
            <a:chOff x="0" y="0"/>
            <a:chExt cx="4937760" cy="402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37760" cy="402336"/>
            </a:xfrm>
            <a:custGeom>
              <a:avLst/>
              <a:gdLst/>
              <a:ahLst/>
              <a:cxnLst/>
              <a:rect r="r" b="b" t="t" l="l"/>
              <a:pathLst>
                <a:path h="40233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134" r="0" b="-189134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937760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5A6B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Actividad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869180" y="2894076"/>
            <a:ext cx="685800" cy="301752"/>
            <a:chOff x="0" y="0"/>
            <a:chExt cx="914400" cy="4023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554980" y="2894076"/>
            <a:ext cx="685800" cy="301752"/>
            <a:chOff x="0" y="0"/>
            <a:chExt cx="914400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240780" y="2894076"/>
            <a:ext cx="685800" cy="301752"/>
            <a:chOff x="0" y="0"/>
            <a:chExt cx="914400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926580" y="2894076"/>
            <a:ext cx="685800" cy="301752"/>
            <a:chOff x="0" y="0"/>
            <a:chExt cx="914400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612380" y="2894076"/>
            <a:ext cx="685800" cy="301752"/>
            <a:chOff x="0" y="0"/>
            <a:chExt cx="914400" cy="4023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S5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98180" y="2894076"/>
            <a:ext cx="685800" cy="301752"/>
            <a:chOff x="0" y="0"/>
            <a:chExt cx="914400" cy="402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S6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983980" y="2894076"/>
            <a:ext cx="685800" cy="301752"/>
            <a:chOff x="0" y="0"/>
            <a:chExt cx="914400" cy="4023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S7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69780" y="2894076"/>
            <a:ext cx="685800" cy="301752"/>
            <a:chOff x="0" y="0"/>
            <a:chExt cx="914400" cy="4023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S8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355580" y="2894076"/>
            <a:ext cx="685800" cy="301752"/>
            <a:chOff x="0" y="0"/>
            <a:chExt cx="914400" cy="4023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S9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041380" y="2894076"/>
            <a:ext cx="685800" cy="301752"/>
            <a:chOff x="0" y="0"/>
            <a:chExt cx="914400" cy="4023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S10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727180" y="2894076"/>
            <a:ext cx="685800" cy="301752"/>
            <a:chOff x="0" y="0"/>
            <a:chExt cx="914400" cy="40233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S11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412980" y="2894076"/>
            <a:ext cx="685800" cy="301752"/>
            <a:chOff x="0" y="0"/>
            <a:chExt cx="914400" cy="40233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S12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098780" y="2894076"/>
            <a:ext cx="685800" cy="301752"/>
            <a:chOff x="0" y="0"/>
            <a:chExt cx="914400" cy="40233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S13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784580" y="2894076"/>
            <a:ext cx="685800" cy="301752"/>
            <a:chOff x="0" y="0"/>
            <a:chExt cx="914400" cy="4023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S14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470380" y="2894076"/>
            <a:ext cx="685800" cy="301752"/>
            <a:chOff x="0" y="0"/>
            <a:chExt cx="914400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5156180" y="2894076"/>
            <a:ext cx="685800" cy="301752"/>
            <a:chOff x="0" y="0"/>
            <a:chExt cx="914400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S16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5841980" y="2894076"/>
            <a:ext cx="685800" cy="301752"/>
            <a:chOff x="0" y="0"/>
            <a:chExt cx="914400" cy="40233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S17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6527780" y="2894076"/>
            <a:ext cx="685800" cy="301752"/>
            <a:chOff x="0" y="0"/>
            <a:chExt cx="914400" cy="40233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14400" cy="402336"/>
            </a:xfrm>
            <a:custGeom>
              <a:avLst/>
              <a:gdLst/>
              <a:ahLst/>
              <a:cxnLst/>
              <a:rect r="r" b="b" t="t" l="l"/>
              <a:pathLst>
                <a:path h="40233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9144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S18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50595" y="3254883"/>
            <a:ext cx="15929610" cy="327660"/>
            <a:chOff x="0" y="0"/>
            <a:chExt cx="21239480" cy="4368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239480" cy="436880"/>
            </a:xfrm>
            <a:custGeom>
              <a:avLst/>
              <a:gdLst/>
              <a:ahLst/>
              <a:cxnLst/>
              <a:rect r="r" b="b" t="t" l="l"/>
              <a:pathLst>
                <a:path h="436880" w="21239480">
                  <a:moveTo>
                    <a:pt x="0" y="0"/>
                  </a:moveTo>
                  <a:lnTo>
                    <a:pt x="21239480" y="0"/>
                  </a:lnTo>
                  <a:lnTo>
                    <a:pt x="21239480" y="436880"/>
                  </a:lnTo>
                  <a:lnTo>
                    <a:pt x="0" y="436880"/>
                  </a:ln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F2F6F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28700" y="3264408"/>
            <a:ext cx="3703320" cy="308610"/>
            <a:chOff x="0" y="0"/>
            <a:chExt cx="4937760" cy="4114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Levantamiento de requerimientos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4914519" y="3296031"/>
            <a:ext cx="1966722" cy="231648"/>
            <a:chOff x="0" y="0"/>
            <a:chExt cx="2622296" cy="30886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622296" cy="308991"/>
            </a:xfrm>
            <a:custGeom>
              <a:avLst/>
              <a:gdLst/>
              <a:ahLst/>
              <a:cxnLst/>
              <a:rect r="r" b="b" t="t" l="l"/>
              <a:pathLst>
                <a:path h="308991" w="26222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2522601" y="0"/>
                  </a:lnTo>
                  <a:cubicBezTo>
                    <a:pt x="2577592" y="0"/>
                    <a:pt x="2622296" y="44577"/>
                    <a:pt x="2622296" y="99695"/>
                  </a:cubicBezTo>
                  <a:lnTo>
                    <a:pt x="2622296" y="209296"/>
                  </a:lnTo>
                  <a:cubicBezTo>
                    <a:pt x="2622296" y="264287"/>
                    <a:pt x="2577719" y="308991"/>
                    <a:pt x="25226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28700" y="3614166"/>
            <a:ext cx="3703320" cy="308610"/>
            <a:chOff x="0" y="0"/>
            <a:chExt cx="4937760" cy="4114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Alcance y planificación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4914519" y="3645789"/>
            <a:ext cx="1280922" cy="231648"/>
            <a:chOff x="0" y="0"/>
            <a:chExt cx="1707896" cy="3088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707896" cy="308991"/>
            </a:xfrm>
            <a:custGeom>
              <a:avLst/>
              <a:gdLst/>
              <a:ahLst/>
              <a:cxnLst/>
              <a:rect r="r" b="b" t="t" l="l"/>
              <a:pathLst>
                <a:path h="308991" w="17078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1608201" y="0"/>
                  </a:lnTo>
                  <a:cubicBezTo>
                    <a:pt x="1663192" y="0"/>
                    <a:pt x="1707896" y="44577"/>
                    <a:pt x="1707896" y="99695"/>
                  </a:cubicBezTo>
                  <a:lnTo>
                    <a:pt x="1707896" y="209296"/>
                  </a:lnTo>
                  <a:cubicBezTo>
                    <a:pt x="1707896" y="264287"/>
                    <a:pt x="1663319" y="308991"/>
                    <a:pt x="16082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4" id="94"/>
          <p:cNvGrpSpPr/>
          <p:nvPr/>
        </p:nvGrpSpPr>
        <p:grpSpPr>
          <a:xfrm rot="0">
            <a:off x="950595" y="3954399"/>
            <a:ext cx="15929610" cy="327660"/>
            <a:chOff x="0" y="0"/>
            <a:chExt cx="21239480" cy="4368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1239480" cy="436880"/>
            </a:xfrm>
            <a:custGeom>
              <a:avLst/>
              <a:gdLst/>
              <a:ahLst/>
              <a:cxnLst/>
              <a:rect r="r" b="b" t="t" l="l"/>
              <a:pathLst>
                <a:path h="436880" w="21239480">
                  <a:moveTo>
                    <a:pt x="0" y="0"/>
                  </a:moveTo>
                  <a:lnTo>
                    <a:pt x="21239480" y="0"/>
                  </a:lnTo>
                  <a:lnTo>
                    <a:pt x="21239480" y="436880"/>
                  </a:lnTo>
                  <a:lnTo>
                    <a:pt x="0" y="436880"/>
                  </a:ln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F2F6F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28700" y="3963924"/>
            <a:ext cx="3703320" cy="308610"/>
            <a:chOff x="0" y="0"/>
            <a:chExt cx="4937760" cy="4114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 de datos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6286119" y="3995547"/>
            <a:ext cx="1966722" cy="231648"/>
            <a:chOff x="0" y="0"/>
            <a:chExt cx="2622296" cy="30886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622296" cy="308991"/>
            </a:xfrm>
            <a:custGeom>
              <a:avLst/>
              <a:gdLst/>
              <a:ahLst/>
              <a:cxnLst/>
              <a:rect r="r" b="b" t="t" l="l"/>
              <a:pathLst>
                <a:path h="308991" w="26222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2522601" y="0"/>
                  </a:lnTo>
                  <a:cubicBezTo>
                    <a:pt x="2577592" y="0"/>
                    <a:pt x="2622296" y="44577"/>
                    <a:pt x="2622296" y="99695"/>
                  </a:cubicBezTo>
                  <a:lnTo>
                    <a:pt x="2622296" y="209296"/>
                  </a:lnTo>
                  <a:cubicBezTo>
                    <a:pt x="2622296" y="264287"/>
                    <a:pt x="2577719" y="308991"/>
                    <a:pt x="25226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28700" y="4313682"/>
            <a:ext cx="3703320" cy="308610"/>
            <a:chOff x="0" y="0"/>
            <a:chExt cx="4937760" cy="4114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Contrato de interfaz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6971919" y="4345305"/>
            <a:ext cx="1280922" cy="231648"/>
            <a:chOff x="0" y="0"/>
            <a:chExt cx="1707896" cy="30886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707896" cy="308991"/>
            </a:xfrm>
            <a:custGeom>
              <a:avLst/>
              <a:gdLst/>
              <a:ahLst/>
              <a:cxnLst/>
              <a:rect r="r" b="b" t="t" l="l"/>
              <a:pathLst>
                <a:path h="308991" w="17078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1608201" y="0"/>
                  </a:lnTo>
                  <a:cubicBezTo>
                    <a:pt x="1663192" y="0"/>
                    <a:pt x="1707896" y="44577"/>
                    <a:pt x="1707896" y="99695"/>
                  </a:cubicBezTo>
                  <a:lnTo>
                    <a:pt x="1707896" y="209296"/>
                  </a:lnTo>
                  <a:cubicBezTo>
                    <a:pt x="1707896" y="264287"/>
                    <a:pt x="1663319" y="308991"/>
                    <a:pt x="16082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50595" y="4653915"/>
            <a:ext cx="15929610" cy="327660"/>
            <a:chOff x="0" y="0"/>
            <a:chExt cx="21239480" cy="4368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1239480" cy="436880"/>
            </a:xfrm>
            <a:custGeom>
              <a:avLst/>
              <a:gdLst/>
              <a:ahLst/>
              <a:cxnLst/>
              <a:rect r="r" b="b" t="t" l="l"/>
              <a:pathLst>
                <a:path h="436880" w="21239480">
                  <a:moveTo>
                    <a:pt x="0" y="0"/>
                  </a:moveTo>
                  <a:lnTo>
                    <a:pt x="21239480" y="0"/>
                  </a:lnTo>
                  <a:lnTo>
                    <a:pt x="21239480" y="436880"/>
                  </a:lnTo>
                  <a:lnTo>
                    <a:pt x="0" y="436880"/>
                  </a:ln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F2F6F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28700" y="4663440"/>
            <a:ext cx="3703320" cy="308610"/>
            <a:chOff x="0" y="0"/>
            <a:chExt cx="4937760" cy="4114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10" id="110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Prototipos web y móvil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6971919" y="4695063"/>
            <a:ext cx="1966722" cy="231648"/>
            <a:chOff x="0" y="0"/>
            <a:chExt cx="2622296" cy="30886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622296" cy="308991"/>
            </a:xfrm>
            <a:custGeom>
              <a:avLst/>
              <a:gdLst/>
              <a:ahLst/>
              <a:cxnLst/>
              <a:rect r="r" b="b" t="t" l="l"/>
              <a:pathLst>
                <a:path h="308991" w="26222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2522601" y="0"/>
                  </a:lnTo>
                  <a:cubicBezTo>
                    <a:pt x="2577592" y="0"/>
                    <a:pt x="2622296" y="44577"/>
                    <a:pt x="2622296" y="99695"/>
                  </a:cubicBezTo>
                  <a:lnTo>
                    <a:pt x="2622296" y="209296"/>
                  </a:lnTo>
                  <a:cubicBezTo>
                    <a:pt x="2622296" y="264287"/>
                    <a:pt x="2577719" y="308991"/>
                    <a:pt x="25226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28700" y="5013198"/>
            <a:ext cx="3703320" cy="308610"/>
            <a:chOff x="0" y="0"/>
            <a:chExt cx="4937760" cy="4114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de datos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7657719" y="5044821"/>
            <a:ext cx="1280922" cy="231648"/>
            <a:chOff x="0" y="0"/>
            <a:chExt cx="1707896" cy="30886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707896" cy="308991"/>
            </a:xfrm>
            <a:custGeom>
              <a:avLst/>
              <a:gdLst/>
              <a:ahLst/>
              <a:cxnLst/>
              <a:rect r="r" b="b" t="t" l="l"/>
              <a:pathLst>
                <a:path h="308991" w="17078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1608201" y="0"/>
                  </a:lnTo>
                  <a:cubicBezTo>
                    <a:pt x="1663192" y="0"/>
                    <a:pt x="1707896" y="44577"/>
                    <a:pt x="1707896" y="99695"/>
                  </a:cubicBezTo>
                  <a:lnTo>
                    <a:pt x="1707896" y="209296"/>
                  </a:lnTo>
                  <a:cubicBezTo>
                    <a:pt x="1707896" y="264287"/>
                    <a:pt x="1663319" y="308991"/>
                    <a:pt x="16082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50595" y="5353431"/>
            <a:ext cx="15929610" cy="327660"/>
            <a:chOff x="0" y="0"/>
            <a:chExt cx="21239480" cy="43688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1239480" cy="436880"/>
            </a:xfrm>
            <a:custGeom>
              <a:avLst/>
              <a:gdLst/>
              <a:ahLst/>
              <a:cxnLst/>
              <a:rect r="r" b="b" t="t" l="l"/>
              <a:pathLst>
                <a:path h="436880" w="21239480">
                  <a:moveTo>
                    <a:pt x="0" y="0"/>
                  </a:moveTo>
                  <a:lnTo>
                    <a:pt x="21239480" y="0"/>
                  </a:lnTo>
                  <a:lnTo>
                    <a:pt x="21239480" y="436880"/>
                  </a:lnTo>
                  <a:lnTo>
                    <a:pt x="0" y="436880"/>
                  </a:ln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F2F6F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28700" y="5362956"/>
            <a:ext cx="3703320" cy="308610"/>
            <a:chOff x="0" y="0"/>
            <a:chExt cx="4937760" cy="41148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Acceso, roles y personal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8343519" y="5394579"/>
            <a:ext cx="1280922" cy="231648"/>
            <a:chOff x="0" y="0"/>
            <a:chExt cx="1707896" cy="30886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707896" cy="308991"/>
            </a:xfrm>
            <a:custGeom>
              <a:avLst/>
              <a:gdLst/>
              <a:ahLst/>
              <a:cxnLst/>
              <a:rect r="r" b="b" t="t" l="l"/>
              <a:pathLst>
                <a:path h="308991" w="17078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1608201" y="0"/>
                  </a:lnTo>
                  <a:cubicBezTo>
                    <a:pt x="1663192" y="0"/>
                    <a:pt x="1707896" y="44577"/>
                    <a:pt x="1707896" y="99695"/>
                  </a:cubicBezTo>
                  <a:lnTo>
                    <a:pt x="1707896" y="209296"/>
                  </a:lnTo>
                  <a:cubicBezTo>
                    <a:pt x="1707896" y="264287"/>
                    <a:pt x="1663319" y="308991"/>
                    <a:pt x="16082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28700" y="5712714"/>
            <a:ext cx="3703320" cy="308610"/>
            <a:chOff x="0" y="0"/>
            <a:chExt cx="4937760" cy="41148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Venta y cálculo de tarifas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029319" y="5744337"/>
            <a:ext cx="1966722" cy="231648"/>
            <a:chOff x="0" y="0"/>
            <a:chExt cx="2622296" cy="30886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622296" cy="308991"/>
            </a:xfrm>
            <a:custGeom>
              <a:avLst/>
              <a:gdLst/>
              <a:ahLst/>
              <a:cxnLst/>
              <a:rect r="r" b="b" t="t" l="l"/>
              <a:pathLst>
                <a:path h="308991" w="26222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2522601" y="0"/>
                  </a:lnTo>
                  <a:cubicBezTo>
                    <a:pt x="2577592" y="0"/>
                    <a:pt x="2622296" y="44577"/>
                    <a:pt x="2622296" y="99695"/>
                  </a:cubicBezTo>
                  <a:lnTo>
                    <a:pt x="2622296" y="209296"/>
                  </a:lnTo>
                  <a:cubicBezTo>
                    <a:pt x="2622296" y="264287"/>
                    <a:pt x="2577719" y="308991"/>
                    <a:pt x="25226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50595" y="6052947"/>
            <a:ext cx="15929610" cy="327660"/>
            <a:chOff x="0" y="0"/>
            <a:chExt cx="21239480" cy="43688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1239480" cy="436880"/>
            </a:xfrm>
            <a:custGeom>
              <a:avLst/>
              <a:gdLst/>
              <a:ahLst/>
              <a:cxnLst/>
              <a:rect r="r" b="b" t="t" l="l"/>
              <a:pathLst>
                <a:path h="436880" w="21239480">
                  <a:moveTo>
                    <a:pt x="0" y="0"/>
                  </a:moveTo>
                  <a:lnTo>
                    <a:pt x="21239480" y="0"/>
                  </a:lnTo>
                  <a:lnTo>
                    <a:pt x="21239480" y="436880"/>
                  </a:lnTo>
                  <a:lnTo>
                    <a:pt x="0" y="436880"/>
                  </a:ln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F2F6F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028700" y="6062472"/>
            <a:ext cx="3703320" cy="308610"/>
            <a:chOff x="0" y="0"/>
            <a:chExt cx="4937760" cy="41148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34" id="134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Orden de transporte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0400919" y="6094095"/>
            <a:ext cx="1280922" cy="231648"/>
            <a:chOff x="0" y="0"/>
            <a:chExt cx="1707896" cy="308864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707896" cy="308991"/>
            </a:xfrm>
            <a:custGeom>
              <a:avLst/>
              <a:gdLst/>
              <a:ahLst/>
              <a:cxnLst/>
              <a:rect r="r" b="b" t="t" l="l"/>
              <a:pathLst>
                <a:path h="308991" w="17078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1608201" y="0"/>
                  </a:lnTo>
                  <a:cubicBezTo>
                    <a:pt x="1663192" y="0"/>
                    <a:pt x="1707896" y="44577"/>
                    <a:pt x="1707896" y="99695"/>
                  </a:cubicBezTo>
                  <a:lnTo>
                    <a:pt x="1707896" y="209296"/>
                  </a:lnTo>
                  <a:cubicBezTo>
                    <a:pt x="1707896" y="264287"/>
                    <a:pt x="1663319" y="308991"/>
                    <a:pt x="16082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28700" y="6412230"/>
            <a:ext cx="3703320" cy="308610"/>
            <a:chOff x="0" y="0"/>
            <a:chExt cx="4937760" cy="4114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de bodega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1086719" y="6443853"/>
            <a:ext cx="1280922" cy="231648"/>
            <a:chOff x="0" y="0"/>
            <a:chExt cx="1707896" cy="30886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707896" cy="308991"/>
            </a:xfrm>
            <a:custGeom>
              <a:avLst/>
              <a:gdLst/>
              <a:ahLst/>
              <a:cxnLst/>
              <a:rect r="r" b="b" t="t" l="l"/>
              <a:pathLst>
                <a:path h="308991" w="17078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1608201" y="0"/>
                  </a:lnTo>
                  <a:cubicBezTo>
                    <a:pt x="1663192" y="0"/>
                    <a:pt x="1707896" y="44577"/>
                    <a:pt x="1707896" y="99695"/>
                  </a:cubicBezTo>
                  <a:lnTo>
                    <a:pt x="1707896" y="209296"/>
                  </a:lnTo>
                  <a:cubicBezTo>
                    <a:pt x="1707896" y="264287"/>
                    <a:pt x="1663319" y="308991"/>
                    <a:pt x="16082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50595" y="6752463"/>
            <a:ext cx="15929610" cy="327660"/>
            <a:chOff x="0" y="0"/>
            <a:chExt cx="21239480" cy="43688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1239480" cy="436880"/>
            </a:xfrm>
            <a:custGeom>
              <a:avLst/>
              <a:gdLst/>
              <a:ahLst/>
              <a:cxnLst/>
              <a:rect r="r" b="b" t="t" l="l"/>
              <a:pathLst>
                <a:path h="436880" w="21239480">
                  <a:moveTo>
                    <a:pt x="0" y="0"/>
                  </a:moveTo>
                  <a:lnTo>
                    <a:pt x="21239480" y="0"/>
                  </a:lnTo>
                  <a:lnTo>
                    <a:pt x="21239480" y="436880"/>
                  </a:lnTo>
                  <a:lnTo>
                    <a:pt x="0" y="436880"/>
                  </a:ln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F2F6F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028700" y="6761988"/>
            <a:ext cx="3703320" cy="308610"/>
            <a:chOff x="0" y="0"/>
            <a:chExt cx="4937760" cy="41148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46" id="146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Ruta y app del conductor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1772519" y="6793611"/>
            <a:ext cx="1966722" cy="231648"/>
            <a:chOff x="0" y="0"/>
            <a:chExt cx="2622296" cy="308864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622296" cy="308991"/>
            </a:xfrm>
            <a:custGeom>
              <a:avLst/>
              <a:gdLst/>
              <a:ahLst/>
              <a:cxnLst/>
              <a:rect r="r" b="b" t="t" l="l"/>
              <a:pathLst>
                <a:path h="308991" w="26222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2522601" y="0"/>
                  </a:lnTo>
                  <a:cubicBezTo>
                    <a:pt x="2577592" y="0"/>
                    <a:pt x="2622296" y="44577"/>
                    <a:pt x="2622296" y="99695"/>
                  </a:cubicBezTo>
                  <a:lnTo>
                    <a:pt x="2622296" y="209296"/>
                  </a:lnTo>
                  <a:cubicBezTo>
                    <a:pt x="2622296" y="264287"/>
                    <a:pt x="2577719" y="308991"/>
                    <a:pt x="25226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028700" y="7111746"/>
            <a:ext cx="3703320" cy="308610"/>
            <a:chOff x="0" y="0"/>
            <a:chExt cx="4937760" cy="41148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51" id="151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Flota, mantención y costos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2458319" y="7143369"/>
            <a:ext cx="1966722" cy="231648"/>
            <a:chOff x="0" y="0"/>
            <a:chExt cx="2622296" cy="308864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622296" cy="308991"/>
            </a:xfrm>
            <a:custGeom>
              <a:avLst/>
              <a:gdLst/>
              <a:ahLst/>
              <a:cxnLst/>
              <a:rect r="r" b="b" t="t" l="l"/>
              <a:pathLst>
                <a:path h="308991" w="26222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2522601" y="0"/>
                  </a:lnTo>
                  <a:cubicBezTo>
                    <a:pt x="2577592" y="0"/>
                    <a:pt x="2622296" y="44577"/>
                    <a:pt x="2622296" y="99695"/>
                  </a:cubicBezTo>
                  <a:lnTo>
                    <a:pt x="2622296" y="209296"/>
                  </a:lnTo>
                  <a:cubicBezTo>
                    <a:pt x="2622296" y="264287"/>
                    <a:pt x="2577719" y="308991"/>
                    <a:pt x="25226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950595" y="7451979"/>
            <a:ext cx="15929610" cy="327660"/>
            <a:chOff x="0" y="0"/>
            <a:chExt cx="21239480" cy="43688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21239480" cy="436880"/>
            </a:xfrm>
            <a:custGeom>
              <a:avLst/>
              <a:gdLst/>
              <a:ahLst/>
              <a:cxnLst/>
              <a:rect r="r" b="b" t="t" l="l"/>
              <a:pathLst>
                <a:path h="436880" w="21239480">
                  <a:moveTo>
                    <a:pt x="0" y="0"/>
                  </a:moveTo>
                  <a:lnTo>
                    <a:pt x="21239480" y="0"/>
                  </a:lnTo>
                  <a:lnTo>
                    <a:pt x="21239480" y="436880"/>
                  </a:lnTo>
                  <a:lnTo>
                    <a:pt x="0" y="436880"/>
                  </a:ln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F2F6F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028700" y="7461504"/>
            <a:ext cx="3703320" cy="308610"/>
            <a:chOff x="0" y="0"/>
            <a:chExt cx="4937760" cy="41148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58" id="158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Monitoreo y cierre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3144119" y="7493127"/>
            <a:ext cx="1280922" cy="231648"/>
            <a:chOff x="0" y="0"/>
            <a:chExt cx="1707896" cy="308864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707896" cy="308991"/>
            </a:xfrm>
            <a:custGeom>
              <a:avLst/>
              <a:gdLst/>
              <a:ahLst/>
              <a:cxnLst/>
              <a:rect r="r" b="b" t="t" l="l"/>
              <a:pathLst>
                <a:path h="308991" w="17078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1608201" y="0"/>
                  </a:lnTo>
                  <a:cubicBezTo>
                    <a:pt x="1663192" y="0"/>
                    <a:pt x="1707896" y="44577"/>
                    <a:pt x="1707896" y="99695"/>
                  </a:cubicBezTo>
                  <a:lnTo>
                    <a:pt x="1707896" y="209296"/>
                  </a:lnTo>
                  <a:cubicBezTo>
                    <a:pt x="1707896" y="264287"/>
                    <a:pt x="1663319" y="308991"/>
                    <a:pt x="16082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028700" y="7811262"/>
            <a:ext cx="3703320" cy="308610"/>
            <a:chOff x="0" y="0"/>
            <a:chExt cx="4937760" cy="41148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63" id="163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 e indicadores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3829919" y="7842885"/>
            <a:ext cx="1280922" cy="231648"/>
            <a:chOff x="0" y="0"/>
            <a:chExt cx="1707896" cy="308864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707896" cy="308991"/>
            </a:xfrm>
            <a:custGeom>
              <a:avLst/>
              <a:gdLst/>
              <a:ahLst/>
              <a:cxnLst/>
              <a:rect r="r" b="b" t="t" l="l"/>
              <a:pathLst>
                <a:path h="308991" w="17078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1608201" y="0"/>
                  </a:lnTo>
                  <a:cubicBezTo>
                    <a:pt x="1663192" y="0"/>
                    <a:pt x="1707896" y="44577"/>
                    <a:pt x="1707896" y="99695"/>
                  </a:cubicBezTo>
                  <a:lnTo>
                    <a:pt x="1707896" y="209296"/>
                  </a:lnTo>
                  <a:cubicBezTo>
                    <a:pt x="1707896" y="264287"/>
                    <a:pt x="1663319" y="308991"/>
                    <a:pt x="16082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950595" y="8151495"/>
            <a:ext cx="15929610" cy="327660"/>
            <a:chOff x="0" y="0"/>
            <a:chExt cx="21239480" cy="43688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21239480" cy="436880"/>
            </a:xfrm>
            <a:custGeom>
              <a:avLst/>
              <a:gdLst/>
              <a:ahLst/>
              <a:cxnLst/>
              <a:rect r="r" b="b" t="t" l="l"/>
              <a:pathLst>
                <a:path h="436880" w="21239480">
                  <a:moveTo>
                    <a:pt x="0" y="0"/>
                  </a:moveTo>
                  <a:lnTo>
                    <a:pt x="21239480" y="0"/>
                  </a:lnTo>
                  <a:lnTo>
                    <a:pt x="21239480" y="436880"/>
                  </a:lnTo>
                  <a:lnTo>
                    <a:pt x="0" y="436880"/>
                  </a:ln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F2F6F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028700" y="8161020"/>
            <a:ext cx="3703320" cy="308610"/>
            <a:chOff x="0" y="0"/>
            <a:chExt cx="4937760" cy="41148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70" id="170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 de pruebas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3829919" y="8192643"/>
            <a:ext cx="1966722" cy="231648"/>
            <a:chOff x="0" y="0"/>
            <a:chExt cx="2622296" cy="308864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622296" cy="308991"/>
            </a:xfrm>
            <a:custGeom>
              <a:avLst/>
              <a:gdLst/>
              <a:ahLst/>
              <a:cxnLst/>
              <a:rect r="r" b="b" t="t" l="l"/>
              <a:pathLst>
                <a:path h="308991" w="26222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2522601" y="0"/>
                  </a:lnTo>
                  <a:cubicBezTo>
                    <a:pt x="2577592" y="0"/>
                    <a:pt x="2622296" y="44577"/>
                    <a:pt x="2622296" y="99695"/>
                  </a:cubicBezTo>
                  <a:lnTo>
                    <a:pt x="2622296" y="209296"/>
                  </a:lnTo>
                  <a:cubicBezTo>
                    <a:pt x="2622296" y="264287"/>
                    <a:pt x="2577719" y="308991"/>
                    <a:pt x="25226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028700" y="8510778"/>
            <a:ext cx="3703320" cy="308610"/>
            <a:chOff x="0" y="0"/>
            <a:chExt cx="4937760" cy="41148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75" id="175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Mejoras y correcciones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4515719" y="8542401"/>
            <a:ext cx="1280922" cy="231648"/>
            <a:chOff x="0" y="0"/>
            <a:chExt cx="1707896" cy="308864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707896" cy="308991"/>
            </a:xfrm>
            <a:custGeom>
              <a:avLst/>
              <a:gdLst/>
              <a:ahLst/>
              <a:cxnLst/>
              <a:rect r="r" b="b" t="t" l="l"/>
              <a:pathLst>
                <a:path h="308991" w="17078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1608201" y="0"/>
                  </a:lnTo>
                  <a:cubicBezTo>
                    <a:pt x="1663192" y="0"/>
                    <a:pt x="1707896" y="44577"/>
                    <a:pt x="1707896" y="99695"/>
                  </a:cubicBezTo>
                  <a:lnTo>
                    <a:pt x="1707896" y="209296"/>
                  </a:lnTo>
                  <a:cubicBezTo>
                    <a:pt x="1707896" y="264287"/>
                    <a:pt x="1663319" y="308991"/>
                    <a:pt x="16082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950595" y="8851011"/>
            <a:ext cx="15929610" cy="327660"/>
            <a:chOff x="0" y="0"/>
            <a:chExt cx="21239480" cy="43688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1239480" cy="436880"/>
            </a:xfrm>
            <a:custGeom>
              <a:avLst/>
              <a:gdLst/>
              <a:ahLst/>
              <a:cxnLst/>
              <a:rect r="r" b="b" t="t" l="l"/>
              <a:pathLst>
                <a:path h="436880" w="21239480">
                  <a:moveTo>
                    <a:pt x="0" y="0"/>
                  </a:moveTo>
                  <a:lnTo>
                    <a:pt x="21239480" y="0"/>
                  </a:lnTo>
                  <a:lnTo>
                    <a:pt x="21239480" y="436880"/>
                  </a:lnTo>
                  <a:lnTo>
                    <a:pt x="0" y="436880"/>
                  </a:lnTo>
                  <a:close/>
                </a:path>
              </a:pathLst>
            </a:custGeom>
            <a:solidFill>
              <a:srgbClr val="F2F6F9"/>
            </a:solidFill>
            <a:ln w="19050" cap="sq">
              <a:solidFill>
                <a:srgbClr val="F2F6F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028700" y="8860536"/>
            <a:ext cx="3703320" cy="308610"/>
            <a:chOff x="0" y="0"/>
            <a:chExt cx="4937760" cy="41148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82" id="182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Implantación y despliegue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5201519" y="8892159"/>
            <a:ext cx="595122" cy="231648"/>
            <a:chOff x="0" y="0"/>
            <a:chExt cx="793496" cy="308864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793496" cy="308991"/>
            </a:xfrm>
            <a:custGeom>
              <a:avLst/>
              <a:gdLst/>
              <a:ahLst/>
              <a:cxnLst/>
              <a:rect r="r" b="b" t="t" l="l"/>
              <a:pathLst>
                <a:path h="308991" w="7934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693801" y="0"/>
                  </a:lnTo>
                  <a:cubicBezTo>
                    <a:pt x="748792" y="0"/>
                    <a:pt x="793496" y="44577"/>
                    <a:pt x="793496" y="99695"/>
                  </a:cubicBezTo>
                  <a:lnTo>
                    <a:pt x="793496" y="209296"/>
                  </a:lnTo>
                  <a:cubicBezTo>
                    <a:pt x="793496" y="264287"/>
                    <a:pt x="748919" y="308991"/>
                    <a:pt x="6938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028700" y="9210294"/>
            <a:ext cx="3703320" cy="308610"/>
            <a:chOff x="0" y="0"/>
            <a:chExt cx="4937760" cy="41148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937760" cy="411480"/>
            </a:xfrm>
            <a:custGeom>
              <a:avLst/>
              <a:gdLst/>
              <a:ahLst/>
              <a:cxnLst/>
              <a:rect r="r" b="b" t="t" l="l"/>
              <a:pathLst>
                <a:path h="4114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411480"/>
                  </a:lnTo>
                  <a:lnTo>
                    <a:pt x="0" y="411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  <p:txBody>
            <a:bodyPr/>
            <a:p/>
          </p:txBody>
        </p:sp>
        <p:sp>
          <p:nvSpPr>
            <p:cNvPr name="TextBox 187" id="187"/>
            <p:cNvSpPr txBox="true"/>
            <p:nvPr/>
          </p:nvSpPr>
          <p:spPr>
            <a:xfrm>
              <a:off x="0" y="-28575"/>
              <a:ext cx="4937760" cy="440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F2E4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Informe final y defensa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5887319" y="9241917"/>
            <a:ext cx="1280922" cy="231648"/>
            <a:chOff x="0" y="0"/>
            <a:chExt cx="1707896" cy="308864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1707896" cy="308991"/>
            </a:xfrm>
            <a:custGeom>
              <a:avLst/>
              <a:gdLst/>
              <a:ahLst/>
              <a:cxnLst/>
              <a:rect r="r" b="b" t="t" l="l"/>
              <a:pathLst>
                <a:path h="308991" w="1707896">
                  <a:moveTo>
                    <a:pt x="0" y="99695"/>
                  </a:moveTo>
                  <a:cubicBezTo>
                    <a:pt x="0" y="44577"/>
                    <a:pt x="44577" y="0"/>
                    <a:pt x="99695" y="0"/>
                  </a:cubicBezTo>
                  <a:lnTo>
                    <a:pt x="1608201" y="0"/>
                  </a:lnTo>
                  <a:cubicBezTo>
                    <a:pt x="1663192" y="0"/>
                    <a:pt x="1707896" y="44577"/>
                    <a:pt x="1707896" y="99695"/>
                  </a:cubicBezTo>
                  <a:lnTo>
                    <a:pt x="1707896" y="209296"/>
                  </a:lnTo>
                  <a:cubicBezTo>
                    <a:pt x="1707896" y="264287"/>
                    <a:pt x="1663319" y="308991"/>
                    <a:pt x="1608201" y="308991"/>
                  </a:cubicBezTo>
                  <a:lnTo>
                    <a:pt x="99695" y="308991"/>
                  </a:lnTo>
                  <a:cubicBezTo>
                    <a:pt x="44577" y="308864"/>
                    <a:pt x="0" y="264287"/>
                    <a:pt x="0" y="209169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Estado del plan de trabajo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Avance real de las actividades en curso de la Fase 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0120" y="2263140"/>
            <a:ext cx="16322040" cy="576072"/>
            <a:chOff x="0" y="0"/>
            <a:chExt cx="21762720" cy="7680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768096"/>
            </a:xfrm>
            <a:custGeom>
              <a:avLst/>
              <a:gdLst/>
              <a:ahLst/>
              <a:cxnLst/>
              <a:rect r="r" b="b" t="t" l="l"/>
              <a:pathLst>
                <a:path h="768096" w="2176272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21647531" y="0"/>
                  </a:lnTo>
                  <a:cubicBezTo>
                    <a:pt x="21711158" y="0"/>
                    <a:pt x="21762720" y="51562"/>
                    <a:pt x="21762720" y="115189"/>
                  </a:cubicBezTo>
                  <a:lnTo>
                    <a:pt x="21762720" y="652907"/>
                  </a:lnTo>
                  <a:cubicBezTo>
                    <a:pt x="21762720" y="716534"/>
                    <a:pt x="21711158" y="768096"/>
                    <a:pt x="21647531" y="768096"/>
                  </a:cubicBezTo>
                  <a:lnTo>
                    <a:pt x="115189" y="768096"/>
                  </a:lnTo>
                  <a:cubicBezTo>
                    <a:pt x="51562" y="768096"/>
                    <a:pt x="0" y="716534"/>
                    <a:pt x="0" y="652907"/>
                  </a:cubicBezTo>
                  <a:close/>
                </a:path>
              </a:pathLst>
            </a:custGeom>
            <a:solidFill>
              <a:srgbClr val="0F2E42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61872" y="2263140"/>
            <a:ext cx="7132320" cy="576072"/>
            <a:chOff x="0" y="0"/>
            <a:chExt cx="9509760" cy="7680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09760" cy="768096"/>
            </a:xfrm>
            <a:custGeom>
              <a:avLst/>
              <a:gdLst/>
              <a:ahLst/>
              <a:cxnLst/>
              <a:rect r="r" b="b" t="t" l="l"/>
              <a:pathLst>
                <a:path h="76809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1243" r="0" b="-191243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509760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Actividad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05672" y="2263140"/>
            <a:ext cx="2606040" cy="576072"/>
            <a:chOff x="0" y="0"/>
            <a:chExt cx="3474720" cy="7680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74720" cy="768096"/>
            </a:xfrm>
            <a:custGeom>
              <a:avLst/>
              <a:gdLst/>
              <a:ahLst/>
              <a:cxnLst/>
              <a:rect r="r" b="b" t="t" l="l"/>
              <a:pathLst>
                <a:path h="768096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146" r="0" b="-38146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474720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Responsable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23192" y="2263140"/>
            <a:ext cx="2743200" cy="576072"/>
            <a:chOff x="0" y="0"/>
            <a:chExt cx="3657600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598" cy="768096"/>
            </a:xfrm>
            <a:custGeom>
              <a:avLst/>
              <a:gdLst/>
              <a:ahLst/>
              <a:cxnLst/>
              <a:rect r="r" b="b" t="t" l="l"/>
              <a:pathLst>
                <a:path h="768096" w="3657598">
                  <a:moveTo>
                    <a:pt x="0" y="0"/>
                  </a:moveTo>
                  <a:lnTo>
                    <a:pt x="3657598" y="0"/>
                  </a:lnTo>
                  <a:lnTo>
                    <a:pt x="365759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85" r="0" b="-42785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657600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Duración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977872" y="2263140"/>
            <a:ext cx="2194560" cy="576072"/>
            <a:chOff x="0" y="0"/>
            <a:chExt cx="2926080" cy="7680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6078" cy="768096"/>
            </a:xfrm>
            <a:custGeom>
              <a:avLst/>
              <a:gdLst/>
              <a:ahLst/>
              <a:cxnLst/>
              <a:rect r="r" b="b" t="t" l="l"/>
              <a:pathLst>
                <a:path h="768096" w="2926078">
                  <a:moveTo>
                    <a:pt x="0" y="0"/>
                  </a:moveTo>
                  <a:lnTo>
                    <a:pt x="2926078" y="0"/>
                  </a:lnTo>
                  <a:lnTo>
                    <a:pt x="292607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8" r="0" b="-24228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926080" cy="825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Estado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0120" y="2948940"/>
            <a:ext cx="16322040" cy="617220"/>
            <a:chOff x="0" y="0"/>
            <a:chExt cx="2176272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6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21762720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21639276" y="0"/>
                  </a:lnTo>
                  <a:cubicBezTo>
                    <a:pt x="21707475" y="0"/>
                    <a:pt x="21762720" y="55245"/>
                    <a:pt x="21762720" y="123444"/>
                  </a:cubicBezTo>
                  <a:lnTo>
                    <a:pt x="21762720" y="699516"/>
                  </a:lnTo>
                  <a:cubicBezTo>
                    <a:pt x="21762720" y="767715"/>
                    <a:pt x="21707475" y="822960"/>
                    <a:pt x="21639276" y="822960"/>
                  </a:cubicBezTo>
                  <a:lnTo>
                    <a:pt x="123444" y="822960"/>
                  </a:lnTo>
                  <a:cubicBezTo>
                    <a:pt x="55245" y="822960"/>
                    <a:pt x="0" y="767715"/>
                    <a:pt x="0" y="699516"/>
                  </a:cubicBezTo>
                  <a:close/>
                </a:path>
              </a:pathLst>
            </a:custGeom>
            <a:solidFill>
              <a:srgbClr val="F2F6F9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61872" y="2948940"/>
            <a:ext cx="7132320" cy="617220"/>
            <a:chOff x="0" y="0"/>
            <a:chExt cx="950976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09760" cy="822960"/>
            </a:xfrm>
            <a:custGeom>
              <a:avLst/>
              <a:gdLst/>
              <a:ahLst/>
              <a:cxnLst/>
              <a:rect r="r" b="b" t="t" l="l"/>
              <a:pathLst>
                <a:path h="822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160" r="0" b="-175160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950976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 de datos y base de datos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805672" y="2948940"/>
            <a:ext cx="2743200" cy="617220"/>
            <a:chOff x="0" y="0"/>
            <a:chExt cx="3657600" cy="822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57600" cy="822960"/>
            </a:xfrm>
            <a:custGeom>
              <a:avLst/>
              <a:gdLst/>
              <a:ahLst/>
              <a:cxnLst/>
              <a:rect r="r" b="b" t="t" l="l"/>
              <a:pathLst>
                <a:path h="8229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36576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Bernardo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23192" y="2948940"/>
            <a:ext cx="2880360" cy="617220"/>
            <a:chOff x="0" y="0"/>
            <a:chExt cx="3840480" cy="822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40480" cy="822960"/>
            </a:xfrm>
            <a:custGeom>
              <a:avLst/>
              <a:gdLst/>
              <a:ahLst/>
              <a:cxnLst/>
              <a:rect r="r" b="b" t="t" l="l"/>
              <a:pathLst>
                <a:path h="8229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384048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Semanas 3 a 6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977872" y="3058668"/>
            <a:ext cx="1920240" cy="397764"/>
            <a:chOff x="0" y="0"/>
            <a:chExt cx="2560320" cy="5303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265176"/>
                  </a:moveTo>
                  <a:cubicBezTo>
                    <a:pt x="0" y="118745"/>
                    <a:pt x="118745" y="0"/>
                    <a:pt x="265176" y="0"/>
                  </a:cubicBezTo>
                  <a:lnTo>
                    <a:pt x="2295144" y="0"/>
                  </a:lnTo>
                  <a:cubicBezTo>
                    <a:pt x="2441575" y="0"/>
                    <a:pt x="2560320" y="118745"/>
                    <a:pt x="2560320" y="265176"/>
                  </a:cubicBezTo>
                  <a:cubicBezTo>
                    <a:pt x="2560320" y="411607"/>
                    <a:pt x="2441575" y="530352"/>
                    <a:pt x="2295144" y="530352"/>
                  </a:cubicBezTo>
                  <a:lnTo>
                    <a:pt x="265176" y="530352"/>
                  </a:lnTo>
                  <a:cubicBezTo>
                    <a:pt x="118745" y="530352"/>
                    <a:pt x="0" y="411607"/>
                    <a:pt x="0" y="265176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977872" y="3058668"/>
            <a:ext cx="1920240" cy="397764"/>
            <a:chOff x="0" y="0"/>
            <a:chExt cx="2560320" cy="5303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65" r="0" b="-44065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2560320" cy="58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6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Completado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61872" y="3621024"/>
            <a:ext cx="7132320" cy="617220"/>
            <a:chOff x="0" y="0"/>
            <a:chExt cx="9509760" cy="822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09760" cy="822960"/>
            </a:xfrm>
            <a:custGeom>
              <a:avLst/>
              <a:gdLst/>
              <a:ahLst/>
              <a:cxnLst/>
              <a:rect r="r" b="b" t="t" l="l"/>
              <a:pathLst>
                <a:path h="822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160" r="0" b="-17516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950976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Infraestructura y acceso al servidor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805672" y="3621024"/>
            <a:ext cx="2743200" cy="617220"/>
            <a:chOff x="0" y="0"/>
            <a:chExt cx="3657600" cy="822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57600" cy="822960"/>
            </a:xfrm>
            <a:custGeom>
              <a:avLst/>
              <a:gdLst/>
              <a:ahLst/>
              <a:cxnLst/>
              <a:rect r="r" b="b" t="t" l="l"/>
              <a:pathLst>
                <a:path h="8229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36576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Javier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23192" y="3621024"/>
            <a:ext cx="2880360" cy="617220"/>
            <a:chOff x="0" y="0"/>
            <a:chExt cx="3840480" cy="822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40480" cy="822960"/>
            </a:xfrm>
            <a:custGeom>
              <a:avLst/>
              <a:gdLst/>
              <a:ahLst/>
              <a:cxnLst/>
              <a:rect r="r" b="b" t="t" l="l"/>
              <a:pathLst>
                <a:path h="8229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384048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Semanas 5 a 6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977872" y="3730752"/>
            <a:ext cx="1920240" cy="397764"/>
            <a:chOff x="0" y="0"/>
            <a:chExt cx="2560320" cy="5303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265176"/>
                  </a:moveTo>
                  <a:cubicBezTo>
                    <a:pt x="0" y="118745"/>
                    <a:pt x="118745" y="0"/>
                    <a:pt x="265176" y="0"/>
                  </a:cubicBezTo>
                  <a:lnTo>
                    <a:pt x="2295144" y="0"/>
                  </a:lnTo>
                  <a:cubicBezTo>
                    <a:pt x="2441575" y="0"/>
                    <a:pt x="2560320" y="118745"/>
                    <a:pt x="2560320" y="265176"/>
                  </a:cubicBezTo>
                  <a:cubicBezTo>
                    <a:pt x="2560320" y="411607"/>
                    <a:pt x="2441575" y="530352"/>
                    <a:pt x="2295144" y="530352"/>
                  </a:cubicBezTo>
                  <a:lnTo>
                    <a:pt x="265176" y="530352"/>
                  </a:lnTo>
                  <a:cubicBezTo>
                    <a:pt x="118745" y="530352"/>
                    <a:pt x="0" y="411607"/>
                    <a:pt x="0" y="265176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977872" y="3730752"/>
            <a:ext cx="1920240" cy="397764"/>
            <a:chOff x="0" y="0"/>
            <a:chExt cx="2560320" cy="5303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65" r="0" b="-44065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2560320" cy="58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6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Completado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0120" y="4293108"/>
            <a:ext cx="16322040" cy="617220"/>
            <a:chOff x="0" y="0"/>
            <a:chExt cx="21762720" cy="8229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76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21762720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21639276" y="0"/>
                  </a:lnTo>
                  <a:cubicBezTo>
                    <a:pt x="21707475" y="0"/>
                    <a:pt x="21762720" y="55245"/>
                    <a:pt x="21762720" y="123444"/>
                  </a:cubicBezTo>
                  <a:lnTo>
                    <a:pt x="21762720" y="699516"/>
                  </a:lnTo>
                  <a:cubicBezTo>
                    <a:pt x="21762720" y="767715"/>
                    <a:pt x="21707475" y="822960"/>
                    <a:pt x="21639276" y="822960"/>
                  </a:cubicBezTo>
                  <a:lnTo>
                    <a:pt x="123444" y="822960"/>
                  </a:lnTo>
                  <a:cubicBezTo>
                    <a:pt x="55245" y="822960"/>
                    <a:pt x="0" y="767715"/>
                    <a:pt x="0" y="699516"/>
                  </a:cubicBezTo>
                  <a:close/>
                </a:path>
              </a:pathLst>
            </a:custGeom>
            <a:solidFill>
              <a:srgbClr val="F2F6F9"/>
            </a:solid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61872" y="4293108"/>
            <a:ext cx="7132320" cy="617220"/>
            <a:chOff x="0" y="0"/>
            <a:chExt cx="9509760" cy="822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09760" cy="822960"/>
            </a:xfrm>
            <a:custGeom>
              <a:avLst/>
              <a:gdLst/>
              <a:ahLst/>
              <a:cxnLst/>
              <a:rect r="r" b="b" t="t" l="l"/>
              <a:pathLst>
                <a:path h="822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160" r="0" b="-175160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950976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Publicación de la API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805672" y="4293108"/>
            <a:ext cx="2743200" cy="617220"/>
            <a:chOff x="0" y="0"/>
            <a:chExt cx="3657600" cy="822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57600" cy="822960"/>
            </a:xfrm>
            <a:custGeom>
              <a:avLst/>
              <a:gdLst/>
              <a:ahLst/>
              <a:cxnLst/>
              <a:rect r="r" b="b" t="t" l="l"/>
              <a:pathLst>
                <a:path h="8229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36576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Bernardo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823192" y="4293108"/>
            <a:ext cx="2880360" cy="617220"/>
            <a:chOff x="0" y="0"/>
            <a:chExt cx="3840480" cy="822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840480" cy="822960"/>
            </a:xfrm>
            <a:custGeom>
              <a:avLst/>
              <a:gdLst/>
              <a:ahLst/>
              <a:cxnLst/>
              <a:rect r="r" b="b" t="t" l="l"/>
              <a:pathLst>
                <a:path h="8229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384048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Semanas 4 a 6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977872" y="4402836"/>
            <a:ext cx="1920240" cy="397764"/>
            <a:chOff x="0" y="0"/>
            <a:chExt cx="2560320" cy="5303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265176"/>
                  </a:moveTo>
                  <a:cubicBezTo>
                    <a:pt x="0" y="118745"/>
                    <a:pt x="118745" y="0"/>
                    <a:pt x="265176" y="0"/>
                  </a:cubicBezTo>
                  <a:lnTo>
                    <a:pt x="2295144" y="0"/>
                  </a:lnTo>
                  <a:cubicBezTo>
                    <a:pt x="2441575" y="0"/>
                    <a:pt x="2560320" y="118745"/>
                    <a:pt x="2560320" y="265176"/>
                  </a:cubicBezTo>
                  <a:cubicBezTo>
                    <a:pt x="2560320" y="411607"/>
                    <a:pt x="2441575" y="530352"/>
                    <a:pt x="2295144" y="530352"/>
                  </a:cubicBezTo>
                  <a:lnTo>
                    <a:pt x="265176" y="530352"/>
                  </a:lnTo>
                  <a:cubicBezTo>
                    <a:pt x="118745" y="530352"/>
                    <a:pt x="0" y="411607"/>
                    <a:pt x="0" y="265176"/>
                  </a:cubicBezTo>
                  <a:close/>
                </a:path>
              </a:pathLst>
            </a:custGeom>
            <a:solidFill>
              <a:srgbClr val="C87B2E"/>
            </a:solidFill>
          </p:spPr>
          <p:txBody>
            <a:bodyPr/>
            <a:p/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977872" y="4402836"/>
            <a:ext cx="1920240" cy="397764"/>
            <a:chOff x="0" y="0"/>
            <a:chExt cx="2560320" cy="5303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65" r="0" b="-44065"/>
              </a:stretch>
            </a:blipFill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2560320" cy="58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6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Completado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61872" y="4965192"/>
            <a:ext cx="7132320" cy="617220"/>
            <a:chOff x="0" y="0"/>
            <a:chExt cx="9509760" cy="8229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509760" cy="822960"/>
            </a:xfrm>
            <a:custGeom>
              <a:avLst/>
              <a:gdLst/>
              <a:ahLst/>
              <a:cxnLst/>
              <a:rect r="r" b="b" t="t" l="l"/>
              <a:pathLst>
                <a:path h="822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160" r="0" b="-175160"/>
              </a:stretch>
            </a:blipFill>
          </p:spPr>
          <p:txBody>
            <a:bodyPr/>
            <a:p/>
          </p:txBody>
        </p:sp>
        <p:sp>
          <p:nvSpPr>
            <p:cNvPr name="TextBox 72" id="72"/>
            <p:cNvSpPr txBox="true"/>
            <p:nvPr/>
          </p:nvSpPr>
          <p:spPr>
            <a:xfrm>
              <a:off x="0" y="-66675"/>
              <a:ext cx="950976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web publicada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805672" y="4965192"/>
            <a:ext cx="2743200" cy="617220"/>
            <a:chOff x="0" y="0"/>
            <a:chExt cx="3657600" cy="8229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7600" cy="822960"/>
            </a:xfrm>
            <a:custGeom>
              <a:avLst/>
              <a:gdLst/>
              <a:ahLst/>
              <a:cxnLst/>
              <a:rect r="r" b="b" t="t" l="l"/>
              <a:pathLst>
                <a:path h="8229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36576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Cristóbal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823192" y="4965192"/>
            <a:ext cx="2880360" cy="617220"/>
            <a:chOff x="0" y="0"/>
            <a:chExt cx="3840480" cy="8229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840480" cy="822960"/>
            </a:xfrm>
            <a:custGeom>
              <a:avLst/>
              <a:gdLst/>
              <a:ahLst/>
              <a:cxnLst/>
              <a:rect r="r" b="b" t="t" l="l"/>
              <a:pathLst>
                <a:path h="8229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  <p:txBody>
            <a:bodyPr/>
            <a:p/>
          </p:txBody>
        </p:sp>
        <p:sp>
          <p:nvSpPr>
            <p:cNvPr name="TextBox 78" id="78"/>
            <p:cNvSpPr txBox="true"/>
            <p:nvPr/>
          </p:nvSpPr>
          <p:spPr>
            <a:xfrm>
              <a:off x="0" y="-66675"/>
              <a:ext cx="384048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Semanas 7 a 8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977872" y="5074920"/>
            <a:ext cx="1920240" cy="397764"/>
            <a:chOff x="0" y="0"/>
            <a:chExt cx="2560320" cy="5303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265176"/>
                  </a:moveTo>
                  <a:cubicBezTo>
                    <a:pt x="0" y="118745"/>
                    <a:pt x="118745" y="0"/>
                    <a:pt x="265176" y="0"/>
                  </a:cubicBezTo>
                  <a:lnTo>
                    <a:pt x="2295144" y="0"/>
                  </a:lnTo>
                  <a:cubicBezTo>
                    <a:pt x="2441575" y="0"/>
                    <a:pt x="2560320" y="118745"/>
                    <a:pt x="2560320" y="265176"/>
                  </a:cubicBezTo>
                  <a:cubicBezTo>
                    <a:pt x="2560320" y="411607"/>
                    <a:pt x="2441575" y="530352"/>
                    <a:pt x="2295144" y="530352"/>
                  </a:cubicBezTo>
                  <a:lnTo>
                    <a:pt x="265176" y="530352"/>
                  </a:lnTo>
                  <a:cubicBezTo>
                    <a:pt x="118745" y="530352"/>
                    <a:pt x="0" y="411607"/>
                    <a:pt x="0" y="265176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81" id="81"/>
          <p:cNvGrpSpPr/>
          <p:nvPr/>
        </p:nvGrpSpPr>
        <p:grpSpPr>
          <a:xfrm rot="0">
            <a:off x="14977872" y="5074920"/>
            <a:ext cx="1920240" cy="397764"/>
            <a:chOff x="0" y="0"/>
            <a:chExt cx="2560320" cy="53035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65" r="0" b="-44065"/>
              </a:stretch>
            </a:blipFill>
          </p:spPr>
          <p:txBody>
            <a:bodyPr/>
            <a:p/>
          </p:txBody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2560320" cy="58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6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Completado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60120" y="5637276"/>
            <a:ext cx="16322040" cy="617220"/>
            <a:chOff x="0" y="0"/>
            <a:chExt cx="21762720" cy="8229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76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21762720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21639276" y="0"/>
                  </a:lnTo>
                  <a:cubicBezTo>
                    <a:pt x="21707475" y="0"/>
                    <a:pt x="21762720" y="55245"/>
                    <a:pt x="21762720" y="123444"/>
                  </a:cubicBezTo>
                  <a:lnTo>
                    <a:pt x="21762720" y="699516"/>
                  </a:lnTo>
                  <a:cubicBezTo>
                    <a:pt x="21762720" y="767715"/>
                    <a:pt x="21707475" y="822960"/>
                    <a:pt x="21639276" y="822960"/>
                  </a:cubicBezTo>
                  <a:lnTo>
                    <a:pt x="123444" y="822960"/>
                  </a:lnTo>
                  <a:cubicBezTo>
                    <a:pt x="55245" y="822960"/>
                    <a:pt x="0" y="767715"/>
                    <a:pt x="0" y="699516"/>
                  </a:cubicBezTo>
                  <a:close/>
                </a:path>
              </a:pathLst>
            </a:custGeom>
            <a:solidFill>
              <a:srgbClr val="F2F6F9"/>
            </a:solidFill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61872" y="5637276"/>
            <a:ext cx="7132320" cy="617220"/>
            <a:chOff x="0" y="0"/>
            <a:chExt cx="9509760" cy="82296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509760" cy="822960"/>
            </a:xfrm>
            <a:custGeom>
              <a:avLst/>
              <a:gdLst/>
              <a:ahLst/>
              <a:cxnLst/>
              <a:rect r="r" b="b" t="t" l="l"/>
              <a:pathLst>
                <a:path h="822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160" r="0" b="-175160"/>
              </a:stretch>
            </a:blipFill>
          </p:spPr>
          <p:txBody>
            <a:bodyPr/>
            <a:p/>
          </p:txBody>
        </p:sp>
        <p:sp>
          <p:nvSpPr>
            <p:cNvPr name="TextBox 88" id="88"/>
            <p:cNvSpPr txBox="true"/>
            <p:nvPr/>
          </p:nvSpPr>
          <p:spPr>
            <a:xfrm>
              <a:off x="0" y="-66675"/>
              <a:ext cx="950976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Pantalla de venta y orden de transporte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805672" y="5637276"/>
            <a:ext cx="2743200" cy="617220"/>
            <a:chOff x="0" y="0"/>
            <a:chExt cx="3657600" cy="8229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57600" cy="822960"/>
            </a:xfrm>
            <a:custGeom>
              <a:avLst/>
              <a:gdLst/>
              <a:ahLst/>
              <a:cxnLst/>
              <a:rect r="r" b="b" t="t" l="l"/>
              <a:pathLst>
                <a:path h="8229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  <p:txBody>
            <a:bodyPr/>
            <a:p/>
          </p:txBody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36576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Cristóbal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823192" y="5637276"/>
            <a:ext cx="2880360" cy="617220"/>
            <a:chOff x="0" y="0"/>
            <a:chExt cx="3840480" cy="8229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840480" cy="822960"/>
            </a:xfrm>
            <a:custGeom>
              <a:avLst/>
              <a:gdLst/>
              <a:ahLst/>
              <a:cxnLst/>
              <a:rect r="r" b="b" t="t" l="l"/>
              <a:pathLst>
                <a:path h="8229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  <p:txBody>
            <a:bodyPr/>
            <a:p/>
          </p:txBody>
        </p:sp>
        <p:sp>
          <p:nvSpPr>
            <p:cNvPr name="TextBox 94" id="94"/>
            <p:cNvSpPr txBox="true"/>
            <p:nvPr/>
          </p:nvSpPr>
          <p:spPr>
            <a:xfrm>
              <a:off x="0" y="-66675"/>
              <a:ext cx="384048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Semanas 7 a 9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4977872" y="5747004"/>
            <a:ext cx="1920240" cy="397764"/>
            <a:chOff x="0" y="0"/>
            <a:chExt cx="2560320" cy="5303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265176"/>
                  </a:moveTo>
                  <a:cubicBezTo>
                    <a:pt x="0" y="118745"/>
                    <a:pt x="118745" y="0"/>
                    <a:pt x="265176" y="0"/>
                  </a:cubicBezTo>
                  <a:lnTo>
                    <a:pt x="2295144" y="0"/>
                  </a:lnTo>
                  <a:cubicBezTo>
                    <a:pt x="2441575" y="0"/>
                    <a:pt x="2560320" y="118745"/>
                    <a:pt x="2560320" y="265176"/>
                  </a:cubicBezTo>
                  <a:cubicBezTo>
                    <a:pt x="2560320" y="411607"/>
                    <a:pt x="2441575" y="530352"/>
                    <a:pt x="2295144" y="530352"/>
                  </a:cubicBezTo>
                  <a:lnTo>
                    <a:pt x="265176" y="530352"/>
                  </a:lnTo>
                  <a:cubicBezTo>
                    <a:pt x="118745" y="530352"/>
                    <a:pt x="0" y="411607"/>
                    <a:pt x="0" y="265176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977872" y="5747004"/>
            <a:ext cx="1920240" cy="397764"/>
            <a:chOff x="0" y="0"/>
            <a:chExt cx="2560320" cy="5303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65" r="0" b="-44065"/>
              </a:stretch>
            </a:blipFill>
          </p:spPr>
          <p:txBody>
            <a:bodyPr/>
            <a:p/>
          </p:txBody>
        </p:sp>
        <p:sp>
          <p:nvSpPr>
            <p:cNvPr name="TextBox 99" id="99"/>
            <p:cNvSpPr txBox="true"/>
            <p:nvPr/>
          </p:nvSpPr>
          <p:spPr>
            <a:xfrm>
              <a:off x="0" y="-57150"/>
              <a:ext cx="2560320" cy="58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6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Completado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61872" y="6309360"/>
            <a:ext cx="7132320" cy="617220"/>
            <a:chOff x="0" y="0"/>
            <a:chExt cx="9509760" cy="8229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509760" cy="822960"/>
            </a:xfrm>
            <a:custGeom>
              <a:avLst/>
              <a:gdLst/>
              <a:ahLst/>
              <a:cxnLst/>
              <a:rect r="r" b="b" t="t" l="l"/>
              <a:pathLst>
                <a:path h="822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160" r="0" b="-175160"/>
              </a:stretch>
            </a:blipFill>
          </p:spPr>
          <p:txBody>
            <a:bodyPr/>
            <a:p/>
          </p:txBody>
        </p:sp>
        <p:sp>
          <p:nvSpPr>
            <p:cNvPr name="TextBox 102" id="102"/>
            <p:cNvSpPr txBox="true"/>
            <p:nvPr/>
          </p:nvSpPr>
          <p:spPr>
            <a:xfrm>
              <a:off x="0" y="-66675"/>
              <a:ext cx="950976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móvil de bodega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805672" y="6309360"/>
            <a:ext cx="2743200" cy="617220"/>
            <a:chOff x="0" y="0"/>
            <a:chExt cx="3657600" cy="82296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657600" cy="822960"/>
            </a:xfrm>
            <a:custGeom>
              <a:avLst/>
              <a:gdLst/>
              <a:ahLst/>
              <a:cxnLst/>
              <a:rect r="r" b="b" t="t" l="l"/>
              <a:pathLst>
                <a:path h="8229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  <p:txBody>
            <a:bodyPr/>
            <a:p/>
          </p:txBody>
        </p:sp>
        <p:sp>
          <p:nvSpPr>
            <p:cNvPr name="TextBox 105" id="105"/>
            <p:cNvSpPr txBox="true"/>
            <p:nvPr/>
          </p:nvSpPr>
          <p:spPr>
            <a:xfrm>
              <a:off x="0" y="-66675"/>
              <a:ext cx="36576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Javier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823192" y="6309360"/>
            <a:ext cx="2880360" cy="617220"/>
            <a:chOff x="0" y="0"/>
            <a:chExt cx="3840480" cy="82296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840480" cy="822960"/>
            </a:xfrm>
            <a:custGeom>
              <a:avLst/>
              <a:gdLst/>
              <a:ahLst/>
              <a:cxnLst/>
              <a:rect r="r" b="b" t="t" l="l"/>
              <a:pathLst>
                <a:path h="8229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  <p:txBody>
            <a:bodyPr/>
            <a:p/>
          </p:txBody>
        </p:sp>
        <p:sp>
          <p:nvSpPr>
            <p:cNvPr name="TextBox 108" id="108"/>
            <p:cNvSpPr txBox="true"/>
            <p:nvPr/>
          </p:nvSpPr>
          <p:spPr>
            <a:xfrm>
              <a:off x="0" y="-66675"/>
              <a:ext cx="384048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Semanas 7 a 8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4977872" y="6419088"/>
            <a:ext cx="1920240" cy="397764"/>
            <a:chOff x="0" y="0"/>
            <a:chExt cx="2560320" cy="53035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265176"/>
                  </a:moveTo>
                  <a:cubicBezTo>
                    <a:pt x="0" y="118745"/>
                    <a:pt x="118745" y="0"/>
                    <a:pt x="265176" y="0"/>
                  </a:cubicBezTo>
                  <a:lnTo>
                    <a:pt x="2295144" y="0"/>
                  </a:lnTo>
                  <a:cubicBezTo>
                    <a:pt x="2441575" y="0"/>
                    <a:pt x="2560320" y="118745"/>
                    <a:pt x="2560320" y="265176"/>
                  </a:cubicBezTo>
                  <a:cubicBezTo>
                    <a:pt x="2560320" y="411607"/>
                    <a:pt x="2441575" y="530352"/>
                    <a:pt x="2295144" y="530352"/>
                  </a:cubicBezTo>
                  <a:lnTo>
                    <a:pt x="265176" y="530352"/>
                  </a:lnTo>
                  <a:cubicBezTo>
                    <a:pt x="118745" y="530352"/>
                    <a:pt x="0" y="411607"/>
                    <a:pt x="0" y="265176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4977872" y="6419088"/>
            <a:ext cx="1920240" cy="397764"/>
            <a:chOff x="0" y="0"/>
            <a:chExt cx="2560320" cy="53035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65" r="0" b="-44065"/>
              </a:stretch>
            </a:blipFill>
          </p:spPr>
          <p:txBody>
            <a:bodyPr/>
            <a:p/>
          </p:txBody>
        </p:sp>
        <p:sp>
          <p:nvSpPr>
            <p:cNvPr name="TextBox 113" id="113"/>
            <p:cNvSpPr txBox="true"/>
            <p:nvPr/>
          </p:nvSpPr>
          <p:spPr>
            <a:xfrm>
              <a:off x="0" y="-57150"/>
              <a:ext cx="2560320" cy="58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6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Completado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60120" y="6981444"/>
            <a:ext cx="16322040" cy="617220"/>
            <a:chOff x="0" y="0"/>
            <a:chExt cx="21762720" cy="82296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176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21762720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21639276" y="0"/>
                  </a:lnTo>
                  <a:cubicBezTo>
                    <a:pt x="21707475" y="0"/>
                    <a:pt x="21762720" y="55245"/>
                    <a:pt x="21762720" y="123444"/>
                  </a:cubicBezTo>
                  <a:lnTo>
                    <a:pt x="21762720" y="699516"/>
                  </a:lnTo>
                  <a:cubicBezTo>
                    <a:pt x="21762720" y="767715"/>
                    <a:pt x="21707475" y="822960"/>
                    <a:pt x="21639276" y="822960"/>
                  </a:cubicBezTo>
                  <a:lnTo>
                    <a:pt x="123444" y="822960"/>
                  </a:lnTo>
                  <a:cubicBezTo>
                    <a:pt x="55245" y="822960"/>
                    <a:pt x="0" y="767715"/>
                    <a:pt x="0" y="699516"/>
                  </a:cubicBezTo>
                  <a:close/>
                </a:path>
              </a:pathLst>
            </a:custGeom>
            <a:solidFill>
              <a:srgbClr val="F2F6F9"/>
            </a:solidFill>
          </p:spPr>
          <p:txBody>
            <a:bodyPr/>
            <a:p/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261872" y="6981444"/>
            <a:ext cx="7132320" cy="617220"/>
            <a:chOff x="0" y="0"/>
            <a:chExt cx="9509760" cy="8229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509760" cy="822960"/>
            </a:xfrm>
            <a:custGeom>
              <a:avLst/>
              <a:gdLst/>
              <a:ahLst/>
              <a:cxnLst/>
              <a:rect r="r" b="b" t="t" l="l"/>
              <a:pathLst>
                <a:path h="822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160" r="0" b="-175160"/>
              </a:stretch>
            </a:blipFill>
          </p:spPr>
          <p:txBody>
            <a:bodyPr/>
            <a:p/>
          </p:txBody>
        </p:sp>
        <p:sp>
          <p:nvSpPr>
            <p:cNvPr name="TextBox 118" id="118"/>
            <p:cNvSpPr txBox="true"/>
            <p:nvPr/>
          </p:nvSpPr>
          <p:spPr>
            <a:xfrm>
              <a:off x="0" y="-66675"/>
              <a:ext cx="950976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Compilación del APK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8805672" y="6981444"/>
            <a:ext cx="2743200" cy="617220"/>
            <a:chOff x="0" y="0"/>
            <a:chExt cx="3657600" cy="8229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657600" cy="822960"/>
            </a:xfrm>
            <a:custGeom>
              <a:avLst/>
              <a:gdLst/>
              <a:ahLst/>
              <a:cxnLst/>
              <a:rect r="r" b="b" t="t" l="l"/>
              <a:pathLst>
                <a:path h="8229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  <p:txBody>
            <a:bodyPr/>
            <a:p/>
          </p:txBody>
        </p:sp>
        <p:sp>
          <p:nvSpPr>
            <p:cNvPr name="TextBox 121" id="121"/>
            <p:cNvSpPr txBox="true"/>
            <p:nvPr/>
          </p:nvSpPr>
          <p:spPr>
            <a:xfrm>
              <a:off x="0" y="-66675"/>
              <a:ext cx="36576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Javier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1823192" y="6981444"/>
            <a:ext cx="2880360" cy="617220"/>
            <a:chOff x="0" y="0"/>
            <a:chExt cx="3840480" cy="8229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840480" cy="822960"/>
            </a:xfrm>
            <a:custGeom>
              <a:avLst/>
              <a:gdLst/>
              <a:ahLst/>
              <a:cxnLst/>
              <a:rect r="r" b="b" t="t" l="l"/>
              <a:pathLst>
                <a:path h="8229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  <p:txBody>
            <a:bodyPr/>
            <a:p/>
          </p:txBody>
        </p:sp>
        <p:sp>
          <p:nvSpPr>
            <p:cNvPr name="TextBox 124" id="124"/>
            <p:cNvSpPr txBox="true"/>
            <p:nvPr/>
          </p:nvSpPr>
          <p:spPr>
            <a:xfrm>
              <a:off x="0" y="-66675"/>
              <a:ext cx="384048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Semanas 8 a 9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4977872" y="7091172"/>
            <a:ext cx="1920240" cy="397764"/>
            <a:chOff x="0" y="0"/>
            <a:chExt cx="2560320" cy="5303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265176"/>
                  </a:moveTo>
                  <a:cubicBezTo>
                    <a:pt x="0" y="118745"/>
                    <a:pt x="118745" y="0"/>
                    <a:pt x="265176" y="0"/>
                  </a:cubicBezTo>
                  <a:lnTo>
                    <a:pt x="2295144" y="0"/>
                  </a:lnTo>
                  <a:cubicBezTo>
                    <a:pt x="2441575" y="0"/>
                    <a:pt x="2560320" y="118745"/>
                    <a:pt x="2560320" y="265176"/>
                  </a:cubicBezTo>
                  <a:cubicBezTo>
                    <a:pt x="2560320" y="411607"/>
                    <a:pt x="2441575" y="530352"/>
                    <a:pt x="2295144" y="530352"/>
                  </a:cubicBezTo>
                  <a:lnTo>
                    <a:pt x="265176" y="530352"/>
                  </a:lnTo>
                  <a:cubicBezTo>
                    <a:pt x="118745" y="530352"/>
                    <a:pt x="0" y="411607"/>
                    <a:pt x="0" y="265176"/>
                  </a:cubicBezTo>
                  <a:close/>
                </a:path>
              </a:pathLst>
            </a:custGeom>
            <a:solidFill>
              <a:srgbClr val="C87B2E"/>
            </a:solidFill>
          </p:spPr>
          <p:txBody>
            <a:bodyPr/>
            <a:p/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4977872" y="7091172"/>
            <a:ext cx="1920240" cy="397764"/>
            <a:chOff x="0" y="0"/>
            <a:chExt cx="2560320" cy="53035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65" r="0" b="-44065"/>
              </a:stretch>
            </a:blipFill>
          </p:spPr>
          <p:txBody>
            <a:bodyPr/>
            <a:p/>
          </p:txBody>
        </p:sp>
        <p:sp>
          <p:nvSpPr>
            <p:cNvPr name="TextBox 129" id="129"/>
            <p:cNvSpPr txBox="true"/>
            <p:nvPr/>
          </p:nvSpPr>
          <p:spPr>
            <a:xfrm>
              <a:off x="0" y="-57150"/>
              <a:ext cx="2560320" cy="58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6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curso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261872" y="7653528"/>
            <a:ext cx="7132320" cy="617220"/>
            <a:chOff x="0" y="0"/>
            <a:chExt cx="9509760" cy="82296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9509760" cy="822960"/>
            </a:xfrm>
            <a:custGeom>
              <a:avLst/>
              <a:gdLst/>
              <a:ahLst/>
              <a:cxnLst/>
              <a:rect r="r" b="b" t="t" l="l"/>
              <a:pathLst>
                <a:path h="822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160" r="0" b="-175160"/>
              </a:stretch>
            </a:blipFill>
          </p:spPr>
          <p:txBody>
            <a:bodyPr/>
            <a:p/>
          </p:txBody>
        </p:sp>
        <p:sp>
          <p:nvSpPr>
            <p:cNvPr name="TextBox 132" id="132"/>
            <p:cNvSpPr txBox="true"/>
            <p:nvPr/>
          </p:nvSpPr>
          <p:spPr>
            <a:xfrm>
              <a:off x="0" y="-66675"/>
              <a:ext cx="950976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Pruebas del escáner con códigos de barras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8805672" y="7653528"/>
            <a:ext cx="2743200" cy="617220"/>
            <a:chOff x="0" y="0"/>
            <a:chExt cx="3657600" cy="82296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657600" cy="822960"/>
            </a:xfrm>
            <a:custGeom>
              <a:avLst/>
              <a:gdLst/>
              <a:ahLst/>
              <a:cxnLst/>
              <a:rect r="r" b="b" t="t" l="l"/>
              <a:pathLst>
                <a:path h="8229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  <p:txBody>
            <a:bodyPr/>
            <a:p/>
          </p:txBody>
        </p:sp>
        <p:sp>
          <p:nvSpPr>
            <p:cNvPr name="TextBox 135" id="135"/>
            <p:cNvSpPr txBox="true"/>
            <p:nvPr/>
          </p:nvSpPr>
          <p:spPr>
            <a:xfrm>
              <a:off x="0" y="-66675"/>
              <a:ext cx="36576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Javier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1823192" y="7653528"/>
            <a:ext cx="2880360" cy="617220"/>
            <a:chOff x="0" y="0"/>
            <a:chExt cx="3840480" cy="82296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840480" cy="822960"/>
            </a:xfrm>
            <a:custGeom>
              <a:avLst/>
              <a:gdLst/>
              <a:ahLst/>
              <a:cxnLst/>
              <a:rect r="r" b="b" t="t" l="l"/>
              <a:pathLst>
                <a:path h="8229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  <p:txBody>
            <a:bodyPr/>
            <a:p/>
          </p:txBody>
        </p:sp>
        <p:sp>
          <p:nvSpPr>
            <p:cNvPr name="TextBox 138" id="138"/>
            <p:cNvSpPr txBox="true"/>
            <p:nvPr/>
          </p:nvSpPr>
          <p:spPr>
            <a:xfrm>
              <a:off x="0" y="-66675"/>
              <a:ext cx="384048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Semana 8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4977872" y="7763256"/>
            <a:ext cx="1920240" cy="397764"/>
            <a:chOff x="0" y="0"/>
            <a:chExt cx="2560320" cy="53035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265176"/>
                  </a:moveTo>
                  <a:cubicBezTo>
                    <a:pt x="0" y="118745"/>
                    <a:pt x="118745" y="0"/>
                    <a:pt x="265176" y="0"/>
                  </a:cubicBezTo>
                  <a:lnTo>
                    <a:pt x="2295144" y="0"/>
                  </a:lnTo>
                  <a:cubicBezTo>
                    <a:pt x="2441575" y="0"/>
                    <a:pt x="2560320" y="118745"/>
                    <a:pt x="2560320" y="265176"/>
                  </a:cubicBezTo>
                  <a:cubicBezTo>
                    <a:pt x="2560320" y="411607"/>
                    <a:pt x="2441575" y="530352"/>
                    <a:pt x="2295144" y="530352"/>
                  </a:cubicBezTo>
                  <a:lnTo>
                    <a:pt x="265176" y="530352"/>
                  </a:lnTo>
                  <a:cubicBezTo>
                    <a:pt x="118745" y="530352"/>
                    <a:pt x="0" y="411607"/>
                    <a:pt x="0" y="265176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4977872" y="7763256"/>
            <a:ext cx="1920240" cy="397764"/>
            <a:chOff x="0" y="0"/>
            <a:chExt cx="2560320" cy="530352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65" r="0" b="-44065"/>
              </a:stretch>
            </a:blipFill>
          </p:spPr>
          <p:txBody>
            <a:bodyPr/>
            <a:p/>
          </p:txBody>
        </p:sp>
        <p:sp>
          <p:nvSpPr>
            <p:cNvPr name="TextBox 143" id="143"/>
            <p:cNvSpPr txBox="true"/>
            <p:nvPr/>
          </p:nvSpPr>
          <p:spPr>
            <a:xfrm>
              <a:off x="0" y="-57150"/>
              <a:ext cx="2560320" cy="58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6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Completado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960120" y="8325612"/>
            <a:ext cx="16322040" cy="617220"/>
            <a:chOff x="0" y="0"/>
            <a:chExt cx="21762720" cy="82296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176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21762720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21639276" y="0"/>
                  </a:lnTo>
                  <a:cubicBezTo>
                    <a:pt x="21707475" y="0"/>
                    <a:pt x="21762720" y="55245"/>
                    <a:pt x="21762720" y="123444"/>
                  </a:cubicBezTo>
                  <a:lnTo>
                    <a:pt x="21762720" y="699516"/>
                  </a:lnTo>
                  <a:cubicBezTo>
                    <a:pt x="21762720" y="767715"/>
                    <a:pt x="21707475" y="822960"/>
                    <a:pt x="21639276" y="822960"/>
                  </a:cubicBezTo>
                  <a:lnTo>
                    <a:pt x="123444" y="822960"/>
                  </a:lnTo>
                  <a:cubicBezTo>
                    <a:pt x="55245" y="822960"/>
                    <a:pt x="0" y="767715"/>
                    <a:pt x="0" y="699516"/>
                  </a:cubicBezTo>
                  <a:close/>
                </a:path>
              </a:pathLst>
            </a:custGeom>
            <a:solidFill>
              <a:srgbClr val="F2F6F9"/>
            </a:solidFill>
          </p:spPr>
          <p:txBody>
            <a:bodyPr/>
            <a:p/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61872" y="8325612"/>
            <a:ext cx="7132320" cy="617220"/>
            <a:chOff x="0" y="0"/>
            <a:chExt cx="9509760" cy="82296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9509760" cy="822960"/>
            </a:xfrm>
            <a:custGeom>
              <a:avLst/>
              <a:gdLst/>
              <a:ahLst/>
              <a:cxnLst/>
              <a:rect r="r" b="b" t="t" l="l"/>
              <a:pathLst>
                <a:path h="822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160" r="0" b="-175160"/>
              </a:stretch>
            </a:blipFill>
          </p:spPr>
          <p:txBody>
            <a:bodyPr/>
            <a:p/>
          </p:txBody>
        </p:sp>
        <p:sp>
          <p:nvSpPr>
            <p:cNvPr name="TextBox 148" id="148"/>
            <p:cNvSpPr txBox="true"/>
            <p:nvPr/>
          </p:nvSpPr>
          <p:spPr>
            <a:xfrm>
              <a:off x="0" y="-66675"/>
              <a:ext cx="950976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Demostración de avance (web y app)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8805672" y="8325612"/>
            <a:ext cx="2743200" cy="617220"/>
            <a:chOff x="0" y="0"/>
            <a:chExt cx="3657600" cy="82296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657600" cy="822960"/>
            </a:xfrm>
            <a:custGeom>
              <a:avLst/>
              <a:gdLst/>
              <a:ahLst/>
              <a:cxnLst/>
              <a:rect r="r" b="b" t="t" l="l"/>
              <a:pathLst>
                <a:path h="8229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  <p:txBody>
            <a:bodyPr/>
            <a:p/>
          </p:txBody>
        </p:sp>
        <p:sp>
          <p:nvSpPr>
            <p:cNvPr name="TextBox 151" id="151"/>
            <p:cNvSpPr txBox="true"/>
            <p:nvPr/>
          </p:nvSpPr>
          <p:spPr>
            <a:xfrm>
              <a:off x="0" y="-66675"/>
              <a:ext cx="36576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Equipo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1823192" y="8325612"/>
            <a:ext cx="2880360" cy="617220"/>
            <a:chOff x="0" y="0"/>
            <a:chExt cx="3840480" cy="82296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840480" cy="822960"/>
            </a:xfrm>
            <a:custGeom>
              <a:avLst/>
              <a:gdLst/>
              <a:ahLst/>
              <a:cxnLst/>
              <a:rect r="r" b="b" t="t" l="l"/>
              <a:pathLst>
                <a:path h="8229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  <p:txBody>
            <a:bodyPr/>
            <a:p/>
          </p:txBody>
        </p:sp>
        <p:sp>
          <p:nvSpPr>
            <p:cNvPr name="TextBox 154" id="154"/>
            <p:cNvSpPr txBox="true"/>
            <p:nvPr/>
          </p:nvSpPr>
          <p:spPr>
            <a:xfrm>
              <a:off x="0" y="-66675"/>
              <a:ext cx="384048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Semana 8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4977872" y="8435340"/>
            <a:ext cx="1920240" cy="397764"/>
            <a:chOff x="0" y="0"/>
            <a:chExt cx="2560320" cy="53035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265176"/>
                  </a:moveTo>
                  <a:cubicBezTo>
                    <a:pt x="0" y="118745"/>
                    <a:pt x="118745" y="0"/>
                    <a:pt x="265176" y="0"/>
                  </a:cubicBezTo>
                  <a:lnTo>
                    <a:pt x="2295144" y="0"/>
                  </a:lnTo>
                  <a:cubicBezTo>
                    <a:pt x="2441575" y="0"/>
                    <a:pt x="2560320" y="118745"/>
                    <a:pt x="2560320" y="265176"/>
                  </a:cubicBezTo>
                  <a:cubicBezTo>
                    <a:pt x="2560320" y="411607"/>
                    <a:pt x="2441575" y="530352"/>
                    <a:pt x="2295144" y="530352"/>
                  </a:cubicBezTo>
                  <a:lnTo>
                    <a:pt x="265176" y="530352"/>
                  </a:lnTo>
                  <a:cubicBezTo>
                    <a:pt x="118745" y="530352"/>
                    <a:pt x="0" y="411607"/>
                    <a:pt x="0" y="265176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4977872" y="8435340"/>
            <a:ext cx="1920240" cy="397764"/>
            <a:chOff x="0" y="0"/>
            <a:chExt cx="2560320" cy="530352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560320" cy="530352"/>
            </a:xfrm>
            <a:custGeom>
              <a:avLst/>
              <a:gdLst/>
              <a:ahLst/>
              <a:cxnLst/>
              <a:rect r="r" b="b" t="t" l="l"/>
              <a:pathLst>
                <a:path h="5303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065" r="0" b="-44065"/>
              </a:stretch>
            </a:blipFill>
          </p:spPr>
          <p:txBody>
            <a:bodyPr/>
            <a:p/>
          </p:txBody>
        </p:sp>
        <p:sp>
          <p:nvSpPr>
            <p:cNvPr name="TextBox 159" id="159"/>
            <p:cNvSpPr txBox="true"/>
            <p:nvPr/>
          </p:nvSpPr>
          <p:spPr>
            <a:xfrm>
              <a:off x="0" y="-57150"/>
              <a:ext cx="2560320" cy="5875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66"/>
                </a:lnSpc>
              </a:pPr>
              <a:r>
                <a:rPr lang="en-US" sz="14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Completado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Evidencias comprometidas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Estado de cada evidencia comprometida para los informes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349627"/>
            <a:ext cx="7974330" cy="595122"/>
            <a:chOff x="0" y="0"/>
            <a:chExt cx="10632440" cy="7934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32440" cy="793496"/>
            </a:xfrm>
            <a:custGeom>
              <a:avLst/>
              <a:gdLst/>
              <a:ahLst/>
              <a:cxnLst/>
              <a:rect r="r" b="b" t="t" l="l"/>
              <a:pathLst>
                <a:path h="793496" w="10632440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0519029" y="0"/>
                  </a:lnTo>
                  <a:cubicBezTo>
                    <a:pt x="10581640" y="0"/>
                    <a:pt x="10632440" y="50800"/>
                    <a:pt x="10632440" y="113411"/>
                  </a:cubicBezTo>
                  <a:lnTo>
                    <a:pt x="10632440" y="680085"/>
                  </a:lnTo>
                  <a:cubicBezTo>
                    <a:pt x="10632440" y="742696"/>
                    <a:pt x="10581640" y="793496"/>
                    <a:pt x="10519029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359152"/>
            <a:ext cx="7955280" cy="576072"/>
            <a:chOff x="0" y="0"/>
            <a:chExt cx="10607040" cy="7680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07040" cy="768096"/>
            </a:xfrm>
            <a:custGeom>
              <a:avLst/>
              <a:gdLst/>
              <a:ahLst/>
              <a:cxnLst/>
              <a:rect r="r" b="b" t="t" l="l"/>
              <a:pathLst>
                <a:path h="76809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079" r="0" b="-219079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60704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Informe de avance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17355" y="2349627"/>
            <a:ext cx="7974330" cy="595122"/>
            <a:chOff x="0" y="0"/>
            <a:chExt cx="10632440" cy="7934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32440" cy="793496"/>
            </a:xfrm>
            <a:custGeom>
              <a:avLst/>
              <a:gdLst/>
              <a:ahLst/>
              <a:cxnLst/>
              <a:rect r="r" b="b" t="t" l="l"/>
              <a:pathLst>
                <a:path h="793496" w="10632440">
                  <a:moveTo>
                    <a:pt x="0" y="113411"/>
                  </a:moveTo>
                  <a:cubicBezTo>
                    <a:pt x="0" y="50800"/>
                    <a:pt x="50800" y="0"/>
                    <a:pt x="113411" y="0"/>
                  </a:cubicBezTo>
                  <a:lnTo>
                    <a:pt x="10519029" y="0"/>
                  </a:lnTo>
                  <a:cubicBezTo>
                    <a:pt x="10581640" y="0"/>
                    <a:pt x="10632440" y="50800"/>
                    <a:pt x="10632440" y="113411"/>
                  </a:cubicBezTo>
                  <a:lnTo>
                    <a:pt x="10632440" y="680085"/>
                  </a:lnTo>
                  <a:cubicBezTo>
                    <a:pt x="10632440" y="742696"/>
                    <a:pt x="10581640" y="793496"/>
                    <a:pt x="10519029" y="793496"/>
                  </a:cubicBezTo>
                  <a:lnTo>
                    <a:pt x="113411" y="793496"/>
                  </a:lnTo>
                  <a:cubicBezTo>
                    <a:pt x="50800" y="793496"/>
                    <a:pt x="0" y="742696"/>
                    <a:pt x="0" y="680085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26880" y="2359152"/>
            <a:ext cx="7955280" cy="576072"/>
            <a:chOff x="0" y="0"/>
            <a:chExt cx="1060704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07040" cy="768096"/>
            </a:xfrm>
            <a:custGeom>
              <a:avLst/>
              <a:gdLst/>
              <a:ahLst/>
              <a:cxnLst/>
              <a:rect r="r" b="b" t="t" l="l"/>
              <a:pathLst>
                <a:path h="768096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079" r="0" b="-219079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607040" cy="806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Informe final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0595" y="3213735"/>
            <a:ext cx="7974330" cy="896874"/>
            <a:chOff x="0" y="0"/>
            <a:chExt cx="10632440" cy="11958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324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0632440">
                  <a:moveTo>
                    <a:pt x="0" y="130810"/>
                  </a:moveTo>
                  <a:cubicBezTo>
                    <a:pt x="0" y="58547"/>
                    <a:pt x="58547" y="0"/>
                    <a:pt x="130810" y="0"/>
                  </a:cubicBezTo>
                  <a:lnTo>
                    <a:pt x="10501630" y="0"/>
                  </a:lnTo>
                  <a:cubicBezTo>
                    <a:pt x="10573893" y="0"/>
                    <a:pt x="10632440" y="58547"/>
                    <a:pt x="10632440" y="130810"/>
                  </a:cubicBezTo>
                  <a:lnTo>
                    <a:pt x="10632440" y="1065022"/>
                  </a:lnTo>
                  <a:cubicBezTo>
                    <a:pt x="10632440" y="1137285"/>
                    <a:pt x="10573893" y="1195832"/>
                    <a:pt x="10501630" y="1195832"/>
                  </a:cubicBezTo>
                  <a:lnTo>
                    <a:pt x="130810" y="1195832"/>
                  </a:lnTo>
                  <a:cubicBezTo>
                    <a:pt x="58547" y="1195832"/>
                    <a:pt x="0" y="1137285"/>
                    <a:pt x="0" y="1065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3495" y="3542919"/>
            <a:ext cx="238506" cy="238506"/>
            <a:chOff x="0" y="0"/>
            <a:chExt cx="318008" cy="3180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73352" y="3319272"/>
            <a:ext cx="5212080" cy="356616"/>
            <a:chOff x="0" y="0"/>
            <a:chExt cx="6949440" cy="4754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Requerimientos y reglas de negocio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73352" y="3689604"/>
            <a:ext cx="5212080" cy="356616"/>
            <a:chOff x="0" y="0"/>
            <a:chExt cx="6949440" cy="4754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Procesos, historias de usuario y reglas de cálculo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0595" y="4242435"/>
            <a:ext cx="7974330" cy="896874"/>
            <a:chOff x="0" y="0"/>
            <a:chExt cx="10632440" cy="11958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324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0632440">
                  <a:moveTo>
                    <a:pt x="0" y="130810"/>
                  </a:moveTo>
                  <a:cubicBezTo>
                    <a:pt x="0" y="58547"/>
                    <a:pt x="58547" y="0"/>
                    <a:pt x="130810" y="0"/>
                  </a:cubicBezTo>
                  <a:lnTo>
                    <a:pt x="10501630" y="0"/>
                  </a:lnTo>
                  <a:cubicBezTo>
                    <a:pt x="10573893" y="0"/>
                    <a:pt x="10632440" y="58547"/>
                    <a:pt x="10632440" y="130810"/>
                  </a:cubicBezTo>
                  <a:lnTo>
                    <a:pt x="10632440" y="1065022"/>
                  </a:lnTo>
                  <a:cubicBezTo>
                    <a:pt x="10632440" y="1137285"/>
                    <a:pt x="10573893" y="1195832"/>
                    <a:pt x="10501630" y="1195832"/>
                  </a:cubicBezTo>
                  <a:lnTo>
                    <a:pt x="130810" y="1195832"/>
                  </a:lnTo>
                  <a:cubicBezTo>
                    <a:pt x="58547" y="1195832"/>
                    <a:pt x="0" y="1137285"/>
                    <a:pt x="0" y="1065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93495" y="4571619"/>
            <a:ext cx="238506" cy="238506"/>
            <a:chOff x="0" y="0"/>
            <a:chExt cx="318008" cy="3180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73352" y="4347972"/>
            <a:ext cx="5212080" cy="356616"/>
            <a:chOff x="0" y="0"/>
            <a:chExt cx="6949440" cy="4754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 y diccionario de datos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73352" y="4718304"/>
            <a:ext cx="5212080" cy="356616"/>
            <a:chOff x="0" y="0"/>
            <a:chExt cx="6949440" cy="4754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Fundamento de la integración entre módulos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0595" y="5271135"/>
            <a:ext cx="7974330" cy="896874"/>
            <a:chOff x="0" y="0"/>
            <a:chExt cx="10632440" cy="11958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6324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0632440">
                  <a:moveTo>
                    <a:pt x="0" y="130810"/>
                  </a:moveTo>
                  <a:cubicBezTo>
                    <a:pt x="0" y="58547"/>
                    <a:pt x="58547" y="0"/>
                    <a:pt x="130810" y="0"/>
                  </a:cubicBezTo>
                  <a:lnTo>
                    <a:pt x="10501630" y="0"/>
                  </a:lnTo>
                  <a:cubicBezTo>
                    <a:pt x="10573893" y="0"/>
                    <a:pt x="10632440" y="58547"/>
                    <a:pt x="10632440" y="130810"/>
                  </a:cubicBezTo>
                  <a:lnTo>
                    <a:pt x="10632440" y="1065022"/>
                  </a:lnTo>
                  <a:cubicBezTo>
                    <a:pt x="10632440" y="1137285"/>
                    <a:pt x="10573893" y="1195832"/>
                    <a:pt x="10501630" y="1195832"/>
                  </a:cubicBezTo>
                  <a:lnTo>
                    <a:pt x="130810" y="1195832"/>
                  </a:lnTo>
                  <a:cubicBezTo>
                    <a:pt x="58547" y="1195832"/>
                    <a:pt x="0" y="1137285"/>
                    <a:pt x="0" y="1065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93495" y="5600319"/>
            <a:ext cx="238506" cy="238506"/>
            <a:chOff x="0" y="0"/>
            <a:chExt cx="318008" cy="3180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73352" y="5376672"/>
            <a:ext cx="5212080" cy="356616"/>
            <a:chOff x="0" y="0"/>
            <a:chExt cx="6949440" cy="4754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Contrato de interfaz documentado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73352" y="5747004"/>
            <a:ext cx="5212080" cy="356616"/>
            <a:chOff x="0" y="0"/>
            <a:chExt cx="6949440" cy="4754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Permite que las tres capas avancen en paralelo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50595" y="6299835"/>
            <a:ext cx="7974330" cy="896874"/>
            <a:chOff x="0" y="0"/>
            <a:chExt cx="10632440" cy="11958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324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0632440">
                  <a:moveTo>
                    <a:pt x="0" y="130810"/>
                  </a:moveTo>
                  <a:cubicBezTo>
                    <a:pt x="0" y="58547"/>
                    <a:pt x="58547" y="0"/>
                    <a:pt x="130810" y="0"/>
                  </a:cubicBezTo>
                  <a:lnTo>
                    <a:pt x="10501630" y="0"/>
                  </a:lnTo>
                  <a:cubicBezTo>
                    <a:pt x="10573893" y="0"/>
                    <a:pt x="10632440" y="58547"/>
                    <a:pt x="10632440" y="130810"/>
                  </a:cubicBezTo>
                  <a:lnTo>
                    <a:pt x="10632440" y="1065022"/>
                  </a:lnTo>
                  <a:cubicBezTo>
                    <a:pt x="10632440" y="1137285"/>
                    <a:pt x="10573893" y="1195832"/>
                    <a:pt x="10501630" y="1195832"/>
                  </a:cubicBezTo>
                  <a:lnTo>
                    <a:pt x="130810" y="1195832"/>
                  </a:lnTo>
                  <a:cubicBezTo>
                    <a:pt x="58547" y="1195832"/>
                    <a:pt x="0" y="1137285"/>
                    <a:pt x="0" y="1065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93495" y="6629019"/>
            <a:ext cx="238506" cy="238506"/>
            <a:chOff x="0" y="0"/>
            <a:chExt cx="318008" cy="31800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1673352" y="6405372"/>
            <a:ext cx="5212080" cy="356616"/>
            <a:chOff x="0" y="0"/>
            <a:chExt cx="6949440" cy="4754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Prototipos web y móvil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73352" y="6775704"/>
            <a:ext cx="5212080" cy="356616"/>
            <a:chOff x="0" y="0"/>
            <a:chExt cx="6949440" cy="4754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Validación temprana antes de construir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50595" y="7328535"/>
            <a:ext cx="7974330" cy="896874"/>
            <a:chOff x="0" y="0"/>
            <a:chExt cx="10632440" cy="119583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6324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0632440">
                  <a:moveTo>
                    <a:pt x="0" y="130810"/>
                  </a:moveTo>
                  <a:cubicBezTo>
                    <a:pt x="0" y="58547"/>
                    <a:pt x="58547" y="0"/>
                    <a:pt x="130810" y="0"/>
                  </a:cubicBezTo>
                  <a:lnTo>
                    <a:pt x="10501630" y="0"/>
                  </a:lnTo>
                  <a:cubicBezTo>
                    <a:pt x="10573893" y="0"/>
                    <a:pt x="10632440" y="58547"/>
                    <a:pt x="10632440" y="130810"/>
                  </a:cubicBezTo>
                  <a:lnTo>
                    <a:pt x="10632440" y="1065022"/>
                  </a:lnTo>
                  <a:cubicBezTo>
                    <a:pt x="10632440" y="1137285"/>
                    <a:pt x="10573893" y="1195832"/>
                    <a:pt x="10501630" y="1195832"/>
                  </a:cubicBezTo>
                  <a:lnTo>
                    <a:pt x="130810" y="1195832"/>
                  </a:lnTo>
                  <a:cubicBezTo>
                    <a:pt x="58547" y="1195832"/>
                    <a:pt x="0" y="1137285"/>
                    <a:pt x="0" y="1065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93495" y="7657719"/>
            <a:ext cx="238506" cy="238506"/>
            <a:chOff x="0" y="0"/>
            <a:chExt cx="318008" cy="31800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4" id="64"/>
          <p:cNvGrpSpPr/>
          <p:nvPr/>
        </p:nvGrpSpPr>
        <p:grpSpPr>
          <a:xfrm rot="0">
            <a:off x="1673352" y="7434072"/>
            <a:ext cx="5212080" cy="356616"/>
            <a:chOff x="0" y="0"/>
            <a:chExt cx="6949440" cy="4754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Repositorio con el núcleo funcional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673352" y="7804404"/>
            <a:ext cx="5212080" cy="356616"/>
            <a:chOff x="0" y="0"/>
            <a:chExt cx="6949440" cy="4754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Venta, orden, bodega, ruta y monitoreo operativos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50595" y="8357235"/>
            <a:ext cx="7974330" cy="896874"/>
            <a:chOff x="0" y="0"/>
            <a:chExt cx="10632440" cy="119583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6324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0632440">
                  <a:moveTo>
                    <a:pt x="0" y="130810"/>
                  </a:moveTo>
                  <a:cubicBezTo>
                    <a:pt x="0" y="58547"/>
                    <a:pt x="58547" y="0"/>
                    <a:pt x="130810" y="0"/>
                  </a:cubicBezTo>
                  <a:lnTo>
                    <a:pt x="10501630" y="0"/>
                  </a:lnTo>
                  <a:cubicBezTo>
                    <a:pt x="10573893" y="0"/>
                    <a:pt x="10632440" y="58547"/>
                    <a:pt x="10632440" y="130810"/>
                  </a:cubicBezTo>
                  <a:lnTo>
                    <a:pt x="10632440" y="1065022"/>
                  </a:lnTo>
                  <a:cubicBezTo>
                    <a:pt x="10632440" y="1137285"/>
                    <a:pt x="10573893" y="1195832"/>
                    <a:pt x="10501630" y="1195832"/>
                  </a:cubicBezTo>
                  <a:lnTo>
                    <a:pt x="130810" y="1195832"/>
                  </a:lnTo>
                  <a:cubicBezTo>
                    <a:pt x="58547" y="1195832"/>
                    <a:pt x="0" y="1137285"/>
                    <a:pt x="0" y="1065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93495" y="8686419"/>
            <a:ext cx="238506" cy="238506"/>
            <a:chOff x="0" y="0"/>
            <a:chExt cx="318008" cy="31800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73352" y="8462772"/>
            <a:ext cx="5212080" cy="356616"/>
            <a:chOff x="0" y="0"/>
            <a:chExt cx="6949440" cy="4754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Carta Gantt y bitácora de avance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673352" y="8833104"/>
            <a:ext cx="5212080" cy="356616"/>
            <a:chOff x="0" y="0"/>
            <a:chExt cx="6949440" cy="4754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Evidencia de planificación y control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317355" y="3213735"/>
            <a:ext cx="7974330" cy="896874"/>
            <a:chOff x="0" y="0"/>
            <a:chExt cx="10632440" cy="119583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6324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0632440">
                  <a:moveTo>
                    <a:pt x="0" y="130810"/>
                  </a:moveTo>
                  <a:cubicBezTo>
                    <a:pt x="0" y="58547"/>
                    <a:pt x="58547" y="0"/>
                    <a:pt x="130810" y="0"/>
                  </a:cubicBezTo>
                  <a:lnTo>
                    <a:pt x="10501630" y="0"/>
                  </a:lnTo>
                  <a:cubicBezTo>
                    <a:pt x="10573893" y="0"/>
                    <a:pt x="10632440" y="58547"/>
                    <a:pt x="10632440" y="130810"/>
                  </a:cubicBezTo>
                  <a:lnTo>
                    <a:pt x="10632440" y="1065022"/>
                  </a:lnTo>
                  <a:cubicBezTo>
                    <a:pt x="10632440" y="1137285"/>
                    <a:pt x="10573893" y="1195832"/>
                    <a:pt x="10501630" y="1195832"/>
                  </a:cubicBezTo>
                  <a:lnTo>
                    <a:pt x="130810" y="1195832"/>
                  </a:lnTo>
                  <a:cubicBezTo>
                    <a:pt x="58547" y="1195832"/>
                    <a:pt x="0" y="1137285"/>
                    <a:pt x="0" y="1065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2" id="82"/>
          <p:cNvGrpSpPr/>
          <p:nvPr/>
        </p:nvGrpSpPr>
        <p:grpSpPr>
          <a:xfrm rot="0">
            <a:off x="9660255" y="3542919"/>
            <a:ext cx="238506" cy="238506"/>
            <a:chOff x="0" y="0"/>
            <a:chExt cx="318008" cy="31800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040112" y="3319272"/>
            <a:ext cx="5212080" cy="356616"/>
            <a:chOff x="0" y="0"/>
            <a:chExt cx="6949440" cy="47548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web desplegada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040112" y="3689604"/>
            <a:ext cx="5212080" cy="356616"/>
            <a:chOff x="0" y="0"/>
            <a:chExt cx="6949440" cy="47548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Módulos integrados en ambiente de prueba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317355" y="4242435"/>
            <a:ext cx="7974330" cy="896874"/>
            <a:chOff x="0" y="0"/>
            <a:chExt cx="10632440" cy="119583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6324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0632440">
                  <a:moveTo>
                    <a:pt x="0" y="130810"/>
                  </a:moveTo>
                  <a:cubicBezTo>
                    <a:pt x="0" y="58547"/>
                    <a:pt x="58547" y="0"/>
                    <a:pt x="130810" y="0"/>
                  </a:cubicBezTo>
                  <a:lnTo>
                    <a:pt x="10501630" y="0"/>
                  </a:lnTo>
                  <a:cubicBezTo>
                    <a:pt x="10573893" y="0"/>
                    <a:pt x="10632440" y="58547"/>
                    <a:pt x="10632440" y="130810"/>
                  </a:cubicBezTo>
                  <a:lnTo>
                    <a:pt x="10632440" y="1065022"/>
                  </a:lnTo>
                  <a:cubicBezTo>
                    <a:pt x="10632440" y="1137285"/>
                    <a:pt x="10573893" y="1195832"/>
                    <a:pt x="10501630" y="1195832"/>
                  </a:cubicBezTo>
                  <a:lnTo>
                    <a:pt x="130810" y="1195832"/>
                  </a:lnTo>
                  <a:cubicBezTo>
                    <a:pt x="58547" y="1195832"/>
                    <a:pt x="0" y="1137285"/>
                    <a:pt x="0" y="1065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2" id="92"/>
          <p:cNvGrpSpPr/>
          <p:nvPr/>
        </p:nvGrpSpPr>
        <p:grpSpPr>
          <a:xfrm rot="0">
            <a:off x="9660255" y="4571619"/>
            <a:ext cx="238506" cy="238506"/>
            <a:chOff x="0" y="0"/>
            <a:chExt cx="318008" cy="31800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040112" y="4347972"/>
            <a:ext cx="5212080" cy="356616"/>
            <a:chOff x="0" y="0"/>
            <a:chExt cx="6949440" cy="47548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móvil operativa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040112" y="4718304"/>
            <a:ext cx="5212080" cy="356616"/>
            <a:chOff x="0" y="0"/>
            <a:chExt cx="6949440" cy="47548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Vistas de bodega y conductor sobre el mismo servicio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317355" y="5271135"/>
            <a:ext cx="7974330" cy="896874"/>
            <a:chOff x="0" y="0"/>
            <a:chExt cx="10632440" cy="119583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6324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0632440">
                  <a:moveTo>
                    <a:pt x="0" y="130810"/>
                  </a:moveTo>
                  <a:cubicBezTo>
                    <a:pt x="0" y="58547"/>
                    <a:pt x="58547" y="0"/>
                    <a:pt x="130810" y="0"/>
                  </a:cubicBezTo>
                  <a:lnTo>
                    <a:pt x="10501630" y="0"/>
                  </a:lnTo>
                  <a:cubicBezTo>
                    <a:pt x="10573893" y="0"/>
                    <a:pt x="10632440" y="58547"/>
                    <a:pt x="10632440" y="130810"/>
                  </a:cubicBezTo>
                  <a:lnTo>
                    <a:pt x="10632440" y="1065022"/>
                  </a:lnTo>
                  <a:cubicBezTo>
                    <a:pt x="10632440" y="1137285"/>
                    <a:pt x="10573893" y="1195832"/>
                    <a:pt x="10501630" y="1195832"/>
                  </a:cubicBezTo>
                  <a:lnTo>
                    <a:pt x="130810" y="1195832"/>
                  </a:lnTo>
                  <a:cubicBezTo>
                    <a:pt x="58547" y="1195832"/>
                    <a:pt x="0" y="1137285"/>
                    <a:pt x="0" y="1065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660255" y="5600319"/>
            <a:ext cx="238506" cy="238506"/>
            <a:chOff x="0" y="0"/>
            <a:chExt cx="318008" cy="31800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040112" y="5376672"/>
            <a:ext cx="5212080" cy="356616"/>
            <a:chOff x="0" y="0"/>
            <a:chExt cx="6949440" cy="47548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de pruebas y resultados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040112" y="5747004"/>
            <a:ext cx="5212080" cy="356616"/>
            <a:chOff x="0" y="0"/>
            <a:chExt cx="6949440" cy="47548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Casos, hallazgos y mejoras aplicadas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317355" y="6299835"/>
            <a:ext cx="7974330" cy="896874"/>
            <a:chOff x="0" y="0"/>
            <a:chExt cx="10632440" cy="119583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6324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0632440">
                  <a:moveTo>
                    <a:pt x="0" y="130810"/>
                  </a:moveTo>
                  <a:cubicBezTo>
                    <a:pt x="0" y="58547"/>
                    <a:pt x="58547" y="0"/>
                    <a:pt x="130810" y="0"/>
                  </a:cubicBezTo>
                  <a:lnTo>
                    <a:pt x="10501630" y="0"/>
                  </a:lnTo>
                  <a:cubicBezTo>
                    <a:pt x="10573893" y="0"/>
                    <a:pt x="10632440" y="58547"/>
                    <a:pt x="10632440" y="130810"/>
                  </a:cubicBezTo>
                  <a:lnTo>
                    <a:pt x="10632440" y="1065022"/>
                  </a:lnTo>
                  <a:cubicBezTo>
                    <a:pt x="10632440" y="1137285"/>
                    <a:pt x="10573893" y="1195832"/>
                    <a:pt x="10501630" y="1195832"/>
                  </a:cubicBezTo>
                  <a:lnTo>
                    <a:pt x="130810" y="1195832"/>
                  </a:lnTo>
                  <a:cubicBezTo>
                    <a:pt x="58547" y="1195832"/>
                    <a:pt x="0" y="1137285"/>
                    <a:pt x="0" y="1065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660255" y="6629019"/>
            <a:ext cx="238506" cy="238506"/>
            <a:chOff x="0" y="0"/>
            <a:chExt cx="318008" cy="31800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0040112" y="6405372"/>
            <a:ext cx="5212080" cy="356616"/>
            <a:chOff x="0" y="0"/>
            <a:chExt cx="6949440" cy="47548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de usuario y técnico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0040112" y="6775704"/>
            <a:ext cx="5212080" cy="356616"/>
            <a:chOff x="0" y="0"/>
            <a:chExt cx="6949440" cy="47548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solución queda mantenible y transferible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317355" y="7328535"/>
            <a:ext cx="7974330" cy="896874"/>
            <a:chOff x="0" y="0"/>
            <a:chExt cx="10632440" cy="119583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0632440" cy="1195832"/>
            </a:xfrm>
            <a:custGeom>
              <a:avLst/>
              <a:gdLst/>
              <a:ahLst/>
              <a:cxnLst/>
              <a:rect r="r" b="b" t="t" l="l"/>
              <a:pathLst>
                <a:path h="1195832" w="10632440">
                  <a:moveTo>
                    <a:pt x="0" y="130810"/>
                  </a:moveTo>
                  <a:cubicBezTo>
                    <a:pt x="0" y="58547"/>
                    <a:pt x="58547" y="0"/>
                    <a:pt x="130810" y="0"/>
                  </a:cubicBezTo>
                  <a:lnTo>
                    <a:pt x="10501630" y="0"/>
                  </a:lnTo>
                  <a:cubicBezTo>
                    <a:pt x="10573893" y="0"/>
                    <a:pt x="10632440" y="58547"/>
                    <a:pt x="10632440" y="130810"/>
                  </a:cubicBezTo>
                  <a:lnTo>
                    <a:pt x="10632440" y="1065022"/>
                  </a:lnTo>
                  <a:cubicBezTo>
                    <a:pt x="10632440" y="1137285"/>
                    <a:pt x="10573893" y="1195832"/>
                    <a:pt x="10501630" y="1195832"/>
                  </a:cubicBezTo>
                  <a:lnTo>
                    <a:pt x="130810" y="1195832"/>
                  </a:lnTo>
                  <a:cubicBezTo>
                    <a:pt x="58547" y="1195832"/>
                    <a:pt x="0" y="1137285"/>
                    <a:pt x="0" y="1065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E2E9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660255" y="7657719"/>
            <a:ext cx="238506" cy="238506"/>
            <a:chOff x="0" y="0"/>
            <a:chExt cx="318008" cy="31800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0040112" y="7434072"/>
            <a:ext cx="5212080" cy="356616"/>
            <a:chOff x="0" y="0"/>
            <a:chExt cx="6949440" cy="47548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Informe final y presentación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0040112" y="7804404"/>
            <a:ext cx="5212080" cy="356616"/>
            <a:chOff x="0" y="0"/>
            <a:chExt cx="6949440" cy="47548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949440" cy="475488"/>
            </a:xfrm>
            <a:custGeom>
              <a:avLst/>
              <a:gdLst/>
              <a:ahLst/>
              <a:cxnLst/>
              <a:rect r="r" b="b" t="t" l="l"/>
              <a:pathLst>
                <a:path h="47548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81" r="0" b="-234781"/>
              </a:stretch>
            </a:blipFill>
          </p:spPr>
          <p:txBody>
            <a:bodyPr/>
            <a:p/>
          </p:txBody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694944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Resultados contrastados con los objetivos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7022592" y="3456432"/>
            <a:ext cx="1577340" cy="411480"/>
            <a:chOff x="0" y="0"/>
            <a:chExt cx="2103120" cy="54864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828800" y="0"/>
                  </a:lnTo>
                  <a:cubicBezTo>
                    <a:pt x="1980311" y="0"/>
                    <a:pt x="2103120" y="122809"/>
                    <a:pt x="2103120" y="274320"/>
                  </a:cubicBezTo>
                  <a:cubicBezTo>
                    <a:pt x="2103120" y="425831"/>
                    <a:pt x="1980311" y="548640"/>
                    <a:pt x="18288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7022592" y="3456432"/>
            <a:ext cx="1577340" cy="411480"/>
            <a:chOff x="0" y="0"/>
            <a:chExt cx="2103120" cy="54864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  <p:txBody>
            <a:bodyPr/>
            <a:p/>
          </p:txBody>
        </p:sp>
        <p:sp>
          <p:nvSpPr>
            <p:cNvPr name="TextBox 134" id="134"/>
            <p:cNvSpPr txBox="true"/>
            <p:nvPr/>
          </p:nvSpPr>
          <p:spPr>
            <a:xfrm>
              <a:off x="0" y="-47625"/>
              <a:ext cx="2103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Completado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7022592" y="4485132"/>
            <a:ext cx="1577340" cy="411480"/>
            <a:chOff x="0" y="0"/>
            <a:chExt cx="2103120" cy="54864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828800" y="0"/>
                  </a:lnTo>
                  <a:cubicBezTo>
                    <a:pt x="1980311" y="0"/>
                    <a:pt x="2103120" y="122809"/>
                    <a:pt x="2103120" y="274320"/>
                  </a:cubicBezTo>
                  <a:cubicBezTo>
                    <a:pt x="2103120" y="425831"/>
                    <a:pt x="1980311" y="548640"/>
                    <a:pt x="18288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C87B2E"/>
            </a:solidFill>
          </p:spPr>
          <p:txBody>
            <a:bodyPr/>
            <a:p/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7022592" y="4485132"/>
            <a:ext cx="1577340" cy="411480"/>
            <a:chOff x="0" y="0"/>
            <a:chExt cx="2103120" cy="5486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  <p:txBody>
            <a:bodyPr/>
            <a:p/>
          </p:txBody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2103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curso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7022592" y="5513832"/>
            <a:ext cx="1577340" cy="411480"/>
            <a:chOff x="0" y="0"/>
            <a:chExt cx="2103120" cy="5486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828800" y="0"/>
                  </a:lnTo>
                  <a:cubicBezTo>
                    <a:pt x="1980311" y="0"/>
                    <a:pt x="2103120" y="122809"/>
                    <a:pt x="2103120" y="274320"/>
                  </a:cubicBezTo>
                  <a:cubicBezTo>
                    <a:pt x="2103120" y="425831"/>
                    <a:pt x="1980311" y="548640"/>
                    <a:pt x="18288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C87B2E"/>
            </a:solidFill>
          </p:spPr>
          <p:txBody>
            <a:bodyPr/>
            <a:p/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7022592" y="5513832"/>
            <a:ext cx="1577340" cy="411480"/>
            <a:chOff x="0" y="0"/>
            <a:chExt cx="2103120" cy="54864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  <p:txBody>
            <a:bodyPr/>
            <a:p/>
          </p:txBody>
        </p:sp>
        <p:sp>
          <p:nvSpPr>
            <p:cNvPr name="TextBox 144" id="144"/>
            <p:cNvSpPr txBox="true"/>
            <p:nvPr/>
          </p:nvSpPr>
          <p:spPr>
            <a:xfrm>
              <a:off x="0" y="-47625"/>
              <a:ext cx="2103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curso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7022592" y="6542532"/>
            <a:ext cx="1577340" cy="411480"/>
            <a:chOff x="0" y="0"/>
            <a:chExt cx="2103120" cy="54864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828800" y="0"/>
                  </a:lnTo>
                  <a:cubicBezTo>
                    <a:pt x="1980311" y="0"/>
                    <a:pt x="2103120" y="122809"/>
                    <a:pt x="2103120" y="274320"/>
                  </a:cubicBezTo>
                  <a:cubicBezTo>
                    <a:pt x="2103120" y="425831"/>
                    <a:pt x="1980311" y="548640"/>
                    <a:pt x="18288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7022592" y="6542532"/>
            <a:ext cx="1577340" cy="411480"/>
            <a:chOff x="0" y="0"/>
            <a:chExt cx="2103120" cy="54864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  <p:txBody>
            <a:bodyPr/>
            <a:p/>
          </p:txBody>
        </p:sp>
        <p:sp>
          <p:nvSpPr>
            <p:cNvPr name="TextBox 149" id="149"/>
            <p:cNvSpPr txBox="true"/>
            <p:nvPr/>
          </p:nvSpPr>
          <p:spPr>
            <a:xfrm>
              <a:off x="0" y="-47625"/>
              <a:ext cx="2103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Completado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7022592" y="7571232"/>
            <a:ext cx="1577340" cy="411480"/>
            <a:chOff x="0" y="0"/>
            <a:chExt cx="2103120" cy="54864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828800" y="0"/>
                  </a:lnTo>
                  <a:cubicBezTo>
                    <a:pt x="1980311" y="0"/>
                    <a:pt x="2103120" y="122809"/>
                    <a:pt x="2103120" y="274320"/>
                  </a:cubicBezTo>
                  <a:cubicBezTo>
                    <a:pt x="2103120" y="425831"/>
                    <a:pt x="1980311" y="548640"/>
                    <a:pt x="18288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C87B2E"/>
            </a:solidFill>
          </p:spPr>
          <p:txBody>
            <a:bodyPr/>
            <a:p/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7022592" y="7571232"/>
            <a:ext cx="1577340" cy="411480"/>
            <a:chOff x="0" y="0"/>
            <a:chExt cx="2103120" cy="5486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  <p:txBody>
            <a:bodyPr/>
            <a:p/>
          </p:txBody>
        </p:sp>
        <p:sp>
          <p:nvSpPr>
            <p:cNvPr name="TextBox 154" id="154"/>
            <p:cNvSpPr txBox="true"/>
            <p:nvPr/>
          </p:nvSpPr>
          <p:spPr>
            <a:xfrm>
              <a:off x="0" y="-47625"/>
              <a:ext cx="2103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curso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7022592" y="8599932"/>
            <a:ext cx="1577340" cy="411480"/>
            <a:chOff x="0" y="0"/>
            <a:chExt cx="2103120" cy="54864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828800" y="0"/>
                  </a:lnTo>
                  <a:cubicBezTo>
                    <a:pt x="1980311" y="0"/>
                    <a:pt x="2103120" y="122809"/>
                    <a:pt x="2103120" y="274320"/>
                  </a:cubicBezTo>
                  <a:cubicBezTo>
                    <a:pt x="2103120" y="425831"/>
                    <a:pt x="1980311" y="548640"/>
                    <a:pt x="18288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C87B2E"/>
            </a:solidFill>
          </p:spPr>
          <p:txBody>
            <a:bodyPr/>
            <a:p/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7022592" y="8599932"/>
            <a:ext cx="1577340" cy="411480"/>
            <a:chOff x="0" y="0"/>
            <a:chExt cx="2103120" cy="54864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  <p:txBody>
            <a:bodyPr/>
            <a:p/>
          </p:txBody>
        </p:sp>
        <p:sp>
          <p:nvSpPr>
            <p:cNvPr name="TextBox 159" id="159"/>
            <p:cNvSpPr txBox="true"/>
            <p:nvPr/>
          </p:nvSpPr>
          <p:spPr>
            <a:xfrm>
              <a:off x="0" y="-47625"/>
              <a:ext cx="2103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curso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5389352" y="3456432"/>
            <a:ext cx="1577340" cy="411480"/>
            <a:chOff x="0" y="0"/>
            <a:chExt cx="2103120" cy="5486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828800" y="0"/>
                  </a:lnTo>
                  <a:cubicBezTo>
                    <a:pt x="1980311" y="0"/>
                    <a:pt x="2103120" y="122809"/>
                    <a:pt x="2103120" y="274320"/>
                  </a:cubicBezTo>
                  <a:cubicBezTo>
                    <a:pt x="2103120" y="425831"/>
                    <a:pt x="1980311" y="548640"/>
                    <a:pt x="18288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C87B2E"/>
            </a:solidFill>
          </p:spPr>
          <p:txBody>
            <a:bodyPr/>
            <a:p/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5389352" y="3456432"/>
            <a:ext cx="1577340" cy="411480"/>
            <a:chOff x="0" y="0"/>
            <a:chExt cx="2103120" cy="54864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  <p:txBody>
            <a:bodyPr/>
            <a:p/>
          </p:txBody>
        </p:sp>
        <p:sp>
          <p:nvSpPr>
            <p:cNvPr name="TextBox 164" id="164"/>
            <p:cNvSpPr txBox="true"/>
            <p:nvPr/>
          </p:nvSpPr>
          <p:spPr>
            <a:xfrm>
              <a:off x="0" y="-47625"/>
              <a:ext cx="2103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curso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5389352" y="4485132"/>
            <a:ext cx="1577340" cy="411480"/>
            <a:chOff x="0" y="0"/>
            <a:chExt cx="2103120" cy="54864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828800" y="0"/>
                  </a:lnTo>
                  <a:cubicBezTo>
                    <a:pt x="1980311" y="0"/>
                    <a:pt x="2103120" y="122809"/>
                    <a:pt x="2103120" y="274320"/>
                  </a:cubicBezTo>
                  <a:cubicBezTo>
                    <a:pt x="2103120" y="425831"/>
                    <a:pt x="1980311" y="548640"/>
                    <a:pt x="18288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C87B2E"/>
            </a:solidFill>
          </p:spPr>
          <p:txBody>
            <a:bodyPr/>
            <a:p/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5389352" y="4485132"/>
            <a:ext cx="1577340" cy="411480"/>
            <a:chOff x="0" y="0"/>
            <a:chExt cx="2103120" cy="54864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  <p:txBody>
            <a:bodyPr/>
            <a:p/>
          </p:txBody>
        </p:sp>
        <p:sp>
          <p:nvSpPr>
            <p:cNvPr name="TextBox 169" id="169"/>
            <p:cNvSpPr txBox="true"/>
            <p:nvPr/>
          </p:nvSpPr>
          <p:spPr>
            <a:xfrm>
              <a:off x="0" y="-47625"/>
              <a:ext cx="2103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curso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5389352" y="5513832"/>
            <a:ext cx="1577340" cy="411480"/>
            <a:chOff x="0" y="0"/>
            <a:chExt cx="2103120" cy="54864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828800" y="0"/>
                  </a:lnTo>
                  <a:cubicBezTo>
                    <a:pt x="1980311" y="0"/>
                    <a:pt x="2103120" y="122809"/>
                    <a:pt x="2103120" y="274320"/>
                  </a:cubicBezTo>
                  <a:cubicBezTo>
                    <a:pt x="2103120" y="425831"/>
                    <a:pt x="1980311" y="548640"/>
                    <a:pt x="18288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C87B2E"/>
            </a:solidFill>
          </p:spPr>
          <p:txBody>
            <a:bodyPr/>
            <a:p/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15389352" y="5513832"/>
            <a:ext cx="1577340" cy="411480"/>
            <a:chOff x="0" y="0"/>
            <a:chExt cx="2103120" cy="5486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  <p:txBody>
            <a:bodyPr/>
            <a:p/>
          </p:txBody>
        </p:sp>
        <p:sp>
          <p:nvSpPr>
            <p:cNvPr name="TextBox 174" id="174"/>
            <p:cNvSpPr txBox="true"/>
            <p:nvPr/>
          </p:nvSpPr>
          <p:spPr>
            <a:xfrm>
              <a:off x="0" y="-47625"/>
              <a:ext cx="2103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curso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5389352" y="6542532"/>
            <a:ext cx="1577340" cy="411480"/>
            <a:chOff x="0" y="0"/>
            <a:chExt cx="2103120" cy="5486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828800" y="0"/>
                  </a:lnTo>
                  <a:cubicBezTo>
                    <a:pt x="1980311" y="0"/>
                    <a:pt x="2103120" y="122809"/>
                    <a:pt x="2103120" y="274320"/>
                  </a:cubicBezTo>
                  <a:cubicBezTo>
                    <a:pt x="2103120" y="425831"/>
                    <a:pt x="1980311" y="548640"/>
                    <a:pt x="18288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D8E2E9"/>
            </a:solidFill>
          </p:spPr>
          <p:txBody>
            <a:bodyPr/>
            <a:p/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5389352" y="6542532"/>
            <a:ext cx="1577340" cy="411480"/>
            <a:chOff x="0" y="0"/>
            <a:chExt cx="2103120" cy="54864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  <p:txBody>
            <a:bodyPr/>
            <a:p/>
          </p:txBody>
        </p:sp>
        <p:sp>
          <p:nvSpPr>
            <p:cNvPr name="TextBox 179" id="179"/>
            <p:cNvSpPr txBox="true"/>
            <p:nvPr/>
          </p:nvSpPr>
          <p:spPr>
            <a:xfrm>
              <a:off x="0" y="-47625"/>
              <a:ext cx="2103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5A6B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Pendiente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5389352" y="7571232"/>
            <a:ext cx="1577340" cy="411480"/>
            <a:chOff x="0" y="0"/>
            <a:chExt cx="2103120" cy="54864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828800" y="0"/>
                  </a:lnTo>
                  <a:cubicBezTo>
                    <a:pt x="1980311" y="0"/>
                    <a:pt x="2103120" y="122809"/>
                    <a:pt x="2103120" y="274320"/>
                  </a:cubicBezTo>
                  <a:cubicBezTo>
                    <a:pt x="2103120" y="425831"/>
                    <a:pt x="1980311" y="548640"/>
                    <a:pt x="182880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C87B2E"/>
            </a:solidFill>
          </p:spPr>
          <p:txBody>
            <a:bodyPr/>
            <a:p/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5389352" y="7571232"/>
            <a:ext cx="1577340" cy="411480"/>
            <a:chOff x="0" y="0"/>
            <a:chExt cx="2103120" cy="54864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21031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  <p:txBody>
            <a:bodyPr/>
            <a:p/>
          </p:txBody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21031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3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curso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822960"/>
            <a:chOff x="0" y="0"/>
            <a:chExt cx="2176272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6453" r="0" b="-336453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7627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Ajustes y próximos pasos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762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5A6B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 que cambió respecto del diseño de la Fase 1 y lo que queda por construir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13580" y="9258300"/>
            <a:ext cx="576072" cy="576072"/>
            <a:chOff x="0" y="0"/>
            <a:chExt cx="768096" cy="768096"/>
          </a:xfrm>
        </p:grpSpPr>
        <p:sp>
          <p:nvSpPr>
            <p:cNvPr name="Freeform 9" id="9" descr="/mnt/user-data/outputs/logo/vialnex-isotipo-512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10" id="10"/>
          <p:cNvSpPr txBox="true"/>
          <p:nvPr/>
        </p:nvSpPr>
        <p:spPr>
          <a:xfrm rot="0">
            <a:off x="960120" y="2136267"/>
            <a:ext cx="8229600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true">
                <a:solidFill>
                  <a:srgbClr val="0F2E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Ajustes realizados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60120" y="2852928"/>
            <a:ext cx="8161020" cy="1097280"/>
            <a:chOff x="0" y="0"/>
            <a:chExt cx="1088136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81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881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735056" y="0"/>
                  </a:lnTo>
                  <a:cubicBezTo>
                    <a:pt x="10815828" y="0"/>
                    <a:pt x="10881361" y="65532"/>
                    <a:pt x="10881361" y="146304"/>
                  </a:cubicBezTo>
                  <a:lnTo>
                    <a:pt x="10881361" y="1316736"/>
                  </a:lnTo>
                  <a:cubicBezTo>
                    <a:pt x="10881361" y="1397508"/>
                    <a:pt x="10815828" y="1463040"/>
                    <a:pt x="1073505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F2F6F9"/>
            </a:solid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2347" y="3035427"/>
            <a:ext cx="224790" cy="224790"/>
            <a:chOff x="0" y="0"/>
            <a:chExt cx="299720" cy="299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9720" cy="299720"/>
            </a:xfrm>
            <a:custGeom>
              <a:avLst/>
              <a:gdLst/>
              <a:ahLst/>
              <a:cxnLst/>
              <a:rect r="r" b="b" t="t" l="l"/>
              <a:pathLst>
                <a:path h="299720" w="299720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cubicBezTo>
                    <a:pt x="232664" y="0"/>
                    <a:pt x="299720" y="67056"/>
                    <a:pt x="299720" y="149860"/>
                  </a:cubicBezTo>
                  <a:cubicBezTo>
                    <a:pt x="299720" y="232664"/>
                    <a:pt x="232664" y="299720"/>
                    <a:pt x="149860" y="299720"/>
                  </a:cubicBezTo>
                  <a:cubicBezTo>
                    <a:pt x="67056" y="299720"/>
                    <a:pt x="0" y="232664"/>
                    <a:pt x="0" y="149860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5920" y="2935224"/>
            <a:ext cx="7269480" cy="411480"/>
            <a:chOff x="0" y="0"/>
            <a:chExt cx="969264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92640" cy="548640"/>
            </a:xfrm>
            <a:custGeom>
              <a:avLst/>
              <a:gdLst/>
              <a:ahLst/>
              <a:cxnLst/>
              <a:rect r="r" b="b" t="t" l="l"/>
              <a:pathLst>
                <a:path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235" r="0" b="-294235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9692640" cy="615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Carga con reporte de problema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45920" y="3326511"/>
            <a:ext cx="7269480" cy="56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Cada posición se carga o se reporta; con reportes, la carga se confirma como parcial.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60120" y="4073652"/>
            <a:ext cx="8161020" cy="1097280"/>
            <a:chOff x="0" y="0"/>
            <a:chExt cx="1088136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81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881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735056" y="0"/>
                  </a:lnTo>
                  <a:cubicBezTo>
                    <a:pt x="10815828" y="0"/>
                    <a:pt x="10881361" y="65532"/>
                    <a:pt x="10881361" y="146304"/>
                  </a:cubicBezTo>
                  <a:lnTo>
                    <a:pt x="10881361" y="1316736"/>
                  </a:lnTo>
                  <a:cubicBezTo>
                    <a:pt x="10881361" y="1397508"/>
                    <a:pt x="10815828" y="1463040"/>
                    <a:pt x="1073505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F2F6F9"/>
            </a:solid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52347" y="4256151"/>
            <a:ext cx="224790" cy="224790"/>
            <a:chOff x="0" y="0"/>
            <a:chExt cx="299720" cy="299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9720" cy="299720"/>
            </a:xfrm>
            <a:custGeom>
              <a:avLst/>
              <a:gdLst/>
              <a:ahLst/>
              <a:cxnLst/>
              <a:rect r="r" b="b" t="t" l="l"/>
              <a:pathLst>
                <a:path h="299720" w="299720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cubicBezTo>
                    <a:pt x="232664" y="0"/>
                    <a:pt x="299720" y="67056"/>
                    <a:pt x="299720" y="149860"/>
                  </a:cubicBezTo>
                  <a:cubicBezTo>
                    <a:pt x="299720" y="232664"/>
                    <a:pt x="232664" y="299720"/>
                    <a:pt x="149860" y="299720"/>
                  </a:cubicBezTo>
                  <a:cubicBezTo>
                    <a:pt x="67056" y="299720"/>
                    <a:pt x="0" y="232664"/>
                    <a:pt x="0" y="149860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45920" y="4155948"/>
            <a:ext cx="7269480" cy="411480"/>
            <a:chOff x="0" y="0"/>
            <a:chExt cx="969264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692640" cy="548640"/>
            </a:xfrm>
            <a:custGeom>
              <a:avLst/>
              <a:gdLst/>
              <a:ahLst/>
              <a:cxnLst/>
              <a:rect r="r" b="b" t="t" l="l"/>
              <a:pathLst>
                <a:path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235" r="0" b="-294235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9692640" cy="615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Escaneo validado contra la orden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645920" y="4547235"/>
            <a:ext cx="7269480" cy="56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El código marca la posición y se rechaza si pertenece a otra orden.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60120" y="5294376"/>
            <a:ext cx="8161020" cy="1097280"/>
            <a:chOff x="0" y="0"/>
            <a:chExt cx="1088136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81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881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735056" y="0"/>
                  </a:lnTo>
                  <a:cubicBezTo>
                    <a:pt x="10815828" y="0"/>
                    <a:pt x="10881361" y="65532"/>
                    <a:pt x="10881361" y="146304"/>
                  </a:cubicBezTo>
                  <a:lnTo>
                    <a:pt x="10881361" y="1316736"/>
                  </a:lnTo>
                  <a:cubicBezTo>
                    <a:pt x="10881361" y="1397508"/>
                    <a:pt x="10815828" y="1463040"/>
                    <a:pt x="1073505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F2F6F9"/>
            </a:solid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52347" y="5476875"/>
            <a:ext cx="224790" cy="224790"/>
            <a:chOff x="0" y="0"/>
            <a:chExt cx="299720" cy="299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9720" cy="299720"/>
            </a:xfrm>
            <a:custGeom>
              <a:avLst/>
              <a:gdLst/>
              <a:ahLst/>
              <a:cxnLst/>
              <a:rect r="r" b="b" t="t" l="l"/>
              <a:pathLst>
                <a:path h="299720" w="299720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cubicBezTo>
                    <a:pt x="232664" y="0"/>
                    <a:pt x="299720" y="67056"/>
                    <a:pt x="299720" y="149860"/>
                  </a:cubicBezTo>
                  <a:cubicBezTo>
                    <a:pt x="299720" y="232664"/>
                    <a:pt x="232664" y="299720"/>
                    <a:pt x="149860" y="299720"/>
                  </a:cubicBezTo>
                  <a:cubicBezTo>
                    <a:pt x="67056" y="299720"/>
                    <a:pt x="0" y="232664"/>
                    <a:pt x="0" y="149860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45920" y="5376672"/>
            <a:ext cx="7269480" cy="411480"/>
            <a:chOff x="0" y="0"/>
            <a:chExt cx="969264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692640" cy="548640"/>
            </a:xfrm>
            <a:custGeom>
              <a:avLst/>
              <a:gdLst/>
              <a:ahLst/>
              <a:cxnLst/>
              <a:rect r="r" b="b" t="t" l="l"/>
              <a:pathLst>
                <a:path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235" r="0" b="-294235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9692640" cy="615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Carga masiva de ventas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645920" y="5767959"/>
            <a:ext cx="7269480" cy="56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La nueva venta admite carga desde Excel o CSV con plantilla.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60120" y="6515100"/>
            <a:ext cx="8161020" cy="1097280"/>
            <a:chOff x="0" y="0"/>
            <a:chExt cx="1088136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81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881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735056" y="0"/>
                  </a:lnTo>
                  <a:cubicBezTo>
                    <a:pt x="10815828" y="0"/>
                    <a:pt x="10881361" y="65532"/>
                    <a:pt x="10881361" y="146304"/>
                  </a:cubicBezTo>
                  <a:lnTo>
                    <a:pt x="10881361" y="1316736"/>
                  </a:lnTo>
                  <a:cubicBezTo>
                    <a:pt x="10881361" y="1397508"/>
                    <a:pt x="10815828" y="1463040"/>
                    <a:pt x="1073505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F2F6F9"/>
            </a:solid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52347" y="6697599"/>
            <a:ext cx="224790" cy="224790"/>
            <a:chOff x="0" y="0"/>
            <a:chExt cx="299720" cy="2997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99720" cy="299720"/>
            </a:xfrm>
            <a:custGeom>
              <a:avLst/>
              <a:gdLst/>
              <a:ahLst/>
              <a:cxnLst/>
              <a:rect r="r" b="b" t="t" l="l"/>
              <a:pathLst>
                <a:path h="299720" w="299720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cubicBezTo>
                    <a:pt x="232664" y="0"/>
                    <a:pt x="299720" y="67056"/>
                    <a:pt x="299720" y="149860"/>
                  </a:cubicBezTo>
                  <a:cubicBezTo>
                    <a:pt x="299720" y="232664"/>
                    <a:pt x="232664" y="299720"/>
                    <a:pt x="149860" y="299720"/>
                  </a:cubicBezTo>
                  <a:cubicBezTo>
                    <a:pt x="67056" y="299720"/>
                    <a:pt x="0" y="232664"/>
                    <a:pt x="0" y="149860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45920" y="6597396"/>
            <a:ext cx="7269480" cy="411480"/>
            <a:chOff x="0" y="0"/>
            <a:chExt cx="969264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692640" cy="548640"/>
            </a:xfrm>
            <a:custGeom>
              <a:avLst/>
              <a:gdLst/>
              <a:ahLst/>
              <a:cxnLst/>
              <a:rect r="r" b="b" t="t" l="l"/>
              <a:pathLst>
                <a:path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235" r="0" b="-294235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9692640" cy="615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Perfil de consulta y acceso por plataforma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645920" y="6988683"/>
            <a:ext cx="7269480" cy="56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Nuevo perfil Consulta dashboard; cada usuario se habilita para web, móvil o ambos.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60120" y="7735824"/>
            <a:ext cx="8161020" cy="1097280"/>
            <a:chOff x="0" y="0"/>
            <a:chExt cx="1088136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881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881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735056" y="0"/>
                  </a:lnTo>
                  <a:cubicBezTo>
                    <a:pt x="10815828" y="0"/>
                    <a:pt x="10881361" y="65532"/>
                    <a:pt x="10881361" y="146304"/>
                  </a:cubicBezTo>
                  <a:lnTo>
                    <a:pt x="10881361" y="1316736"/>
                  </a:lnTo>
                  <a:cubicBezTo>
                    <a:pt x="10881361" y="1397508"/>
                    <a:pt x="10815828" y="1463040"/>
                    <a:pt x="1073505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F2F6F9"/>
            </a:solid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52347" y="7918323"/>
            <a:ext cx="224790" cy="224790"/>
            <a:chOff x="0" y="0"/>
            <a:chExt cx="299720" cy="299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99720" cy="299720"/>
            </a:xfrm>
            <a:custGeom>
              <a:avLst/>
              <a:gdLst/>
              <a:ahLst/>
              <a:cxnLst/>
              <a:rect r="r" b="b" t="t" l="l"/>
              <a:pathLst>
                <a:path h="299720" w="299720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cubicBezTo>
                    <a:pt x="232664" y="0"/>
                    <a:pt x="299720" y="67056"/>
                    <a:pt x="299720" y="149860"/>
                  </a:cubicBezTo>
                  <a:cubicBezTo>
                    <a:pt x="299720" y="232664"/>
                    <a:pt x="232664" y="299720"/>
                    <a:pt x="149860" y="299720"/>
                  </a:cubicBezTo>
                  <a:cubicBezTo>
                    <a:pt x="67056" y="299720"/>
                    <a:pt x="0" y="232664"/>
                    <a:pt x="0" y="149860"/>
                  </a:cubicBezTo>
                  <a:close/>
                </a:path>
              </a:pathLst>
            </a:custGeom>
            <a:solidFill>
              <a:srgbClr val="2E7FB8"/>
            </a:solidFill>
            <a:ln w="19050" cap="sq">
              <a:solidFill>
                <a:srgbClr val="2E7FB8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45920" y="7818120"/>
            <a:ext cx="7269480" cy="411480"/>
            <a:chOff x="0" y="0"/>
            <a:chExt cx="969264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692640" cy="548640"/>
            </a:xfrm>
            <a:custGeom>
              <a:avLst/>
              <a:gdLst/>
              <a:ahLst/>
              <a:cxnLst/>
              <a:rect r="r" b="b" t="t" l="l"/>
              <a:pathLst>
                <a:path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235" r="0" b="-294235"/>
              </a:stretch>
            </a:blipFill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9692640" cy="615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 b="true">
                  <a:solidFill>
                    <a:srgbClr val="0F2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Infraestructura propia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645920" y="8209407"/>
            <a:ext cx="7269480" cy="56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5A6B78"/>
                </a:solidFill>
                <a:latin typeface="Calibri (MS)"/>
                <a:ea typeface="Calibri (MS)"/>
                <a:cs typeface="Calibri (MS)"/>
                <a:sym typeface="Calibri (MS)"/>
              </a:rPr>
              <a:t>Servidor del equipo con túnel seguro de Cloudflare.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532620" y="2136267"/>
            <a:ext cx="7818120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true">
                <a:solidFill>
                  <a:srgbClr val="0F2E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Próximos pasos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532620" y="2852928"/>
            <a:ext cx="7749540" cy="5993892"/>
            <a:chOff x="0" y="0"/>
            <a:chExt cx="10332720" cy="79918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332720" cy="7991856"/>
            </a:xfrm>
            <a:custGeom>
              <a:avLst/>
              <a:gdLst/>
              <a:ahLst/>
              <a:cxnLst/>
              <a:rect r="r" b="b" t="t" l="l"/>
              <a:pathLst>
                <a:path h="7991856" w="10332720">
                  <a:moveTo>
                    <a:pt x="0" y="319659"/>
                  </a:moveTo>
                  <a:cubicBezTo>
                    <a:pt x="0" y="143129"/>
                    <a:pt x="143129" y="0"/>
                    <a:pt x="319659" y="0"/>
                  </a:cubicBezTo>
                  <a:lnTo>
                    <a:pt x="10013061" y="0"/>
                  </a:lnTo>
                  <a:cubicBezTo>
                    <a:pt x="10189591" y="0"/>
                    <a:pt x="10332720" y="143129"/>
                    <a:pt x="10332720" y="319659"/>
                  </a:cubicBezTo>
                  <a:lnTo>
                    <a:pt x="10332720" y="7672197"/>
                  </a:lnTo>
                  <a:cubicBezTo>
                    <a:pt x="10332720" y="7848727"/>
                    <a:pt x="10189591" y="7991856"/>
                    <a:pt x="10013061" y="7991856"/>
                  </a:cubicBezTo>
                  <a:lnTo>
                    <a:pt x="319659" y="7991856"/>
                  </a:lnTo>
                  <a:cubicBezTo>
                    <a:pt x="143129" y="7991856"/>
                    <a:pt x="0" y="7848727"/>
                    <a:pt x="0" y="7672197"/>
                  </a:cubicBezTo>
                  <a:close/>
                </a:path>
              </a:pathLst>
            </a:custGeom>
            <a:solidFill>
              <a:srgbClr val="0F2E42"/>
            </a:solid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34372" y="3236976"/>
            <a:ext cx="466344" cy="466344"/>
            <a:chOff x="0" y="0"/>
            <a:chExt cx="621792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9834372" y="3236976"/>
            <a:ext cx="466344" cy="466344"/>
            <a:chOff x="0" y="0"/>
            <a:chExt cx="621792" cy="621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621792" cy="678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7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561320" y="3154680"/>
            <a:ext cx="6515100" cy="630936"/>
            <a:chOff x="0" y="0"/>
            <a:chExt cx="8686800" cy="8412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686800" cy="841248"/>
            </a:xfrm>
            <a:custGeom>
              <a:avLst/>
              <a:gdLst/>
              <a:ahLst/>
              <a:cxnLst/>
              <a:rect r="r" b="b" t="t" l="l"/>
              <a:pathLst>
                <a:path h="841248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204" r="0" b="-151204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8686800" cy="9079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Publicar los servicios de entrega por bulto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834372" y="4169664"/>
            <a:ext cx="466344" cy="466344"/>
            <a:chOff x="0" y="0"/>
            <a:chExt cx="621792" cy="6217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64" id="64"/>
          <p:cNvGrpSpPr/>
          <p:nvPr/>
        </p:nvGrpSpPr>
        <p:grpSpPr>
          <a:xfrm rot="0">
            <a:off x="9834372" y="4169664"/>
            <a:ext cx="466344" cy="466344"/>
            <a:chOff x="0" y="0"/>
            <a:chExt cx="621792" cy="6217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621792" cy="678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7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561320" y="4087368"/>
            <a:ext cx="6515100" cy="630936"/>
            <a:chOff x="0" y="0"/>
            <a:chExt cx="8686800" cy="84124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686800" cy="841248"/>
            </a:xfrm>
            <a:custGeom>
              <a:avLst/>
              <a:gdLst/>
              <a:ahLst/>
              <a:cxnLst/>
              <a:rect r="r" b="b" t="t" l="l"/>
              <a:pathLst>
                <a:path h="841248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204" r="0" b="-151204"/>
              </a:stretch>
            </a:blipFill>
          </p:spPr>
          <p:txBody>
            <a:bodyPr/>
            <a:p/>
          </p:txBody>
        </p:sp>
        <p:sp>
          <p:nvSpPr>
            <p:cNvPr name="TextBox 69" id="69"/>
            <p:cNvSpPr txBox="true"/>
            <p:nvPr/>
          </p:nvSpPr>
          <p:spPr>
            <a:xfrm>
              <a:off x="0" y="-66675"/>
              <a:ext cx="8686800" cy="9079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Compilar el APK instalable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834372" y="5102352"/>
            <a:ext cx="466344" cy="466344"/>
            <a:chOff x="0" y="0"/>
            <a:chExt cx="621792" cy="6217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9834372" y="5102352"/>
            <a:ext cx="466344" cy="466344"/>
            <a:chOff x="0" y="0"/>
            <a:chExt cx="621792" cy="6217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621792" cy="678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7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561320" y="5020056"/>
            <a:ext cx="6515100" cy="630936"/>
            <a:chOff x="0" y="0"/>
            <a:chExt cx="8686800" cy="84124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686800" cy="841248"/>
            </a:xfrm>
            <a:custGeom>
              <a:avLst/>
              <a:gdLst/>
              <a:ahLst/>
              <a:cxnLst/>
              <a:rect r="r" b="b" t="t" l="l"/>
              <a:pathLst>
                <a:path h="841248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204" r="0" b="-151204"/>
              </a:stretch>
            </a:blipFill>
          </p:spPr>
          <p:txBody>
            <a:bodyPr/>
            <a:p/>
          </p:txBody>
        </p:sp>
        <p:sp>
          <p:nvSpPr>
            <p:cNvPr name="TextBox 77" id="77"/>
            <p:cNvSpPr txBox="true"/>
            <p:nvPr/>
          </p:nvSpPr>
          <p:spPr>
            <a:xfrm>
              <a:off x="0" y="-66675"/>
              <a:ext cx="8686800" cy="9079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Ruta y app del conductor: entregas y entregas fallidas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834372" y="6035040"/>
            <a:ext cx="466344" cy="466344"/>
            <a:chOff x="0" y="0"/>
            <a:chExt cx="621792" cy="62179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80" id="80"/>
          <p:cNvGrpSpPr/>
          <p:nvPr/>
        </p:nvGrpSpPr>
        <p:grpSpPr>
          <a:xfrm rot="0">
            <a:off x="9834372" y="6035040"/>
            <a:ext cx="466344" cy="466344"/>
            <a:chOff x="0" y="0"/>
            <a:chExt cx="621792" cy="6217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621792" cy="678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7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561320" y="5952744"/>
            <a:ext cx="6515100" cy="630936"/>
            <a:chOff x="0" y="0"/>
            <a:chExt cx="8686800" cy="8412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686800" cy="841248"/>
            </a:xfrm>
            <a:custGeom>
              <a:avLst/>
              <a:gdLst/>
              <a:ahLst/>
              <a:cxnLst/>
              <a:rect r="r" b="b" t="t" l="l"/>
              <a:pathLst>
                <a:path h="841248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204" r="0" b="-151204"/>
              </a:stretch>
            </a:blipFill>
          </p:spPr>
          <p:txBody>
            <a:bodyPr/>
            <a:p/>
          </p:txBody>
        </p:sp>
        <p:sp>
          <p:nvSpPr>
            <p:cNvPr name="TextBox 85" id="85"/>
            <p:cNvSpPr txBox="true"/>
            <p:nvPr/>
          </p:nvSpPr>
          <p:spPr>
            <a:xfrm>
              <a:off x="0" y="-66675"/>
              <a:ext cx="8686800" cy="9079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Flota, mantenimiento, personal, costos y dashboard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834372" y="6967728"/>
            <a:ext cx="466344" cy="466344"/>
            <a:chOff x="0" y="0"/>
            <a:chExt cx="621792" cy="6217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88" id="88"/>
          <p:cNvGrpSpPr/>
          <p:nvPr/>
        </p:nvGrpSpPr>
        <p:grpSpPr>
          <a:xfrm rot="0">
            <a:off x="9834372" y="6967728"/>
            <a:ext cx="466344" cy="466344"/>
            <a:chOff x="0" y="0"/>
            <a:chExt cx="621792" cy="62179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621792" cy="678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7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561320" y="6885432"/>
            <a:ext cx="6515100" cy="630936"/>
            <a:chOff x="0" y="0"/>
            <a:chExt cx="8686800" cy="8412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686800" cy="841248"/>
            </a:xfrm>
            <a:custGeom>
              <a:avLst/>
              <a:gdLst/>
              <a:ahLst/>
              <a:cxnLst/>
              <a:rect r="r" b="b" t="t" l="l"/>
              <a:pathLst>
                <a:path h="841248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204" r="0" b="-151204"/>
              </a:stretch>
            </a:blipFill>
          </p:spPr>
          <p:txBody>
            <a:bodyPr/>
            <a:p/>
          </p:txBody>
        </p:sp>
        <p:sp>
          <p:nvSpPr>
            <p:cNvPr name="TextBox 93" id="93"/>
            <p:cNvSpPr txBox="true"/>
            <p:nvPr/>
          </p:nvSpPr>
          <p:spPr>
            <a:xfrm>
              <a:off x="0" y="-66675"/>
              <a:ext cx="8686800" cy="9079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 de pruebas de integración y aceptación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834372" y="7900416"/>
            <a:ext cx="466344" cy="466344"/>
            <a:chOff x="0" y="0"/>
            <a:chExt cx="621792" cy="62179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16A394"/>
            </a:solidFill>
          </p:spPr>
          <p:txBody>
            <a:bodyPr/>
            <a:p/>
          </p:txBody>
        </p:sp>
      </p:grpSp>
      <p:grpSp>
        <p:nvGrpSpPr>
          <p:cNvPr name="Group 96" id="96"/>
          <p:cNvGrpSpPr/>
          <p:nvPr/>
        </p:nvGrpSpPr>
        <p:grpSpPr>
          <a:xfrm rot="0">
            <a:off x="9834372" y="7900416"/>
            <a:ext cx="466344" cy="466344"/>
            <a:chOff x="0" y="0"/>
            <a:chExt cx="621792" cy="62179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  <p:txBody>
            <a:bodyPr/>
            <a:p/>
          </p:txBody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621792" cy="678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7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561320" y="7818120"/>
            <a:ext cx="6515100" cy="630936"/>
            <a:chOff x="0" y="0"/>
            <a:chExt cx="8686800" cy="84124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686800" cy="841248"/>
            </a:xfrm>
            <a:custGeom>
              <a:avLst/>
              <a:gdLst/>
              <a:ahLst/>
              <a:cxnLst/>
              <a:rect r="r" b="b" t="t" l="l"/>
              <a:pathLst>
                <a:path h="841248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204" r="0" b="-151204"/>
              </a:stretch>
            </a:blip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-66675"/>
              <a:ext cx="8686800" cy="9079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de usuario y manual técnico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2057400"/>
            <a:ext cx="5349240" cy="1577340"/>
            <a:chOff x="0" y="0"/>
            <a:chExt cx="7132320" cy="2103120"/>
          </a:xfrm>
        </p:grpSpPr>
        <p:sp>
          <p:nvSpPr>
            <p:cNvPr name="Freeform 3" id="3" descr="/mnt/user-data/outputs/logo/vialnex-logo-blanco-transp-1024.png"/>
            <p:cNvSpPr/>
            <p:nvPr/>
          </p:nvSpPr>
          <p:spPr>
            <a:xfrm flipH="false" flipV="false" rot="0">
              <a:off x="0" y="0"/>
              <a:ext cx="71323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2103120"/>
                  </a:lnTo>
                  <a:lnTo>
                    <a:pt x="0" y="210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083" r="0" b="-14083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303020" y="4046220"/>
            <a:ext cx="10424160" cy="1508760"/>
            <a:chOff x="0" y="0"/>
            <a:chExt cx="13898880" cy="2011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988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623" r="0" b="-84623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142875"/>
              <a:ext cx="13898880" cy="2154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52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¡Gracias!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93495" y="5751195"/>
            <a:ext cx="1939290" cy="60198"/>
            <a:chOff x="0" y="0"/>
            <a:chExt cx="2585720" cy="802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5720" cy="80264"/>
            </a:xfrm>
            <a:custGeom>
              <a:avLst/>
              <a:gdLst/>
              <a:ahLst/>
              <a:cxnLst/>
              <a:rect r="r" b="b" t="t" l="l"/>
              <a:pathLst>
                <a:path h="80264" w="2585720">
                  <a:moveTo>
                    <a:pt x="0" y="0"/>
                  </a:moveTo>
                  <a:lnTo>
                    <a:pt x="2585720" y="0"/>
                  </a:lnTo>
                  <a:lnTo>
                    <a:pt x="2585720" y="80264"/>
                  </a:lnTo>
                  <a:lnTo>
                    <a:pt x="0" y="80264"/>
                  </a:lnTo>
                  <a:close/>
                </a:path>
              </a:pathLst>
            </a:custGeom>
            <a:solidFill>
              <a:srgbClr val="16A394"/>
            </a:solidFill>
            <a:ln w="19050" cap="sq">
              <a:solidFill>
                <a:srgbClr val="16A39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14538960" y="3291840"/>
            <a:ext cx="2606040" cy="2606040"/>
            <a:chOff x="0" y="0"/>
            <a:chExt cx="3474720" cy="3474720"/>
          </a:xfrm>
        </p:grpSpPr>
        <p:sp>
          <p:nvSpPr>
            <p:cNvPr name="Freeform 10" id="10" descr="/mnt/user-data/outputs/logo/vialnex-isotipo-512.png"/>
            <p:cNvSpPr/>
            <p:nvPr/>
          </p:nvSpPr>
          <p:spPr>
            <a:xfrm flipH="false" flipV="false" rot="0">
              <a:off x="0" y="0"/>
              <a:ext cx="34747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474720"/>
                  </a:lnTo>
                  <a:lnTo>
                    <a:pt x="0" y="347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0"/>
              </a:blip>
              <a:stretch>
                <a:fillRect l="0" t="0" r="0" b="0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DAHXYxrp_nQ</dc:identifier>
  <dcterms:modified xsi:type="dcterms:W3CDTF">2011-08-01T06:04:30Z</dcterms:modified>
  <cp:revision>1</cp:revision>
  <dc:title>vialNex_Avance_Fase2.pptx</dc:title>
</cp:coreProperties>
</file>