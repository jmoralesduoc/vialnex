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del día</c:v>
                </c:pt>
              </c:strCache>
            </c:strRef>
          </c:tx>
          <c:spPr>
            <a:solidFill>
              <a:srgbClr val="16A39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A6B78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 bultos</c:v>
                </c:pt>
                <c:pt idx="1">
                  <c:v>25 bultos</c:v>
                </c:pt>
                <c:pt idx="2">
                  <c:v>32 bultos</c:v>
                </c:pt>
                <c:pt idx="3">
                  <c:v>38 bultos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-63000</c:v>
                </c:pt>
                <c:pt idx="1">
                  <c:v>0</c:v>
                </c:pt>
                <c:pt idx="2">
                  <c:v>63000</c:v>
                </c:pt>
                <c:pt idx="3">
                  <c:v>117000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56-4B47-8D54-C9D113DFD7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E2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Bultos entregados</c:v>
                </c:pt>
              </c:strCache>
            </c:strRef>
          </c:tx>
          <c:spPr>
            <a:solidFill>
              <a:srgbClr val="2E7F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A6B78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JKLM</c:v>
                </c:pt>
                <c:pt idx="1">
                  <c:v>BCDF</c:v>
                </c:pt>
                <c:pt idx="2">
                  <c:v>GHTR</c:v>
                </c:pt>
                <c:pt idx="3">
                  <c:v>KLMN</c:v>
                </c:pt>
                <c:pt idx="4">
                  <c:v>TUVW</c:v>
                </c:pt>
                <c:pt idx="5">
                  <c:v>XYZA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18</c:v>
                </c:pt>
                <c:pt idx="2">
                  <c:v>24</c:v>
                </c:pt>
                <c:pt idx="3">
                  <c:v>29</c:v>
                </c:pt>
                <c:pt idx="4">
                  <c:v>27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9D-4223-9557-B0C8A9BE1D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 cap="flat">
              <a:solidFill>
                <a:srgbClr val="D8E2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033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vialNex, una plataforma web y móvil para la gestión de operaciones de distribución de última milla.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cobranza quedó explícitamente fuera del alcance como módulo: el sistema muestra qué está por cobrar, pero no emite documentos tributarios ni registra pagos.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costos son estimaciones de referencia; se ajustarán con datos reales si logramos acceso a una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logo/vialnex-logo-blanco-transp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2062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28346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y móvil para la gestión de operaciones de distribución y transporte de carga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960120" y="3886200"/>
            <a:ext cx="1280160" cy="27432"/>
          </a:xfrm>
          <a:prstGeom prst="rect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960120" y="4206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Fase 1: Definición de proyecto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 Capstone · Ingeniería en Informática · Duoc UC</a:t>
            </a:r>
            <a:endParaRPr lang="en-US" sz="1300" dirty="0"/>
          </a:p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Cristobal Peña , Bernardo Rojas, Javier Morales</a:t>
            </a:r>
            <a:endParaRPr lang="en-US" sz="1300" dirty="0"/>
          </a:p>
        </p:txBody>
      </p:sp>
      <p:pic>
        <p:nvPicPr>
          <p:cNvPr id="6" name="Image 1" descr="/mnt/user-data/outputs/logo/vialnex-isotipo-512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9509760" y="18288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revisar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96112" y="18196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737360" y="18196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opera hoy una empresa de distribución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473952" y="18196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15200" y="18196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vialNex y qué resuelve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06324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896112" y="32826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737360" y="3282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flujo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73736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módulos y el ciclo de vida del pedido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06324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6473952" y="32826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315200" y="3282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Tarifas, entregas fallidas y rentabilidad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452628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896112" y="4745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1737360" y="4745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técnica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737360" y="5074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stack y mockups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17920" y="452628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6473952" y="4745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7315200" y="4745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315200" y="5074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Competencias, equipo, plan y factibilidad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opera hoy una empresa de distribución de última milla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72768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896112" y="1810512"/>
            <a:ext cx="201168" cy="201168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188720" y="17556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 compromete sin saber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17627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promete una fecha de entrega sin conocer la capacidad real del camión de ese día ni de esa zona.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572768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4599432" y="1810512"/>
            <a:ext cx="201168" cy="201168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892040" y="17556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bodega trabaja en papel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99432" y="217627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bodeguero recibe la orden impresa o por mensajería. Nadie sabe si la carga quedó completa hasta que el camión sale.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0" y="1572768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8302752" y="1810512"/>
            <a:ext cx="201168" cy="201168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8595360" y="17556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no tiene herramientas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02752" y="217627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a ruta sin nada que le permita registrar lo que ocurre. La información se reconstruye después, de memoria.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493008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896112" y="3730752"/>
            <a:ext cx="201168" cy="201168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188720" y="36758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entregas fallidas no se clasifican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6112" y="409651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motivo tipificado no se puede determinar quién asume el costo del viaje perdido.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43400" y="3493008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9"/>
          <p:cNvSpPr/>
          <p:nvPr/>
        </p:nvSpPr>
        <p:spPr>
          <a:xfrm>
            <a:off x="4599432" y="3730752"/>
            <a:ext cx="201168" cy="201168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4892040" y="36758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si el día fue rentable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99432" y="4096512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 la jornada aparece recién en el balance de fin de mes, cuando ya no se puede corregir.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046720" y="3493008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8302752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fondo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302752" y="4069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de la operación está partida entre la oficina y el terreno, y nunca se junta a tiempo.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usan el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perfiles, dos plataformas: la oficina en web, el terreno en móvil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responsiva · oficina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60020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172200" y="16002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· terreno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868680" y="2523744"/>
            <a:ext cx="182880" cy="182880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70432" y="2304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70432" y="25786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la venta, cotiza el despacho según tamaño y zona, y reserva el cupo de entrega.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315468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868680" y="3483864"/>
            <a:ext cx="182880" cy="182880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1170432" y="3264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Despachador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70432" y="35387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la orden de transporte, asigna camión y ruta, monitorea la operación y cierra el servicio.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11480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868680" y="4443984"/>
            <a:ext cx="182880" cy="182880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170432" y="4224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flota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70432" y="4498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vehículos, kilometraje y mantenciones preventivas.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9"/>
          <p:cNvSpPr/>
          <p:nvPr/>
        </p:nvSpPr>
        <p:spPr>
          <a:xfrm>
            <a:off x="868680" y="5404104"/>
            <a:ext cx="182880" cy="182880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1170432" y="51846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70432" y="5458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usuarios, personal, costos y consulta el dashboard con el reporte de cobranza.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72200" y="219456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3"/>
          <p:cNvSpPr/>
          <p:nvPr/>
        </p:nvSpPr>
        <p:spPr>
          <a:xfrm>
            <a:off x="6400800" y="2523744"/>
            <a:ext cx="182880" cy="182880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6702552" y="2304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Bodeguero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702552" y="25786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orden con sus posiciones y guías, marca cada bulto cargado y confirma la carga completa.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172200" y="315468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7"/>
          <p:cNvSpPr/>
          <p:nvPr/>
        </p:nvSpPr>
        <p:spPr>
          <a:xfrm>
            <a:off x="6400800" y="3483864"/>
            <a:ext cx="182880" cy="182880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6702552" y="3264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702552" y="35387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los hitos del viaje, confirma entregas y reporta entregas fallidas con evidencia.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72200" y="4114800"/>
            <a:ext cx="5349240" cy="1801368"/>
          </a:xfrm>
          <a:prstGeom prst="roundRect">
            <a:avLst>
              <a:gd name="adj" fmla="val 4061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/>
          <p:nvPr/>
        </p:nvSpPr>
        <p:spPr>
          <a:xfrm>
            <a:off x="6446520" y="4315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dos plataformas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446520" y="4663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bodeguero arma la carga con el celular en la mano y el conductor registra entregas en la calle. Ninguno de los dos va a usar un computador. Ambas aplicaciones consumen el mismo servicio y comparten el mismo modelo de datos.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la solución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módulos agrupados en cuatro áreas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usuarios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0" y="160020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3474720" y="1600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y operación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74720" y="214884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3657600" y="21488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venta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474720" y="292608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3657600" y="29260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transporte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74720" y="370332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3657600" y="37033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y cambio de ruta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309360" y="160020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309360" y="1600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y personal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214884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492240" y="21488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flota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309360" y="292608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6492240" y="29260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309360" y="370332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6492240" y="37033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309360" y="448056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6492240" y="44805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de camiones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9144000" y="160020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9144000" y="1600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144000" y="214884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9326880" y="21488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cierre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9144000" y="292608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/>
          <p:nvPr/>
        </p:nvSpPr>
        <p:spPr>
          <a:xfrm>
            <a:off x="9326880" y="29260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9144000" y="3703320"/>
            <a:ext cx="2697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9326880" y="37033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obligatorio: acceso, venta, orden de transporte, bodega, ruta y monitoreo.   ·   Alcance incremental: flota, mantenimiento, personal, costos y dashboard.   ·   La cobranza no es un módulo: es un reporte dentro del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pedido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registro recorre los seis estados, sin pasar por planillas ni papel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2225">
            <a:solidFill>
              <a:srgbClr val="2E7FB8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3152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67712" y="2441448"/>
            <a:ext cx="219456" cy="0"/>
          </a:xfrm>
          <a:prstGeom prst="line">
            <a:avLst/>
          </a:prstGeom>
          <a:noFill/>
          <a:ln w="3175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2514600" y="192024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2225">
            <a:solidFill>
              <a:srgbClr val="2E7FB8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260604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06040" y="2468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0604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Despachador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42232" y="2441448"/>
            <a:ext cx="219456" cy="0"/>
          </a:xfrm>
          <a:prstGeom prst="line">
            <a:avLst/>
          </a:prstGeom>
          <a:noFill/>
          <a:ln w="3175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4389120" y="192024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2225">
            <a:solidFill>
              <a:srgbClr val="16A394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48056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bodega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480560" y="2468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armando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8056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Bodeguero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16752" y="2441448"/>
            <a:ext cx="219456" cy="0"/>
          </a:xfrm>
          <a:prstGeom prst="line">
            <a:avLst/>
          </a:prstGeom>
          <a:noFill/>
          <a:ln w="3175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6263640" y="192024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2225">
            <a:solidFill>
              <a:srgbClr val="16A394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635508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2468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5508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Bodeguero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891272" y="2441448"/>
            <a:ext cx="219456" cy="0"/>
          </a:xfrm>
          <a:prstGeom prst="line">
            <a:avLst/>
          </a:prstGeom>
          <a:noFill/>
          <a:ln w="3175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2"/>
          <p:cNvSpPr/>
          <p:nvPr/>
        </p:nvSpPr>
        <p:spPr>
          <a:xfrm>
            <a:off x="8138160" y="192024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2225">
            <a:solidFill>
              <a:srgbClr val="16A394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8229600" y="2331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ruta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2960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765792" y="2441448"/>
            <a:ext cx="219456" cy="0"/>
          </a:xfrm>
          <a:prstGeom prst="line">
            <a:avLst/>
          </a:prstGeom>
          <a:noFill/>
          <a:ln w="3175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10012680" y="1920240"/>
            <a:ext cx="1600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2225">
            <a:solidFill>
              <a:srgbClr val="2E7FB8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1010412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104120" y="2468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10412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Despachador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40080" y="37490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Shape 31"/>
          <p:cNvSpPr/>
          <p:nvPr/>
        </p:nvSpPr>
        <p:spPr>
          <a:xfrm>
            <a:off x="896112" y="3986784"/>
            <a:ext cx="201168" cy="201168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1188720" y="3931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orden llega cerrada a bodega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96112" y="4352544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sus posiciones y sus guías de despacho ya emitidas. El bodeguero solo ejecuta: no decide qué va en cada camión.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343400" y="37490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Shape 35"/>
          <p:cNvSpPr/>
          <p:nvPr/>
        </p:nvSpPr>
        <p:spPr>
          <a:xfrm>
            <a:off x="4599432" y="3986784"/>
            <a:ext cx="201168" cy="201168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4892040" y="3931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carga es completa por orden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599432" y="4352544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camión no sale hasta que todas las posiciones estén marcadas. No existe despacho parcial.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046720" y="37490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2" name="Shape 39"/>
          <p:cNvSpPr/>
          <p:nvPr/>
        </p:nvSpPr>
        <p:spPr>
          <a:xfrm>
            <a:off x="8302752" y="3986784"/>
            <a:ext cx="201168" cy="201168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8595360" y="3931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hito deja evidencia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302752" y="4352544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registra desde su teléfono. Esa evidencia respalda un reclamo, justifica un cobro y alimenta los indicadores.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 · Cálculo de la tarifa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no va en el producto, va en el tramo de despacho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 →  dimensiones y peso  →  tramo de despacho  →  precio según zona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6949440" cy="274320"/>
          </a:xfrm>
          <a:prstGeom prst="rect">
            <a:avLst/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713232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2763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05072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urbana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85232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periférica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65392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240280"/>
            <a:ext cx="69494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713232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27632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 cm y ≤ 10 kg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05072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$3.990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85232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$5.490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65392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$8.990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2514600"/>
            <a:ext cx="69494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713232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627632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100 cm y ≤ 25 kg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005072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$6.990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285232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$8.990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65392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$13.990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" y="2788920"/>
            <a:ext cx="69494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713232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627632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160 cm y ≤ 50 kg  (TV 65")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05072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$11.990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85232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65392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$21.990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3063240"/>
            <a:ext cx="69494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713232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627632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160 cm o &gt; 50 kg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005072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285232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$24.990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65392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Recargos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40080" y="41148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/>
          <p:nvPr/>
        </p:nvSpPr>
        <p:spPr>
          <a:xfrm>
            <a:off x="804672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sin ascensor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283464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$3.000 por piso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206240" y="41148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4370832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horaria de 2 horas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4008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$8.000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0080" y="4681728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1"/>
          <p:cNvSpPr/>
          <p:nvPr/>
        </p:nvSpPr>
        <p:spPr>
          <a:xfrm>
            <a:off x="804672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AM o PM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2834640" y="4681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$4.000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206240" y="4681728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4"/>
          <p:cNvSpPr/>
          <p:nvPr/>
        </p:nvSpPr>
        <p:spPr>
          <a:xfrm>
            <a:off x="4370832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express 24 h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6400800" y="4681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del tramo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40080" y="5248656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7"/>
          <p:cNvSpPr/>
          <p:nvPr/>
        </p:nvSpPr>
        <p:spPr>
          <a:xfrm>
            <a:off x="804672" y="52486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same day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2834640" y="52486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 del tramo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4206240" y="5248656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0"/>
          <p:cNvSpPr/>
          <p:nvPr/>
        </p:nvSpPr>
        <p:spPr>
          <a:xfrm>
            <a:off x="4370832" y="52486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del producto antiguo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6400800" y="52486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$8.000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7863840" y="196596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3"/>
          <p:cNvSpPr/>
          <p:nvPr/>
        </p:nvSpPr>
        <p:spPr>
          <a:xfrm>
            <a:off x="8119872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tarifa se congela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8119872" y="248716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orden guarda el precio calculado y la tarifa que se aplicó. Si mañana cambia la lista de precios, las órdenes anteriores mantienen lo que se cobró.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863840" y="37033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6"/>
          <p:cNvSpPr/>
          <p:nvPr/>
        </p:nvSpPr>
        <p:spPr>
          <a:xfrm>
            <a:off x="8119872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peso volumétrico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8119872" y="4206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 paquetería (largo × ancho × alto ÷ 4.000) llevaría una TV 65" al tramo XL, porque está pensada para encomiendas livianas y abultadas. Para electrohogar se clasifica por lado mayor y peso real.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 · Entrega fallida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define quién paga no es el hecho, es el motivo tipificado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cliente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305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· rechaza la carga · bodega cerrada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730752" y="2240280"/>
            <a:ext cx="320040" cy="0"/>
          </a:xfrm>
          <a:prstGeom prst="line">
            <a:avLst/>
          </a:prstGeom>
          <a:noFill/>
          <a:ln w="25400">
            <a:solidFill>
              <a:srgbClr val="C0504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4160520" y="16002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38912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cobra falso flete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89120" y="21305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del viaje, más la tarifa completa al reprogramar. El camión viajó, consumió combustible y ocupó al conductor.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868680" y="3246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transportista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35935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mecánica · retraso · error de carga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30752" y="3703320"/>
            <a:ext cx="320040" cy="0"/>
          </a:xfrm>
          <a:prstGeom prst="line">
            <a:avLst/>
          </a:prstGeom>
          <a:noFill/>
          <a:ln w="25400">
            <a:solidFill>
              <a:srgbClr val="2E7FB8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4160520" y="30632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438912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cobra nada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89120" y="35935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reprograma sin costo para el cliente y el costo lo absorbe la empresa. Si había recargo por ventana horaria, se devuelve.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452628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225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868680" y="4709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mayor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8680" y="50566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cortada · clima · emergencia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30752" y="5166360"/>
            <a:ext cx="320040" cy="0"/>
          </a:xfrm>
          <a:prstGeom prst="line">
            <a:avLst/>
          </a:prstGeom>
          <a:noFill/>
          <a:ln w="25400">
            <a:solidFill>
              <a:srgbClr val="16A39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4160520" y="452628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38912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cobra lo recorrido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389120" y="505663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kilómetros efectivos hasta el punto de retorno, sin recargo adicional.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503920" y="1600200"/>
            <a:ext cx="2971800" cy="4023360"/>
          </a:xfrm>
          <a:prstGeom prst="roundRect">
            <a:avLst>
              <a:gd name="adj" fmla="val 2462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8759952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implementa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759952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 lista cerrada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759952" y="250545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conductor escribe texto libre, el sistema no puede decidir nada.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759952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no clasifica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759952" y="364845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motivo; el sistema deriva la responsabilidad desde una tabla de configuración.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759952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antes de cobrar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759952" y="479145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despachador confirma la clasificación antes de que llegue al reporte de cobranza.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 · Rentabilidad de la jornada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margen no viene de cobrar más, viene de la densidad de la ruta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4206240" cy="274320"/>
          </a:xfrm>
          <a:prstGeom prst="rect">
            <a:avLst/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13232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diario del camión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30752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$/día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713232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30752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14884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713232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Peoneta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30752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36.000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713232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(120 km)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30752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25.000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269748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13232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Mantención y neumáticos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730752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297180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713232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o depreciación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730752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41.000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" y="324612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713232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y permisos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730752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352044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713232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Peajes y estacionamientos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730752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379476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713232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asignado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73075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45.000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0080" y="4069080"/>
            <a:ext cx="4206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713232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730752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225.000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120640" y="160020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534924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34924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bultos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534924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$225.000 ÷ $9.000 de ticket promedio</a:t>
            </a:r>
            <a:endParaRPr lang="en-US" sz="105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029200" y="3108960"/>
          <a:ext cx="32918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Shape 36"/>
          <p:cNvSpPr/>
          <p:nvPr/>
        </p:nvSpPr>
        <p:spPr>
          <a:xfrm>
            <a:off x="8503920" y="1600200"/>
            <a:ext cx="2971800" cy="4023360"/>
          </a:xfrm>
          <a:prstGeom prst="roundRect">
            <a:avLst>
              <a:gd name="adj" fmla="val 2462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7"/>
          <p:cNvSpPr/>
          <p:nvPr/>
        </p:nvSpPr>
        <p:spPr>
          <a:xfrm>
            <a:off x="8759952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físico está cerca del equilibrio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8759952" y="242316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jornada de 9 horas deja unas 8 horas de ruta. Cada entrega de electrohogar toma entre 15 y 20 minutos, más 10 a 15 minutos de desplazamiento. El máximo realista en zona urbana son 16 a 20 entregas.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entregas dispersas por toda la ciudad el camión hace 12 y pierde. Con entregas concentradas en dos comunas hace 20 y gana.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exactamente lo que resuelve el módulo de rutas.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lenguaje en las tres capas: TypeScript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1554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37160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responsiva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933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22494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 · Despachador · Jefe de flota · Administrador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554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12648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26480" y="19933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22494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Bodeguero · Conductor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2606040"/>
            <a:ext cx="0" cy="365760"/>
          </a:xfrm>
          <a:prstGeom prst="line">
            <a:avLst/>
          </a:prstGeom>
          <a:noFill/>
          <a:ln w="25400">
            <a:solidFill>
              <a:srgbClr val="2E7FB8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8229600" y="2606040"/>
            <a:ext cx="0" cy="365760"/>
          </a:xfrm>
          <a:prstGeom prst="line">
            <a:avLst/>
          </a:prstGeom>
          <a:noFill/>
          <a:ln w="25400">
            <a:solidFill>
              <a:srgbClr val="2E7FB8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3657600" y="26700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WebSocket para monitoreo en tiempo real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71600" y="2971800"/>
            <a:ext cx="8961120" cy="1463040"/>
          </a:xfrm>
          <a:prstGeom prst="roundRect">
            <a:avLst>
              <a:gd name="adj" fmla="val 5000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1554480" y="3072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· Node.js + NestJS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572768" y="3401568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572768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tarifas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98848" y="3401568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4498848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y bodega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24928" y="3401568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7424928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y monitoreo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572768" y="3877056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1572768" y="3877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y personal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498848" y="3877056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4498848" y="3877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424928" y="3877056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7424928" y="3877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852160" y="4434840"/>
            <a:ext cx="0" cy="320040"/>
          </a:xfrm>
          <a:prstGeom prst="line">
            <a:avLst/>
          </a:prstGeom>
          <a:noFill/>
          <a:ln w="25400">
            <a:solidFill>
              <a:srgbClr val="16A39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8"/>
          <p:cNvSpPr/>
          <p:nvPr/>
        </p:nvSpPr>
        <p:spPr>
          <a:xfrm>
            <a:off x="1371600" y="47548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1371600" y="4864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371600" y="51389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único compartido por ambas aplicaciones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126480" y="47548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6126480" y="4864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126480" y="51389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sin costo de licencia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371600" y="57150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del dominio se definen una sola vez en un paquete compartido que consumen las tres capas: un cambio en el modelo rompe la compilación de inmediato, en vez de aparecer como error durante la demostración.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web · Monitoreo de la operación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despachador mientras los camiones están en la calle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08760"/>
            <a:ext cx="10881360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49224" y="1517904"/>
            <a:ext cx="10863072" cy="292608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86384" y="1609344"/>
            <a:ext cx="100584" cy="100584"/>
          </a:xfrm>
          <a:prstGeom prst="ellipse">
            <a:avLst/>
          </a:prstGeom>
          <a:solidFill>
            <a:srgbClr val="E06C5B"/>
          </a:solidFill>
          <a:ln w="12700">
            <a:solidFill>
              <a:srgbClr val="E06C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69264" y="1609344"/>
            <a:ext cx="100584" cy="10058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1152144" y="1609344"/>
            <a:ext cx="100584" cy="100584"/>
          </a:xfrm>
          <a:prstGeom prst="ellipse">
            <a:avLst/>
          </a:prstGeom>
          <a:solidFill>
            <a:srgbClr val="5BB98C"/>
          </a:solidFill>
          <a:ln w="12700">
            <a:solidFill>
              <a:srgbClr val="5BB9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1417320" y="1572768"/>
            <a:ext cx="987552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508760" y="157276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vialnex.cl/monitoreo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9224" y="1810512"/>
            <a:ext cx="1371600" cy="4489704"/>
          </a:xfrm>
          <a:prstGeom prst="rect">
            <a:avLst/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1" descr="/mnt/user-data/outputs/logo/vialnex-logo-blanco-transp-1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892808"/>
            <a:ext cx="914400" cy="2651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41248" y="2404872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987552" y="23317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41248" y="2706624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/>
          <p:nvPr/>
        </p:nvSpPr>
        <p:spPr>
          <a:xfrm>
            <a:off x="987552" y="26334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41248" y="3008376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5"/>
          <p:cNvSpPr/>
          <p:nvPr/>
        </p:nvSpPr>
        <p:spPr>
          <a:xfrm>
            <a:off x="987552" y="2935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41248" y="3310128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/>
          <p:nvPr/>
        </p:nvSpPr>
        <p:spPr>
          <a:xfrm>
            <a:off x="987552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22376" y="3511296"/>
            <a:ext cx="1225296" cy="274320"/>
          </a:xfrm>
          <a:prstGeom prst="roundRect">
            <a:avLst>
              <a:gd name="adj" fmla="val 16667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19"/>
          <p:cNvSpPr/>
          <p:nvPr/>
        </p:nvSpPr>
        <p:spPr>
          <a:xfrm>
            <a:off x="841248" y="3611880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987552" y="35387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41248" y="3913632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2"/>
          <p:cNvSpPr/>
          <p:nvPr/>
        </p:nvSpPr>
        <p:spPr>
          <a:xfrm>
            <a:off x="987552" y="38404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41248" y="4215384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4"/>
          <p:cNvSpPr/>
          <p:nvPr/>
        </p:nvSpPr>
        <p:spPr>
          <a:xfrm>
            <a:off x="987552" y="41422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945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en tiempo real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2194560" y="219456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7"/>
          <p:cNvSpPr/>
          <p:nvPr/>
        </p:nvSpPr>
        <p:spPr>
          <a:xfrm>
            <a:off x="2304288" y="226771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Camiones en ruta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304288" y="2432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4005072" y="219456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0"/>
          <p:cNvSpPr/>
          <p:nvPr/>
        </p:nvSpPr>
        <p:spPr>
          <a:xfrm>
            <a:off x="4114800" y="226771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Bultos entregados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114800" y="2432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5815584" y="219456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3"/>
          <p:cNvSpPr/>
          <p:nvPr/>
        </p:nvSpPr>
        <p:spPr>
          <a:xfrm>
            <a:off x="5925312" y="226771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fallidas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925312" y="2432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7626096" y="219456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6"/>
          <p:cNvSpPr/>
          <p:nvPr/>
        </p:nvSpPr>
        <p:spPr>
          <a:xfrm>
            <a:off x="7735824" y="226771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equilibrio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7735824" y="2432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6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9436608" y="2194560"/>
            <a:ext cx="1664208" cy="658368"/>
          </a:xfrm>
          <a:prstGeom prst="roundRect">
            <a:avLst>
              <a:gd name="adj" fmla="val 8333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39"/>
          <p:cNvSpPr/>
          <p:nvPr/>
        </p:nvSpPr>
        <p:spPr>
          <a:xfrm>
            <a:off x="9546336" y="226771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bodega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9546336" y="2432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5" name="Text 41"/>
          <p:cNvSpPr/>
          <p:nvPr/>
        </p:nvSpPr>
        <p:spPr>
          <a:xfrm>
            <a:off x="219456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Camiones en operación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2194560" y="3355848"/>
            <a:ext cx="5852160" cy="274320"/>
          </a:xfrm>
          <a:prstGeom prst="rect">
            <a:avLst/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3"/>
          <p:cNvSpPr/>
          <p:nvPr/>
        </p:nvSpPr>
        <p:spPr>
          <a:xfrm>
            <a:off x="2267712" y="3355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Camión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3273552" y="3355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279392" y="3355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5650992" y="3355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7022592" y="3355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2194560" y="3630168"/>
            <a:ext cx="5852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49"/>
          <p:cNvSpPr/>
          <p:nvPr/>
        </p:nvSpPr>
        <p:spPr>
          <a:xfrm>
            <a:off x="2267712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JKLM-45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3273552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RT-318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4279392" y="3630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Maipú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5650992" y="3630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de 24</a:t>
            </a:r>
            <a:endParaRPr lang="en-US" sz="800" dirty="0"/>
          </a:p>
        </p:txBody>
      </p:sp>
      <p:sp>
        <p:nvSpPr>
          <p:cNvPr id="57" name="Shape 53"/>
          <p:cNvSpPr/>
          <p:nvPr/>
        </p:nvSpPr>
        <p:spPr>
          <a:xfrm>
            <a:off x="7022592" y="3685032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DCEBF6"/>
          </a:solidFill>
          <a:ln w="12700">
            <a:solidFill>
              <a:srgbClr val="DCEB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Text 54"/>
          <p:cNvSpPr/>
          <p:nvPr/>
        </p:nvSpPr>
        <p:spPr>
          <a:xfrm>
            <a:off x="7022592" y="36850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5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ruta</a:t>
            </a:r>
            <a:endParaRPr lang="en-US" sz="700" dirty="0"/>
          </a:p>
        </p:txBody>
      </p:sp>
      <p:sp>
        <p:nvSpPr>
          <p:cNvPr id="59" name="Shape 55"/>
          <p:cNvSpPr/>
          <p:nvPr/>
        </p:nvSpPr>
        <p:spPr>
          <a:xfrm>
            <a:off x="2194560" y="3904488"/>
            <a:ext cx="5852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Text 56"/>
          <p:cNvSpPr/>
          <p:nvPr/>
        </p:nvSpPr>
        <p:spPr>
          <a:xfrm>
            <a:off x="2267712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BCDF-12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3273552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RT-319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4279392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Alto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5650992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 22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7022592" y="3959352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DCEBF6"/>
          </a:solidFill>
          <a:ln w="12700">
            <a:solidFill>
              <a:srgbClr val="DCEB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1"/>
          <p:cNvSpPr/>
          <p:nvPr/>
        </p:nvSpPr>
        <p:spPr>
          <a:xfrm>
            <a:off x="7022592" y="39593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5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ruta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2194560" y="4178808"/>
            <a:ext cx="5852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3"/>
          <p:cNvSpPr/>
          <p:nvPr/>
        </p:nvSpPr>
        <p:spPr>
          <a:xfrm>
            <a:off x="2267712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GHTR-88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3273552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RT-320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279392" y="4178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Florida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5650992" y="4178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 24</a:t>
            </a:r>
            <a:endParaRPr lang="en-US" sz="800" dirty="0"/>
          </a:p>
        </p:txBody>
      </p:sp>
      <p:sp>
        <p:nvSpPr>
          <p:cNvPr id="71" name="Shape 67"/>
          <p:cNvSpPr/>
          <p:nvPr/>
        </p:nvSpPr>
        <p:spPr>
          <a:xfrm>
            <a:off x="7022592" y="4233672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DFF3EC"/>
          </a:solidFill>
          <a:ln w="12700">
            <a:solidFill>
              <a:srgbClr val="DFF3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Text 68"/>
          <p:cNvSpPr/>
          <p:nvPr/>
        </p:nvSpPr>
        <p:spPr>
          <a:xfrm>
            <a:off x="7022592" y="423367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</a:t>
            </a:r>
            <a:endParaRPr lang="en-US" sz="700" dirty="0"/>
          </a:p>
        </p:txBody>
      </p:sp>
      <p:sp>
        <p:nvSpPr>
          <p:cNvPr id="73" name="Shape 69"/>
          <p:cNvSpPr/>
          <p:nvPr/>
        </p:nvSpPr>
        <p:spPr>
          <a:xfrm>
            <a:off x="2194560" y="4453128"/>
            <a:ext cx="5852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Text 70"/>
          <p:cNvSpPr/>
          <p:nvPr/>
        </p:nvSpPr>
        <p:spPr>
          <a:xfrm>
            <a:off x="2267712" y="4453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KLMN-33</a:t>
            </a:r>
            <a:endParaRPr lang="en-US" sz="800" dirty="0"/>
          </a:p>
        </p:txBody>
      </p:sp>
      <p:sp>
        <p:nvSpPr>
          <p:cNvPr id="75" name="Text 71"/>
          <p:cNvSpPr/>
          <p:nvPr/>
        </p:nvSpPr>
        <p:spPr>
          <a:xfrm>
            <a:off x="3273552" y="4453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RT-321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4279392" y="4453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Quilicura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650992" y="4453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19</a:t>
            </a:r>
            <a:endParaRPr lang="en-US" sz="800" dirty="0"/>
          </a:p>
        </p:txBody>
      </p:sp>
      <p:sp>
        <p:nvSpPr>
          <p:cNvPr id="78" name="Shape 74"/>
          <p:cNvSpPr/>
          <p:nvPr/>
        </p:nvSpPr>
        <p:spPr>
          <a:xfrm>
            <a:off x="7022592" y="4507992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DCEBF6"/>
          </a:solidFill>
          <a:ln w="12700">
            <a:solidFill>
              <a:srgbClr val="DCEB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9" name="Text 75"/>
          <p:cNvSpPr/>
          <p:nvPr/>
        </p:nvSpPr>
        <p:spPr>
          <a:xfrm>
            <a:off x="7022592" y="450799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5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ruta</a:t>
            </a:r>
            <a:endParaRPr lang="en-US" sz="700" dirty="0"/>
          </a:p>
        </p:txBody>
      </p:sp>
      <p:sp>
        <p:nvSpPr>
          <p:cNvPr id="80" name="Shape 76"/>
          <p:cNvSpPr/>
          <p:nvPr/>
        </p:nvSpPr>
        <p:spPr>
          <a:xfrm>
            <a:off x="2194560" y="4727448"/>
            <a:ext cx="5852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Text 77"/>
          <p:cNvSpPr/>
          <p:nvPr/>
        </p:nvSpPr>
        <p:spPr>
          <a:xfrm>
            <a:off x="2267712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PQRS-70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3273552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RT-322</a:t>
            </a:r>
            <a:endParaRPr lang="en-US" sz="800" dirty="0"/>
          </a:p>
        </p:txBody>
      </p:sp>
      <p:sp>
        <p:nvSpPr>
          <p:cNvPr id="83" name="Text 79"/>
          <p:cNvSpPr/>
          <p:nvPr/>
        </p:nvSpPr>
        <p:spPr>
          <a:xfrm>
            <a:off x="4279392" y="4727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Bernardo</a:t>
            </a:r>
            <a:endParaRPr lang="en-US" sz="800" dirty="0"/>
          </a:p>
        </p:txBody>
      </p:sp>
      <p:sp>
        <p:nvSpPr>
          <p:cNvPr id="84" name="Text 80"/>
          <p:cNvSpPr/>
          <p:nvPr/>
        </p:nvSpPr>
        <p:spPr>
          <a:xfrm>
            <a:off x="5650992" y="4727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Cargando</a:t>
            </a:r>
            <a:endParaRPr lang="en-US" sz="800" dirty="0"/>
          </a:p>
        </p:txBody>
      </p:sp>
      <p:sp>
        <p:nvSpPr>
          <p:cNvPr id="85" name="Shape 81"/>
          <p:cNvSpPr/>
          <p:nvPr/>
        </p:nvSpPr>
        <p:spPr>
          <a:xfrm>
            <a:off x="7022592" y="4782312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 w="12700">
            <a:solidFill>
              <a:srgbClr val="F0E7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6" name="Text 82"/>
          <p:cNvSpPr/>
          <p:nvPr/>
        </p:nvSpPr>
        <p:spPr>
          <a:xfrm>
            <a:off x="7022592" y="47823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3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bodega</a:t>
            </a:r>
            <a:endParaRPr lang="en-US" sz="700" dirty="0"/>
          </a:p>
        </p:txBody>
      </p:sp>
      <p:sp>
        <p:nvSpPr>
          <p:cNvPr id="87" name="Shape 83"/>
          <p:cNvSpPr/>
          <p:nvPr/>
        </p:nvSpPr>
        <p:spPr>
          <a:xfrm>
            <a:off x="2194560" y="5001768"/>
            <a:ext cx="5852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8" name="Text 84"/>
          <p:cNvSpPr/>
          <p:nvPr/>
        </p:nvSpPr>
        <p:spPr>
          <a:xfrm>
            <a:off x="2267712" y="5001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TUVW-21</a:t>
            </a:r>
            <a:endParaRPr lang="en-US" sz="800" dirty="0"/>
          </a:p>
        </p:txBody>
      </p:sp>
      <p:sp>
        <p:nvSpPr>
          <p:cNvPr id="89" name="Text 85"/>
          <p:cNvSpPr/>
          <p:nvPr/>
        </p:nvSpPr>
        <p:spPr>
          <a:xfrm>
            <a:off x="3273552" y="5001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RT-323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4279392" y="5001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Ñuñoa</a:t>
            </a:r>
            <a:endParaRPr lang="en-US" sz="800" dirty="0"/>
          </a:p>
        </p:txBody>
      </p:sp>
      <p:sp>
        <p:nvSpPr>
          <p:cNvPr id="91" name="Text 87"/>
          <p:cNvSpPr/>
          <p:nvPr/>
        </p:nvSpPr>
        <p:spPr>
          <a:xfrm>
            <a:off x="5650992" y="5001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20</a:t>
            </a:r>
            <a:endParaRPr lang="en-US" sz="800" dirty="0"/>
          </a:p>
        </p:txBody>
      </p:sp>
      <p:sp>
        <p:nvSpPr>
          <p:cNvPr id="92" name="Shape 88"/>
          <p:cNvSpPr/>
          <p:nvPr/>
        </p:nvSpPr>
        <p:spPr>
          <a:xfrm>
            <a:off x="7022592" y="5056632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DCEBF6"/>
          </a:solidFill>
          <a:ln w="12700">
            <a:solidFill>
              <a:srgbClr val="DCEB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Text 89"/>
          <p:cNvSpPr/>
          <p:nvPr/>
        </p:nvSpPr>
        <p:spPr>
          <a:xfrm>
            <a:off x="7022592" y="50566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5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ruta</a:t>
            </a:r>
            <a:endParaRPr lang="en-US" sz="700" dirty="0"/>
          </a:p>
        </p:txBody>
      </p:sp>
      <p:sp>
        <p:nvSpPr>
          <p:cNvPr id="94" name="Shape 90"/>
          <p:cNvSpPr/>
          <p:nvPr/>
        </p:nvSpPr>
        <p:spPr>
          <a:xfrm>
            <a:off x="2194560" y="5276088"/>
            <a:ext cx="5852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5" name="Text 91"/>
          <p:cNvSpPr/>
          <p:nvPr/>
        </p:nvSpPr>
        <p:spPr>
          <a:xfrm>
            <a:off x="2267712" y="5276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XYZA-09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3273552" y="5276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RT-324</a:t>
            </a:r>
            <a:endParaRPr lang="en-US" sz="800" dirty="0"/>
          </a:p>
        </p:txBody>
      </p:sp>
      <p:sp>
        <p:nvSpPr>
          <p:cNvPr id="97" name="Text 93"/>
          <p:cNvSpPr/>
          <p:nvPr/>
        </p:nvSpPr>
        <p:spPr>
          <a:xfrm>
            <a:off x="4279392" y="5276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</a:t>
            </a:r>
            <a:endParaRPr lang="en-US" sz="800" dirty="0"/>
          </a:p>
        </p:txBody>
      </p:sp>
      <p:sp>
        <p:nvSpPr>
          <p:cNvPr id="98" name="Text 94"/>
          <p:cNvSpPr/>
          <p:nvPr/>
        </p:nvSpPr>
        <p:spPr>
          <a:xfrm>
            <a:off x="5650992" y="5276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Cargando</a:t>
            </a:r>
            <a:endParaRPr lang="en-US" sz="800" dirty="0"/>
          </a:p>
        </p:txBody>
      </p:sp>
      <p:sp>
        <p:nvSpPr>
          <p:cNvPr id="99" name="Shape 95"/>
          <p:cNvSpPr/>
          <p:nvPr/>
        </p:nvSpPr>
        <p:spPr>
          <a:xfrm>
            <a:off x="7022592" y="5330952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F0E7F6"/>
          </a:solidFill>
          <a:ln w="12700">
            <a:solidFill>
              <a:srgbClr val="F0E7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0" name="Text 96"/>
          <p:cNvSpPr/>
          <p:nvPr/>
        </p:nvSpPr>
        <p:spPr>
          <a:xfrm>
            <a:off x="7022592" y="53309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3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bodega</a:t>
            </a:r>
            <a:endParaRPr lang="en-US" sz="700" dirty="0"/>
          </a:p>
        </p:txBody>
      </p:sp>
      <p:sp>
        <p:nvSpPr>
          <p:cNvPr id="101" name="Shape 97"/>
          <p:cNvSpPr/>
          <p:nvPr/>
        </p:nvSpPr>
        <p:spPr>
          <a:xfrm>
            <a:off x="8321040" y="3063240"/>
            <a:ext cx="2788920" cy="2834640"/>
          </a:xfrm>
          <a:prstGeom prst="roundRect">
            <a:avLst>
              <a:gd name="adj" fmla="val 1967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2" name="Text 98"/>
          <p:cNvSpPr/>
          <p:nvPr/>
        </p:nvSpPr>
        <p:spPr>
          <a:xfrm>
            <a:off x="8458200" y="31729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del día</a:t>
            </a:r>
            <a:endParaRPr lang="en-US" sz="1100" dirty="0"/>
          </a:p>
        </p:txBody>
      </p:sp>
      <p:sp>
        <p:nvSpPr>
          <p:cNvPr id="103" name="Shape 99"/>
          <p:cNvSpPr/>
          <p:nvPr/>
        </p:nvSpPr>
        <p:spPr>
          <a:xfrm>
            <a:off x="8458200" y="352044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4" name="Shape 100"/>
          <p:cNvSpPr/>
          <p:nvPr/>
        </p:nvSpPr>
        <p:spPr>
          <a:xfrm>
            <a:off x="8577072" y="3694176"/>
            <a:ext cx="118872" cy="118872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Text 101"/>
          <p:cNvSpPr/>
          <p:nvPr/>
        </p:nvSpPr>
        <p:spPr>
          <a:xfrm>
            <a:off x="8759952" y="3547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BCDF-12</a:t>
            </a:r>
            <a:endParaRPr lang="en-US" sz="850" dirty="0"/>
          </a:p>
        </p:txBody>
      </p:sp>
      <p:sp>
        <p:nvSpPr>
          <p:cNvPr id="106" name="Text 102"/>
          <p:cNvSpPr/>
          <p:nvPr/>
        </p:nvSpPr>
        <p:spPr>
          <a:xfrm>
            <a:off x="8759952" y="37398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punto de equilibrio</a:t>
            </a:r>
            <a:endParaRPr lang="en-US" sz="750" dirty="0"/>
          </a:p>
        </p:txBody>
      </p:sp>
      <p:sp>
        <p:nvSpPr>
          <p:cNvPr id="107" name="Shape 103"/>
          <p:cNvSpPr/>
          <p:nvPr/>
        </p:nvSpPr>
        <p:spPr>
          <a:xfrm>
            <a:off x="8458200" y="4087368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8" name="Shape 104"/>
          <p:cNvSpPr/>
          <p:nvPr/>
        </p:nvSpPr>
        <p:spPr>
          <a:xfrm>
            <a:off x="8577072" y="4261104"/>
            <a:ext cx="118872" cy="118872"/>
          </a:xfrm>
          <a:prstGeom prst="ellipse">
            <a:avLst/>
          </a:prstGeom>
          <a:solidFill>
            <a:srgbClr val="C87B2E"/>
          </a:solidFill>
          <a:ln w="12700">
            <a:solidFill>
              <a:srgbClr val="C87B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9" name="Text 105"/>
          <p:cNvSpPr/>
          <p:nvPr/>
        </p:nvSpPr>
        <p:spPr>
          <a:xfrm>
            <a:off x="8759952" y="4114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JKLM-45</a:t>
            </a:r>
            <a:endParaRPr lang="en-US" sz="850" dirty="0"/>
          </a:p>
        </p:txBody>
      </p:sp>
      <p:sp>
        <p:nvSpPr>
          <p:cNvPr id="110" name="Text 106"/>
          <p:cNvSpPr/>
          <p:nvPr/>
        </p:nvSpPr>
        <p:spPr>
          <a:xfrm>
            <a:off x="8759952" y="43068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entregas fallidas · cliente ausente</a:t>
            </a:r>
            <a:endParaRPr lang="en-US" sz="750" dirty="0"/>
          </a:p>
        </p:txBody>
      </p:sp>
      <p:sp>
        <p:nvSpPr>
          <p:cNvPr id="111" name="Shape 107"/>
          <p:cNvSpPr/>
          <p:nvPr/>
        </p:nvSpPr>
        <p:spPr>
          <a:xfrm>
            <a:off x="8458200" y="4654296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2" name="Shape 108"/>
          <p:cNvSpPr/>
          <p:nvPr/>
        </p:nvSpPr>
        <p:spPr>
          <a:xfrm>
            <a:off x="8577072" y="4828032"/>
            <a:ext cx="118872" cy="118872"/>
          </a:xfrm>
          <a:prstGeom prst="ellipse">
            <a:avLst/>
          </a:prstGeom>
          <a:solidFill>
            <a:srgbClr val="C87B2E"/>
          </a:solidFill>
          <a:ln w="12700">
            <a:solidFill>
              <a:srgbClr val="C87B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3" name="Text 109"/>
          <p:cNvSpPr/>
          <p:nvPr/>
        </p:nvSpPr>
        <p:spPr>
          <a:xfrm>
            <a:off x="8759952" y="4681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RT-322</a:t>
            </a:r>
            <a:endParaRPr lang="en-US" sz="850" dirty="0"/>
          </a:p>
        </p:txBody>
      </p:sp>
      <p:sp>
        <p:nvSpPr>
          <p:cNvPr id="114" name="Text 110"/>
          <p:cNvSpPr/>
          <p:nvPr/>
        </p:nvSpPr>
        <p:spPr>
          <a:xfrm>
            <a:off x="8759952" y="48737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9–11 en riesgo</a:t>
            </a:r>
            <a:endParaRPr lang="en-US" sz="750" dirty="0"/>
          </a:p>
        </p:txBody>
      </p:sp>
      <p:sp>
        <p:nvSpPr>
          <p:cNvPr id="115" name="Shape 111"/>
          <p:cNvSpPr/>
          <p:nvPr/>
        </p:nvSpPr>
        <p:spPr>
          <a:xfrm>
            <a:off x="8458200" y="5221224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6" name="Shape 112"/>
          <p:cNvSpPr/>
          <p:nvPr/>
        </p:nvSpPr>
        <p:spPr>
          <a:xfrm>
            <a:off x="8577072" y="5394960"/>
            <a:ext cx="118872" cy="118872"/>
          </a:xfrm>
          <a:prstGeom prst="ellipse">
            <a:avLst/>
          </a:prstGeom>
          <a:solidFill>
            <a:srgbClr val="C87B2E"/>
          </a:solidFill>
          <a:ln w="12700">
            <a:solidFill>
              <a:srgbClr val="C87B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7" name="Text 113"/>
          <p:cNvSpPr/>
          <p:nvPr/>
        </p:nvSpPr>
        <p:spPr>
          <a:xfrm>
            <a:off x="8759952" y="5248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GHTR-88</a:t>
            </a:r>
            <a:endParaRPr lang="en-US" sz="850" dirty="0"/>
          </a:p>
        </p:txBody>
      </p:sp>
      <p:sp>
        <p:nvSpPr>
          <p:cNvPr id="118" name="Text 114"/>
          <p:cNvSpPr/>
          <p:nvPr/>
        </p:nvSpPr>
        <p:spPr>
          <a:xfrm>
            <a:off x="8759952" y="5440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técnica vence en 6 días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web · Interfaz de venta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se calcula solo: el vendedor no elige el tramo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08760"/>
            <a:ext cx="7589520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49224" y="1517904"/>
            <a:ext cx="7571232" cy="292608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86384" y="1609344"/>
            <a:ext cx="100584" cy="100584"/>
          </a:xfrm>
          <a:prstGeom prst="ellipse">
            <a:avLst/>
          </a:prstGeom>
          <a:solidFill>
            <a:srgbClr val="E06C5B"/>
          </a:solidFill>
          <a:ln w="12700">
            <a:solidFill>
              <a:srgbClr val="E06C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69264" y="1609344"/>
            <a:ext cx="100584" cy="10058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1152144" y="1609344"/>
            <a:ext cx="100584" cy="100584"/>
          </a:xfrm>
          <a:prstGeom prst="ellipse">
            <a:avLst/>
          </a:prstGeom>
          <a:solidFill>
            <a:srgbClr val="5BB98C"/>
          </a:solidFill>
          <a:ln w="12700">
            <a:solidFill>
              <a:srgbClr val="5BB9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1417320" y="1572768"/>
            <a:ext cx="65836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508760" y="15727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vialnex.cl/ventas/nueva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9224" y="1810512"/>
            <a:ext cx="1371600" cy="4489704"/>
          </a:xfrm>
          <a:prstGeom prst="rect">
            <a:avLst/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1" descr="/mnt/user-data/outputs/logo/vialnex-logo-blanco-transp-1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892808"/>
            <a:ext cx="914400" cy="2651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41248" y="2404872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987552" y="23317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22376" y="2606040"/>
            <a:ext cx="1225296" cy="274320"/>
          </a:xfrm>
          <a:prstGeom prst="roundRect">
            <a:avLst>
              <a:gd name="adj" fmla="val 16667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841248" y="270662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987552" y="26334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41248" y="3008376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6"/>
          <p:cNvSpPr/>
          <p:nvPr/>
        </p:nvSpPr>
        <p:spPr>
          <a:xfrm>
            <a:off x="987552" y="2935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41248" y="3310128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8"/>
          <p:cNvSpPr/>
          <p:nvPr/>
        </p:nvSpPr>
        <p:spPr>
          <a:xfrm>
            <a:off x="987552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41248" y="3611880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987552" y="35387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41248" y="3913632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2"/>
          <p:cNvSpPr/>
          <p:nvPr/>
        </p:nvSpPr>
        <p:spPr>
          <a:xfrm>
            <a:off x="987552" y="38404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41248" y="4215384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4"/>
          <p:cNvSpPr/>
          <p:nvPr/>
        </p:nvSpPr>
        <p:spPr>
          <a:xfrm>
            <a:off x="987552" y="41422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9456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venta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2194560" y="21214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Comercial Andes · Destino: Maipú (RM urbana)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194560" y="2450592"/>
            <a:ext cx="5577840" cy="274320"/>
          </a:xfrm>
          <a:prstGeom prst="rect">
            <a:avLst/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8"/>
          <p:cNvSpPr/>
          <p:nvPr/>
        </p:nvSpPr>
        <p:spPr>
          <a:xfrm>
            <a:off x="2267712" y="2450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005072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5376672" y="2450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199632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6931152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194560" y="2724912"/>
            <a:ext cx="5577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4"/>
          <p:cNvSpPr/>
          <p:nvPr/>
        </p:nvSpPr>
        <p:spPr>
          <a:xfrm>
            <a:off x="2267712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65"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4005072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× 90 × 18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5376672" y="2724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kg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199632" y="2724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6931152" y="2724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$11.990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2194560" y="2999232"/>
            <a:ext cx="5577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0"/>
          <p:cNvSpPr/>
          <p:nvPr/>
        </p:nvSpPr>
        <p:spPr>
          <a:xfrm>
            <a:off x="2267712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Refrigerador side by side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4005072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× 92 × 74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5376672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kg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6199632" y="2999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6931152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$19.990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2194560" y="3273552"/>
            <a:ext cx="5577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6"/>
          <p:cNvSpPr/>
          <p:nvPr/>
        </p:nvSpPr>
        <p:spPr>
          <a:xfrm>
            <a:off x="2267712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Microondas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4005072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× 38 × 30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5376672" y="3273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kg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6199632" y="3273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6931152" y="3273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$3.990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4846320" y="3794760"/>
            <a:ext cx="2926080" cy="347472"/>
          </a:xfrm>
          <a:prstGeom prst="rect">
            <a:avLst/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2"/>
          <p:cNvSpPr/>
          <p:nvPr/>
        </p:nvSpPr>
        <p:spPr>
          <a:xfrm>
            <a:off x="493776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bultos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667512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$35.970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4846320" y="4178808"/>
            <a:ext cx="2926080" cy="347472"/>
          </a:xfrm>
          <a:prstGeom prst="rect">
            <a:avLst/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5"/>
          <p:cNvSpPr/>
          <p:nvPr/>
        </p:nvSpPr>
        <p:spPr>
          <a:xfrm>
            <a:off x="4937760" y="4178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4 sin ascensor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6675120" y="41788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$12.000</a:t>
            </a:r>
            <a:endParaRPr lang="en-US" sz="950" dirty="0"/>
          </a:p>
        </p:txBody>
      </p:sp>
      <p:sp>
        <p:nvSpPr>
          <p:cNvPr id="61" name="Shape 57"/>
          <p:cNvSpPr/>
          <p:nvPr/>
        </p:nvSpPr>
        <p:spPr>
          <a:xfrm>
            <a:off x="4846320" y="4562856"/>
            <a:ext cx="2926080" cy="347472"/>
          </a:xfrm>
          <a:prstGeom prst="rect">
            <a:avLst/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2" name="Text 58"/>
          <p:cNvSpPr/>
          <p:nvPr/>
        </p:nvSpPr>
        <p:spPr>
          <a:xfrm>
            <a:off x="4937760" y="4562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9–11 h</a:t>
            </a:r>
            <a:endParaRPr lang="en-US" sz="950" dirty="0"/>
          </a:p>
        </p:txBody>
      </p:sp>
      <p:sp>
        <p:nvSpPr>
          <p:cNvPr id="63" name="Text 59"/>
          <p:cNvSpPr/>
          <p:nvPr/>
        </p:nvSpPr>
        <p:spPr>
          <a:xfrm>
            <a:off x="6675120" y="45628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$8.000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4846320" y="4946904"/>
            <a:ext cx="2926080" cy="347472"/>
          </a:xfrm>
          <a:prstGeom prst="rect">
            <a:avLst/>
          </a:prstGeom>
          <a:solidFill>
            <a:srgbClr val="0F2E42"/>
          </a:solidFill>
          <a:ln w="9525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1"/>
          <p:cNvSpPr/>
          <p:nvPr/>
        </p:nvSpPr>
        <p:spPr>
          <a:xfrm>
            <a:off x="4937760" y="4946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 despacho</a:t>
            </a:r>
            <a:endParaRPr lang="en-US" sz="950" dirty="0"/>
          </a:p>
        </p:txBody>
      </p:sp>
      <p:sp>
        <p:nvSpPr>
          <p:cNvPr id="66" name="Text 62"/>
          <p:cNvSpPr/>
          <p:nvPr/>
        </p:nvSpPr>
        <p:spPr>
          <a:xfrm>
            <a:off x="6675120" y="4946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$55.970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2194560" y="379476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Text 64"/>
          <p:cNvSpPr/>
          <p:nvPr/>
        </p:nvSpPr>
        <p:spPr>
          <a:xfrm>
            <a:off x="2331720" y="3904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de despacho</a:t>
            </a:r>
            <a:endParaRPr lang="en-US" sz="1050" dirty="0"/>
          </a:p>
        </p:txBody>
      </p:sp>
      <p:sp>
        <p:nvSpPr>
          <p:cNvPr id="69" name="Shape 65"/>
          <p:cNvSpPr/>
          <p:nvPr/>
        </p:nvSpPr>
        <p:spPr>
          <a:xfrm>
            <a:off x="2331720" y="4206240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Text 66"/>
          <p:cNvSpPr/>
          <p:nvPr/>
        </p:nvSpPr>
        <p:spPr>
          <a:xfrm>
            <a:off x="2450592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10 · AM</a:t>
            </a:r>
            <a:endParaRPr lang="en-US" sz="850" dirty="0"/>
          </a:p>
        </p:txBody>
      </p:sp>
      <p:sp>
        <p:nvSpPr>
          <p:cNvPr id="71" name="Text 67"/>
          <p:cNvSpPr/>
          <p:nvPr/>
        </p:nvSpPr>
        <p:spPr>
          <a:xfrm>
            <a:off x="3749040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cupos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2331720" y="4535424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Text 69"/>
          <p:cNvSpPr/>
          <p:nvPr/>
        </p:nvSpPr>
        <p:spPr>
          <a:xfrm>
            <a:off x="2450592" y="4535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10 · PM</a:t>
            </a:r>
            <a:endParaRPr lang="en-US" sz="850" dirty="0"/>
          </a:p>
        </p:txBody>
      </p:sp>
      <p:sp>
        <p:nvSpPr>
          <p:cNvPr id="74" name="Text 70"/>
          <p:cNvSpPr/>
          <p:nvPr/>
        </p:nvSpPr>
        <p:spPr>
          <a:xfrm>
            <a:off x="3749040" y="45354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cupo</a:t>
            </a:r>
            <a:endParaRPr lang="en-US" sz="800" dirty="0"/>
          </a:p>
        </p:txBody>
      </p:sp>
      <p:sp>
        <p:nvSpPr>
          <p:cNvPr id="75" name="Shape 71"/>
          <p:cNvSpPr/>
          <p:nvPr/>
        </p:nvSpPr>
        <p:spPr>
          <a:xfrm>
            <a:off x="2331720" y="4864608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6" name="Text 72"/>
          <p:cNvSpPr/>
          <p:nvPr/>
        </p:nvSpPr>
        <p:spPr>
          <a:xfrm>
            <a:off x="2450592" y="4864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11 · AM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3749040" y="48646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cupos</a:t>
            </a:r>
            <a:endParaRPr lang="en-US" sz="800" dirty="0"/>
          </a:p>
        </p:txBody>
      </p:sp>
      <p:sp>
        <p:nvSpPr>
          <p:cNvPr id="78" name="Shape 74"/>
          <p:cNvSpPr/>
          <p:nvPr/>
        </p:nvSpPr>
        <p:spPr>
          <a:xfrm>
            <a:off x="8549640" y="1508760"/>
            <a:ext cx="2971800" cy="4800600"/>
          </a:xfrm>
          <a:prstGeom prst="roundRect">
            <a:avLst>
              <a:gd name="adj" fmla="val 2462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9" name="Text 75"/>
          <p:cNvSpPr/>
          <p:nvPr/>
        </p:nvSpPr>
        <p:spPr>
          <a:xfrm>
            <a:off x="877824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</a:t>
            </a:r>
            <a:endParaRPr lang="en-US" sz="1400" dirty="0"/>
          </a:p>
        </p:txBody>
      </p:sp>
      <p:sp>
        <p:nvSpPr>
          <p:cNvPr id="80" name="Shape 76"/>
          <p:cNvSpPr/>
          <p:nvPr/>
        </p:nvSpPr>
        <p:spPr>
          <a:xfrm>
            <a:off x="8778240" y="2231136"/>
            <a:ext cx="146304" cy="14630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Text 77"/>
          <p:cNvSpPr/>
          <p:nvPr/>
        </p:nvSpPr>
        <p:spPr>
          <a:xfrm>
            <a:off x="9025128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automático</a:t>
            </a:r>
            <a:endParaRPr lang="en-US" sz="1150" dirty="0"/>
          </a:p>
        </p:txBody>
      </p:sp>
      <p:sp>
        <p:nvSpPr>
          <p:cNvPr id="82" name="Text 78"/>
          <p:cNvSpPr/>
          <p:nvPr/>
        </p:nvSpPr>
        <p:spPr>
          <a:xfrm>
            <a:off x="8778240" y="26700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dimensiones del producto determinan el tramo, y el tramo más la zona determinan el precio. Sin criterio del vendedor.</a:t>
            </a:r>
            <a:endParaRPr lang="en-US" sz="1000" dirty="0"/>
          </a:p>
        </p:txBody>
      </p:sp>
      <p:sp>
        <p:nvSpPr>
          <p:cNvPr id="83" name="Shape 79"/>
          <p:cNvSpPr/>
          <p:nvPr/>
        </p:nvSpPr>
        <p:spPr>
          <a:xfrm>
            <a:off x="8778240" y="3557016"/>
            <a:ext cx="146304" cy="146304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4" name="Text 80"/>
          <p:cNvSpPr/>
          <p:nvPr/>
        </p:nvSpPr>
        <p:spPr>
          <a:xfrm>
            <a:off x="9025128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validado antes de prometer</a:t>
            </a:r>
            <a:endParaRPr lang="en-US" sz="1150" dirty="0"/>
          </a:p>
        </p:txBody>
      </p:sp>
      <p:sp>
        <p:nvSpPr>
          <p:cNvPr id="85" name="Text 81"/>
          <p:cNvSpPr/>
          <p:nvPr/>
        </p:nvSpPr>
        <p:spPr>
          <a:xfrm>
            <a:off x="8778240" y="3995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zona sur ya no tiene cupos para el jueves, la opción no se ofrece. Se evita comprometer lo que el camión no puede cumplir.</a:t>
            </a:r>
            <a:endParaRPr lang="en-US" sz="1000" dirty="0"/>
          </a:p>
        </p:txBody>
      </p:sp>
      <p:sp>
        <p:nvSpPr>
          <p:cNvPr id="86" name="Shape 82"/>
          <p:cNvSpPr/>
          <p:nvPr/>
        </p:nvSpPr>
        <p:spPr>
          <a:xfrm>
            <a:off x="8778240" y="4882896"/>
            <a:ext cx="146304" cy="14630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Text 83"/>
          <p:cNvSpPr/>
          <p:nvPr/>
        </p:nvSpPr>
        <p:spPr>
          <a:xfrm>
            <a:off x="9025128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del cobro</a:t>
            </a:r>
            <a:endParaRPr lang="en-US" sz="1150" dirty="0"/>
          </a:p>
        </p:txBody>
      </p:sp>
      <p:sp>
        <p:nvSpPr>
          <p:cNvPr id="88" name="Text 84"/>
          <p:cNvSpPr/>
          <p:nvPr/>
        </p:nvSpPr>
        <p:spPr>
          <a:xfrm>
            <a:off x="8778240" y="53218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 guarda la tarifa aplicada, no solo el total. Es lo que después alimenta el reporte de cobranza.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móviles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vistas de terreno: el bodeguero arma la carga y el conductor entrega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" y="1508760"/>
            <a:ext cx="2286000" cy="4572000"/>
          </a:xfrm>
          <a:prstGeom prst="roundRect">
            <a:avLst>
              <a:gd name="adj" fmla="val 4800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1088136" y="1618488"/>
            <a:ext cx="2121408" cy="4352544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1783080" y="1645920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1088136" y="1810512"/>
            <a:ext cx="2121408" cy="384048"/>
          </a:xfrm>
          <a:prstGeom prst="rect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11887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Bodeguero · OT-4821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07008" y="231343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 · 3 de 5 cargadas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207008" y="2606040"/>
            <a:ext cx="1883664" cy="365760"/>
          </a:xfrm>
          <a:prstGeom prst="roundRect">
            <a:avLst>
              <a:gd name="adj" fmla="val 12500"/>
            </a:avLst>
          </a:prstGeom>
          <a:solidFill>
            <a:srgbClr val="DFF3EC"/>
          </a:solidFill>
          <a:ln w="9525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1298448" y="2724912"/>
            <a:ext cx="137160" cy="137160"/>
          </a:xfrm>
          <a:prstGeom prst="ellipse">
            <a:avLst/>
          </a:prstGeom>
          <a:solidFill>
            <a:srgbClr val="16A394"/>
          </a:solidFill>
          <a:ln w="9525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1517904" y="26060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65" Samsung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207008" y="3026664"/>
            <a:ext cx="1883664" cy="365760"/>
          </a:xfrm>
          <a:prstGeom prst="roundRect">
            <a:avLst>
              <a:gd name="adj" fmla="val 12500"/>
            </a:avLst>
          </a:prstGeom>
          <a:solidFill>
            <a:srgbClr val="DFF3EC"/>
          </a:solidFill>
          <a:ln w="9525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1298448" y="3145536"/>
            <a:ext cx="137160" cy="137160"/>
          </a:xfrm>
          <a:prstGeom prst="ellipse">
            <a:avLst/>
          </a:prstGeom>
          <a:solidFill>
            <a:srgbClr val="16A394"/>
          </a:solidFill>
          <a:ln w="9525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1517904" y="3026664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Refrigerador LG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207008" y="3447288"/>
            <a:ext cx="1883664" cy="365760"/>
          </a:xfrm>
          <a:prstGeom prst="roundRect">
            <a:avLst>
              <a:gd name="adj" fmla="val 12500"/>
            </a:avLst>
          </a:prstGeom>
          <a:solidFill>
            <a:srgbClr val="DFF3EC"/>
          </a:solidFill>
          <a:ln w="9525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1298448" y="3566160"/>
            <a:ext cx="137160" cy="137160"/>
          </a:xfrm>
          <a:prstGeom prst="ellipse">
            <a:avLst/>
          </a:prstGeom>
          <a:solidFill>
            <a:srgbClr val="16A394"/>
          </a:solidFill>
          <a:ln w="9525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517904" y="344728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Microondas Midea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207008" y="3867912"/>
            <a:ext cx="1883664" cy="365760"/>
          </a:xfrm>
          <a:prstGeom prst="roundRect">
            <a:avLst>
              <a:gd name="adj" fmla="val 1250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1298448" y="3986784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A6B7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1517904" y="386791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Lavadora Mademsa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207008" y="4288536"/>
            <a:ext cx="1883664" cy="365760"/>
          </a:xfrm>
          <a:prstGeom prst="roundRect">
            <a:avLst>
              <a:gd name="adj" fmla="val 1250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1298448" y="4407408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A6B7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1517904" y="4288536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Colchón 2 plazas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207008" y="4828032"/>
            <a:ext cx="1883664" cy="411480"/>
          </a:xfrm>
          <a:prstGeom prst="roundRect">
            <a:avLst>
              <a:gd name="adj" fmla="val 15556"/>
            </a:avLst>
          </a:prstGeom>
          <a:solidFill>
            <a:srgbClr val="E3E9ED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1207008" y="482803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carga completa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" y="6172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habilita solo con las 5 posiciones marcadas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114800" y="1508760"/>
            <a:ext cx="2286000" cy="4572000"/>
          </a:xfrm>
          <a:prstGeom prst="roundRect">
            <a:avLst>
              <a:gd name="adj" fmla="val 4800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7"/>
          <p:cNvSpPr/>
          <p:nvPr/>
        </p:nvSpPr>
        <p:spPr>
          <a:xfrm>
            <a:off x="4197096" y="1618488"/>
            <a:ext cx="2121408" cy="4352544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8"/>
          <p:cNvSpPr/>
          <p:nvPr/>
        </p:nvSpPr>
        <p:spPr>
          <a:xfrm>
            <a:off x="4892040" y="1645920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29"/>
          <p:cNvSpPr/>
          <p:nvPr/>
        </p:nvSpPr>
        <p:spPr>
          <a:xfrm>
            <a:off x="4197096" y="1810512"/>
            <a:ext cx="2121408" cy="384048"/>
          </a:xfrm>
          <a:prstGeom prst="rect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429768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· 12 de 24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315968" y="231343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Pajaritos 3244, Maipú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315968" y="251460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09:00 – 11:00 · piso 4 sin ascensor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315968" y="2816352"/>
            <a:ext cx="1883664" cy="731520"/>
          </a:xfrm>
          <a:prstGeom prst="roundRect">
            <a:avLst>
              <a:gd name="adj" fmla="val 6250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/>
          <p:nvPr/>
        </p:nvSpPr>
        <p:spPr>
          <a:xfrm>
            <a:off x="4425696" y="288036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bultos · TV 65" + microondas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GD-88412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315968" y="3685032"/>
            <a:ext cx="1883664" cy="457200"/>
          </a:xfrm>
          <a:prstGeom prst="roundRect">
            <a:avLst>
              <a:gd name="adj" fmla="val 14000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4315968" y="36850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entrega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315968" y="4233672"/>
            <a:ext cx="188366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4315968" y="423367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entrega fallida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114800" y="6172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hito, foto y firma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7223760" y="1508760"/>
            <a:ext cx="4297680" cy="4572000"/>
          </a:xfrm>
          <a:prstGeom prst="roundRect">
            <a:avLst>
              <a:gd name="adj" fmla="val 1702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1"/>
          <p:cNvSpPr/>
          <p:nvPr/>
        </p:nvSpPr>
        <p:spPr>
          <a:xfrm>
            <a:off x="7498080" y="1737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interfaces mínimas, dos reglas duras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498080" y="2514600"/>
            <a:ext cx="164592" cy="164592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/>
          <p:nvPr/>
        </p:nvSpPr>
        <p:spPr>
          <a:xfrm>
            <a:off x="777240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de confirmar carga está bloqueado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7772400" y="276148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las cinco posiciones estén marcadas. La regla de carga completa se hace cumplir en la interfaz, no solo en el servidor.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7498080" y="3721608"/>
            <a:ext cx="164592" cy="164592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6"/>
          <p:cNvSpPr/>
          <p:nvPr/>
        </p:nvSpPr>
        <p:spPr>
          <a:xfrm>
            <a:off x="7772400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elige el motivo, no la culpa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7772400" y="39684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reportar una entrega fallida aparece una lista cerrada de motivos. El sistema deriva la responsabilidad y decide si se cobra.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498080" y="4928616"/>
            <a:ext cx="164592" cy="16459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49"/>
          <p:cNvSpPr/>
          <p:nvPr/>
        </p:nvSpPr>
        <p:spPr>
          <a:xfrm>
            <a:off x="7772400" y="4882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con evidencia y hora</a:t>
            </a:r>
            <a:endParaRPr lang="en-US" sz="1250" dirty="0"/>
          </a:p>
        </p:txBody>
      </p:sp>
      <p:sp>
        <p:nvSpPr>
          <p:cNvPr id="53" name="Text 50"/>
          <p:cNvSpPr/>
          <p:nvPr/>
        </p:nvSpPr>
        <p:spPr>
          <a:xfrm>
            <a:off x="7772400" y="517550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firma y marca de tiempo. Es lo que respalda un reclamo y lo que alimenta los indicadores del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innovación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rentabilidad: saber al cierre del día si el camión ganó o perdió plata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08760"/>
            <a:ext cx="6949440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49224" y="1517904"/>
            <a:ext cx="6931152" cy="292608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86384" y="1609344"/>
            <a:ext cx="100584" cy="100584"/>
          </a:xfrm>
          <a:prstGeom prst="ellipse">
            <a:avLst/>
          </a:prstGeom>
          <a:solidFill>
            <a:srgbClr val="E06C5B"/>
          </a:solidFill>
          <a:ln w="12700">
            <a:solidFill>
              <a:srgbClr val="E06C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69264" y="1609344"/>
            <a:ext cx="100584" cy="10058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1152144" y="1609344"/>
            <a:ext cx="100584" cy="100584"/>
          </a:xfrm>
          <a:prstGeom prst="ellipse">
            <a:avLst/>
          </a:prstGeom>
          <a:solidFill>
            <a:srgbClr val="5BB98C"/>
          </a:solidFill>
          <a:ln w="12700">
            <a:solidFill>
              <a:srgbClr val="5BB9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1417320" y="1572768"/>
            <a:ext cx="594360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508760" y="157276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vialnex.cl/dashboard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9224" y="1810512"/>
            <a:ext cx="1371600" cy="4489704"/>
          </a:xfrm>
          <a:prstGeom prst="rect">
            <a:avLst/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1" descr="/mnt/user-data/outputs/logo/vialnex-logo-blanco-transp-1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892808"/>
            <a:ext cx="914400" cy="2651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41248" y="2404872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987552" y="23317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41248" y="2706624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/>
          <p:nvPr/>
        </p:nvSpPr>
        <p:spPr>
          <a:xfrm>
            <a:off x="987552" y="26334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41248" y="3008376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5"/>
          <p:cNvSpPr/>
          <p:nvPr/>
        </p:nvSpPr>
        <p:spPr>
          <a:xfrm>
            <a:off x="987552" y="2935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41248" y="3310128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/>
          <p:nvPr/>
        </p:nvSpPr>
        <p:spPr>
          <a:xfrm>
            <a:off x="987552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41248" y="3611880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19"/>
          <p:cNvSpPr/>
          <p:nvPr/>
        </p:nvSpPr>
        <p:spPr>
          <a:xfrm>
            <a:off x="987552" y="35387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41248" y="3913632"/>
            <a:ext cx="73152" cy="73152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1"/>
          <p:cNvSpPr/>
          <p:nvPr/>
        </p:nvSpPr>
        <p:spPr>
          <a:xfrm>
            <a:off x="987552" y="38404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22376" y="4114800"/>
            <a:ext cx="1225296" cy="274320"/>
          </a:xfrm>
          <a:prstGeom prst="roundRect">
            <a:avLst>
              <a:gd name="adj" fmla="val 16667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3"/>
          <p:cNvSpPr/>
          <p:nvPr/>
        </p:nvSpPr>
        <p:spPr>
          <a:xfrm>
            <a:off x="841248" y="421538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4"/>
          <p:cNvSpPr/>
          <p:nvPr/>
        </p:nvSpPr>
        <p:spPr>
          <a:xfrm>
            <a:off x="987552" y="41422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9456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por camión · hoy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2194560" y="214884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7"/>
          <p:cNvSpPr/>
          <p:nvPr/>
        </p:nvSpPr>
        <p:spPr>
          <a:xfrm>
            <a:off x="2304288" y="222199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Bultos del día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304288" y="238658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3867912" y="214884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0"/>
          <p:cNvSpPr/>
          <p:nvPr/>
        </p:nvSpPr>
        <p:spPr>
          <a:xfrm>
            <a:off x="3977640" y="222199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977640" y="238658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25/camión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5541264" y="214884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2F6F9"/>
          </a:solidFill>
          <a:ln w="9525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3"/>
          <p:cNvSpPr/>
          <p:nvPr/>
        </p:nvSpPr>
        <p:spPr>
          <a:xfrm>
            <a:off x="5650992" y="222199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Camiones sobre meta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650992" y="238658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6</a:t>
            </a:r>
            <a:endParaRPr lang="en-US" sz="18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148840" y="2971800"/>
          <a:ext cx="51206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Text 35"/>
          <p:cNvSpPr/>
          <p:nvPr/>
        </p:nvSpPr>
        <p:spPr>
          <a:xfrm>
            <a:off x="219456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Bultos entregados por camión · línea de equilibrio en 25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19456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de cobranza vive aquí: qué servicios entregados aún no se han cobrado, incluidos los falsos fletes por entregas fallidas imputables al cliente.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790956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evaluadas</a:t>
            </a:r>
            <a:endParaRPr lang="en-US" sz="1500" dirty="0"/>
          </a:p>
        </p:txBody>
      </p:sp>
      <p:sp>
        <p:nvSpPr>
          <p:cNvPr id="43" name="Shape 38"/>
          <p:cNvSpPr/>
          <p:nvPr/>
        </p:nvSpPr>
        <p:spPr>
          <a:xfrm>
            <a:off x="7909560" y="2011680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22225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39"/>
          <p:cNvSpPr/>
          <p:nvPr/>
        </p:nvSpPr>
        <p:spPr>
          <a:xfrm>
            <a:off x="8119872" y="2139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rentabilidad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0378440" y="2148840"/>
            <a:ext cx="960120" cy="228600"/>
          </a:xfrm>
          <a:prstGeom prst="roundRect">
            <a:avLst>
              <a:gd name="adj" fmla="val 48000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1"/>
          <p:cNvSpPr/>
          <p:nvPr/>
        </p:nvSpPr>
        <p:spPr>
          <a:xfrm>
            <a:off x="10378440" y="21488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8119872" y="245059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bultos entregados contra el punto de equilibrio por camión y jornada. Usa datos que los módulos previos ya generan.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7909560" y="3474720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4"/>
          <p:cNvSpPr/>
          <p:nvPr/>
        </p:nvSpPr>
        <p:spPr>
          <a:xfrm>
            <a:off x="8119872" y="3602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 automático de rutas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10378440" y="3611880"/>
            <a:ext cx="960120" cy="228600"/>
          </a:xfrm>
          <a:prstGeom prst="roundRect">
            <a:avLst>
              <a:gd name="adj" fmla="val 48000"/>
            </a:avLst>
          </a:prstGeom>
          <a:solidFill>
            <a:srgbClr val="E3E9ED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6"/>
          <p:cNvSpPr/>
          <p:nvPr/>
        </p:nvSpPr>
        <p:spPr>
          <a:xfrm>
            <a:off x="10378440" y="36118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8119872" y="39136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valor, pero requiere resolver un problema de optimización que excede el semestre disponible.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7909560" y="4937760"/>
            <a:ext cx="3611880" cy="1298448"/>
          </a:xfrm>
          <a:prstGeom prst="roundRect">
            <a:avLst>
              <a:gd name="adj" fmla="val 5634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49"/>
          <p:cNvSpPr/>
          <p:nvPr/>
        </p:nvSpPr>
        <p:spPr>
          <a:xfrm>
            <a:off x="8119872" y="5065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con OCR de guías</a:t>
            </a:r>
            <a:endParaRPr lang="en-US" sz="1200" dirty="0"/>
          </a:p>
        </p:txBody>
      </p:sp>
      <p:sp>
        <p:nvSpPr>
          <p:cNvPr id="55" name="Shape 50"/>
          <p:cNvSpPr/>
          <p:nvPr/>
        </p:nvSpPr>
        <p:spPr>
          <a:xfrm>
            <a:off x="10378440" y="5074920"/>
            <a:ext cx="960120" cy="228600"/>
          </a:xfrm>
          <a:prstGeom prst="roundRect">
            <a:avLst>
              <a:gd name="adj" fmla="val 48000"/>
            </a:avLst>
          </a:prstGeom>
          <a:solidFill>
            <a:srgbClr val="E3E9ED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1"/>
          <p:cNvSpPr/>
          <p:nvPr/>
        </p:nvSpPr>
        <p:spPr>
          <a:xfrm>
            <a:off x="10378440" y="5074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</a:t>
            </a:r>
            <a:endParaRPr lang="en-US" sz="750" dirty="0"/>
          </a:p>
        </p:txBody>
      </p:sp>
      <p:sp>
        <p:nvSpPr>
          <p:cNvPr id="57" name="Text 52"/>
          <p:cNvSpPr/>
          <p:nvPr/>
        </p:nvSpPr>
        <p:spPr>
          <a:xfrm>
            <a:off x="8119872" y="53766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Innecesaria: las guías nacen digitales con la orden de transporte, no hay papel que digitalizar.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del perfil de egreso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moviliza cuatro competencias de especialidad; el mínimo exigido es tres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868680" y="1901952"/>
            <a:ext cx="365760" cy="365760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6868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17465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de software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0391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responsiva, aplicación móvil y un servicio que las integra, todos sobre un contrato de interfaz común.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69748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868680" y="2999232"/>
            <a:ext cx="365760" cy="365760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86868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8437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17320" y="31363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que vincula venta, orden, posiciones, guías, vehículo, ruta, entrega, costo y tarifa.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79476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868680" y="4096512"/>
            <a:ext cx="365760" cy="365760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86868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17320" y="39410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 informáticos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2336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módulos sobre dos plataformas, tres integrantes, un semestre: alcance priorizado y contrato de interfaz temprano.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489204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868680" y="5193792"/>
            <a:ext cx="365760" cy="365760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17320" y="50383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certificación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417320" y="53309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funcionales, de integración entre web y móvil, y de aceptación, con mejoras derivadas de sus resultados.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549640" y="1600200"/>
            <a:ext cx="2971800" cy="4434840"/>
          </a:xfrm>
          <a:prstGeom prst="roundRect">
            <a:avLst>
              <a:gd name="adj" fmla="val 2462"/>
            </a:avLst>
          </a:prstGeom>
          <a:solidFill>
            <a:srgbClr val="0F2E42"/>
          </a:solidFill>
          <a:ln w="12700">
            <a:solidFill>
              <a:srgbClr val="0F2E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877824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0" dirty="0"/>
          </a:p>
        </p:txBody>
      </p:sp>
      <p:sp>
        <p:nvSpPr>
          <p:cNvPr id="27" name="Text 24"/>
          <p:cNvSpPr/>
          <p:nvPr/>
        </p:nvSpPr>
        <p:spPr>
          <a:xfrm>
            <a:off x="877824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 especialidad movilizadas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778240" y="342900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del Proyecto APT exigen integrar al menos tres competencias del perfil de egreso.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vialNex las cubre todas porque recorre el ciclo completo de una solución informática sobre dos plataformas: levantamiento, modelamiento, construcción, pruebas e implantación.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equipo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con sprints de dos semanas y una división por capa tecnológica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777240" y="1737360"/>
            <a:ext cx="329184" cy="32918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77724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4140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historias de usuario y reglas de negocio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70048" y="2286000"/>
            <a:ext cx="182880" cy="0"/>
          </a:xfrm>
          <a:prstGeom prst="line">
            <a:avLst/>
          </a:prstGeom>
          <a:noFill/>
          <a:ln w="2540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2871216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3008376" y="1737360"/>
            <a:ext cx="329184" cy="32918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3008376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008376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008376" y="24140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contrato de interfaz y prototipos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01184" y="2286000"/>
            <a:ext cx="182880" cy="0"/>
          </a:xfrm>
          <a:prstGeom prst="line">
            <a:avLst/>
          </a:prstGeom>
          <a:noFill/>
          <a:ln w="2540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5102352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5239512" y="1737360"/>
            <a:ext cx="329184" cy="32918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5239512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39512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239512" y="24140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por incrementos, partiendo por el núcleo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132320" y="2286000"/>
            <a:ext cx="182880" cy="0"/>
          </a:xfrm>
          <a:prstGeom prst="line">
            <a:avLst/>
          </a:prstGeom>
          <a:noFill/>
          <a:ln w="2540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7333488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7470648" y="1737360"/>
            <a:ext cx="329184" cy="329184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7470648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70648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470648" y="24140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pruebas, hallazgos y mejoras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363456" y="2286000"/>
            <a:ext cx="182880" cy="0"/>
          </a:xfrm>
          <a:prstGeom prst="line">
            <a:avLst/>
          </a:prstGeom>
          <a:noFill/>
          <a:ln w="25400">
            <a:solidFill>
              <a:srgbClr val="D8E2E9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9564624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7"/>
          <p:cNvSpPr/>
          <p:nvPr/>
        </p:nvSpPr>
        <p:spPr>
          <a:xfrm>
            <a:off x="9701784" y="1737360"/>
            <a:ext cx="329184" cy="329184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9701784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701784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701784" y="24140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manuales y cierre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por integrante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640080" y="36576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Shape 33"/>
          <p:cNvSpPr/>
          <p:nvPr/>
        </p:nvSpPr>
        <p:spPr>
          <a:xfrm>
            <a:off x="896112" y="3886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/>
          <p:nvPr/>
        </p:nvSpPr>
        <p:spPr>
          <a:xfrm>
            <a:off x="896112" y="3886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96112" y="4279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y datos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96112" y="48280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servicio y contrato de interfaz, autenticación y roles, motor de cálculo de tarifas y reglas de negocio. Jefatura de proyecto.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343400" y="36576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1" name="Shape 38"/>
          <p:cNvSpPr/>
          <p:nvPr/>
        </p:nvSpPr>
        <p:spPr>
          <a:xfrm>
            <a:off x="4599432" y="3886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/>
          <p:nvPr/>
        </p:nvSpPr>
        <p:spPr>
          <a:xfrm>
            <a:off x="4599432" y="3886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599432" y="4279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599432" y="48280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venta, orden de transporte, ruta, monitoreo, flota, personal, costos y dashboard con el reporte de cobranza.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046720" y="36576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6" name="Shape 43"/>
          <p:cNvSpPr/>
          <p:nvPr/>
        </p:nvSpPr>
        <p:spPr>
          <a:xfrm>
            <a:off x="8302752" y="3886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4"/>
          <p:cNvSpPr/>
          <p:nvPr/>
        </p:nvSpPr>
        <p:spPr>
          <a:xfrm>
            <a:off x="8302752" y="3886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302752" y="4279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y calidad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8302752" y="48280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 bodeguero y del conductor, prototipos de interfaz, plan de pruebas sobre ambas aplicaciones y manual de usuario.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de interfaz se define en la semana 4: la web y la app avanzan contra respuestas simuladas sin quedar bloqueadas esperando al servicio.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Dieciocho actividades distribuidas en las dieciocho semanas del semestre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46120" y="14630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2461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S1 – S4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74920" y="146304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0749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S5 – S16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561320" y="14630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05613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1929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461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7033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1605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6177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0749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5321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9893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4465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9037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3609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8181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2753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87325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91897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96469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01041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05613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1018520" y="1929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40080" y="2176272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685800" y="2176272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82696" y="2203704"/>
            <a:ext cx="1298448" cy="141732"/>
          </a:xfrm>
          <a:prstGeom prst="roundRect">
            <a:avLst>
              <a:gd name="adj" fmla="val 32258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685800" y="2409444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planificación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82696" y="2436876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2"/>
          <p:cNvSpPr/>
          <p:nvPr/>
        </p:nvSpPr>
        <p:spPr>
          <a:xfrm>
            <a:off x="640080" y="2642616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685800" y="2642616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97096" y="2670048"/>
            <a:ext cx="12984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/>
          <p:nvPr/>
        </p:nvSpPr>
        <p:spPr>
          <a:xfrm>
            <a:off x="685800" y="2875788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interfaz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654296" y="2903220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7"/>
          <p:cNvSpPr/>
          <p:nvPr/>
        </p:nvSpPr>
        <p:spPr>
          <a:xfrm>
            <a:off x="640080" y="3108960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685800" y="31089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web y móvil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54296" y="3136392"/>
            <a:ext cx="12984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685800" y="3342132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111496" y="3369564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2"/>
          <p:cNvSpPr/>
          <p:nvPr/>
        </p:nvSpPr>
        <p:spPr>
          <a:xfrm>
            <a:off x="640080" y="3575304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/>
          <p:nvPr/>
        </p:nvSpPr>
        <p:spPr>
          <a:xfrm>
            <a:off x="685800" y="3575304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Acceso, roles y personal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568696" y="3602736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5"/>
          <p:cNvSpPr/>
          <p:nvPr/>
        </p:nvSpPr>
        <p:spPr>
          <a:xfrm>
            <a:off x="685800" y="3808476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y cálculo de tarifas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025896" y="3835908"/>
            <a:ext cx="12984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Shape 47"/>
          <p:cNvSpPr/>
          <p:nvPr/>
        </p:nvSpPr>
        <p:spPr>
          <a:xfrm>
            <a:off x="640080" y="4041648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8"/>
          <p:cNvSpPr/>
          <p:nvPr/>
        </p:nvSpPr>
        <p:spPr>
          <a:xfrm>
            <a:off x="685800" y="4041648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transporte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940296" y="4069080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0"/>
          <p:cNvSpPr/>
          <p:nvPr/>
        </p:nvSpPr>
        <p:spPr>
          <a:xfrm>
            <a:off x="685800" y="427482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bodega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7397496" y="4302252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Shape 52"/>
          <p:cNvSpPr/>
          <p:nvPr/>
        </p:nvSpPr>
        <p:spPr>
          <a:xfrm>
            <a:off x="640080" y="4507992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3"/>
          <p:cNvSpPr/>
          <p:nvPr/>
        </p:nvSpPr>
        <p:spPr>
          <a:xfrm>
            <a:off x="685800" y="4507992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y app del conductor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7854696" y="4535424"/>
            <a:ext cx="12984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Text 55"/>
          <p:cNvSpPr/>
          <p:nvPr/>
        </p:nvSpPr>
        <p:spPr>
          <a:xfrm>
            <a:off x="685800" y="4741164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Flota, mantención y costos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8311896" y="4768596"/>
            <a:ext cx="12984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Shape 57"/>
          <p:cNvSpPr/>
          <p:nvPr/>
        </p:nvSpPr>
        <p:spPr>
          <a:xfrm>
            <a:off x="640080" y="4974336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8"/>
          <p:cNvSpPr/>
          <p:nvPr/>
        </p:nvSpPr>
        <p:spPr>
          <a:xfrm>
            <a:off x="685800" y="4974336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cierre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8769096" y="5001768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0"/>
          <p:cNvSpPr/>
          <p:nvPr/>
        </p:nvSpPr>
        <p:spPr>
          <a:xfrm>
            <a:off x="685800" y="5207508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indicadores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9226296" y="5234940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Shape 62"/>
          <p:cNvSpPr/>
          <p:nvPr/>
        </p:nvSpPr>
        <p:spPr>
          <a:xfrm>
            <a:off x="640080" y="5440680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Text 63"/>
          <p:cNvSpPr/>
          <p:nvPr/>
        </p:nvSpPr>
        <p:spPr>
          <a:xfrm>
            <a:off x="685800" y="544068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9226296" y="5468112"/>
            <a:ext cx="12984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Text 65"/>
          <p:cNvSpPr/>
          <p:nvPr/>
        </p:nvSpPr>
        <p:spPr>
          <a:xfrm>
            <a:off x="685800" y="5673852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y correcciones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9683496" y="5701284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Shape 67"/>
          <p:cNvSpPr/>
          <p:nvPr/>
        </p:nvSpPr>
        <p:spPr>
          <a:xfrm>
            <a:off x="640080" y="5907024"/>
            <a:ext cx="10607040" cy="205740"/>
          </a:xfrm>
          <a:prstGeom prst="rect">
            <a:avLst/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Text 68"/>
          <p:cNvSpPr/>
          <p:nvPr/>
        </p:nvSpPr>
        <p:spPr>
          <a:xfrm>
            <a:off x="685800" y="5907024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 y despliegue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0140696" y="5934456"/>
            <a:ext cx="384048" cy="141732"/>
          </a:xfrm>
          <a:prstGeom prst="roundRect">
            <a:avLst>
              <a:gd name="adj" fmla="val 32258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Text 70"/>
          <p:cNvSpPr/>
          <p:nvPr/>
        </p:nvSpPr>
        <p:spPr>
          <a:xfrm>
            <a:off x="685800" y="6140196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y defensa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10597896" y="6167628"/>
            <a:ext cx="841248" cy="141732"/>
          </a:xfrm>
          <a:prstGeom prst="roundRect">
            <a:avLst>
              <a:gd name="adj" fmla="val 32258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comprometidas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que documentan el desarrollo del proyecto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72768"/>
            <a:ext cx="5303520" cy="384048"/>
          </a:xfrm>
          <a:prstGeom prst="roundRect">
            <a:avLst>
              <a:gd name="adj" fmla="val 14286"/>
            </a:avLst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572768"/>
            <a:ext cx="5303520" cy="384048"/>
          </a:xfrm>
          <a:prstGeom prst="roundRect">
            <a:avLst>
              <a:gd name="adj" fmla="val 14286"/>
            </a:avLst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217920" y="15727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868680" y="2368296"/>
            <a:ext cx="146304" cy="14630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15568" y="22128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reglas de negocio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15568" y="24597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historias de usuario y reglas de cálculo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868680" y="3054096"/>
            <a:ext cx="146304" cy="14630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1115568" y="28986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diccionario de datos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15568" y="31455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de la integración entre módulos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35204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868680" y="3739896"/>
            <a:ext cx="146304" cy="14630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115568" y="35844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interfaz documentado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1556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las tres capas avancen en paralelo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0080" y="42062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9"/>
          <p:cNvSpPr/>
          <p:nvPr/>
        </p:nvSpPr>
        <p:spPr>
          <a:xfrm>
            <a:off x="868680" y="4425696"/>
            <a:ext cx="146304" cy="14630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1115568" y="42702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web y móvil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15568" y="45171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temprana antes de construir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48920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3"/>
          <p:cNvSpPr/>
          <p:nvPr/>
        </p:nvSpPr>
        <p:spPr>
          <a:xfrm>
            <a:off x="868680" y="5111496"/>
            <a:ext cx="146304" cy="14630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1115568" y="49560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el núcleo funcional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15568" y="52029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Venta, orden, bodega, ruta y monitoreo operativos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0080" y="55778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7"/>
          <p:cNvSpPr/>
          <p:nvPr/>
        </p:nvSpPr>
        <p:spPr>
          <a:xfrm>
            <a:off x="868680" y="5797296"/>
            <a:ext cx="146304" cy="146304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1115568" y="56418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y bitácora de avance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115568" y="58887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planificación y control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217920" y="21488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1"/>
          <p:cNvSpPr/>
          <p:nvPr/>
        </p:nvSpPr>
        <p:spPr>
          <a:xfrm>
            <a:off x="6446520" y="2368296"/>
            <a:ext cx="146304" cy="146304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6693408" y="22128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desplegada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693408" y="24597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integrados en ambiente de prueba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217920" y="28346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5"/>
          <p:cNvSpPr/>
          <p:nvPr/>
        </p:nvSpPr>
        <p:spPr>
          <a:xfrm>
            <a:off x="6446520" y="3054096"/>
            <a:ext cx="146304" cy="146304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6693408" y="28986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operativa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693408" y="31455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de bodega y conductor sobre el mismo servicio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217920" y="35204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39"/>
          <p:cNvSpPr/>
          <p:nvPr/>
        </p:nvSpPr>
        <p:spPr>
          <a:xfrm>
            <a:off x="6446520" y="3739896"/>
            <a:ext cx="146304" cy="146304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6693408" y="35844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resultados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66934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Casos, hallazgos y mejoras aplicadas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217920" y="42062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Shape 43"/>
          <p:cNvSpPr/>
          <p:nvPr/>
        </p:nvSpPr>
        <p:spPr>
          <a:xfrm>
            <a:off x="6446520" y="4425696"/>
            <a:ext cx="146304" cy="146304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4"/>
          <p:cNvSpPr/>
          <p:nvPr/>
        </p:nvSpPr>
        <p:spPr>
          <a:xfrm>
            <a:off x="6693408" y="42702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y técnico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6693408" y="45171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queda mantenible y transferible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6217920" y="4892040"/>
            <a:ext cx="53035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Shape 47"/>
          <p:cNvSpPr/>
          <p:nvPr/>
        </p:nvSpPr>
        <p:spPr>
          <a:xfrm>
            <a:off x="6446520" y="5111496"/>
            <a:ext cx="146304" cy="146304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8"/>
          <p:cNvSpPr/>
          <p:nvPr/>
        </p:nvSpPr>
        <p:spPr>
          <a:xfrm>
            <a:off x="6693408" y="49560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y presentación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6693408" y="52029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contrastados con los objetivos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proyecto es realizable en el marco de la asignatura</a:t>
            </a:r>
            <a:endParaRPr lang="en-US" sz="1500" dirty="0"/>
          </a:p>
        </p:txBody>
      </p:sp>
      <p:pic>
        <p:nvPicPr>
          <p:cNvPr id="4" name="Image 0" descr="/mnt/user-data/outputs/logo/vialnex-isotipo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17220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896112" y="1837944"/>
            <a:ext cx="201168" cy="201168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188720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lenguaje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203704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 las tres capas: ningún integrante debe aprender dos lenguajes distintos durante el semestre.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4599432" y="1837944"/>
            <a:ext cx="201168" cy="201168"/>
          </a:xfrm>
          <a:prstGeom prst="ellipse">
            <a:avLst/>
          </a:prstGeom>
          <a:solidFill>
            <a:srgbClr val="2E7FB8"/>
          </a:solidFill>
          <a:ln w="12700">
            <a:solidFill>
              <a:srgbClr val="2E7F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892040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inversión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99432" y="2203704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propios, un teléfono Android de prueba, herramientas y base de datos de uso libre, mapas sin licencia y despliegue en capa gratuita.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0" y="160020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  <a:effectLst>
            <a:outerShdw blurRad="152400" dist="25400" dir="5400000" algn="bl" rotWithShape="0">
              <a:srgbClr val="0F2E42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8302752" y="1837944"/>
            <a:ext cx="201168" cy="201168"/>
          </a:xfrm>
          <a:prstGeom prst="ellipse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8595360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priorizado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02752" y="2203704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obligatorio completo dentro de la Fase 2; flota, personal, costos y dashboard como alcance incremental.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3584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 y cómo se abordan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40080" y="4023360"/>
            <a:ext cx="10881360" cy="493776"/>
          </a:xfrm>
          <a:prstGeom prst="roundRect">
            <a:avLst>
              <a:gd name="adj" fmla="val 1296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868680" y="4197096"/>
            <a:ext cx="146304" cy="146304"/>
          </a:xfrm>
          <a:prstGeom prst="ellipse">
            <a:avLst/>
          </a:prstGeom>
          <a:solidFill>
            <a:srgbClr val="C87B2E"/>
          </a:solidFill>
          <a:ln w="12700">
            <a:solidFill>
              <a:srgbClr val="C87B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1115568" y="40233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móvil es nuevo para el equipo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49240" y="4270248"/>
            <a:ext cx="228600" cy="0"/>
          </a:xfrm>
          <a:prstGeom prst="line">
            <a:avLst/>
          </a:prstGeom>
          <a:noFill/>
          <a:ln w="22225">
            <a:solidFill>
              <a:srgbClr val="16A39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5715000" y="4023360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con Expo evita configurar entornos nativos, y esa capa se asigna a un integrante desde la semana 4.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4590288"/>
            <a:ext cx="10881360" cy="493776"/>
          </a:xfrm>
          <a:prstGeom prst="roundRect">
            <a:avLst>
              <a:gd name="adj" fmla="val 1296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868680" y="4764024"/>
            <a:ext cx="146304" cy="146304"/>
          </a:xfrm>
          <a:prstGeom prst="ellipse">
            <a:avLst/>
          </a:prstGeom>
          <a:solidFill>
            <a:srgbClr val="C87B2E"/>
          </a:solidFill>
          <a:ln w="12700">
            <a:solidFill>
              <a:srgbClr val="C87B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1115568" y="459028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integrantes pueden bloquearse esperando el servicio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349240" y="4837176"/>
            <a:ext cx="228600" cy="0"/>
          </a:xfrm>
          <a:prstGeom prst="line">
            <a:avLst/>
          </a:prstGeom>
          <a:noFill/>
          <a:ln w="22225">
            <a:solidFill>
              <a:srgbClr val="16A39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5715000" y="4590288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de interfaz se publica en la semana 4 y la web y la app trabajan contra respuestas simuladas.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0080" y="5157216"/>
            <a:ext cx="10881360" cy="493776"/>
          </a:xfrm>
          <a:prstGeom prst="roundRect">
            <a:avLst>
              <a:gd name="adj" fmla="val 1296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868680" y="5330952"/>
            <a:ext cx="146304" cy="146304"/>
          </a:xfrm>
          <a:prstGeom prst="ellipse">
            <a:avLst/>
          </a:prstGeom>
          <a:solidFill>
            <a:srgbClr val="C87B2E"/>
          </a:solidFill>
          <a:ln w="12700">
            <a:solidFill>
              <a:srgbClr val="C87B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1115568" y="515721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 del alcance frente al tiempo disponible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349240" y="5404104"/>
            <a:ext cx="228600" cy="0"/>
          </a:xfrm>
          <a:prstGeom prst="line">
            <a:avLst/>
          </a:prstGeom>
          <a:noFill/>
          <a:ln w="22225">
            <a:solidFill>
              <a:srgbClr val="16A39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5715000" y="5157216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declarada entre núcleo e incremental: una reducción de alcance no compromete el resultado evaluable.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40080" y="5724144"/>
            <a:ext cx="10881360" cy="493776"/>
          </a:xfrm>
          <a:prstGeom prst="roundRect">
            <a:avLst>
              <a:gd name="adj" fmla="val 12963"/>
            </a:avLst>
          </a:prstGeom>
          <a:solidFill>
            <a:srgbClr val="F2F6F9"/>
          </a:solidFill>
          <a:ln w="12700">
            <a:solidFill>
              <a:srgbClr val="D8E2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1"/>
          <p:cNvSpPr/>
          <p:nvPr/>
        </p:nvSpPr>
        <p:spPr>
          <a:xfrm>
            <a:off x="868680" y="5897880"/>
            <a:ext cx="146304" cy="146304"/>
          </a:xfrm>
          <a:prstGeom prst="ellipse">
            <a:avLst/>
          </a:prstGeom>
          <a:solidFill>
            <a:srgbClr val="C87B2E"/>
          </a:solidFill>
          <a:ln w="12700">
            <a:solidFill>
              <a:srgbClr val="C87B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1115568" y="572414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limitado a una empresa real para validar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349240" y="5971032"/>
            <a:ext cx="228600" cy="0"/>
          </a:xfrm>
          <a:prstGeom prst="line">
            <a:avLst/>
          </a:prstGeom>
          <a:noFill/>
          <a:ln w="22225">
            <a:solidFill>
              <a:srgbClr val="16A394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/>
          <p:nvPr/>
        </p:nvSpPr>
        <p:spPr>
          <a:xfrm>
            <a:off x="5715000" y="5724144"/>
            <a:ext cx="5623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con procesos estándar del rubro y validación de los supuestos con el docente.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logo/vialnex-logo-blanco-transp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5661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venta, la bodega, la ruta y el cobro: la misma información, un solo lugar.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868680" y="3840480"/>
            <a:ext cx="1280160" cy="27432"/>
          </a:xfrm>
          <a:prstGeom prst="rect">
            <a:avLst/>
          </a:prstGeom>
          <a:solidFill>
            <a:srgbClr val="16A394"/>
          </a:solidFill>
          <a:ln w="12700">
            <a:solidFill>
              <a:srgbClr val="16A39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86868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4956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campo laboral de la carrera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3484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competencias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34840" y="4956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especialidad movilizadas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100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móvil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01000" y="4956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y terreno, un solo modelo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Preguntas</a:t>
            </a:r>
            <a:endParaRPr lang="en-US" sz="1500" dirty="0"/>
          </a:p>
        </p:txBody>
      </p:sp>
      <p:pic>
        <p:nvPicPr>
          <p:cNvPr id="12" name="Image 1" descr="/mnt/user-data/outputs/logo/vialnex-isotipo-512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9692640" y="219456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2994</Words>
  <Application>Microsoft Office PowerPoint</Application>
  <PresentationFormat>Panorámica</PresentationFormat>
  <Paragraphs>561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Morales Elgueta, Javier Alexander</cp:lastModifiedBy>
  <cp:revision>3</cp:revision>
  <dcterms:created xsi:type="dcterms:W3CDTF">2026-09-09T00:00:49Z</dcterms:created>
  <dcterms:modified xsi:type="dcterms:W3CDTF">2026-09-10T23:35:57Z</dcterms:modified>
</cp:coreProperties>
</file>