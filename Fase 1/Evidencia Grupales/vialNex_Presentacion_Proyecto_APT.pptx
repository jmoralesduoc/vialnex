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Costo por kilómetro</c:v>
                </c:pt>
              </c:strCache>
            </c:strRef>
          </c:tx>
          <c:spPr>
            <a:solidFill>
              <a:srgbClr val="2E7FB8"/>
            </a:solidFill>
            <a:effectLst/>
          </c:spPr>
          <c:invertIfNegative val="0"/>
          <c:dLbls>
            <c:numFmt formatCode="#,##0" sourceLinked="0"/>
            <c:spPr>
              <a:noFill/>
              <a:ln>
                <a:noFill/>
              </a:ln>
              <a:effectLst/>
            </c:spPr>
            <c:txPr>
              <a:bodyPr/>
              <a:lstStyle/>
              <a:p>
                <a:pPr>
                  <a:defRPr sz="800" b="0" i="0" u="none" strike="noStrike">
                    <a:solidFill>
                      <a:srgbClr val="5A6B78"/>
                    </a:solidFill>
                    <a:latin typeface="Calibri"/>
                  </a:defRPr>
                </a:pPr>
                <a:endParaRPr lang="es-C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Mar</c:v>
                </c:pt>
                <c:pt idx="1">
                  <c:v>Abr</c:v>
                </c:pt>
                <c:pt idx="2">
                  <c:v>May</c:v>
                </c:pt>
                <c:pt idx="3">
                  <c:v>Jun</c:v>
                </c:pt>
                <c:pt idx="4">
                  <c:v>Jul</c:v>
                </c:pt>
                <c:pt idx="5">
                  <c:v>Ago</c:v>
                </c:pt>
              </c:strCache>
            </c:strRef>
          </c:cat>
          <c:val>
            <c:numRef>
              <c:f>Sheet1!$B$2:$B$7</c:f>
              <c:numCache>
                <c:formatCode>General</c:formatCode>
                <c:ptCount val="6"/>
                <c:pt idx="0">
                  <c:v>812</c:v>
                </c:pt>
                <c:pt idx="1">
                  <c:v>795</c:v>
                </c:pt>
                <c:pt idx="2">
                  <c:v>806</c:v>
                </c:pt>
                <c:pt idx="3">
                  <c:v>771</c:v>
                </c:pt>
                <c:pt idx="4">
                  <c:v>758</c:v>
                </c:pt>
                <c:pt idx="5">
                  <c:v>742</c:v>
                </c:pt>
              </c:numCache>
            </c:numRef>
          </c:val>
          <c:extLst>
            <c:ext xmlns:c16="http://schemas.microsoft.com/office/drawing/2014/chart" uri="{C3380CC4-5D6E-409C-BE32-E72D297353CC}">
              <c16:uniqueId val="{00000000-760D-42A3-913B-75E1B6AD9F0E}"/>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A6B78"/>
                </a:solidFill>
                <a:latin typeface="Calibri"/>
              </a:defRPr>
            </a:pPr>
            <a:endParaRPr lang="en-US"/>
          </a:p>
        </c:txPr>
        <c:crossAx val="2094734552"/>
        <c:crosses val="autoZero"/>
        <c:auto val="1"/>
        <c:lblAlgn val="ctr"/>
        <c:lblOffset val="100"/>
        <c:noMultiLvlLbl val="1"/>
      </c:catAx>
      <c:valAx>
        <c:axId val="2094734552"/>
        <c:scaling>
          <c:orientation val="minMax"/>
          <c:max val="850"/>
          <c:min val="700"/>
        </c:scaling>
        <c:delete val="0"/>
        <c:axPos val="l"/>
        <c:majorGridlines>
          <c:spPr>
            <a:ln w="9525" cap="flat">
              <a:solidFill>
                <a:srgbClr val="D8E2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A6B78"/>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0365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la definición del Proyecto APT. Somos [equipo] y presentamos vialNex, una plataforma para la gestión integral de operaciones logísticas en empresas de transporte de carga.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Recorrido de la presentación: partimos por el problema, seguimos con la propuesta y la solución, mostramos los mockups y cerramos con la parte académica del proyecto.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síntomas que comparten un mismo origen: la información de la operación está fragmentada en herramientas que no conversan entre sí.</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problemática es real y verificable, y su resolución constituye un aporte concreto al tipo de organización descrita.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vialNex no reemplaza un ERP corporativo: apunta al espacio donde hoy opera la mayoría de las empresas de transporte medianas.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priorización entre núcleo obligatorio y alcance incremental es la que hace factible el proyecto en un semestre.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arquitectura es deliberadamente simple: lo distintivo no es la tecnología, sino que todos los módulos comparten un mismo modelo de datos.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 entidad-relación simplificado. El diccionario de datos completo es una de las evidencias de avance comprometidas.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panel responde de un vistazo las preguntas que hoy exigen revisar planillas y correos.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módulo de pedidos es el punto de entrada de la operación y el primero del núcleo obligatorio.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seguimiento por hitos reemplaza las llamadas telefónicas para saber dónde va el camión.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módulo pertenece al alcance incremental, posterior al núcleo funcional.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 módulo del núcleo obligatorio, junto con pedidos y rutas.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decisión está tomada y justificada: el tablero es el que mejor equilibra valor y factibilidad dentro del semestre.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punto que más pondera en la evaluación de la Fase 1: los indicadores de calidad disciplinarios valen el 50%.</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Sprints de dos semanas con planificación, coordinación y revisión del incremento al cierre.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plan de trabajo de la guía detalla para cada actividad la competencia asociada, los recursos, la duración, el responsable y las observaciones.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Nueve evidencias: cinco de avance y cuatro finales, todas trazables a las competencias declaradas.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rúbrica premia explícitamente que se planteen las dificultades y la forma de abordarlas.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el proyecto resuelve un problema real, moviliza cuatro competencias del perfil de egreso y tiene un alcance priorizado que lo hace factible en el semestre.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chart" Target="../charts/chart1.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E42"/>
        </a:solidFill>
        <a:effectLst/>
      </p:bgPr>
    </p:bg>
    <p:spTree>
      <p:nvGrpSpPr>
        <p:cNvPr id="1" name=""/>
        <p:cNvGrpSpPr/>
        <p:nvPr/>
      </p:nvGrpSpPr>
      <p:grpSpPr>
        <a:xfrm>
          <a:off x="0" y="0"/>
          <a:ext cx="0" cy="0"/>
          <a:chOff x="0" y="0"/>
          <a:chExt cx="0" cy="0"/>
        </a:xfrm>
      </p:grpSpPr>
      <p:pic>
        <p:nvPicPr>
          <p:cNvPr id="2" name="Image 0" descr="/mnt/user-data/outputs/logo/vialnex-logo-blanco-transp-1024.png"/>
          <p:cNvPicPr>
            <a:picLocks noChangeAspect="1"/>
          </p:cNvPicPr>
          <p:nvPr/>
        </p:nvPicPr>
        <p:blipFill>
          <a:blip r:embed="rId3"/>
          <a:stretch>
            <a:fillRect/>
          </a:stretch>
        </p:blipFill>
        <p:spPr>
          <a:xfrm>
            <a:off x="914400" y="1417320"/>
            <a:ext cx="4206240" cy="1234440"/>
          </a:xfrm>
          <a:prstGeom prst="rect">
            <a:avLst/>
          </a:prstGeom>
        </p:spPr>
      </p:pic>
      <p:sp>
        <p:nvSpPr>
          <p:cNvPr id="3" name="Text 0"/>
          <p:cNvSpPr/>
          <p:nvPr/>
        </p:nvSpPr>
        <p:spPr>
          <a:xfrm>
            <a:off x="960120" y="2880360"/>
            <a:ext cx="7680960" cy="822960"/>
          </a:xfrm>
          <a:prstGeom prst="rect">
            <a:avLst/>
          </a:prstGeom>
          <a:noFill/>
          <a:ln/>
        </p:spPr>
        <p:txBody>
          <a:bodyPr wrap="square" lIns="0" tIns="0" rIns="0" bIns="0" rtlCol="0" anchor="ctr"/>
          <a:lstStyle/>
          <a:p>
            <a:pPr marL="0" indent="0">
              <a:lnSpc>
                <a:spcPct val="120000"/>
              </a:lnSpc>
              <a:buNone/>
            </a:pPr>
            <a:r>
              <a:rPr lang="en-US" sz="2000" dirty="0">
                <a:solidFill>
                  <a:srgbClr val="FFFFFF"/>
                </a:solidFill>
                <a:latin typeface="Calibri" pitchFamily="34" charset="0"/>
                <a:ea typeface="Calibri" pitchFamily="34" charset="-122"/>
                <a:cs typeface="Calibri" pitchFamily="34" charset="-120"/>
              </a:rPr>
              <a:t>Plataforma integral para la gestión de operaciones logísticas y transporte de carga</a:t>
            </a:r>
            <a:endParaRPr lang="en-US" sz="2000" dirty="0"/>
          </a:p>
        </p:txBody>
      </p:sp>
      <p:sp>
        <p:nvSpPr>
          <p:cNvPr id="4" name="Shape 1"/>
          <p:cNvSpPr/>
          <p:nvPr/>
        </p:nvSpPr>
        <p:spPr>
          <a:xfrm>
            <a:off x="960120" y="3886200"/>
            <a:ext cx="1280160" cy="27432"/>
          </a:xfrm>
          <a:prstGeom prst="rect">
            <a:avLst/>
          </a:prstGeom>
          <a:solidFill>
            <a:srgbClr val="16A394"/>
          </a:solidFill>
          <a:ln w="12700">
            <a:solidFill>
              <a:srgbClr val="16A394"/>
            </a:solidFill>
            <a:prstDash val="solid"/>
          </a:ln>
        </p:spPr>
        <p:txBody>
          <a:bodyPr/>
          <a:lstStyle/>
          <a:p>
            <a:endParaRPr lang="es-CL"/>
          </a:p>
        </p:txBody>
      </p:sp>
      <p:sp>
        <p:nvSpPr>
          <p:cNvPr id="5" name="Text 2"/>
          <p:cNvSpPr/>
          <p:nvPr/>
        </p:nvSpPr>
        <p:spPr>
          <a:xfrm>
            <a:off x="960120" y="4206240"/>
            <a:ext cx="7772400" cy="1097280"/>
          </a:xfrm>
          <a:prstGeom prst="rect">
            <a:avLst/>
          </a:prstGeom>
          <a:noFill/>
          <a:ln/>
        </p:spPr>
        <p:txBody>
          <a:bodyPr wrap="square" lIns="0" tIns="0" rIns="0" bIns="0" rtlCol="0" anchor="ctr"/>
          <a:lstStyle/>
          <a:p>
            <a:pPr marL="0" indent="0">
              <a:lnSpc>
                <a:spcPct val="135000"/>
              </a:lnSpc>
              <a:buNone/>
            </a:pPr>
            <a:r>
              <a:rPr lang="en-US" sz="1300" b="1" dirty="0">
                <a:solidFill>
                  <a:srgbClr val="BBCEDA"/>
                </a:solidFill>
                <a:latin typeface="Calibri" pitchFamily="34" charset="0"/>
                <a:ea typeface="Calibri" pitchFamily="34" charset="-122"/>
                <a:cs typeface="Calibri" pitchFamily="34" charset="-120"/>
              </a:rPr>
              <a:t>Proyecto APT · Fase 1: Definición de proyecto</a:t>
            </a:r>
            <a:endParaRPr lang="en-US" sz="1300" dirty="0"/>
          </a:p>
          <a:p>
            <a:pPr marL="0" indent="0">
              <a:lnSpc>
                <a:spcPct val="135000"/>
              </a:lnSpc>
              <a:buNone/>
            </a:pPr>
            <a:r>
              <a:rPr lang="en-US" sz="1300" dirty="0">
                <a:solidFill>
                  <a:srgbClr val="BBCEDA"/>
                </a:solidFill>
                <a:latin typeface="Calibri" pitchFamily="34" charset="0"/>
                <a:ea typeface="Calibri" pitchFamily="34" charset="-122"/>
                <a:cs typeface="Calibri" pitchFamily="34" charset="-120"/>
              </a:rPr>
              <a:t>Asignatura Capstone · Ingeniería en Informática · Duoc UC</a:t>
            </a:r>
            <a:endParaRPr lang="en-US" sz="1300" dirty="0"/>
          </a:p>
          <a:p>
            <a:pPr marL="0" indent="0">
              <a:lnSpc>
                <a:spcPct val="135000"/>
              </a:lnSpc>
              <a:buNone/>
            </a:pPr>
            <a:r>
              <a:rPr lang="en-US" sz="1300" dirty="0">
                <a:solidFill>
                  <a:srgbClr val="BBCEDA"/>
                </a:solidFill>
                <a:latin typeface="Calibri" pitchFamily="34" charset="0"/>
                <a:ea typeface="Calibri" pitchFamily="34" charset="-122"/>
                <a:cs typeface="Calibri" pitchFamily="34" charset="-120"/>
              </a:rPr>
              <a:t>Integrantes</a:t>
            </a:r>
            <a:r>
              <a:rPr lang="en-US" sz="1300">
                <a:solidFill>
                  <a:srgbClr val="BBCEDA"/>
                </a:solidFill>
                <a:latin typeface="Calibri" pitchFamily="34" charset="0"/>
                <a:ea typeface="Calibri" pitchFamily="34" charset="-122"/>
                <a:cs typeface="Calibri" pitchFamily="34" charset="-120"/>
              </a:rPr>
              <a:t>: Cristobal Peña , Bernardo Rojas, Javier Morales</a:t>
            </a:r>
            <a:endParaRPr lang="en-US" sz="1300" dirty="0"/>
          </a:p>
        </p:txBody>
      </p:sp>
      <p:pic>
        <p:nvPicPr>
          <p:cNvPr id="6" name="Image 1" descr="/mnt/user-data/outputs/logo/vialnex-isotipo-512.png"/>
          <p:cNvPicPr>
            <a:picLocks noChangeAspect="1"/>
          </p:cNvPicPr>
          <p:nvPr/>
        </p:nvPicPr>
        <p:blipFill>
          <a:blip r:embed="rId4">
            <a:alphaModFix amt="40000"/>
          </a:blip>
          <a:stretch>
            <a:fillRect/>
          </a:stretch>
        </p:blipFill>
        <p:spPr>
          <a:xfrm>
            <a:off x="9509760" y="1828800"/>
            <a:ext cx="2011680" cy="20116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548640"/>
          </a:xfrm>
          <a:prstGeom prst="rect">
            <a:avLst/>
          </a:prstGeom>
          <a:noFill/>
          <a:ln/>
        </p:spPr>
        <p:txBody>
          <a:bodyPr wrap="square" lIns="0" tIns="0" rIns="0" bIns="0" rtlCol="0" anchor="ctr"/>
          <a:lstStyle/>
          <a:p>
            <a:pPr marL="0" indent="0">
              <a:buNone/>
            </a:pPr>
            <a:r>
              <a:rPr lang="en-US" sz="3000" b="1" dirty="0">
                <a:solidFill>
                  <a:srgbClr val="0F2E42"/>
                </a:solidFill>
                <a:latin typeface="Calibri" pitchFamily="34" charset="0"/>
                <a:ea typeface="Calibri" pitchFamily="34" charset="-122"/>
                <a:cs typeface="Calibri" pitchFamily="34" charset="-120"/>
              </a:rPr>
              <a:t>Contenido</a:t>
            </a:r>
            <a:endParaRPr lang="en-US" sz="3000" dirty="0"/>
          </a:p>
        </p:txBody>
      </p:sp>
      <p:sp>
        <p:nvSpPr>
          <p:cNvPr id="3" name="Text 1"/>
          <p:cNvSpPr/>
          <p:nvPr/>
        </p:nvSpPr>
        <p:spPr>
          <a:xfrm>
            <a:off x="640080" y="932688"/>
            <a:ext cx="10881360" cy="36576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Lo que vamos a revisar en esta presentación</a:t>
            </a:r>
            <a:endParaRPr lang="en-US" sz="1500" dirty="0"/>
          </a:p>
        </p:txBody>
      </p:sp>
      <p:pic>
        <p:nvPicPr>
          <p:cNvPr id="4" name="Image 0" descr="/mnt/user-data/outputs/logo/vialnex-isotipo-512.png"/>
          <p:cNvPicPr>
            <a:picLocks noChangeAspect="1"/>
          </p:cNvPicPr>
          <p:nvPr/>
        </p:nvPicPr>
        <p:blipFill>
          <a:blip r:embed="rId3"/>
          <a:stretch>
            <a:fillRect/>
          </a:stretch>
        </p:blipFill>
        <p:spPr>
          <a:xfrm>
            <a:off x="11475720" y="6172200"/>
            <a:ext cx="384048" cy="384048"/>
          </a:xfrm>
          <a:prstGeom prst="rect">
            <a:avLst/>
          </a:prstGeom>
        </p:spPr>
      </p:pic>
      <p:sp>
        <p:nvSpPr>
          <p:cNvPr id="5" name="Shape 2"/>
          <p:cNvSpPr/>
          <p:nvPr/>
        </p:nvSpPr>
        <p:spPr>
          <a:xfrm>
            <a:off x="640080" y="1600200"/>
            <a:ext cx="5212080" cy="1188720"/>
          </a:xfrm>
          <a:prstGeom prst="roundRect">
            <a:avLst>
              <a:gd name="adj" fmla="val 6923"/>
            </a:avLst>
          </a:prstGeom>
          <a:solidFill>
            <a:srgbClr val="F2F6F9"/>
          </a:solidFill>
          <a:ln w="12700">
            <a:solidFill>
              <a:srgbClr val="D8E2E9"/>
            </a:solidFill>
            <a:prstDash val="solid"/>
          </a:ln>
        </p:spPr>
        <p:txBody>
          <a:bodyPr/>
          <a:lstStyle/>
          <a:p>
            <a:endParaRPr lang="es-CL"/>
          </a:p>
        </p:txBody>
      </p:sp>
      <p:sp>
        <p:nvSpPr>
          <p:cNvPr id="6" name="Text 3"/>
          <p:cNvSpPr/>
          <p:nvPr/>
        </p:nvSpPr>
        <p:spPr>
          <a:xfrm>
            <a:off x="896112" y="1819656"/>
            <a:ext cx="822960" cy="457200"/>
          </a:xfrm>
          <a:prstGeom prst="rect">
            <a:avLst/>
          </a:prstGeom>
          <a:noFill/>
          <a:ln/>
        </p:spPr>
        <p:txBody>
          <a:bodyPr wrap="square" lIns="0" tIns="0" rIns="0" bIns="0" rtlCol="0" anchor="ctr"/>
          <a:lstStyle/>
          <a:p>
            <a:pPr marL="0" indent="0">
              <a:buNone/>
            </a:pPr>
            <a:r>
              <a:rPr lang="en-US" sz="2600" b="1" dirty="0">
                <a:solidFill>
                  <a:srgbClr val="16A394"/>
                </a:solidFill>
                <a:latin typeface="Calibri" pitchFamily="34" charset="0"/>
                <a:ea typeface="Calibri" pitchFamily="34" charset="-122"/>
                <a:cs typeface="Calibri" pitchFamily="34" charset="-120"/>
              </a:rPr>
              <a:t>01</a:t>
            </a:r>
            <a:endParaRPr lang="en-US" sz="2600" dirty="0"/>
          </a:p>
        </p:txBody>
      </p:sp>
      <p:sp>
        <p:nvSpPr>
          <p:cNvPr id="7" name="Text 4"/>
          <p:cNvSpPr/>
          <p:nvPr/>
        </p:nvSpPr>
        <p:spPr>
          <a:xfrm>
            <a:off x="1737360" y="1819656"/>
            <a:ext cx="3840480" cy="292608"/>
          </a:xfrm>
          <a:prstGeom prst="rect">
            <a:avLst/>
          </a:prstGeom>
          <a:noFill/>
          <a:ln/>
        </p:spPr>
        <p:txBody>
          <a:bodyPr wrap="square" lIns="0" tIns="0" rIns="0" bIns="0" rtlCol="0" anchor="ctr"/>
          <a:lstStyle/>
          <a:p>
            <a:pPr marL="0" indent="0">
              <a:buNone/>
            </a:pPr>
            <a:r>
              <a:rPr lang="en-US" sz="1500" b="1" dirty="0">
                <a:solidFill>
                  <a:srgbClr val="0F2E42"/>
                </a:solidFill>
                <a:latin typeface="Calibri" pitchFamily="34" charset="0"/>
                <a:ea typeface="Calibri" pitchFamily="34" charset="-122"/>
                <a:cs typeface="Calibri" pitchFamily="34" charset="-120"/>
              </a:rPr>
              <a:t>El problema</a:t>
            </a:r>
            <a:endParaRPr lang="en-US" sz="1500" dirty="0"/>
          </a:p>
        </p:txBody>
      </p:sp>
      <p:sp>
        <p:nvSpPr>
          <p:cNvPr id="8" name="Text 5"/>
          <p:cNvSpPr/>
          <p:nvPr/>
        </p:nvSpPr>
        <p:spPr>
          <a:xfrm>
            <a:off x="1737360" y="2148840"/>
            <a:ext cx="3931920" cy="457200"/>
          </a:xfrm>
          <a:prstGeom prst="rect">
            <a:avLst/>
          </a:prstGeom>
          <a:noFill/>
          <a:ln/>
        </p:spPr>
        <p:txBody>
          <a:bodyPr wrap="square" lIns="0" tIns="0" rIns="0" bIns="0" rtlCol="0" anchor="ctr"/>
          <a:lstStyle/>
          <a:p>
            <a:pPr marL="0" indent="0">
              <a:buNone/>
            </a:pPr>
            <a:r>
              <a:rPr lang="en-US" sz="1150" dirty="0">
                <a:solidFill>
                  <a:srgbClr val="5A6B78"/>
                </a:solidFill>
                <a:latin typeface="Calibri" pitchFamily="34" charset="0"/>
                <a:ea typeface="Calibri" pitchFamily="34" charset="-122"/>
                <a:cs typeface="Calibri" pitchFamily="34" charset="-120"/>
              </a:rPr>
              <a:t>Cómo opera hoy una empresa de transporte de carga</a:t>
            </a:r>
            <a:endParaRPr lang="en-US" sz="1150" dirty="0"/>
          </a:p>
        </p:txBody>
      </p:sp>
      <p:sp>
        <p:nvSpPr>
          <p:cNvPr id="9" name="Shape 6"/>
          <p:cNvSpPr/>
          <p:nvPr/>
        </p:nvSpPr>
        <p:spPr>
          <a:xfrm>
            <a:off x="6217920" y="1600200"/>
            <a:ext cx="5212080" cy="1188720"/>
          </a:xfrm>
          <a:prstGeom prst="roundRect">
            <a:avLst>
              <a:gd name="adj" fmla="val 6923"/>
            </a:avLst>
          </a:prstGeom>
          <a:solidFill>
            <a:srgbClr val="F2F6F9"/>
          </a:solidFill>
          <a:ln w="12700">
            <a:solidFill>
              <a:srgbClr val="D8E2E9"/>
            </a:solidFill>
            <a:prstDash val="solid"/>
          </a:ln>
        </p:spPr>
        <p:txBody>
          <a:bodyPr/>
          <a:lstStyle/>
          <a:p>
            <a:endParaRPr lang="es-CL"/>
          </a:p>
        </p:txBody>
      </p:sp>
      <p:sp>
        <p:nvSpPr>
          <p:cNvPr id="10" name="Text 7"/>
          <p:cNvSpPr/>
          <p:nvPr/>
        </p:nvSpPr>
        <p:spPr>
          <a:xfrm>
            <a:off x="6473952" y="1819656"/>
            <a:ext cx="822960" cy="457200"/>
          </a:xfrm>
          <a:prstGeom prst="rect">
            <a:avLst/>
          </a:prstGeom>
          <a:noFill/>
          <a:ln/>
        </p:spPr>
        <p:txBody>
          <a:bodyPr wrap="square" lIns="0" tIns="0" rIns="0" bIns="0" rtlCol="0" anchor="ctr"/>
          <a:lstStyle/>
          <a:p>
            <a:pPr marL="0" indent="0">
              <a:buNone/>
            </a:pPr>
            <a:r>
              <a:rPr lang="en-US" sz="2600" b="1" dirty="0">
                <a:solidFill>
                  <a:srgbClr val="16A394"/>
                </a:solidFill>
                <a:latin typeface="Calibri" pitchFamily="34" charset="0"/>
                <a:ea typeface="Calibri" pitchFamily="34" charset="-122"/>
                <a:cs typeface="Calibri" pitchFamily="34" charset="-120"/>
              </a:rPr>
              <a:t>02</a:t>
            </a:r>
            <a:endParaRPr lang="en-US" sz="2600" dirty="0"/>
          </a:p>
        </p:txBody>
      </p:sp>
      <p:sp>
        <p:nvSpPr>
          <p:cNvPr id="11" name="Text 8"/>
          <p:cNvSpPr/>
          <p:nvPr/>
        </p:nvSpPr>
        <p:spPr>
          <a:xfrm>
            <a:off x="7315200" y="1819656"/>
            <a:ext cx="3840480" cy="292608"/>
          </a:xfrm>
          <a:prstGeom prst="rect">
            <a:avLst/>
          </a:prstGeom>
          <a:noFill/>
          <a:ln/>
        </p:spPr>
        <p:txBody>
          <a:bodyPr wrap="square" lIns="0" tIns="0" rIns="0" bIns="0" rtlCol="0" anchor="ctr"/>
          <a:lstStyle/>
          <a:p>
            <a:pPr marL="0" indent="0">
              <a:buNone/>
            </a:pPr>
            <a:r>
              <a:rPr lang="en-US" sz="1500" b="1" dirty="0">
                <a:solidFill>
                  <a:srgbClr val="0F2E42"/>
                </a:solidFill>
                <a:latin typeface="Calibri" pitchFamily="34" charset="0"/>
                <a:ea typeface="Calibri" pitchFamily="34" charset="-122"/>
                <a:cs typeface="Calibri" pitchFamily="34" charset="-120"/>
              </a:rPr>
              <a:t>La propuesta</a:t>
            </a:r>
            <a:endParaRPr lang="en-US" sz="1500" dirty="0"/>
          </a:p>
        </p:txBody>
      </p:sp>
      <p:sp>
        <p:nvSpPr>
          <p:cNvPr id="12" name="Text 9"/>
          <p:cNvSpPr/>
          <p:nvPr/>
        </p:nvSpPr>
        <p:spPr>
          <a:xfrm>
            <a:off x="7315200" y="2148840"/>
            <a:ext cx="3931920" cy="457200"/>
          </a:xfrm>
          <a:prstGeom prst="rect">
            <a:avLst/>
          </a:prstGeom>
          <a:noFill/>
          <a:ln/>
        </p:spPr>
        <p:txBody>
          <a:bodyPr wrap="square" lIns="0" tIns="0" rIns="0" bIns="0" rtlCol="0" anchor="ctr"/>
          <a:lstStyle/>
          <a:p>
            <a:pPr marL="0" indent="0">
              <a:buNone/>
            </a:pPr>
            <a:r>
              <a:rPr lang="en-US" sz="1150" dirty="0">
                <a:solidFill>
                  <a:srgbClr val="5A6B78"/>
                </a:solidFill>
                <a:latin typeface="Calibri" pitchFamily="34" charset="0"/>
                <a:ea typeface="Calibri" pitchFamily="34" charset="-122"/>
                <a:cs typeface="Calibri" pitchFamily="34" charset="-120"/>
              </a:rPr>
              <a:t>Qué es vialNex y qué resuelve</a:t>
            </a:r>
            <a:endParaRPr lang="en-US" sz="1150" dirty="0"/>
          </a:p>
        </p:txBody>
      </p:sp>
      <p:sp>
        <p:nvSpPr>
          <p:cNvPr id="13" name="Shape 10"/>
          <p:cNvSpPr/>
          <p:nvPr/>
        </p:nvSpPr>
        <p:spPr>
          <a:xfrm>
            <a:off x="640080" y="3063240"/>
            <a:ext cx="5212080" cy="1188720"/>
          </a:xfrm>
          <a:prstGeom prst="roundRect">
            <a:avLst>
              <a:gd name="adj" fmla="val 6923"/>
            </a:avLst>
          </a:prstGeom>
          <a:solidFill>
            <a:srgbClr val="F2F6F9"/>
          </a:solidFill>
          <a:ln w="12700">
            <a:solidFill>
              <a:srgbClr val="D8E2E9"/>
            </a:solidFill>
            <a:prstDash val="solid"/>
          </a:ln>
        </p:spPr>
        <p:txBody>
          <a:bodyPr/>
          <a:lstStyle/>
          <a:p>
            <a:endParaRPr lang="es-CL"/>
          </a:p>
        </p:txBody>
      </p:sp>
      <p:sp>
        <p:nvSpPr>
          <p:cNvPr id="14" name="Text 11"/>
          <p:cNvSpPr/>
          <p:nvPr/>
        </p:nvSpPr>
        <p:spPr>
          <a:xfrm>
            <a:off x="896112" y="3282696"/>
            <a:ext cx="822960" cy="457200"/>
          </a:xfrm>
          <a:prstGeom prst="rect">
            <a:avLst/>
          </a:prstGeom>
          <a:noFill/>
          <a:ln/>
        </p:spPr>
        <p:txBody>
          <a:bodyPr wrap="square" lIns="0" tIns="0" rIns="0" bIns="0" rtlCol="0" anchor="ctr"/>
          <a:lstStyle/>
          <a:p>
            <a:pPr marL="0" indent="0">
              <a:buNone/>
            </a:pPr>
            <a:r>
              <a:rPr lang="en-US" sz="2600" b="1" dirty="0">
                <a:solidFill>
                  <a:srgbClr val="16A394"/>
                </a:solidFill>
                <a:latin typeface="Calibri" pitchFamily="34" charset="0"/>
                <a:ea typeface="Calibri" pitchFamily="34" charset="-122"/>
                <a:cs typeface="Calibri" pitchFamily="34" charset="-120"/>
              </a:rPr>
              <a:t>03</a:t>
            </a:r>
            <a:endParaRPr lang="en-US" sz="2600" dirty="0"/>
          </a:p>
        </p:txBody>
      </p:sp>
      <p:sp>
        <p:nvSpPr>
          <p:cNvPr id="15" name="Text 12"/>
          <p:cNvSpPr/>
          <p:nvPr/>
        </p:nvSpPr>
        <p:spPr>
          <a:xfrm>
            <a:off x="1737360" y="3282696"/>
            <a:ext cx="3840480" cy="292608"/>
          </a:xfrm>
          <a:prstGeom prst="rect">
            <a:avLst/>
          </a:prstGeom>
          <a:noFill/>
          <a:ln/>
        </p:spPr>
        <p:txBody>
          <a:bodyPr wrap="square" lIns="0" tIns="0" rIns="0" bIns="0" rtlCol="0" anchor="ctr"/>
          <a:lstStyle/>
          <a:p>
            <a:pPr marL="0" indent="0">
              <a:buNone/>
            </a:pPr>
            <a:r>
              <a:rPr lang="en-US" sz="1500" b="1" dirty="0">
                <a:solidFill>
                  <a:srgbClr val="0F2E42"/>
                </a:solidFill>
                <a:latin typeface="Calibri" pitchFamily="34" charset="0"/>
                <a:ea typeface="Calibri" pitchFamily="34" charset="-122"/>
                <a:cs typeface="Calibri" pitchFamily="34" charset="-120"/>
              </a:rPr>
              <a:t>La solución</a:t>
            </a:r>
            <a:endParaRPr lang="en-US" sz="1500" dirty="0"/>
          </a:p>
        </p:txBody>
      </p:sp>
      <p:sp>
        <p:nvSpPr>
          <p:cNvPr id="16" name="Text 13"/>
          <p:cNvSpPr/>
          <p:nvPr/>
        </p:nvSpPr>
        <p:spPr>
          <a:xfrm>
            <a:off x="1737360" y="3611880"/>
            <a:ext cx="3931920" cy="457200"/>
          </a:xfrm>
          <a:prstGeom prst="rect">
            <a:avLst/>
          </a:prstGeom>
          <a:noFill/>
          <a:ln/>
        </p:spPr>
        <p:txBody>
          <a:bodyPr wrap="square" lIns="0" tIns="0" rIns="0" bIns="0" rtlCol="0" anchor="ctr"/>
          <a:lstStyle/>
          <a:p>
            <a:pPr marL="0" indent="0">
              <a:buNone/>
            </a:pPr>
            <a:r>
              <a:rPr lang="en-US" sz="1150" dirty="0">
                <a:solidFill>
                  <a:srgbClr val="5A6B78"/>
                </a:solidFill>
                <a:latin typeface="Calibri" pitchFamily="34" charset="0"/>
                <a:ea typeface="Calibri" pitchFamily="34" charset="-122"/>
                <a:cs typeface="Calibri" pitchFamily="34" charset="-120"/>
              </a:rPr>
              <a:t>Módulos, arquitectura y modelo de datos</a:t>
            </a:r>
            <a:endParaRPr lang="en-US" sz="1150" dirty="0"/>
          </a:p>
        </p:txBody>
      </p:sp>
      <p:sp>
        <p:nvSpPr>
          <p:cNvPr id="17" name="Shape 14"/>
          <p:cNvSpPr/>
          <p:nvPr/>
        </p:nvSpPr>
        <p:spPr>
          <a:xfrm>
            <a:off x="6217920" y="3063240"/>
            <a:ext cx="5212080" cy="1188720"/>
          </a:xfrm>
          <a:prstGeom prst="roundRect">
            <a:avLst>
              <a:gd name="adj" fmla="val 6923"/>
            </a:avLst>
          </a:prstGeom>
          <a:solidFill>
            <a:srgbClr val="F2F6F9"/>
          </a:solidFill>
          <a:ln w="12700">
            <a:solidFill>
              <a:srgbClr val="D8E2E9"/>
            </a:solidFill>
            <a:prstDash val="solid"/>
          </a:ln>
        </p:spPr>
        <p:txBody>
          <a:bodyPr/>
          <a:lstStyle/>
          <a:p>
            <a:endParaRPr lang="es-CL"/>
          </a:p>
        </p:txBody>
      </p:sp>
      <p:sp>
        <p:nvSpPr>
          <p:cNvPr id="18" name="Text 15"/>
          <p:cNvSpPr/>
          <p:nvPr/>
        </p:nvSpPr>
        <p:spPr>
          <a:xfrm>
            <a:off x="6473952" y="3282696"/>
            <a:ext cx="822960" cy="457200"/>
          </a:xfrm>
          <a:prstGeom prst="rect">
            <a:avLst/>
          </a:prstGeom>
          <a:noFill/>
          <a:ln/>
        </p:spPr>
        <p:txBody>
          <a:bodyPr wrap="square" lIns="0" tIns="0" rIns="0" bIns="0" rtlCol="0" anchor="ctr"/>
          <a:lstStyle/>
          <a:p>
            <a:pPr marL="0" indent="0">
              <a:buNone/>
            </a:pPr>
            <a:r>
              <a:rPr lang="en-US" sz="2600" b="1" dirty="0">
                <a:solidFill>
                  <a:srgbClr val="16A394"/>
                </a:solidFill>
                <a:latin typeface="Calibri" pitchFamily="34" charset="0"/>
                <a:ea typeface="Calibri" pitchFamily="34" charset="-122"/>
                <a:cs typeface="Calibri" pitchFamily="34" charset="-120"/>
              </a:rPr>
              <a:t>04</a:t>
            </a:r>
            <a:endParaRPr lang="en-US" sz="2600" dirty="0"/>
          </a:p>
        </p:txBody>
      </p:sp>
      <p:sp>
        <p:nvSpPr>
          <p:cNvPr id="19" name="Text 16"/>
          <p:cNvSpPr/>
          <p:nvPr/>
        </p:nvSpPr>
        <p:spPr>
          <a:xfrm>
            <a:off x="7315200" y="3282696"/>
            <a:ext cx="3840480" cy="292608"/>
          </a:xfrm>
          <a:prstGeom prst="rect">
            <a:avLst/>
          </a:prstGeom>
          <a:noFill/>
          <a:ln/>
        </p:spPr>
        <p:txBody>
          <a:bodyPr wrap="square" lIns="0" tIns="0" rIns="0" bIns="0" rtlCol="0" anchor="ctr"/>
          <a:lstStyle/>
          <a:p>
            <a:pPr marL="0" indent="0">
              <a:buNone/>
            </a:pPr>
            <a:r>
              <a:rPr lang="en-US" sz="1500" b="1" dirty="0">
                <a:solidFill>
                  <a:srgbClr val="0F2E42"/>
                </a:solidFill>
                <a:latin typeface="Calibri" pitchFamily="34" charset="0"/>
                <a:ea typeface="Calibri" pitchFamily="34" charset="-122"/>
                <a:cs typeface="Calibri" pitchFamily="34" charset="-120"/>
              </a:rPr>
              <a:t>Los mockups</a:t>
            </a:r>
            <a:endParaRPr lang="en-US" sz="1500" dirty="0"/>
          </a:p>
        </p:txBody>
      </p:sp>
      <p:sp>
        <p:nvSpPr>
          <p:cNvPr id="20" name="Text 17"/>
          <p:cNvSpPr/>
          <p:nvPr/>
        </p:nvSpPr>
        <p:spPr>
          <a:xfrm>
            <a:off x="7315200" y="3611880"/>
            <a:ext cx="3931920" cy="457200"/>
          </a:xfrm>
          <a:prstGeom prst="rect">
            <a:avLst/>
          </a:prstGeom>
          <a:noFill/>
          <a:ln/>
        </p:spPr>
        <p:txBody>
          <a:bodyPr wrap="square" lIns="0" tIns="0" rIns="0" bIns="0" rtlCol="0" anchor="ctr"/>
          <a:lstStyle/>
          <a:p>
            <a:pPr marL="0" indent="0">
              <a:buNone/>
            </a:pPr>
            <a:r>
              <a:rPr lang="en-US" sz="1150" dirty="0">
                <a:solidFill>
                  <a:srgbClr val="5A6B78"/>
                </a:solidFill>
                <a:latin typeface="Calibri" pitchFamily="34" charset="0"/>
                <a:ea typeface="Calibri" pitchFamily="34" charset="-122"/>
                <a:cs typeface="Calibri" pitchFamily="34" charset="-120"/>
              </a:rPr>
              <a:t>Cómo se ve la plataforma en funcionamiento</a:t>
            </a:r>
            <a:endParaRPr lang="en-US" sz="1150" dirty="0"/>
          </a:p>
        </p:txBody>
      </p:sp>
      <p:sp>
        <p:nvSpPr>
          <p:cNvPr id="21" name="Shape 18"/>
          <p:cNvSpPr/>
          <p:nvPr/>
        </p:nvSpPr>
        <p:spPr>
          <a:xfrm>
            <a:off x="640080" y="4526280"/>
            <a:ext cx="5212080" cy="1188720"/>
          </a:xfrm>
          <a:prstGeom prst="roundRect">
            <a:avLst>
              <a:gd name="adj" fmla="val 6923"/>
            </a:avLst>
          </a:prstGeom>
          <a:solidFill>
            <a:srgbClr val="F2F6F9"/>
          </a:solidFill>
          <a:ln w="12700">
            <a:solidFill>
              <a:srgbClr val="D8E2E9"/>
            </a:solidFill>
            <a:prstDash val="solid"/>
          </a:ln>
        </p:spPr>
        <p:txBody>
          <a:bodyPr/>
          <a:lstStyle/>
          <a:p>
            <a:endParaRPr lang="es-CL"/>
          </a:p>
        </p:txBody>
      </p:sp>
      <p:sp>
        <p:nvSpPr>
          <p:cNvPr id="22" name="Text 19"/>
          <p:cNvSpPr/>
          <p:nvPr/>
        </p:nvSpPr>
        <p:spPr>
          <a:xfrm>
            <a:off x="896112" y="4745736"/>
            <a:ext cx="822960" cy="457200"/>
          </a:xfrm>
          <a:prstGeom prst="rect">
            <a:avLst/>
          </a:prstGeom>
          <a:noFill/>
          <a:ln/>
        </p:spPr>
        <p:txBody>
          <a:bodyPr wrap="square" lIns="0" tIns="0" rIns="0" bIns="0" rtlCol="0" anchor="ctr"/>
          <a:lstStyle/>
          <a:p>
            <a:pPr marL="0" indent="0">
              <a:buNone/>
            </a:pPr>
            <a:r>
              <a:rPr lang="en-US" sz="2600" b="1" dirty="0">
                <a:solidFill>
                  <a:srgbClr val="16A394"/>
                </a:solidFill>
                <a:latin typeface="Calibri" pitchFamily="34" charset="0"/>
                <a:ea typeface="Calibri" pitchFamily="34" charset="-122"/>
                <a:cs typeface="Calibri" pitchFamily="34" charset="-120"/>
              </a:rPr>
              <a:t>05</a:t>
            </a:r>
            <a:endParaRPr lang="en-US" sz="2600" dirty="0"/>
          </a:p>
        </p:txBody>
      </p:sp>
      <p:sp>
        <p:nvSpPr>
          <p:cNvPr id="23" name="Text 20"/>
          <p:cNvSpPr/>
          <p:nvPr/>
        </p:nvSpPr>
        <p:spPr>
          <a:xfrm>
            <a:off x="1737360" y="4745736"/>
            <a:ext cx="3840480" cy="292608"/>
          </a:xfrm>
          <a:prstGeom prst="rect">
            <a:avLst/>
          </a:prstGeom>
          <a:noFill/>
          <a:ln/>
        </p:spPr>
        <p:txBody>
          <a:bodyPr wrap="square" lIns="0" tIns="0" rIns="0" bIns="0" rtlCol="0" anchor="ctr"/>
          <a:lstStyle/>
          <a:p>
            <a:pPr marL="0" indent="0">
              <a:buNone/>
            </a:pPr>
            <a:r>
              <a:rPr lang="en-US" sz="1500" b="1" dirty="0">
                <a:solidFill>
                  <a:srgbClr val="0F2E42"/>
                </a:solidFill>
                <a:latin typeface="Calibri" pitchFamily="34" charset="0"/>
                <a:ea typeface="Calibri" pitchFamily="34" charset="-122"/>
                <a:cs typeface="Calibri" pitchFamily="34" charset="-120"/>
              </a:rPr>
              <a:t>El proyecto</a:t>
            </a:r>
            <a:endParaRPr lang="en-US" sz="1500" dirty="0"/>
          </a:p>
        </p:txBody>
      </p:sp>
      <p:sp>
        <p:nvSpPr>
          <p:cNvPr id="24" name="Text 21"/>
          <p:cNvSpPr/>
          <p:nvPr/>
        </p:nvSpPr>
        <p:spPr>
          <a:xfrm>
            <a:off x="1737360" y="5074920"/>
            <a:ext cx="3931920" cy="457200"/>
          </a:xfrm>
          <a:prstGeom prst="rect">
            <a:avLst/>
          </a:prstGeom>
          <a:noFill/>
          <a:ln/>
        </p:spPr>
        <p:txBody>
          <a:bodyPr wrap="square" lIns="0" tIns="0" rIns="0" bIns="0" rtlCol="0" anchor="ctr"/>
          <a:lstStyle/>
          <a:p>
            <a:pPr marL="0" indent="0">
              <a:buNone/>
            </a:pPr>
            <a:r>
              <a:rPr lang="en-US" sz="1150" dirty="0">
                <a:solidFill>
                  <a:srgbClr val="5A6B78"/>
                </a:solidFill>
                <a:latin typeface="Calibri" pitchFamily="34" charset="0"/>
                <a:ea typeface="Calibri" pitchFamily="34" charset="-122"/>
                <a:cs typeface="Calibri" pitchFamily="34" charset="-120"/>
              </a:rPr>
              <a:t>Competencias, metodología, plan de trabajo y evidencias</a:t>
            </a:r>
            <a:endParaRPr lang="en-US" sz="1150" dirty="0"/>
          </a:p>
        </p:txBody>
      </p:sp>
      <p:sp>
        <p:nvSpPr>
          <p:cNvPr id="25" name="Shape 22"/>
          <p:cNvSpPr/>
          <p:nvPr/>
        </p:nvSpPr>
        <p:spPr>
          <a:xfrm>
            <a:off x="6217920" y="4526280"/>
            <a:ext cx="5212080" cy="1188720"/>
          </a:xfrm>
          <a:prstGeom prst="roundRect">
            <a:avLst>
              <a:gd name="adj" fmla="val 6923"/>
            </a:avLst>
          </a:prstGeom>
          <a:solidFill>
            <a:srgbClr val="F2F6F9"/>
          </a:solidFill>
          <a:ln w="12700">
            <a:solidFill>
              <a:srgbClr val="D8E2E9"/>
            </a:solidFill>
            <a:prstDash val="solid"/>
          </a:ln>
        </p:spPr>
        <p:txBody>
          <a:bodyPr/>
          <a:lstStyle/>
          <a:p>
            <a:endParaRPr lang="es-CL"/>
          </a:p>
        </p:txBody>
      </p:sp>
      <p:sp>
        <p:nvSpPr>
          <p:cNvPr id="26" name="Text 23"/>
          <p:cNvSpPr/>
          <p:nvPr/>
        </p:nvSpPr>
        <p:spPr>
          <a:xfrm>
            <a:off x="6473952" y="4745736"/>
            <a:ext cx="822960" cy="457200"/>
          </a:xfrm>
          <a:prstGeom prst="rect">
            <a:avLst/>
          </a:prstGeom>
          <a:noFill/>
          <a:ln/>
        </p:spPr>
        <p:txBody>
          <a:bodyPr wrap="square" lIns="0" tIns="0" rIns="0" bIns="0" rtlCol="0" anchor="ctr"/>
          <a:lstStyle/>
          <a:p>
            <a:pPr marL="0" indent="0">
              <a:buNone/>
            </a:pPr>
            <a:r>
              <a:rPr lang="en-US" sz="2600" b="1" dirty="0">
                <a:solidFill>
                  <a:srgbClr val="16A394"/>
                </a:solidFill>
                <a:latin typeface="Calibri" pitchFamily="34" charset="0"/>
                <a:ea typeface="Calibri" pitchFamily="34" charset="-122"/>
                <a:cs typeface="Calibri" pitchFamily="34" charset="-120"/>
              </a:rPr>
              <a:t>06</a:t>
            </a:r>
            <a:endParaRPr lang="en-US" sz="2600" dirty="0"/>
          </a:p>
        </p:txBody>
      </p:sp>
      <p:sp>
        <p:nvSpPr>
          <p:cNvPr id="27" name="Text 24"/>
          <p:cNvSpPr/>
          <p:nvPr/>
        </p:nvSpPr>
        <p:spPr>
          <a:xfrm>
            <a:off x="7315200" y="4745736"/>
            <a:ext cx="3840480" cy="292608"/>
          </a:xfrm>
          <a:prstGeom prst="rect">
            <a:avLst/>
          </a:prstGeom>
          <a:noFill/>
          <a:ln/>
        </p:spPr>
        <p:txBody>
          <a:bodyPr wrap="square" lIns="0" tIns="0" rIns="0" bIns="0" rtlCol="0" anchor="ctr"/>
          <a:lstStyle/>
          <a:p>
            <a:pPr marL="0" indent="0">
              <a:buNone/>
            </a:pPr>
            <a:r>
              <a:rPr lang="en-US" sz="1500" b="1" dirty="0">
                <a:solidFill>
                  <a:srgbClr val="0F2E42"/>
                </a:solidFill>
                <a:latin typeface="Calibri" pitchFamily="34" charset="0"/>
                <a:ea typeface="Calibri" pitchFamily="34" charset="-122"/>
                <a:cs typeface="Calibri" pitchFamily="34" charset="-120"/>
              </a:rPr>
              <a:t>Factibilidad</a:t>
            </a:r>
            <a:endParaRPr lang="en-US" sz="1500" dirty="0"/>
          </a:p>
        </p:txBody>
      </p:sp>
      <p:sp>
        <p:nvSpPr>
          <p:cNvPr id="28" name="Text 25"/>
          <p:cNvSpPr/>
          <p:nvPr/>
        </p:nvSpPr>
        <p:spPr>
          <a:xfrm>
            <a:off x="7315200" y="5074920"/>
            <a:ext cx="3931920" cy="457200"/>
          </a:xfrm>
          <a:prstGeom prst="rect">
            <a:avLst/>
          </a:prstGeom>
          <a:noFill/>
          <a:ln/>
        </p:spPr>
        <p:txBody>
          <a:bodyPr wrap="square" lIns="0" tIns="0" rIns="0" bIns="0" rtlCol="0" anchor="ctr"/>
          <a:lstStyle/>
          <a:p>
            <a:pPr marL="0" indent="0">
              <a:buNone/>
            </a:pPr>
            <a:r>
              <a:rPr lang="en-US" sz="1150" dirty="0">
                <a:solidFill>
                  <a:srgbClr val="5A6B78"/>
                </a:solidFill>
                <a:latin typeface="Calibri" pitchFamily="34" charset="0"/>
                <a:ea typeface="Calibri" pitchFamily="34" charset="-122"/>
                <a:cs typeface="Calibri" pitchFamily="34" charset="-120"/>
              </a:rPr>
              <a:t>Por qué es realizable dentro del semestre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548640"/>
          </a:xfrm>
          <a:prstGeom prst="rect">
            <a:avLst/>
          </a:prstGeom>
          <a:noFill/>
          <a:ln/>
        </p:spPr>
        <p:txBody>
          <a:bodyPr wrap="square" lIns="0" tIns="0" rIns="0" bIns="0" rtlCol="0" anchor="ctr"/>
          <a:lstStyle/>
          <a:p>
            <a:pPr marL="0" indent="0">
              <a:buNone/>
            </a:pPr>
            <a:r>
              <a:rPr lang="en-US" sz="3000" b="1" dirty="0">
                <a:solidFill>
                  <a:srgbClr val="0F2E42"/>
                </a:solidFill>
                <a:latin typeface="Calibri" pitchFamily="34" charset="0"/>
                <a:ea typeface="Calibri" pitchFamily="34" charset="-122"/>
                <a:cs typeface="Calibri" pitchFamily="34" charset="-120"/>
              </a:rPr>
              <a:t>El problema</a:t>
            </a:r>
            <a:endParaRPr lang="en-US" sz="3000" dirty="0"/>
          </a:p>
        </p:txBody>
      </p:sp>
      <p:sp>
        <p:nvSpPr>
          <p:cNvPr id="3" name="Text 1"/>
          <p:cNvSpPr/>
          <p:nvPr/>
        </p:nvSpPr>
        <p:spPr>
          <a:xfrm>
            <a:off x="640080" y="932688"/>
            <a:ext cx="10881360" cy="36576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Cómo opera hoy una empresa de transporte de carga pequeña o mediana</a:t>
            </a:r>
            <a:endParaRPr lang="en-US" sz="1500" dirty="0"/>
          </a:p>
        </p:txBody>
      </p:sp>
      <p:pic>
        <p:nvPicPr>
          <p:cNvPr id="4" name="Image 0" descr="/mnt/user-data/outputs/logo/vialnex-isotipo-512.png"/>
          <p:cNvPicPr>
            <a:picLocks noChangeAspect="1"/>
          </p:cNvPicPr>
          <p:nvPr/>
        </p:nvPicPr>
        <p:blipFill>
          <a:blip r:embed="rId3"/>
          <a:stretch>
            <a:fillRect/>
          </a:stretch>
        </p:blipFill>
        <p:spPr>
          <a:xfrm>
            <a:off x="11475720" y="6172200"/>
            <a:ext cx="384048" cy="384048"/>
          </a:xfrm>
          <a:prstGeom prst="rect">
            <a:avLst/>
          </a:prstGeom>
        </p:spPr>
      </p:pic>
      <p:sp>
        <p:nvSpPr>
          <p:cNvPr id="5" name="Shape 2"/>
          <p:cNvSpPr/>
          <p:nvPr/>
        </p:nvSpPr>
        <p:spPr>
          <a:xfrm>
            <a:off x="640080" y="1572768"/>
            <a:ext cx="3429000" cy="1737360"/>
          </a:xfrm>
          <a:prstGeom prst="roundRect">
            <a:avLst>
              <a:gd name="adj" fmla="val 4737"/>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6" name="Shape 3"/>
          <p:cNvSpPr/>
          <p:nvPr/>
        </p:nvSpPr>
        <p:spPr>
          <a:xfrm>
            <a:off x="896112" y="1810512"/>
            <a:ext cx="201168" cy="201168"/>
          </a:xfrm>
          <a:prstGeom prst="ellipse">
            <a:avLst/>
          </a:prstGeom>
          <a:solidFill>
            <a:srgbClr val="2E7FB8"/>
          </a:solidFill>
          <a:ln w="12700">
            <a:solidFill>
              <a:srgbClr val="2E7FB8"/>
            </a:solidFill>
            <a:prstDash val="solid"/>
          </a:ln>
        </p:spPr>
        <p:txBody>
          <a:bodyPr/>
          <a:lstStyle/>
          <a:p>
            <a:endParaRPr lang="es-CL"/>
          </a:p>
        </p:txBody>
      </p:sp>
      <p:sp>
        <p:nvSpPr>
          <p:cNvPr id="7" name="Text 4"/>
          <p:cNvSpPr/>
          <p:nvPr/>
        </p:nvSpPr>
        <p:spPr>
          <a:xfrm>
            <a:off x="1188720" y="1755648"/>
            <a:ext cx="2651760" cy="310896"/>
          </a:xfrm>
          <a:prstGeom prst="rect">
            <a:avLst/>
          </a:prstGeom>
          <a:noFill/>
          <a:ln/>
        </p:spPr>
        <p:txBody>
          <a:bodyPr wrap="square" lIns="0" tIns="0" rIns="0" bIns="0" rtlCol="0" anchor="ctr"/>
          <a:lstStyle/>
          <a:p>
            <a:pPr marL="0" indent="0">
              <a:buNone/>
            </a:pPr>
            <a:r>
              <a:rPr lang="en-US" sz="1400" b="1" dirty="0">
                <a:solidFill>
                  <a:srgbClr val="0F2E42"/>
                </a:solidFill>
                <a:latin typeface="Calibri" pitchFamily="34" charset="0"/>
                <a:ea typeface="Calibri" pitchFamily="34" charset="-122"/>
                <a:cs typeface="Calibri" pitchFamily="34" charset="-120"/>
              </a:rPr>
              <a:t>Pedidos por correo y mensajería</a:t>
            </a:r>
            <a:endParaRPr lang="en-US" sz="1400" dirty="0"/>
          </a:p>
        </p:txBody>
      </p:sp>
      <p:sp>
        <p:nvSpPr>
          <p:cNvPr id="8" name="Text 5"/>
          <p:cNvSpPr/>
          <p:nvPr/>
        </p:nvSpPr>
        <p:spPr>
          <a:xfrm>
            <a:off x="896112" y="2176272"/>
            <a:ext cx="2916936" cy="914400"/>
          </a:xfrm>
          <a:prstGeom prst="rect">
            <a:avLst/>
          </a:prstGeom>
          <a:noFill/>
          <a:ln/>
        </p:spPr>
        <p:txBody>
          <a:bodyPr wrap="square" lIns="0" tIns="0" rIns="0" bIns="0" rtlCol="0" anchor="ctr"/>
          <a:lstStyle/>
          <a:p>
            <a:pPr marL="0" indent="0">
              <a:lnSpc>
                <a:spcPct val="115000"/>
              </a:lnSpc>
              <a:buNone/>
            </a:pPr>
            <a:r>
              <a:rPr lang="en-US" sz="1150" dirty="0">
                <a:solidFill>
                  <a:srgbClr val="5A6B78"/>
                </a:solidFill>
                <a:latin typeface="Calibri" pitchFamily="34" charset="0"/>
                <a:ea typeface="Calibri" pitchFamily="34" charset="-122"/>
                <a:cs typeface="Calibri" pitchFamily="34" charset="-120"/>
              </a:rPr>
              <a:t>Las solicitudes llegan por canales informales. Se pierden pedidos y la misma información se digita más de una vez.</a:t>
            </a:r>
            <a:endParaRPr lang="en-US" sz="1150" dirty="0"/>
          </a:p>
        </p:txBody>
      </p:sp>
      <p:sp>
        <p:nvSpPr>
          <p:cNvPr id="9" name="Shape 6"/>
          <p:cNvSpPr/>
          <p:nvPr/>
        </p:nvSpPr>
        <p:spPr>
          <a:xfrm>
            <a:off x="4343400" y="1572768"/>
            <a:ext cx="3429000" cy="1737360"/>
          </a:xfrm>
          <a:prstGeom prst="roundRect">
            <a:avLst>
              <a:gd name="adj" fmla="val 4737"/>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10" name="Shape 7"/>
          <p:cNvSpPr/>
          <p:nvPr/>
        </p:nvSpPr>
        <p:spPr>
          <a:xfrm>
            <a:off x="4599432" y="1810512"/>
            <a:ext cx="201168" cy="201168"/>
          </a:xfrm>
          <a:prstGeom prst="ellipse">
            <a:avLst/>
          </a:prstGeom>
          <a:solidFill>
            <a:srgbClr val="2E7FB8"/>
          </a:solidFill>
          <a:ln w="12700">
            <a:solidFill>
              <a:srgbClr val="2E7FB8"/>
            </a:solidFill>
            <a:prstDash val="solid"/>
          </a:ln>
        </p:spPr>
        <p:txBody>
          <a:bodyPr/>
          <a:lstStyle/>
          <a:p>
            <a:endParaRPr lang="es-CL"/>
          </a:p>
        </p:txBody>
      </p:sp>
      <p:sp>
        <p:nvSpPr>
          <p:cNvPr id="11" name="Text 8"/>
          <p:cNvSpPr/>
          <p:nvPr/>
        </p:nvSpPr>
        <p:spPr>
          <a:xfrm>
            <a:off x="4892040" y="1755648"/>
            <a:ext cx="2651760" cy="310896"/>
          </a:xfrm>
          <a:prstGeom prst="rect">
            <a:avLst/>
          </a:prstGeom>
          <a:noFill/>
          <a:ln/>
        </p:spPr>
        <p:txBody>
          <a:bodyPr wrap="square" lIns="0" tIns="0" rIns="0" bIns="0" rtlCol="0" anchor="ctr"/>
          <a:lstStyle/>
          <a:p>
            <a:pPr marL="0" indent="0">
              <a:buNone/>
            </a:pPr>
            <a:r>
              <a:rPr lang="en-US" sz="1400" b="1" dirty="0">
                <a:solidFill>
                  <a:srgbClr val="0F2E42"/>
                </a:solidFill>
                <a:latin typeface="Calibri" pitchFamily="34" charset="0"/>
                <a:ea typeface="Calibri" pitchFamily="34" charset="-122"/>
                <a:cs typeface="Calibri" pitchFamily="34" charset="-120"/>
              </a:rPr>
              <a:t>Rutas asignadas a criterio</a:t>
            </a:r>
            <a:endParaRPr lang="en-US" sz="1400" dirty="0"/>
          </a:p>
        </p:txBody>
      </p:sp>
      <p:sp>
        <p:nvSpPr>
          <p:cNvPr id="12" name="Text 9"/>
          <p:cNvSpPr/>
          <p:nvPr/>
        </p:nvSpPr>
        <p:spPr>
          <a:xfrm>
            <a:off x="4599432" y="2176272"/>
            <a:ext cx="2916936" cy="914400"/>
          </a:xfrm>
          <a:prstGeom prst="rect">
            <a:avLst/>
          </a:prstGeom>
          <a:noFill/>
          <a:ln/>
        </p:spPr>
        <p:txBody>
          <a:bodyPr wrap="square" lIns="0" tIns="0" rIns="0" bIns="0" rtlCol="0" anchor="ctr"/>
          <a:lstStyle/>
          <a:p>
            <a:pPr marL="0" indent="0">
              <a:lnSpc>
                <a:spcPct val="115000"/>
              </a:lnSpc>
              <a:buNone/>
            </a:pPr>
            <a:r>
              <a:rPr lang="en-US" sz="1150" dirty="0">
                <a:solidFill>
                  <a:srgbClr val="5A6B78"/>
                </a:solidFill>
                <a:latin typeface="Calibri" pitchFamily="34" charset="0"/>
                <a:ea typeface="Calibri" pitchFamily="34" charset="-122"/>
                <a:cs typeface="Calibri" pitchFamily="34" charset="-120"/>
              </a:rPr>
              <a:t>El despachador planifica de memoria. Se generan sobrecostos de combustible y horas de conductor mal aprovechadas.</a:t>
            </a:r>
            <a:endParaRPr lang="en-US" sz="1150" dirty="0"/>
          </a:p>
        </p:txBody>
      </p:sp>
      <p:sp>
        <p:nvSpPr>
          <p:cNvPr id="13" name="Shape 10"/>
          <p:cNvSpPr/>
          <p:nvPr/>
        </p:nvSpPr>
        <p:spPr>
          <a:xfrm>
            <a:off x="8046720" y="1572768"/>
            <a:ext cx="3429000" cy="1737360"/>
          </a:xfrm>
          <a:prstGeom prst="roundRect">
            <a:avLst>
              <a:gd name="adj" fmla="val 4737"/>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14" name="Shape 11"/>
          <p:cNvSpPr/>
          <p:nvPr/>
        </p:nvSpPr>
        <p:spPr>
          <a:xfrm>
            <a:off x="8302752" y="1810512"/>
            <a:ext cx="201168" cy="201168"/>
          </a:xfrm>
          <a:prstGeom prst="ellipse">
            <a:avLst/>
          </a:prstGeom>
          <a:solidFill>
            <a:srgbClr val="16A394"/>
          </a:solidFill>
          <a:ln w="12700">
            <a:solidFill>
              <a:srgbClr val="16A394"/>
            </a:solidFill>
            <a:prstDash val="solid"/>
          </a:ln>
        </p:spPr>
        <p:txBody>
          <a:bodyPr/>
          <a:lstStyle/>
          <a:p>
            <a:endParaRPr lang="es-CL"/>
          </a:p>
        </p:txBody>
      </p:sp>
      <p:sp>
        <p:nvSpPr>
          <p:cNvPr id="15" name="Text 12"/>
          <p:cNvSpPr/>
          <p:nvPr/>
        </p:nvSpPr>
        <p:spPr>
          <a:xfrm>
            <a:off x="8595360" y="1755648"/>
            <a:ext cx="2651760" cy="310896"/>
          </a:xfrm>
          <a:prstGeom prst="rect">
            <a:avLst/>
          </a:prstGeom>
          <a:noFill/>
          <a:ln/>
        </p:spPr>
        <p:txBody>
          <a:bodyPr wrap="square" lIns="0" tIns="0" rIns="0" bIns="0" rtlCol="0" anchor="ctr"/>
          <a:lstStyle/>
          <a:p>
            <a:pPr marL="0" indent="0">
              <a:buNone/>
            </a:pPr>
            <a:r>
              <a:rPr lang="en-US" sz="1400" b="1" dirty="0">
                <a:solidFill>
                  <a:srgbClr val="0F2E42"/>
                </a:solidFill>
                <a:latin typeface="Calibri" pitchFamily="34" charset="0"/>
                <a:ea typeface="Calibri" pitchFamily="34" charset="-122"/>
                <a:cs typeface="Calibri" pitchFamily="34" charset="-120"/>
              </a:rPr>
              <a:t>Mantención reactiva</a:t>
            </a:r>
            <a:endParaRPr lang="en-US" sz="1400" dirty="0"/>
          </a:p>
        </p:txBody>
      </p:sp>
      <p:sp>
        <p:nvSpPr>
          <p:cNvPr id="16" name="Text 13"/>
          <p:cNvSpPr/>
          <p:nvPr/>
        </p:nvSpPr>
        <p:spPr>
          <a:xfrm>
            <a:off x="8302752" y="2176272"/>
            <a:ext cx="2916936" cy="914400"/>
          </a:xfrm>
          <a:prstGeom prst="rect">
            <a:avLst/>
          </a:prstGeom>
          <a:noFill/>
          <a:ln/>
        </p:spPr>
        <p:txBody>
          <a:bodyPr wrap="square" lIns="0" tIns="0" rIns="0" bIns="0" rtlCol="0" anchor="ctr"/>
          <a:lstStyle/>
          <a:p>
            <a:pPr marL="0" indent="0">
              <a:lnSpc>
                <a:spcPct val="115000"/>
              </a:lnSpc>
              <a:buNone/>
            </a:pPr>
            <a:r>
              <a:rPr lang="en-US" sz="1150" dirty="0">
                <a:solidFill>
                  <a:srgbClr val="5A6B78"/>
                </a:solidFill>
                <a:latin typeface="Calibri" pitchFamily="34" charset="0"/>
                <a:ea typeface="Calibri" pitchFamily="34" charset="-122"/>
                <a:cs typeface="Calibri" pitchFamily="34" charset="-120"/>
              </a:rPr>
              <a:t>El vehículo se repara cuando ya falló. Cada detención no programada significa un servicio incumplido.</a:t>
            </a:r>
            <a:endParaRPr lang="en-US" sz="1150" dirty="0"/>
          </a:p>
        </p:txBody>
      </p:sp>
      <p:sp>
        <p:nvSpPr>
          <p:cNvPr id="17" name="Shape 14"/>
          <p:cNvSpPr/>
          <p:nvPr/>
        </p:nvSpPr>
        <p:spPr>
          <a:xfrm>
            <a:off x="640080" y="3493008"/>
            <a:ext cx="3429000" cy="1737360"/>
          </a:xfrm>
          <a:prstGeom prst="roundRect">
            <a:avLst>
              <a:gd name="adj" fmla="val 4737"/>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18" name="Shape 15"/>
          <p:cNvSpPr/>
          <p:nvPr/>
        </p:nvSpPr>
        <p:spPr>
          <a:xfrm>
            <a:off x="896112" y="3730752"/>
            <a:ext cx="201168" cy="201168"/>
          </a:xfrm>
          <a:prstGeom prst="ellipse">
            <a:avLst/>
          </a:prstGeom>
          <a:solidFill>
            <a:srgbClr val="16A394"/>
          </a:solidFill>
          <a:ln w="12700">
            <a:solidFill>
              <a:srgbClr val="16A394"/>
            </a:solidFill>
            <a:prstDash val="solid"/>
          </a:ln>
        </p:spPr>
        <p:txBody>
          <a:bodyPr/>
          <a:lstStyle/>
          <a:p>
            <a:endParaRPr lang="es-CL"/>
          </a:p>
        </p:txBody>
      </p:sp>
      <p:sp>
        <p:nvSpPr>
          <p:cNvPr id="19" name="Text 16"/>
          <p:cNvSpPr/>
          <p:nvPr/>
        </p:nvSpPr>
        <p:spPr>
          <a:xfrm>
            <a:off x="1188720" y="3675888"/>
            <a:ext cx="2651760" cy="310896"/>
          </a:xfrm>
          <a:prstGeom prst="rect">
            <a:avLst/>
          </a:prstGeom>
          <a:noFill/>
          <a:ln/>
        </p:spPr>
        <p:txBody>
          <a:bodyPr wrap="square" lIns="0" tIns="0" rIns="0" bIns="0" rtlCol="0" anchor="ctr"/>
          <a:lstStyle/>
          <a:p>
            <a:pPr marL="0" indent="0">
              <a:buNone/>
            </a:pPr>
            <a:r>
              <a:rPr lang="en-US" sz="1400" b="1" dirty="0">
                <a:solidFill>
                  <a:srgbClr val="0F2E42"/>
                </a:solidFill>
                <a:latin typeface="Calibri" pitchFamily="34" charset="0"/>
                <a:ea typeface="Calibri" pitchFamily="34" charset="-122"/>
                <a:cs typeface="Calibri" pitchFamily="34" charset="-120"/>
              </a:rPr>
              <a:t>Documentos dispersos</a:t>
            </a:r>
            <a:endParaRPr lang="en-US" sz="1400" dirty="0"/>
          </a:p>
        </p:txBody>
      </p:sp>
      <p:sp>
        <p:nvSpPr>
          <p:cNvPr id="20" name="Text 17"/>
          <p:cNvSpPr/>
          <p:nvPr/>
        </p:nvSpPr>
        <p:spPr>
          <a:xfrm>
            <a:off x="896112" y="4096512"/>
            <a:ext cx="2916936" cy="914400"/>
          </a:xfrm>
          <a:prstGeom prst="rect">
            <a:avLst/>
          </a:prstGeom>
          <a:noFill/>
          <a:ln/>
        </p:spPr>
        <p:txBody>
          <a:bodyPr wrap="square" lIns="0" tIns="0" rIns="0" bIns="0" rtlCol="0" anchor="ctr"/>
          <a:lstStyle/>
          <a:p>
            <a:pPr marL="0" indent="0">
              <a:lnSpc>
                <a:spcPct val="115000"/>
              </a:lnSpc>
              <a:buNone/>
            </a:pPr>
            <a:r>
              <a:rPr lang="en-US" sz="1150" dirty="0">
                <a:solidFill>
                  <a:srgbClr val="5A6B78"/>
                </a:solidFill>
                <a:latin typeface="Calibri" pitchFamily="34" charset="0"/>
                <a:ea typeface="Calibri" pitchFamily="34" charset="-122"/>
                <a:cs typeface="Calibri" pitchFamily="34" charset="-120"/>
              </a:rPr>
              <a:t>Guías, facturas y permisos viven en carpetas físicas y correos. Responder una fiscalización toma horas.</a:t>
            </a:r>
            <a:endParaRPr lang="en-US" sz="1150" dirty="0"/>
          </a:p>
        </p:txBody>
      </p:sp>
      <p:sp>
        <p:nvSpPr>
          <p:cNvPr id="21" name="Shape 18"/>
          <p:cNvSpPr/>
          <p:nvPr/>
        </p:nvSpPr>
        <p:spPr>
          <a:xfrm>
            <a:off x="4343400" y="3493008"/>
            <a:ext cx="3429000" cy="1737360"/>
          </a:xfrm>
          <a:prstGeom prst="roundRect">
            <a:avLst>
              <a:gd name="adj" fmla="val 4737"/>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22" name="Shape 19"/>
          <p:cNvSpPr/>
          <p:nvPr/>
        </p:nvSpPr>
        <p:spPr>
          <a:xfrm>
            <a:off x="4599432" y="3730752"/>
            <a:ext cx="201168" cy="201168"/>
          </a:xfrm>
          <a:prstGeom prst="ellipse">
            <a:avLst/>
          </a:prstGeom>
          <a:solidFill>
            <a:srgbClr val="2E7FB8"/>
          </a:solidFill>
          <a:ln w="12700">
            <a:solidFill>
              <a:srgbClr val="2E7FB8"/>
            </a:solidFill>
            <a:prstDash val="solid"/>
          </a:ln>
        </p:spPr>
        <p:txBody>
          <a:bodyPr/>
          <a:lstStyle/>
          <a:p>
            <a:endParaRPr lang="es-CL"/>
          </a:p>
        </p:txBody>
      </p:sp>
      <p:sp>
        <p:nvSpPr>
          <p:cNvPr id="23" name="Text 20"/>
          <p:cNvSpPr/>
          <p:nvPr/>
        </p:nvSpPr>
        <p:spPr>
          <a:xfrm>
            <a:off x="4892040" y="3675888"/>
            <a:ext cx="2651760" cy="310896"/>
          </a:xfrm>
          <a:prstGeom prst="rect">
            <a:avLst/>
          </a:prstGeom>
          <a:noFill/>
          <a:ln/>
        </p:spPr>
        <p:txBody>
          <a:bodyPr wrap="square" lIns="0" tIns="0" rIns="0" bIns="0" rtlCol="0" anchor="ctr"/>
          <a:lstStyle/>
          <a:p>
            <a:pPr marL="0" indent="0">
              <a:buNone/>
            </a:pPr>
            <a:r>
              <a:rPr lang="en-US" sz="1400" b="1" dirty="0">
                <a:solidFill>
                  <a:srgbClr val="0F2E42"/>
                </a:solidFill>
                <a:latin typeface="Calibri" pitchFamily="34" charset="0"/>
                <a:ea typeface="Calibri" pitchFamily="34" charset="-122"/>
                <a:cs typeface="Calibri" pitchFamily="34" charset="-120"/>
              </a:rPr>
              <a:t>Facturación desconectada</a:t>
            </a:r>
            <a:endParaRPr lang="en-US" sz="1400" dirty="0"/>
          </a:p>
        </p:txBody>
      </p:sp>
      <p:sp>
        <p:nvSpPr>
          <p:cNvPr id="24" name="Text 21"/>
          <p:cNvSpPr/>
          <p:nvPr/>
        </p:nvSpPr>
        <p:spPr>
          <a:xfrm>
            <a:off x="4599432" y="4096512"/>
            <a:ext cx="2916936" cy="914400"/>
          </a:xfrm>
          <a:prstGeom prst="rect">
            <a:avLst/>
          </a:prstGeom>
          <a:noFill/>
          <a:ln/>
        </p:spPr>
        <p:txBody>
          <a:bodyPr wrap="square" lIns="0" tIns="0" rIns="0" bIns="0" rtlCol="0" anchor="ctr"/>
          <a:lstStyle/>
          <a:p>
            <a:pPr marL="0" indent="0">
              <a:lnSpc>
                <a:spcPct val="115000"/>
              </a:lnSpc>
              <a:buNone/>
            </a:pPr>
            <a:r>
              <a:rPr lang="en-US" sz="1150" dirty="0">
                <a:solidFill>
                  <a:srgbClr val="5A6B78"/>
                </a:solidFill>
                <a:latin typeface="Calibri" pitchFamily="34" charset="0"/>
                <a:ea typeface="Calibri" pitchFamily="34" charset="-122"/>
                <a:cs typeface="Calibri" pitchFamily="34" charset="-120"/>
              </a:rPr>
              <a:t>El cobro no conversa con la operación. Se factura tarde y con diferencias respecto de lo entregado.</a:t>
            </a:r>
            <a:endParaRPr lang="en-US" sz="1150" dirty="0"/>
          </a:p>
        </p:txBody>
      </p:sp>
      <p:sp>
        <p:nvSpPr>
          <p:cNvPr id="25" name="Shape 22"/>
          <p:cNvSpPr/>
          <p:nvPr/>
        </p:nvSpPr>
        <p:spPr>
          <a:xfrm>
            <a:off x="8046720" y="3493008"/>
            <a:ext cx="3429000" cy="1737360"/>
          </a:xfrm>
          <a:prstGeom prst="roundRect">
            <a:avLst>
              <a:gd name="adj" fmla="val 4737"/>
            </a:avLst>
          </a:prstGeom>
          <a:solidFill>
            <a:srgbClr val="0F2E42"/>
          </a:solidFill>
          <a:ln w="12700">
            <a:solidFill>
              <a:srgbClr val="0F2E42"/>
            </a:solidFill>
            <a:prstDash val="solid"/>
          </a:ln>
        </p:spPr>
        <p:txBody>
          <a:bodyPr/>
          <a:lstStyle/>
          <a:p>
            <a:endParaRPr lang="es-CL"/>
          </a:p>
        </p:txBody>
      </p:sp>
      <p:sp>
        <p:nvSpPr>
          <p:cNvPr id="26" name="Text 23"/>
          <p:cNvSpPr/>
          <p:nvPr/>
        </p:nvSpPr>
        <p:spPr>
          <a:xfrm>
            <a:off x="8302752" y="3703320"/>
            <a:ext cx="2926080" cy="274320"/>
          </a:xfrm>
          <a:prstGeom prst="rect">
            <a:avLst/>
          </a:prstGeom>
          <a:noFill/>
          <a:ln/>
        </p:spPr>
        <p:txBody>
          <a:bodyPr wrap="square" lIns="0" tIns="0" rIns="0" bIns="0" rtlCol="0" anchor="ctr"/>
          <a:lstStyle/>
          <a:p>
            <a:pPr marL="0" indent="0">
              <a:buNone/>
            </a:pPr>
            <a:r>
              <a:rPr lang="en-US" sz="1400" b="1" dirty="0">
                <a:solidFill>
                  <a:srgbClr val="16A394"/>
                </a:solidFill>
                <a:latin typeface="Calibri" pitchFamily="34" charset="0"/>
                <a:ea typeface="Calibri" pitchFamily="34" charset="-122"/>
                <a:cs typeface="Calibri" pitchFamily="34" charset="-120"/>
              </a:rPr>
              <a:t>El problema de fondo</a:t>
            </a:r>
            <a:endParaRPr lang="en-US" sz="1400" dirty="0"/>
          </a:p>
        </p:txBody>
      </p:sp>
      <p:sp>
        <p:nvSpPr>
          <p:cNvPr id="27" name="Text 24"/>
          <p:cNvSpPr/>
          <p:nvPr/>
        </p:nvSpPr>
        <p:spPr>
          <a:xfrm>
            <a:off x="8302752" y="4069080"/>
            <a:ext cx="2926080" cy="1005840"/>
          </a:xfrm>
          <a:prstGeom prst="rect">
            <a:avLst/>
          </a:prstGeom>
          <a:noFill/>
          <a:ln/>
        </p:spPr>
        <p:txBody>
          <a:bodyPr wrap="square" lIns="0" tIns="0" rIns="0" bIns="0" rtlCol="0" anchor="ctr"/>
          <a:lstStyle/>
          <a:p>
            <a:pPr marL="0" indent="0">
              <a:lnSpc>
                <a:spcPct val="120000"/>
              </a:lnSpc>
              <a:buNone/>
            </a:pPr>
            <a:r>
              <a:rPr lang="en-US" sz="1300" dirty="0">
                <a:solidFill>
                  <a:srgbClr val="FFFFFF"/>
                </a:solidFill>
                <a:latin typeface="Calibri" pitchFamily="34" charset="0"/>
                <a:ea typeface="Calibri" pitchFamily="34" charset="-122"/>
                <a:cs typeface="Calibri" pitchFamily="34" charset="-120"/>
              </a:rPr>
              <a:t>Nadie en la empresa tiene la foto completa de la operación en un mismo lugar.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548640"/>
          </a:xfrm>
          <a:prstGeom prst="rect">
            <a:avLst/>
          </a:prstGeom>
          <a:noFill/>
          <a:ln/>
        </p:spPr>
        <p:txBody>
          <a:bodyPr wrap="square" lIns="0" tIns="0" rIns="0" bIns="0" rtlCol="0" anchor="ctr"/>
          <a:lstStyle/>
          <a:p>
            <a:pPr marL="0" indent="0">
              <a:buNone/>
            </a:pPr>
            <a:r>
              <a:rPr lang="en-US" sz="3000" b="1" dirty="0">
                <a:solidFill>
                  <a:srgbClr val="0F2E42"/>
                </a:solidFill>
                <a:latin typeface="Calibri" pitchFamily="34" charset="0"/>
                <a:ea typeface="Calibri" pitchFamily="34" charset="-122"/>
                <a:cs typeface="Calibri" pitchFamily="34" charset="-120"/>
              </a:rPr>
              <a:t>Contexto e impacto</a:t>
            </a:r>
            <a:endParaRPr lang="en-US" sz="3000" dirty="0"/>
          </a:p>
        </p:txBody>
      </p:sp>
      <p:sp>
        <p:nvSpPr>
          <p:cNvPr id="3" name="Text 1"/>
          <p:cNvSpPr/>
          <p:nvPr/>
        </p:nvSpPr>
        <p:spPr>
          <a:xfrm>
            <a:off x="640080" y="932688"/>
            <a:ext cx="10881360" cy="36576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Dónde se sitúa la problemática y a quiénes afecta</a:t>
            </a:r>
            <a:endParaRPr lang="en-US" sz="1500" dirty="0"/>
          </a:p>
        </p:txBody>
      </p:sp>
      <p:pic>
        <p:nvPicPr>
          <p:cNvPr id="4" name="Image 0" descr="/mnt/user-data/outputs/logo/vialnex-isotipo-512.png"/>
          <p:cNvPicPr>
            <a:picLocks noChangeAspect="1"/>
          </p:cNvPicPr>
          <p:nvPr/>
        </p:nvPicPr>
        <p:blipFill>
          <a:blip r:embed="rId3"/>
          <a:stretch>
            <a:fillRect/>
          </a:stretch>
        </p:blipFill>
        <p:spPr>
          <a:xfrm>
            <a:off x="11475720" y="6172200"/>
            <a:ext cx="384048" cy="384048"/>
          </a:xfrm>
          <a:prstGeom prst="rect">
            <a:avLst/>
          </a:prstGeom>
        </p:spPr>
      </p:pic>
      <p:sp>
        <p:nvSpPr>
          <p:cNvPr id="5" name="Shape 2"/>
          <p:cNvSpPr/>
          <p:nvPr/>
        </p:nvSpPr>
        <p:spPr>
          <a:xfrm>
            <a:off x="640080" y="1600200"/>
            <a:ext cx="3429000" cy="1417320"/>
          </a:xfrm>
          <a:prstGeom prst="roundRect">
            <a:avLst>
              <a:gd name="adj" fmla="val 5806"/>
            </a:avLst>
          </a:prstGeom>
          <a:solidFill>
            <a:srgbClr val="F2F6F9"/>
          </a:solidFill>
          <a:ln w="12700">
            <a:solidFill>
              <a:srgbClr val="D8E2E9"/>
            </a:solidFill>
            <a:prstDash val="solid"/>
          </a:ln>
        </p:spPr>
        <p:txBody>
          <a:bodyPr/>
          <a:lstStyle/>
          <a:p>
            <a:endParaRPr lang="es-CL"/>
          </a:p>
        </p:txBody>
      </p:sp>
      <p:sp>
        <p:nvSpPr>
          <p:cNvPr id="6" name="Text 3"/>
          <p:cNvSpPr/>
          <p:nvPr/>
        </p:nvSpPr>
        <p:spPr>
          <a:xfrm>
            <a:off x="896112" y="1783080"/>
            <a:ext cx="2926080" cy="640080"/>
          </a:xfrm>
          <a:prstGeom prst="rect">
            <a:avLst/>
          </a:prstGeom>
          <a:noFill/>
          <a:ln/>
        </p:spPr>
        <p:txBody>
          <a:bodyPr wrap="square" lIns="0" tIns="0" rIns="0" bIns="0" rtlCol="0" anchor="ctr"/>
          <a:lstStyle/>
          <a:p>
            <a:pPr marL="0" indent="0">
              <a:lnSpc>
                <a:spcPct val="105000"/>
              </a:lnSpc>
              <a:buNone/>
            </a:pPr>
            <a:r>
              <a:rPr lang="en-US" sz="1500" b="1" dirty="0">
                <a:solidFill>
                  <a:srgbClr val="2E7FB8"/>
                </a:solidFill>
                <a:latin typeface="Calibri" pitchFamily="34" charset="0"/>
                <a:ea typeface="Calibri" pitchFamily="34" charset="-122"/>
                <a:cs typeface="Calibri" pitchFamily="34" charset="-120"/>
              </a:rPr>
              <a:t>Empresas de transporte de carga y distribución</a:t>
            </a:r>
            <a:endParaRPr lang="en-US" sz="1500" dirty="0"/>
          </a:p>
        </p:txBody>
      </p:sp>
      <p:sp>
        <p:nvSpPr>
          <p:cNvPr id="7" name="Text 4"/>
          <p:cNvSpPr/>
          <p:nvPr/>
        </p:nvSpPr>
        <p:spPr>
          <a:xfrm>
            <a:off x="896112" y="2432304"/>
            <a:ext cx="2926080" cy="457200"/>
          </a:xfrm>
          <a:prstGeom prst="rect">
            <a:avLst/>
          </a:prstGeom>
          <a:noFill/>
          <a:ln/>
        </p:spPr>
        <p:txBody>
          <a:bodyPr wrap="square" lIns="0" tIns="0" rIns="0" bIns="0" rtlCol="0" anchor="ctr"/>
          <a:lstStyle/>
          <a:p>
            <a:pPr marL="0" indent="0">
              <a:buNone/>
            </a:pPr>
            <a:r>
              <a:rPr lang="en-US" sz="1050" dirty="0">
                <a:solidFill>
                  <a:srgbClr val="5A6B78"/>
                </a:solidFill>
                <a:latin typeface="Calibri" pitchFamily="34" charset="0"/>
                <a:ea typeface="Calibri" pitchFamily="34" charset="-122"/>
                <a:cs typeface="Calibri" pitchFamily="34" charset="-120"/>
              </a:rPr>
              <a:t>Región Metropolitana y regiones aledañas</a:t>
            </a:r>
            <a:endParaRPr lang="en-US" sz="1050" dirty="0"/>
          </a:p>
        </p:txBody>
      </p:sp>
      <p:sp>
        <p:nvSpPr>
          <p:cNvPr id="8" name="Shape 5"/>
          <p:cNvSpPr/>
          <p:nvPr/>
        </p:nvSpPr>
        <p:spPr>
          <a:xfrm>
            <a:off x="4343400" y="1600200"/>
            <a:ext cx="3429000" cy="1417320"/>
          </a:xfrm>
          <a:prstGeom prst="roundRect">
            <a:avLst>
              <a:gd name="adj" fmla="val 5806"/>
            </a:avLst>
          </a:prstGeom>
          <a:solidFill>
            <a:srgbClr val="F2F6F9"/>
          </a:solidFill>
          <a:ln w="12700">
            <a:solidFill>
              <a:srgbClr val="D8E2E9"/>
            </a:solidFill>
            <a:prstDash val="solid"/>
          </a:ln>
        </p:spPr>
        <p:txBody>
          <a:bodyPr/>
          <a:lstStyle/>
          <a:p>
            <a:endParaRPr lang="es-CL"/>
          </a:p>
        </p:txBody>
      </p:sp>
      <p:sp>
        <p:nvSpPr>
          <p:cNvPr id="9" name="Text 6"/>
          <p:cNvSpPr/>
          <p:nvPr/>
        </p:nvSpPr>
        <p:spPr>
          <a:xfrm>
            <a:off x="4599432" y="1783080"/>
            <a:ext cx="2926080" cy="640080"/>
          </a:xfrm>
          <a:prstGeom prst="rect">
            <a:avLst/>
          </a:prstGeom>
          <a:noFill/>
          <a:ln/>
        </p:spPr>
        <p:txBody>
          <a:bodyPr wrap="square" lIns="0" tIns="0" rIns="0" bIns="0" rtlCol="0" anchor="ctr"/>
          <a:lstStyle/>
          <a:p>
            <a:pPr marL="0" indent="0">
              <a:lnSpc>
                <a:spcPct val="105000"/>
              </a:lnSpc>
              <a:buNone/>
            </a:pPr>
            <a:r>
              <a:rPr lang="en-US" sz="1500" b="1" dirty="0">
                <a:solidFill>
                  <a:srgbClr val="16A394"/>
                </a:solidFill>
                <a:latin typeface="Calibri" pitchFamily="34" charset="0"/>
                <a:ea typeface="Calibri" pitchFamily="34" charset="-122"/>
                <a:cs typeface="Calibri" pitchFamily="34" charset="-120"/>
              </a:rPr>
              <a:t>Flotas de 5 a 30 vehículos</a:t>
            </a:r>
            <a:endParaRPr lang="en-US" sz="1500" dirty="0"/>
          </a:p>
        </p:txBody>
      </p:sp>
      <p:sp>
        <p:nvSpPr>
          <p:cNvPr id="10" name="Text 7"/>
          <p:cNvSpPr/>
          <p:nvPr/>
        </p:nvSpPr>
        <p:spPr>
          <a:xfrm>
            <a:off x="4599432" y="2432304"/>
            <a:ext cx="2926080" cy="457200"/>
          </a:xfrm>
          <a:prstGeom prst="rect">
            <a:avLst/>
          </a:prstGeom>
          <a:noFill/>
          <a:ln/>
        </p:spPr>
        <p:txBody>
          <a:bodyPr wrap="square" lIns="0" tIns="0" rIns="0" bIns="0" rtlCol="0" anchor="ctr"/>
          <a:lstStyle/>
          <a:p>
            <a:pPr marL="0" indent="0">
              <a:buNone/>
            </a:pPr>
            <a:r>
              <a:rPr lang="en-US" sz="1050" dirty="0">
                <a:solidFill>
                  <a:srgbClr val="5A6B78"/>
                </a:solidFill>
                <a:latin typeface="Calibri" pitchFamily="34" charset="0"/>
                <a:ea typeface="Calibri" pitchFamily="34" charset="-122"/>
                <a:cs typeface="Calibri" pitchFamily="34" charset="-120"/>
              </a:rPr>
              <a:t>Tamaño donde el ERP tradicional resulta desproporcionado</a:t>
            </a:r>
            <a:endParaRPr lang="en-US" sz="1050" dirty="0"/>
          </a:p>
        </p:txBody>
      </p:sp>
      <p:sp>
        <p:nvSpPr>
          <p:cNvPr id="11" name="Shape 8"/>
          <p:cNvSpPr/>
          <p:nvPr/>
        </p:nvSpPr>
        <p:spPr>
          <a:xfrm>
            <a:off x="8046720" y="1600200"/>
            <a:ext cx="3429000" cy="1417320"/>
          </a:xfrm>
          <a:prstGeom prst="roundRect">
            <a:avLst>
              <a:gd name="adj" fmla="val 5806"/>
            </a:avLst>
          </a:prstGeom>
          <a:solidFill>
            <a:srgbClr val="F2F6F9"/>
          </a:solidFill>
          <a:ln w="12700">
            <a:solidFill>
              <a:srgbClr val="D8E2E9"/>
            </a:solidFill>
            <a:prstDash val="solid"/>
          </a:ln>
        </p:spPr>
        <p:txBody>
          <a:bodyPr/>
          <a:lstStyle/>
          <a:p>
            <a:endParaRPr lang="es-CL"/>
          </a:p>
        </p:txBody>
      </p:sp>
      <p:sp>
        <p:nvSpPr>
          <p:cNvPr id="12" name="Text 9"/>
          <p:cNvSpPr/>
          <p:nvPr/>
        </p:nvSpPr>
        <p:spPr>
          <a:xfrm>
            <a:off x="8302752" y="1783080"/>
            <a:ext cx="2926080" cy="640080"/>
          </a:xfrm>
          <a:prstGeom prst="rect">
            <a:avLst/>
          </a:prstGeom>
          <a:noFill/>
          <a:ln/>
        </p:spPr>
        <p:txBody>
          <a:bodyPr wrap="square" lIns="0" tIns="0" rIns="0" bIns="0" rtlCol="0" anchor="ctr"/>
          <a:lstStyle/>
          <a:p>
            <a:pPr marL="0" indent="0">
              <a:lnSpc>
                <a:spcPct val="105000"/>
              </a:lnSpc>
              <a:buNone/>
            </a:pPr>
            <a:r>
              <a:rPr lang="en-US" sz="1500" b="1" dirty="0">
                <a:solidFill>
                  <a:srgbClr val="2E7FB8"/>
                </a:solidFill>
                <a:latin typeface="Calibri" pitchFamily="34" charset="0"/>
                <a:ea typeface="Calibri" pitchFamily="34" charset="-122"/>
                <a:cs typeface="Calibri" pitchFamily="34" charset="-120"/>
              </a:rPr>
              <a:t>Operación en planillas y correos</a:t>
            </a:r>
            <a:endParaRPr lang="en-US" sz="1500" dirty="0"/>
          </a:p>
        </p:txBody>
      </p:sp>
      <p:sp>
        <p:nvSpPr>
          <p:cNvPr id="13" name="Text 10"/>
          <p:cNvSpPr/>
          <p:nvPr/>
        </p:nvSpPr>
        <p:spPr>
          <a:xfrm>
            <a:off x="8302752" y="2432304"/>
            <a:ext cx="2926080" cy="457200"/>
          </a:xfrm>
          <a:prstGeom prst="rect">
            <a:avLst/>
          </a:prstGeom>
          <a:noFill/>
          <a:ln/>
        </p:spPr>
        <p:txBody>
          <a:bodyPr wrap="square" lIns="0" tIns="0" rIns="0" bIns="0" rtlCol="0" anchor="ctr"/>
          <a:lstStyle/>
          <a:p>
            <a:pPr marL="0" indent="0">
              <a:buNone/>
            </a:pPr>
            <a:r>
              <a:rPr lang="en-US" sz="1050" dirty="0">
                <a:solidFill>
                  <a:srgbClr val="5A6B78"/>
                </a:solidFill>
                <a:latin typeface="Calibri" pitchFamily="34" charset="0"/>
                <a:ea typeface="Calibri" pitchFamily="34" charset="-122"/>
                <a:cs typeface="Calibri" pitchFamily="34" charset="-120"/>
              </a:rPr>
              <a:t>Sin sistema que integre pedidos, flota y documentos</a:t>
            </a:r>
            <a:endParaRPr lang="en-US" sz="1050" dirty="0"/>
          </a:p>
        </p:txBody>
      </p:sp>
      <p:sp>
        <p:nvSpPr>
          <p:cNvPr id="14" name="Text 11"/>
          <p:cNvSpPr/>
          <p:nvPr/>
        </p:nvSpPr>
        <p:spPr>
          <a:xfrm>
            <a:off x="640080" y="3246120"/>
            <a:ext cx="5486400" cy="320040"/>
          </a:xfrm>
          <a:prstGeom prst="rect">
            <a:avLst/>
          </a:prstGeom>
          <a:noFill/>
          <a:ln/>
        </p:spPr>
        <p:txBody>
          <a:bodyPr wrap="square" lIns="0" tIns="0" rIns="0" bIns="0" rtlCol="0" anchor="ctr"/>
          <a:lstStyle/>
          <a:p>
            <a:pPr marL="0" indent="0">
              <a:buNone/>
            </a:pPr>
            <a:r>
              <a:rPr lang="en-US" sz="1700" b="1" dirty="0">
                <a:solidFill>
                  <a:srgbClr val="0F2E42"/>
                </a:solidFill>
                <a:latin typeface="Calibri" pitchFamily="34" charset="0"/>
                <a:ea typeface="Calibri" pitchFamily="34" charset="-122"/>
                <a:cs typeface="Calibri" pitchFamily="34" charset="-120"/>
              </a:rPr>
              <a:t>A quiénes impacta</a:t>
            </a:r>
            <a:endParaRPr lang="en-US" sz="1700" dirty="0"/>
          </a:p>
        </p:txBody>
      </p:sp>
      <p:sp>
        <p:nvSpPr>
          <p:cNvPr id="15" name="Shape 12"/>
          <p:cNvSpPr/>
          <p:nvPr/>
        </p:nvSpPr>
        <p:spPr>
          <a:xfrm>
            <a:off x="658368" y="3758184"/>
            <a:ext cx="182880" cy="182880"/>
          </a:xfrm>
          <a:prstGeom prst="ellipse">
            <a:avLst/>
          </a:prstGeom>
          <a:solidFill>
            <a:srgbClr val="2E7FB8"/>
          </a:solidFill>
          <a:ln w="12700">
            <a:solidFill>
              <a:srgbClr val="2E7FB8"/>
            </a:solidFill>
            <a:prstDash val="solid"/>
          </a:ln>
        </p:spPr>
        <p:txBody>
          <a:bodyPr/>
          <a:lstStyle/>
          <a:p>
            <a:endParaRPr lang="es-CL"/>
          </a:p>
        </p:txBody>
      </p:sp>
      <p:sp>
        <p:nvSpPr>
          <p:cNvPr id="16" name="Text 13"/>
          <p:cNvSpPr/>
          <p:nvPr/>
        </p:nvSpPr>
        <p:spPr>
          <a:xfrm>
            <a:off x="969264" y="3675888"/>
            <a:ext cx="2377440" cy="347472"/>
          </a:xfrm>
          <a:prstGeom prst="rect">
            <a:avLst/>
          </a:prstGeom>
          <a:noFill/>
          <a:ln/>
        </p:spPr>
        <p:txBody>
          <a:bodyPr wrap="square" lIns="0" tIns="0" rIns="0" bIns="0" rtlCol="0" anchor="ctr"/>
          <a:lstStyle/>
          <a:p>
            <a:pPr marL="0" indent="0">
              <a:buNone/>
            </a:pPr>
            <a:r>
              <a:rPr lang="en-US" sz="1250" b="1" dirty="0">
                <a:solidFill>
                  <a:srgbClr val="0F2E42"/>
                </a:solidFill>
                <a:latin typeface="Calibri" pitchFamily="34" charset="0"/>
                <a:ea typeface="Calibri" pitchFamily="34" charset="-122"/>
                <a:cs typeface="Calibri" pitchFamily="34" charset="-120"/>
              </a:rPr>
              <a:t>Dueño o administrador</a:t>
            </a:r>
            <a:endParaRPr lang="en-US" sz="1250" dirty="0"/>
          </a:p>
        </p:txBody>
      </p:sp>
      <p:sp>
        <p:nvSpPr>
          <p:cNvPr id="17" name="Text 14"/>
          <p:cNvSpPr/>
          <p:nvPr/>
        </p:nvSpPr>
        <p:spPr>
          <a:xfrm>
            <a:off x="3383280" y="3675888"/>
            <a:ext cx="4206240" cy="347472"/>
          </a:xfrm>
          <a:prstGeom prst="rect">
            <a:avLst/>
          </a:prstGeom>
          <a:noFill/>
          <a:ln/>
        </p:spPr>
        <p:txBody>
          <a:bodyPr wrap="square" lIns="0" tIns="0" rIns="0" bIns="0" rtlCol="0" anchor="ctr"/>
          <a:lstStyle/>
          <a:p>
            <a:pPr marL="0" indent="0">
              <a:buNone/>
            </a:pPr>
            <a:r>
              <a:rPr lang="en-US" sz="1150" dirty="0">
                <a:solidFill>
                  <a:srgbClr val="5A6B78"/>
                </a:solidFill>
                <a:latin typeface="Calibri" pitchFamily="34" charset="0"/>
                <a:ea typeface="Calibri" pitchFamily="34" charset="-122"/>
                <a:cs typeface="Calibri" pitchFamily="34" charset="-120"/>
              </a:rPr>
              <a:t>No dispone de información consolidada para decidir</a:t>
            </a:r>
            <a:endParaRPr lang="en-US" sz="1150" dirty="0"/>
          </a:p>
        </p:txBody>
      </p:sp>
      <p:sp>
        <p:nvSpPr>
          <p:cNvPr id="18" name="Shape 15"/>
          <p:cNvSpPr/>
          <p:nvPr/>
        </p:nvSpPr>
        <p:spPr>
          <a:xfrm>
            <a:off x="658368" y="4306824"/>
            <a:ext cx="182880" cy="182880"/>
          </a:xfrm>
          <a:prstGeom prst="ellipse">
            <a:avLst/>
          </a:prstGeom>
          <a:solidFill>
            <a:srgbClr val="16A394"/>
          </a:solidFill>
          <a:ln w="12700">
            <a:solidFill>
              <a:srgbClr val="16A394"/>
            </a:solidFill>
            <a:prstDash val="solid"/>
          </a:ln>
        </p:spPr>
        <p:txBody>
          <a:bodyPr/>
          <a:lstStyle/>
          <a:p>
            <a:endParaRPr lang="es-CL"/>
          </a:p>
        </p:txBody>
      </p:sp>
      <p:sp>
        <p:nvSpPr>
          <p:cNvPr id="19" name="Text 16"/>
          <p:cNvSpPr/>
          <p:nvPr/>
        </p:nvSpPr>
        <p:spPr>
          <a:xfrm>
            <a:off x="969264" y="4224528"/>
            <a:ext cx="2377440" cy="347472"/>
          </a:xfrm>
          <a:prstGeom prst="rect">
            <a:avLst/>
          </a:prstGeom>
          <a:noFill/>
          <a:ln/>
        </p:spPr>
        <p:txBody>
          <a:bodyPr wrap="square" lIns="0" tIns="0" rIns="0" bIns="0" rtlCol="0" anchor="ctr"/>
          <a:lstStyle/>
          <a:p>
            <a:pPr marL="0" indent="0">
              <a:buNone/>
            </a:pPr>
            <a:r>
              <a:rPr lang="en-US" sz="1250" b="1" dirty="0">
                <a:solidFill>
                  <a:srgbClr val="0F2E42"/>
                </a:solidFill>
                <a:latin typeface="Calibri" pitchFamily="34" charset="0"/>
                <a:ea typeface="Calibri" pitchFamily="34" charset="-122"/>
                <a:cs typeface="Calibri" pitchFamily="34" charset="-120"/>
              </a:rPr>
              <a:t>Despachador</a:t>
            </a:r>
            <a:endParaRPr lang="en-US" sz="1250" dirty="0"/>
          </a:p>
        </p:txBody>
      </p:sp>
      <p:sp>
        <p:nvSpPr>
          <p:cNvPr id="20" name="Text 17"/>
          <p:cNvSpPr/>
          <p:nvPr/>
        </p:nvSpPr>
        <p:spPr>
          <a:xfrm>
            <a:off x="3383280" y="4224528"/>
            <a:ext cx="4206240" cy="347472"/>
          </a:xfrm>
          <a:prstGeom prst="rect">
            <a:avLst/>
          </a:prstGeom>
          <a:noFill/>
          <a:ln/>
        </p:spPr>
        <p:txBody>
          <a:bodyPr wrap="square" lIns="0" tIns="0" rIns="0" bIns="0" rtlCol="0" anchor="ctr"/>
          <a:lstStyle/>
          <a:p>
            <a:pPr marL="0" indent="0">
              <a:buNone/>
            </a:pPr>
            <a:r>
              <a:rPr lang="en-US" sz="1150" dirty="0">
                <a:solidFill>
                  <a:srgbClr val="5A6B78"/>
                </a:solidFill>
                <a:latin typeface="Calibri" pitchFamily="34" charset="0"/>
                <a:ea typeface="Calibri" pitchFamily="34" charset="-122"/>
                <a:cs typeface="Calibri" pitchFamily="34" charset="-120"/>
              </a:rPr>
              <a:t>Planifica sin visibilidad del estado real de la flota</a:t>
            </a:r>
            <a:endParaRPr lang="en-US" sz="1150" dirty="0"/>
          </a:p>
        </p:txBody>
      </p:sp>
      <p:sp>
        <p:nvSpPr>
          <p:cNvPr id="21" name="Shape 18"/>
          <p:cNvSpPr/>
          <p:nvPr/>
        </p:nvSpPr>
        <p:spPr>
          <a:xfrm>
            <a:off x="658368" y="4855464"/>
            <a:ext cx="182880" cy="182880"/>
          </a:xfrm>
          <a:prstGeom prst="ellipse">
            <a:avLst/>
          </a:prstGeom>
          <a:solidFill>
            <a:srgbClr val="2E7FB8"/>
          </a:solidFill>
          <a:ln w="12700">
            <a:solidFill>
              <a:srgbClr val="2E7FB8"/>
            </a:solidFill>
            <a:prstDash val="solid"/>
          </a:ln>
        </p:spPr>
        <p:txBody>
          <a:bodyPr/>
          <a:lstStyle/>
          <a:p>
            <a:endParaRPr lang="es-CL"/>
          </a:p>
        </p:txBody>
      </p:sp>
      <p:sp>
        <p:nvSpPr>
          <p:cNvPr id="22" name="Text 19"/>
          <p:cNvSpPr/>
          <p:nvPr/>
        </p:nvSpPr>
        <p:spPr>
          <a:xfrm>
            <a:off x="969264" y="4773168"/>
            <a:ext cx="2377440" cy="347472"/>
          </a:xfrm>
          <a:prstGeom prst="rect">
            <a:avLst/>
          </a:prstGeom>
          <a:noFill/>
          <a:ln/>
        </p:spPr>
        <p:txBody>
          <a:bodyPr wrap="square" lIns="0" tIns="0" rIns="0" bIns="0" rtlCol="0" anchor="ctr"/>
          <a:lstStyle/>
          <a:p>
            <a:pPr marL="0" indent="0">
              <a:buNone/>
            </a:pPr>
            <a:r>
              <a:rPr lang="en-US" sz="1250" b="1" dirty="0">
                <a:solidFill>
                  <a:srgbClr val="0F2E42"/>
                </a:solidFill>
                <a:latin typeface="Calibri" pitchFamily="34" charset="0"/>
                <a:ea typeface="Calibri" pitchFamily="34" charset="-122"/>
                <a:cs typeface="Calibri" pitchFamily="34" charset="-120"/>
              </a:rPr>
              <a:t>Jefe de flota</a:t>
            </a:r>
            <a:endParaRPr lang="en-US" sz="1250" dirty="0"/>
          </a:p>
        </p:txBody>
      </p:sp>
      <p:sp>
        <p:nvSpPr>
          <p:cNvPr id="23" name="Text 20"/>
          <p:cNvSpPr/>
          <p:nvPr/>
        </p:nvSpPr>
        <p:spPr>
          <a:xfrm>
            <a:off x="3383280" y="4773168"/>
            <a:ext cx="4206240" cy="347472"/>
          </a:xfrm>
          <a:prstGeom prst="rect">
            <a:avLst/>
          </a:prstGeom>
          <a:noFill/>
          <a:ln/>
        </p:spPr>
        <p:txBody>
          <a:bodyPr wrap="square" lIns="0" tIns="0" rIns="0" bIns="0" rtlCol="0" anchor="ctr"/>
          <a:lstStyle/>
          <a:p>
            <a:pPr marL="0" indent="0">
              <a:buNone/>
            </a:pPr>
            <a:r>
              <a:rPr lang="en-US" sz="1150" dirty="0">
                <a:solidFill>
                  <a:srgbClr val="5A6B78"/>
                </a:solidFill>
                <a:latin typeface="Calibri" pitchFamily="34" charset="0"/>
                <a:ea typeface="Calibri" pitchFamily="34" charset="-122"/>
                <a:cs typeface="Calibri" pitchFamily="34" charset="-120"/>
              </a:rPr>
              <a:t>Controla mantenciones y vencimientos en planillas</a:t>
            </a:r>
            <a:endParaRPr lang="en-US" sz="1150" dirty="0"/>
          </a:p>
        </p:txBody>
      </p:sp>
      <p:sp>
        <p:nvSpPr>
          <p:cNvPr id="24" name="Shape 21"/>
          <p:cNvSpPr/>
          <p:nvPr/>
        </p:nvSpPr>
        <p:spPr>
          <a:xfrm>
            <a:off x="658368" y="5404104"/>
            <a:ext cx="182880" cy="182880"/>
          </a:xfrm>
          <a:prstGeom prst="ellipse">
            <a:avLst/>
          </a:prstGeom>
          <a:solidFill>
            <a:srgbClr val="16A394"/>
          </a:solidFill>
          <a:ln w="12700">
            <a:solidFill>
              <a:srgbClr val="16A394"/>
            </a:solidFill>
            <a:prstDash val="solid"/>
          </a:ln>
        </p:spPr>
        <p:txBody>
          <a:bodyPr/>
          <a:lstStyle/>
          <a:p>
            <a:endParaRPr lang="es-CL"/>
          </a:p>
        </p:txBody>
      </p:sp>
      <p:sp>
        <p:nvSpPr>
          <p:cNvPr id="25" name="Text 22"/>
          <p:cNvSpPr/>
          <p:nvPr/>
        </p:nvSpPr>
        <p:spPr>
          <a:xfrm>
            <a:off x="969264" y="5321808"/>
            <a:ext cx="2377440" cy="347472"/>
          </a:xfrm>
          <a:prstGeom prst="rect">
            <a:avLst/>
          </a:prstGeom>
          <a:noFill/>
          <a:ln/>
        </p:spPr>
        <p:txBody>
          <a:bodyPr wrap="square" lIns="0" tIns="0" rIns="0" bIns="0" rtlCol="0" anchor="ctr"/>
          <a:lstStyle/>
          <a:p>
            <a:pPr marL="0" indent="0">
              <a:buNone/>
            </a:pPr>
            <a:r>
              <a:rPr lang="en-US" sz="1250" b="1" dirty="0">
                <a:solidFill>
                  <a:srgbClr val="0F2E42"/>
                </a:solidFill>
                <a:latin typeface="Calibri" pitchFamily="34" charset="0"/>
                <a:ea typeface="Calibri" pitchFamily="34" charset="-122"/>
                <a:cs typeface="Calibri" pitchFamily="34" charset="-120"/>
              </a:rPr>
              <a:t>Administración</a:t>
            </a:r>
            <a:endParaRPr lang="en-US" sz="1250" dirty="0"/>
          </a:p>
        </p:txBody>
      </p:sp>
      <p:sp>
        <p:nvSpPr>
          <p:cNvPr id="26" name="Text 23"/>
          <p:cNvSpPr/>
          <p:nvPr/>
        </p:nvSpPr>
        <p:spPr>
          <a:xfrm>
            <a:off x="3383280" y="5321808"/>
            <a:ext cx="4206240" cy="347472"/>
          </a:xfrm>
          <a:prstGeom prst="rect">
            <a:avLst/>
          </a:prstGeom>
          <a:noFill/>
          <a:ln/>
        </p:spPr>
        <p:txBody>
          <a:bodyPr wrap="square" lIns="0" tIns="0" rIns="0" bIns="0" rtlCol="0" anchor="ctr"/>
          <a:lstStyle/>
          <a:p>
            <a:pPr marL="0" indent="0">
              <a:buNone/>
            </a:pPr>
            <a:r>
              <a:rPr lang="en-US" sz="1150" dirty="0">
                <a:solidFill>
                  <a:srgbClr val="5A6B78"/>
                </a:solidFill>
                <a:latin typeface="Calibri" pitchFamily="34" charset="0"/>
                <a:ea typeface="Calibri" pitchFamily="34" charset="-122"/>
                <a:cs typeface="Calibri" pitchFamily="34" charset="-120"/>
              </a:rPr>
              <a:t>Factura y respalda documentos sin trazabilidad</a:t>
            </a:r>
            <a:endParaRPr lang="en-US" sz="1150" dirty="0"/>
          </a:p>
        </p:txBody>
      </p:sp>
      <p:sp>
        <p:nvSpPr>
          <p:cNvPr id="27" name="Shape 24"/>
          <p:cNvSpPr/>
          <p:nvPr/>
        </p:nvSpPr>
        <p:spPr>
          <a:xfrm>
            <a:off x="658368" y="5952744"/>
            <a:ext cx="182880" cy="182880"/>
          </a:xfrm>
          <a:prstGeom prst="ellipse">
            <a:avLst/>
          </a:prstGeom>
          <a:solidFill>
            <a:srgbClr val="2E7FB8"/>
          </a:solidFill>
          <a:ln w="12700">
            <a:solidFill>
              <a:srgbClr val="2E7FB8"/>
            </a:solidFill>
            <a:prstDash val="solid"/>
          </a:ln>
        </p:spPr>
        <p:txBody>
          <a:bodyPr/>
          <a:lstStyle/>
          <a:p>
            <a:endParaRPr lang="es-CL"/>
          </a:p>
        </p:txBody>
      </p:sp>
      <p:sp>
        <p:nvSpPr>
          <p:cNvPr id="28" name="Text 25"/>
          <p:cNvSpPr/>
          <p:nvPr/>
        </p:nvSpPr>
        <p:spPr>
          <a:xfrm>
            <a:off x="969264" y="5870448"/>
            <a:ext cx="2377440" cy="347472"/>
          </a:xfrm>
          <a:prstGeom prst="rect">
            <a:avLst/>
          </a:prstGeom>
          <a:noFill/>
          <a:ln/>
        </p:spPr>
        <p:txBody>
          <a:bodyPr wrap="square" lIns="0" tIns="0" rIns="0" bIns="0" rtlCol="0" anchor="ctr"/>
          <a:lstStyle/>
          <a:p>
            <a:pPr marL="0" indent="0">
              <a:buNone/>
            </a:pPr>
            <a:r>
              <a:rPr lang="en-US" sz="1250" b="1" dirty="0">
                <a:solidFill>
                  <a:srgbClr val="0F2E42"/>
                </a:solidFill>
                <a:latin typeface="Calibri" pitchFamily="34" charset="0"/>
                <a:ea typeface="Calibri" pitchFamily="34" charset="-122"/>
                <a:cs typeface="Calibri" pitchFamily="34" charset="-120"/>
              </a:rPr>
              <a:t>Conductor</a:t>
            </a:r>
            <a:endParaRPr lang="en-US" sz="1250" dirty="0"/>
          </a:p>
        </p:txBody>
      </p:sp>
      <p:sp>
        <p:nvSpPr>
          <p:cNvPr id="29" name="Text 26"/>
          <p:cNvSpPr/>
          <p:nvPr/>
        </p:nvSpPr>
        <p:spPr>
          <a:xfrm>
            <a:off x="3383280" y="5870448"/>
            <a:ext cx="4206240" cy="347472"/>
          </a:xfrm>
          <a:prstGeom prst="rect">
            <a:avLst/>
          </a:prstGeom>
          <a:noFill/>
          <a:ln/>
        </p:spPr>
        <p:txBody>
          <a:bodyPr wrap="square" lIns="0" tIns="0" rIns="0" bIns="0" rtlCol="0" anchor="ctr"/>
          <a:lstStyle/>
          <a:p>
            <a:pPr marL="0" indent="0">
              <a:buNone/>
            </a:pPr>
            <a:r>
              <a:rPr lang="en-US" sz="1150" dirty="0">
                <a:solidFill>
                  <a:srgbClr val="5A6B78"/>
                </a:solidFill>
                <a:latin typeface="Calibri" pitchFamily="34" charset="0"/>
                <a:ea typeface="Calibri" pitchFamily="34" charset="-122"/>
                <a:cs typeface="Calibri" pitchFamily="34" charset="-120"/>
              </a:rPr>
              <a:t>Recibe instrucciones por canales informales</a:t>
            </a:r>
            <a:endParaRPr lang="en-US" sz="1150" dirty="0"/>
          </a:p>
        </p:txBody>
      </p:sp>
      <p:sp>
        <p:nvSpPr>
          <p:cNvPr id="30" name="Shape 27"/>
          <p:cNvSpPr/>
          <p:nvPr/>
        </p:nvSpPr>
        <p:spPr>
          <a:xfrm>
            <a:off x="8046720" y="3246120"/>
            <a:ext cx="3429000" cy="2788920"/>
          </a:xfrm>
          <a:prstGeom prst="roundRect">
            <a:avLst>
              <a:gd name="adj" fmla="val 2951"/>
            </a:avLst>
          </a:prstGeom>
          <a:solidFill>
            <a:srgbClr val="0F2E42"/>
          </a:solidFill>
          <a:ln w="12700">
            <a:solidFill>
              <a:srgbClr val="0F2E42"/>
            </a:solidFill>
            <a:prstDash val="solid"/>
          </a:ln>
        </p:spPr>
        <p:txBody>
          <a:bodyPr/>
          <a:lstStyle/>
          <a:p>
            <a:endParaRPr lang="es-CL"/>
          </a:p>
        </p:txBody>
      </p:sp>
      <p:sp>
        <p:nvSpPr>
          <p:cNvPr id="31" name="Text 28"/>
          <p:cNvSpPr/>
          <p:nvPr/>
        </p:nvSpPr>
        <p:spPr>
          <a:xfrm>
            <a:off x="8302752" y="3474720"/>
            <a:ext cx="2926080" cy="292608"/>
          </a:xfrm>
          <a:prstGeom prst="rect">
            <a:avLst/>
          </a:prstGeom>
          <a:noFill/>
          <a:ln/>
        </p:spPr>
        <p:txBody>
          <a:bodyPr wrap="square" lIns="0" tIns="0" rIns="0" bIns="0" rtlCol="0" anchor="ctr"/>
          <a:lstStyle/>
          <a:p>
            <a:pPr marL="0" indent="0">
              <a:buNone/>
            </a:pPr>
            <a:r>
              <a:rPr lang="en-US" sz="1400" b="1" dirty="0">
                <a:solidFill>
                  <a:srgbClr val="16A394"/>
                </a:solidFill>
                <a:latin typeface="Calibri" pitchFamily="34" charset="0"/>
                <a:ea typeface="Calibri" pitchFamily="34" charset="-122"/>
                <a:cs typeface="Calibri" pitchFamily="34" charset="-120"/>
              </a:rPr>
              <a:t>Relevancia para la carrera</a:t>
            </a:r>
            <a:endParaRPr lang="en-US" sz="1400" dirty="0"/>
          </a:p>
        </p:txBody>
      </p:sp>
      <p:sp>
        <p:nvSpPr>
          <p:cNvPr id="32" name="Text 29"/>
          <p:cNvSpPr/>
          <p:nvPr/>
        </p:nvSpPr>
        <p:spPr>
          <a:xfrm>
            <a:off x="8302752" y="3840480"/>
            <a:ext cx="2926080" cy="2011680"/>
          </a:xfrm>
          <a:prstGeom prst="rect">
            <a:avLst/>
          </a:prstGeom>
          <a:noFill/>
          <a:ln/>
        </p:spPr>
        <p:txBody>
          <a:bodyPr wrap="square" lIns="0" tIns="0" rIns="0" bIns="0" rtlCol="0" anchor="ctr"/>
          <a:lstStyle/>
          <a:p>
            <a:pPr marL="0" indent="0">
              <a:lnSpc>
                <a:spcPct val="120000"/>
              </a:lnSpc>
              <a:buNone/>
            </a:pPr>
            <a:r>
              <a:rPr lang="en-US" sz="1150" dirty="0">
                <a:solidFill>
                  <a:srgbClr val="CBDCE6"/>
                </a:solidFill>
                <a:latin typeface="Calibri" pitchFamily="34" charset="0"/>
                <a:ea typeface="Calibri" pitchFamily="34" charset="-122"/>
                <a:cs typeface="Calibri" pitchFamily="34" charset="-120"/>
              </a:rPr>
              <a:t>Digitalizar e integrar procesos de negocio que hoy operan de forma manual y fragmentada es el encargo más frecuente que recibe un ingeniero en informática en el mercado nacional.</a:t>
            </a:r>
            <a:endParaRPr lang="en-US" sz="1150" dirty="0"/>
          </a:p>
          <a:p>
            <a:pPr marL="0" indent="0">
              <a:lnSpc>
                <a:spcPct val="120000"/>
              </a:lnSpc>
              <a:buNone/>
            </a:pPr>
            <a:endParaRPr lang="en-US" sz="1150" dirty="0"/>
          </a:p>
          <a:p>
            <a:pPr marL="0" indent="0">
              <a:lnSpc>
                <a:spcPct val="120000"/>
              </a:lnSpc>
              <a:buNone/>
            </a:pPr>
            <a:r>
              <a:rPr lang="en-US" sz="1150" dirty="0">
                <a:solidFill>
                  <a:srgbClr val="CBDCE6"/>
                </a:solidFill>
                <a:latin typeface="Calibri" pitchFamily="34" charset="0"/>
                <a:ea typeface="Calibri" pitchFamily="34" charset="-122"/>
                <a:cs typeface="Calibri" pitchFamily="34" charset="-120"/>
              </a:rPr>
              <a:t>Resolverlo exige el ejercicio completo de la disciplina: levantamiento, modelamiento, construcción, pruebas e implantación.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548640"/>
          </a:xfrm>
          <a:prstGeom prst="rect">
            <a:avLst/>
          </a:prstGeom>
          <a:noFill/>
          <a:ln/>
        </p:spPr>
        <p:txBody>
          <a:bodyPr wrap="square" lIns="0" tIns="0" rIns="0" bIns="0" rtlCol="0" anchor="ctr"/>
          <a:lstStyle/>
          <a:p>
            <a:pPr marL="0" indent="0">
              <a:buNone/>
            </a:pPr>
            <a:r>
              <a:rPr lang="en-US" sz="3000" b="1" dirty="0">
                <a:solidFill>
                  <a:srgbClr val="0F2E42"/>
                </a:solidFill>
                <a:latin typeface="Calibri" pitchFamily="34" charset="0"/>
                <a:ea typeface="Calibri" pitchFamily="34" charset="-122"/>
                <a:cs typeface="Calibri" pitchFamily="34" charset="-120"/>
              </a:rPr>
              <a:t>La propuesta</a:t>
            </a:r>
            <a:endParaRPr lang="en-US" sz="3000" dirty="0"/>
          </a:p>
        </p:txBody>
      </p:sp>
      <p:sp>
        <p:nvSpPr>
          <p:cNvPr id="3" name="Text 1"/>
          <p:cNvSpPr/>
          <p:nvPr/>
        </p:nvSpPr>
        <p:spPr>
          <a:xfrm>
            <a:off x="640080" y="932688"/>
            <a:ext cx="10881360" cy="36576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Qué es vialNex</a:t>
            </a:r>
            <a:endParaRPr lang="en-US" sz="1500" dirty="0"/>
          </a:p>
        </p:txBody>
      </p:sp>
      <p:pic>
        <p:nvPicPr>
          <p:cNvPr id="4" name="Image 0" descr="/mnt/user-data/outputs/logo/vialnex-isotipo-512.png"/>
          <p:cNvPicPr>
            <a:picLocks noChangeAspect="1"/>
          </p:cNvPicPr>
          <p:nvPr/>
        </p:nvPicPr>
        <p:blipFill>
          <a:blip r:embed="rId3"/>
          <a:stretch>
            <a:fillRect/>
          </a:stretch>
        </p:blipFill>
        <p:spPr>
          <a:xfrm>
            <a:off x="11475720" y="6172200"/>
            <a:ext cx="384048" cy="384048"/>
          </a:xfrm>
          <a:prstGeom prst="rect">
            <a:avLst/>
          </a:prstGeom>
        </p:spPr>
      </p:pic>
      <p:pic>
        <p:nvPicPr>
          <p:cNvPr id="5" name="Image 1" descr="/mnt/user-data/outputs/logo/vialnex-logo-1024.png"/>
          <p:cNvPicPr>
            <a:picLocks noChangeAspect="1"/>
          </p:cNvPicPr>
          <p:nvPr/>
        </p:nvPicPr>
        <p:blipFill>
          <a:blip r:embed="rId4"/>
          <a:stretch>
            <a:fillRect/>
          </a:stretch>
        </p:blipFill>
        <p:spPr>
          <a:xfrm>
            <a:off x="640080" y="1554480"/>
            <a:ext cx="3931920" cy="1152144"/>
          </a:xfrm>
          <a:prstGeom prst="rect">
            <a:avLst/>
          </a:prstGeom>
        </p:spPr>
      </p:pic>
      <p:sp>
        <p:nvSpPr>
          <p:cNvPr id="6" name="Text 2"/>
          <p:cNvSpPr/>
          <p:nvPr/>
        </p:nvSpPr>
        <p:spPr>
          <a:xfrm>
            <a:off x="685800" y="2788920"/>
            <a:ext cx="3931920" cy="320040"/>
          </a:xfrm>
          <a:prstGeom prst="rect">
            <a:avLst/>
          </a:prstGeom>
          <a:noFill/>
          <a:ln/>
        </p:spPr>
        <p:txBody>
          <a:bodyPr wrap="square" lIns="0" tIns="0" rIns="0" bIns="0" rtlCol="0" anchor="ctr"/>
          <a:lstStyle/>
          <a:p>
            <a:pPr marL="0" indent="0">
              <a:buNone/>
            </a:pPr>
            <a:r>
              <a:rPr lang="en-US" sz="1500" i="1" dirty="0">
                <a:solidFill>
                  <a:srgbClr val="16A394"/>
                </a:solidFill>
                <a:latin typeface="Calibri" pitchFamily="34" charset="0"/>
                <a:ea typeface="Calibri" pitchFamily="34" charset="-122"/>
                <a:cs typeface="Calibri" pitchFamily="34" charset="-120"/>
              </a:rPr>
              <a:t>vía + nexo</a:t>
            </a:r>
            <a:endParaRPr lang="en-US" sz="1500" dirty="0"/>
          </a:p>
        </p:txBody>
      </p:sp>
      <p:sp>
        <p:nvSpPr>
          <p:cNvPr id="7" name="Text 3"/>
          <p:cNvSpPr/>
          <p:nvPr/>
        </p:nvSpPr>
        <p:spPr>
          <a:xfrm>
            <a:off x="685800" y="3154680"/>
            <a:ext cx="3931920" cy="1371600"/>
          </a:xfrm>
          <a:prstGeom prst="rect">
            <a:avLst/>
          </a:prstGeom>
          <a:noFill/>
          <a:ln/>
        </p:spPr>
        <p:txBody>
          <a:bodyPr wrap="square" lIns="0" tIns="0" rIns="0" bIns="0" rtlCol="0" anchor="ctr"/>
          <a:lstStyle/>
          <a:p>
            <a:pPr marL="0" indent="0">
              <a:lnSpc>
                <a:spcPct val="125000"/>
              </a:lnSpc>
              <a:buNone/>
            </a:pPr>
            <a:r>
              <a:rPr lang="en-US" sz="1250" dirty="0">
                <a:solidFill>
                  <a:srgbClr val="5A6B78"/>
                </a:solidFill>
                <a:latin typeface="Calibri" pitchFamily="34" charset="0"/>
                <a:ea typeface="Calibri" pitchFamily="34" charset="-122"/>
                <a:cs typeface="Calibri" pitchFamily="34" charset="-120"/>
              </a:rPr>
              <a:t>El nombre describe la solución: distintas vías que hoy corren por separado se encuentran en un punto de conexión. La marca lo representa con un nodo central que enlaza seis puntos, uno por cada módulo de la plataforma.</a:t>
            </a:r>
            <a:endParaRPr lang="en-US" sz="1250" dirty="0"/>
          </a:p>
        </p:txBody>
      </p:sp>
      <p:sp>
        <p:nvSpPr>
          <p:cNvPr id="8" name="Shape 4"/>
          <p:cNvSpPr/>
          <p:nvPr/>
        </p:nvSpPr>
        <p:spPr>
          <a:xfrm>
            <a:off x="5120640" y="1554480"/>
            <a:ext cx="6355080" cy="1371600"/>
          </a:xfrm>
          <a:prstGeom prst="roundRect">
            <a:avLst>
              <a:gd name="adj" fmla="val 6000"/>
            </a:avLst>
          </a:prstGeom>
          <a:solidFill>
            <a:srgbClr val="0F2E42"/>
          </a:solidFill>
          <a:ln w="12700">
            <a:solidFill>
              <a:srgbClr val="0F2E42"/>
            </a:solidFill>
            <a:prstDash val="solid"/>
          </a:ln>
        </p:spPr>
        <p:txBody>
          <a:bodyPr/>
          <a:lstStyle/>
          <a:p>
            <a:endParaRPr lang="es-CL"/>
          </a:p>
        </p:txBody>
      </p:sp>
      <p:sp>
        <p:nvSpPr>
          <p:cNvPr id="9" name="Text 5"/>
          <p:cNvSpPr/>
          <p:nvPr/>
        </p:nvSpPr>
        <p:spPr>
          <a:xfrm>
            <a:off x="5440680" y="1737360"/>
            <a:ext cx="5760720" cy="1005840"/>
          </a:xfrm>
          <a:prstGeom prst="rect">
            <a:avLst/>
          </a:prstGeom>
          <a:noFill/>
          <a:ln/>
        </p:spPr>
        <p:txBody>
          <a:bodyPr wrap="square" lIns="0" tIns="0" rIns="0" bIns="0" rtlCol="0" anchor="ctr"/>
          <a:lstStyle/>
          <a:p>
            <a:pPr marL="0" indent="0">
              <a:lnSpc>
                <a:spcPct val="120000"/>
              </a:lnSpc>
              <a:buNone/>
            </a:pPr>
            <a:r>
              <a:rPr lang="en-US" sz="1500" dirty="0">
                <a:solidFill>
                  <a:srgbClr val="FFFFFF"/>
                </a:solidFill>
                <a:latin typeface="Calibri" pitchFamily="34" charset="0"/>
                <a:ea typeface="Calibri" pitchFamily="34" charset="-122"/>
                <a:cs typeface="Calibri" pitchFamily="34" charset="-120"/>
              </a:rPr>
              <a:t>Una plataforma web que centraliza la operación completa de una empresa de transporte de carga bajo un mismo modelo de información.</a:t>
            </a:r>
            <a:endParaRPr lang="en-US" sz="1500" dirty="0"/>
          </a:p>
        </p:txBody>
      </p:sp>
      <p:sp>
        <p:nvSpPr>
          <p:cNvPr id="10" name="Text 6"/>
          <p:cNvSpPr/>
          <p:nvPr/>
        </p:nvSpPr>
        <p:spPr>
          <a:xfrm>
            <a:off x="5120640" y="3108960"/>
            <a:ext cx="6309360" cy="292608"/>
          </a:xfrm>
          <a:prstGeom prst="rect">
            <a:avLst/>
          </a:prstGeom>
          <a:noFill/>
          <a:ln/>
        </p:spPr>
        <p:txBody>
          <a:bodyPr wrap="square" lIns="0" tIns="0" rIns="0" bIns="0" rtlCol="0" anchor="ctr"/>
          <a:lstStyle/>
          <a:p>
            <a:pPr marL="0" indent="0">
              <a:buNone/>
            </a:pPr>
            <a:r>
              <a:rPr lang="en-US" sz="1400" b="1" dirty="0">
                <a:solidFill>
                  <a:srgbClr val="0F2E42"/>
                </a:solidFill>
                <a:latin typeface="Calibri" pitchFamily="34" charset="0"/>
                <a:ea typeface="Calibri" pitchFamily="34" charset="-122"/>
                <a:cs typeface="Calibri" pitchFamily="34" charset="-120"/>
              </a:rPr>
              <a:t>Preguntas que hoy toman horas y con vialNex toman segundos</a:t>
            </a:r>
            <a:endParaRPr lang="en-US" sz="1400" dirty="0"/>
          </a:p>
        </p:txBody>
      </p:sp>
      <p:sp>
        <p:nvSpPr>
          <p:cNvPr id="11" name="Shape 7"/>
          <p:cNvSpPr/>
          <p:nvPr/>
        </p:nvSpPr>
        <p:spPr>
          <a:xfrm>
            <a:off x="5120640" y="3520440"/>
            <a:ext cx="6355080" cy="475488"/>
          </a:xfrm>
          <a:prstGeom prst="roundRect">
            <a:avLst>
              <a:gd name="adj" fmla="val 11538"/>
            </a:avLst>
          </a:prstGeom>
          <a:solidFill>
            <a:srgbClr val="F2F6F9"/>
          </a:solidFill>
          <a:ln w="9525">
            <a:solidFill>
              <a:srgbClr val="D8E2E9"/>
            </a:solidFill>
            <a:prstDash val="solid"/>
          </a:ln>
        </p:spPr>
        <p:txBody>
          <a:bodyPr/>
          <a:lstStyle/>
          <a:p>
            <a:endParaRPr lang="es-CL"/>
          </a:p>
        </p:txBody>
      </p:sp>
      <p:sp>
        <p:nvSpPr>
          <p:cNvPr id="12" name="Shape 8"/>
          <p:cNvSpPr/>
          <p:nvPr/>
        </p:nvSpPr>
        <p:spPr>
          <a:xfrm>
            <a:off x="5321808" y="3675888"/>
            <a:ext cx="164592" cy="164592"/>
          </a:xfrm>
          <a:prstGeom prst="ellipse">
            <a:avLst/>
          </a:prstGeom>
          <a:solidFill>
            <a:srgbClr val="2E7FB8"/>
          </a:solidFill>
          <a:ln w="12700">
            <a:solidFill>
              <a:srgbClr val="2E7FB8"/>
            </a:solidFill>
            <a:prstDash val="solid"/>
          </a:ln>
        </p:spPr>
        <p:txBody>
          <a:bodyPr/>
          <a:lstStyle/>
          <a:p>
            <a:endParaRPr lang="es-CL"/>
          </a:p>
        </p:txBody>
      </p:sp>
      <p:sp>
        <p:nvSpPr>
          <p:cNvPr id="13" name="Text 9"/>
          <p:cNvSpPr/>
          <p:nvPr/>
        </p:nvSpPr>
        <p:spPr>
          <a:xfrm>
            <a:off x="5623560" y="3520440"/>
            <a:ext cx="5669280" cy="475488"/>
          </a:xfrm>
          <a:prstGeom prst="rect">
            <a:avLst/>
          </a:prstGeom>
          <a:noFill/>
          <a:ln/>
        </p:spPr>
        <p:txBody>
          <a:bodyPr wrap="square" lIns="0" tIns="0" rIns="0" bIns="0" rtlCol="0" anchor="ctr"/>
          <a:lstStyle/>
          <a:p>
            <a:pPr marL="0" indent="0">
              <a:buNone/>
            </a:pPr>
            <a:r>
              <a:rPr lang="en-US" sz="1200" dirty="0">
                <a:solidFill>
                  <a:srgbClr val="0F2E42"/>
                </a:solidFill>
                <a:latin typeface="Calibri" pitchFamily="34" charset="0"/>
                <a:ea typeface="Calibri" pitchFamily="34" charset="-122"/>
                <a:cs typeface="Calibri" pitchFamily="34" charset="-120"/>
              </a:rPr>
              <a:t>¿En qué estado va el pedido del cliente que está llamando?</a:t>
            </a:r>
            <a:endParaRPr lang="en-US" sz="1200" dirty="0"/>
          </a:p>
        </p:txBody>
      </p:sp>
      <p:sp>
        <p:nvSpPr>
          <p:cNvPr id="14" name="Shape 10"/>
          <p:cNvSpPr/>
          <p:nvPr/>
        </p:nvSpPr>
        <p:spPr>
          <a:xfrm>
            <a:off x="5120640" y="4096512"/>
            <a:ext cx="6355080" cy="475488"/>
          </a:xfrm>
          <a:prstGeom prst="roundRect">
            <a:avLst>
              <a:gd name="adj" fmla="val 11538"/>
            </a:avLst>
          </a:prstGeom>
          <a:solidFill>
            <a:srgbClr val="F2F6F9"/>
          </a:solidFill>
          <a:ln w="9525">
            <a:solidFill>
              <a:srgbClr val="D8E2E9"/>
            </a:solidFill>
            <a:prstDash val="solid"/>
          </a:ln>
        </p:spPr>
        <p:txBody>
          <a:bodyPr/>
          <a:lstStyle/>
          <a:p>
            <a:endParaRPr lang="es-CL"/>
          </a:p>
        </p:txBody>
      </p:sp>
      <p:sp>
        <p:nvSpPr>
          <p:cNvPr id="15" name="Shape 11"/>
          <p:cNvSpPr/>
          <p:nvPr/>
        </p:nvSpPr>
        <p:spPr>
          <a:xfrm>
            <a:off x="5321808" y="4251960"/>
            <a:ext cx="164592" cy="164592"/>
          </a:xfrm>
          <a:prstGeom prst="ellipse">
            <a:avLst/>
          </a:prstGeom>
          <a:solidFill>
            <a:srgbClr val="16A394"/>
          </a:solidFill>
          <a:ln w="12700">
            <a:solidFill>
              <a:srgbClr val="16A394"/>
            </a:solidFill>
            <a:prstDash val="solid"/>
          </a:ln>
        </p:spPr>
        <p:txBody>
          <a:bodyPr/>
          <a:lstStyle/>
          <a:p>
            <a:endParaRPr lang="es-CL"/>
          </a:p>
        </p:txBody>
      </p:sp>
      <p:sp>
        <p:nvSpPr>
          <p:cNvPr id="16" name="Text 12"/>
          <p:cNvSpPr/>
          <p:nvPr/>
        </p:nvSpPr>
        <p:spPr>
          <a:xfrm>
            <a:off x="5623560" y="4096512"/>
            <a:ext cx="5669280" cy="475488"/>
          </a:xfrm>
          <a:prstGeom prst="rect">
            <a:avLst/>
          </a:prstGeom>
          <a:noFill/>
          <a:ln/>
        </p:spPr>
        <p:txBody>
          <a:bodyPr wrap="square" lIns="0" tIns="0" rIns="0" bIns="0" rtlCol="0" anchor="ctr"/>
          <a:lstStyle/>
          <a:p>
            <a:pPr marL="0" indent="0">
              <a:buNone/>
            </a:pPr>
            <a:r>
              <a:rPr lang="en-US" sz="1200" dirty="0">
                <a:solidFill>
                  <a:srgbClr val="0F2E42"/>
                </a:solidFill>
                <a:latin typeface="Calibri" pitchFamily="34" charset="0"/>
                <a:ea typeface="Calibri" pitchFamily="34" charset="-122"/>
                <a:cs typeface="Calibri" pitchFamily="34" charset="-120"/>
              </a:rPr>
              <a:t>¿Cuánto cuesta realmente operar este camión al mes?</a:t>
            </a:r>
            <a:endParaRPr lang="en-US" sz="1200" dirty="0"/>
          </a:p>
        </p:txBody>
      </p:sp>
      <p:sp>
        <p:nvSpPr>
          <p:cNvPr id="17" name="Shape 13"/>
          <p:cNvSpPr/>
          <p:nvPr/>
        </p:nvSpPr>
        <p:spPr>
          <a:xfrm>
            <a:off x="5120640" y="4672584"/>
            <a:ext cx="6355080" cy="475488"/>
          </a:xfrm>
          <a:prstGeom prst="roundRect">
            <a:avLst>
              <a:gd name="adj" fmla="val 11538"/>
            </a:avLst>
          </a:prstGeom>
          <a:solidFill>
            <a:srgbClr val="F2F6F9"/>
          </a:solidFill>
          <a:ln w="9525">
            <a:solidFill>
              <a:srgbClr val="D8E2E9"/>
            </a:solidFill>
            <a:prstDash val="solid"/>
          </a:ln>
        </p:spPr>
        <p:txBody>
          <a:bodyPr/>
          <a:lstStyle/>
          <a:p>
            <a:endParaRPr lang="es-CL"/>
          </a:p>
        </p:txBody>
      </p:sp>
      <p:sp>
        <p:nvSpPr>
          <p:cNvPr id="18" name="Shape 14"/>
          <p:cNvSpPr/>
          <p:nvPr/>
        </p:nvSpPr>
        <p:spPr>
          <a:xfrm>
            <a:off x="5321808" y="4828032"/>
            <a:ext cx="164592" cy="164592"/>
          </a:xfrm>
          <a:prstGeom prst="ellipse">
            <a:avLst/>
          </a:prstGeom>
          <a:solidFill>
            <a:srgbClr val="2E7FB8"/>
          </a:solidFill>
          <a:ln w="12700">
            <a:solidFill>
              <a:srgbClr val="2E7FB8"/>
            </a:solidFill>
            <a:prstDash val="solid"/>
          </a:ln>
        </p:spPr>
        <p:txBody>
          <a:bodyPr/>
          <a:lstStyle/>
          <a:p>
            <a:endParaRPr lang="es-CL"/>
          </a:p>
        </p:txBody>
      </p:sp>
      <p:sp>
        <p:nvSpPr>
          <p:cNvPr id="19" name="Text 15"/>
          <p:cNvSpPr/>
          <p:nvPr/>
        </p:nvSpPr>
        <p:spPr>
          <a:xfrm>
            <a:off x="5623560" y="4672584"/>
            <a:ext cx="5669280" cy="475488"/>
          </a:xfrm>
          <a:prstGeom prst="rect">
            <a:avLst/>
          </a:prstGeom>
          <a:noFill/>
          <a:ln/>
        </p:spPr>
        <p:txBody>
          <a:bodyPr wrap="square" lIns="0" tIns="0" rIns="0" bIns="0" rtlCol="0" anchor="ctr"/>
          <a:lstStyle/>
          <a:p>
            <a:pPr marL="0" indent="0">
              <a:buNone/>
            </a:pPr>
            <a:r>
              <a:rPr lang="en-US" sz="1200" dirty="0">
                <a:solidFill>
                  <a:srgbClr val="0F2E42"/>
                </a:solidFill>
                <a:latin typeface="Calibri" pitchFamily="34" charset="0"/>
                <a:ea typeface="Calibri" pitchFamily="34" charset="-122"/>
                <a:cs typeface="Calibri" pitchFamily="34" charset="-120"/>
              </a:rPr>
              <a:t>¿Qué vehículos tienen la revisión técnica por vencer?</a:t>
            </a:r>
            <a:endParaRPr lang="en-US" sz="1200" dirty="0"/>
          </a:p>
        </p:txBody>
      </p:sp>
      <p:sp>
        <p:nvSpPr>
          <p:cNvPr id="20" name="Shape 16"/>
          <p:cNvSpPr/>
          <p:nvPr/>
        </p:nvSpPr>
        <p:spPr>
          <a:xfrm>
            <a:off x="5120640" y="5248656"/>
            <a:ext cx="6355080" cy="475488"/>
          </a:xfrm>
          <a:prstGeom prst="roundRect">
            <a:avLst>
              <a:gd name="adj" fmla="val 11538"/>
            </a:avLst>
          </a:prstGeom>
          <a:solidFill>
            <a:srgbClr val="F2F6F9"/>
          </a:solidFill>
          <a:ln w="9525">
            <a:solidFill>
              <a:srgbClr val="D8E2E9"/>
            </a:solidFill>
            <a:prstDash val="solid"/>
          </a:ln>
        </p:spPr>
        <p:txBody>
          <a:bodyPr/>
          <a:lstStyle/>
          <a:p>
            <a:endParaRPr lang="es-CL"/>
          </a:p>
        </p:txBody>
      </p:sp>
      <p:sp>
        <p:nvSpPr>
          <p:cNvPr id="21" name="Shape 17"/>
          <p:cNvSpPr/>
          <p:nvPr/>
        </p:nvSpPr>
        <p:spPr>
          <a:xfrm>
            <a:off x="5321808" y="5404104"/>
            <a:ext cx="164592" cy="164592"/>
          </a:xfrm>
          <a:prstGeom prst="ellipse">
            <a:avLst/>
          </a:prstGeom>
          <a:solidFill>
            <a:srgbClr val="16A394"/>
          </a:solidFill>
          <a:ln w="12700">
            <a:solidFill>
              <a:srgbClr val="16A394"/>
            </a:solidFill>
            <a:prstDash val="solid"/>
          </a:ln>
        </p:spPr>
        <p:txBody>
          <a:bodyPr/>
          <a:lstStyle/>
          <a:p>
            <a:endParaRPr lang="es-CL"/>
          </a:p>
        </p:txBody>
      </p:sp>
      <p:sp>
        <p:nvSpPr>
          <p:cNvPr id="22" name="Text 18"/>
          <p:cNvSpPr/>
          <p:nvPr/>
        </p:nvSpPr>
        <p:spPr>
          <a:xfrm>
            <a:off x="5623560" y="5248656"/>
            <a:ext cx="5669280" cy="475488"/>
          </a:xfrm>
          <a:prstGeom prst="rect">
            <a:avLst/>
          </a:prstGeom>
          <a:noFill/>
          <a:ln/>
        </p:spPr>
        <p:txBody>
          <a:bodyPr wrap="square" lIns="0" tIns="0" rIns="0" bIns="0" rtlCol="0" anchor="ctr"/>
          <a:lstStyle/>
          <a:p>
            <a:pPr marL="0" indent="0">
              <a:buNone/>
            </a:pPr>
            <a:r>
              <a:rPr lang="en-US" sz="1200" dirty="0">
                <a:solidFill>
                  <a:srgbClr val="0F2E42"/>
                </a:solidFill>
                <a:latin typeface="Calibri" pitchFamily="34" charset="0"/>
                <a:ea typeface="Calibri" pitchFamily="34" charset="-122"/>
                <a:cs typeface="Calibri" pitchFamily="34" charset="-120"/>
              </a:rPr>
              <a:t>¿Qué servicios ya entregados aún no he facturado?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548640"/>
          </a:xfrm>
          <a:prstGeom prst="rect">
            <a:avLst/>
          </a:prstGeom>
          <a:noFill/>
          <a:ln/>
        </p:spPr>
        <p:txBody>
          <a:bodyPr wrap="square" lIns="0" tIns="0" rIns="0" bIns="0" rtlCol="0" anchor="ctr"/>
          <a:lstStyle/>
          <a:p>
            <a:pPr marL="0" indent="0">
              <a:buNone/>
            </a:pPr>
            <a:r>
              <a:rPr lang="en-US" sz="3000" b="1" dirty="0">
                <a:solidFill>
                  <a:srgbClr val="0F2E42"/>
                </a:solidFill>
                <a:latin typeface="Calibri" pitchFamily="34" charset="0"/>
                <a:ea typeface="Calibri" pitchFamily="34" charset="-122"/>
                <a:cs typeface="Calibri" pitchFamily="34" charset="-120"/>
              </a:rPr>
              <a:t>Los seis módulos</a:t>
            </a:r>
            <a:endParaRPr lang="en-US" sz="3000" dirty="0"/>
          </a:p>
        </p:txBody>
      </p:sp>
      <p:sp>
        <p:nvSpPr>
          <p:cNvPr id="3" name="Text 1"/>
          <p:cNvSpPr/>
          <p:nvPr/>
        </p:nvSpPr>
        <p:spPr>
          <a:xfrm>
            <a:off x="640080" y="932688"/>
            <a:ext cx="10881360" cy="36576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Un pedido arrastra su ruta, su documentación y su cobro asociado</a:t>
            </a:r>
            <a:endParaRPr lang="en-US" sz="1500" dirty="0"/>
          </a:p>
        </p:txBody>
      </p:sp>
      <p:pic>
        <p:nvPicPr>
          <p:cNvPr id="4" name="Image 0" descr="/mnt/user-data/outputs/logo/vialnex-isotipo-512.png"/>
          <p:cNvPicPr>
            <a:picLocks noChangeAspect="1"/>
          </p:cNvPicPr>
          <p:nvPr/>
        </p:nvPicPr>
        <p:blipFill>
          <a:blip r:embed="rId3"/>
          <a:stretch>
            <a:fillRect/>
          </a:stretch>
        </p:blipFill>
        <p:spPr>
          <a:xfrm>
            <a:off x="11475720" y="6172200"/>
            <a:ext cx="384048" cy="384048"/>
          </a:xfrm>
          <a:prstGeom prst="rect">
            <a:avLst/>
          </a:prstGeom>
        </p:spPr>
      </p:pic>
      <p:sp>
        <p:nvSpPr>
          <p:cNvPr id="5" name="Shape 2"/>
          <p:cNvSpPr/>
          <p:nvPr/>
        </p:nvSpPr>
        <p:spPr>
          <a:xfrm>
            <a:off x="640080" y="1600200"/>
            <a:ext cx="3429000" cy="1920240"/>
          </a:xfrm>
          <a:prstGeom prst="roundRect">
            <a:avLst>
              <a:gd name="adj" fmla="val 4286"/>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6" name="Shape 3"/>
          <p:cNvSpPr/>
          <p:nvPr/>
        </p:nvSpPr>
        <p:spPr>
          <a:xfrm>
            <a:off x="896112" y="1837944"/>
            <a:ext cx="201168" cy="201168"/>
          </a:xfrm>
          <a:prstGeom prst="ellipse">
            <a:avLst/>
          </a:prstGeom>
          <a:solidFill>
            <a:srgbClr val="2E7FB8"/>
          </a:solidFill>
          <a:ln w="12700">
            <a:solidFill>
              <a:srgbClr val="2E7FB8"/>
            </a:solidFill>
            <a:prstDash val="solid"/>
          </a:ln>
        </p:spPr>
        <p:txBody>
          <a:bodyPr/>
          <a:lstStyle/>
          <a:p>
            <a:endParaRPr lang="es-CL"/>
          </a:p>
        </p:txBody>
      </p:sp>
      <p:sp>
        <p:nvSpPr>
          <p:cNvPr id="7" name="Text 4"/>
          <p:cNvSpPr/>
          <p:nvPr/>
        </p:nvSpPr>
        <p:spPr>
          <a:xfrm>
            <a:off x="1188720" y="1783080"/>
            <a:ext cx="2651760" cy="310896"/>
          </a:xfrm>
          <a:prstGeom prst="rect">
            <a:avLst/>
          </a:prstGeom>
          <a:noFill/>
          <a:ln/>
        </p:spPr>
        <p:txBody>
          <a:bodyPr wrap="square" lIns="0" tIns="0" rIns="0" bIns="0" rtlCol="0" anchor="ctr"/>
          <a:lstStyle/>
          <a:p>
            <a:pPr marL="0" indent="0">
              <a:buNone/>
            </a:pPr>
            <a:r>
              <a:rPr lang="en-US" sz="1400" b="1" dirty="0">
                <a:solidFill>
                  <a:srgbClr val="0F2E42"/>
                </a:solidFill>
                <a:latin typeface="Calibri" pitchFamily="34" charset="0"/>
                <a:ea typeface="Calibri" pitchFamily="34" charset="-122"/>
                <a:cs typeface="Calibri" pitchFamily="34" charset="-120"/>
              </a:rPr>
              <a:t>Gestión de pedidos</a:t>
            </a:r>
            <a:endParaRPr lang="en-US" sz="1400" dirty="0"/>
          </a:p>
        </p:txBody>
      </p:sp>
      <p:sp>
        <p:nvSpPr>
          <p:cNvPr id="8" name="Text 5"/>
          <p:cNvSpPr/>
          <p:nvPr/>
        </p:nvSpPr>
        <p:spPr>
          <a:xfrm>
            <a:off x="896112" y="2203704"/>
            <a:ext cx="2916936" cy="1097280"/>
          </a:xfrm>
          <a:prstGeom prst="rect">
            <a:avLst/>
          </a:prstGeom>
          <a:noFill/>
          <a:ln/>
        </p:spPr>
        <p:txBody>
          <a:bodyPr wrap="square" lIns="0" tIns="0" rIns="0" bIns="0" rtlCol="0" anchor="ctr"/>
          <a:lstStyle/>
          <a:p>
            <a:pPr marL="0" indent="0">
              <a:lnSpc>
                <a:spcPct val="115000"/>
              </a:lnSpc>
              <a:buNone/>
            </a:pPr>
            <a:r>
              <a:rPr lang="en-US" sz="1150" dirty="0">
                <a:solidFill>
                  <a:srgbClr val="5A6B78"/>
                </a:solidFill>
                <a:latin typeface="Calibri" pitchFamily="34" charset="0"/>
                <a:ea typeface="Calibri" pitchFamily="34" charset="-122"/>
                <a:cs typeface="Calibri" pitchFamily="34" charset="-120"/>
              </a:rPr>
              <a:t>Registro y seguimiento del ciclo de vida del pedido, con asignación de vehículo y conductor.</a:t>
            </a:r>
            <a:endParaRPr lang="en-US" sz="1150" dirty="0"/>
          </a:p>
        </p:txBody>
      </p:sp>
      <p:sp>
        <p:nvSpPr>
          <p:cNvPr id="9" name="Shape 6"/>
          <p:cNvSpPr/>
          <p:nvPr/>
        </p:nvSpPr>
        <p:spPr>
          <a:xfrm>
            <a:off x="4343400" y="1600200"/>
            <a:ext cx="3429000" cy="1920240"/>
          </a:xfrm>
          <a:prstGeom prst="roundRect">
            <a:avLst>
              <a:gd name="adj" fmla="val 4286"/>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10" name="Shape 7"/>
          <p:cNvSpPr/>
          <p:nvPr/>
        </p:nvSpPr>
        <p:spPr>
          <a:xfrm>
            <a:off x="4599432" y="1837944"/>
            <a:ext cx="201168" cy="201168"/>
          </a:xfrm>
          <a:prstGeom prst="ellipse">
            <a:avLst/>
          </a:prstGeom>
          <a:solidFill>
            <a:srgbClr val="2E7FB8"/>
          </a:solidFill>
          <a:ln w="12700">
            <a:solidFill>
              <a:srgbClr val="2E7FB8"/>
            </a:solidFill>
            <a:prstDash val="solid"/>
          </a:ln>
        </p:spPr>
        <p:txBody>
          <a:bodyPr/>
          <a:lstStyle/>
          <a:p>
            <a:endParaRPr lang="es-CL"/>
          </a:p>
        </p:txBody>
      </p:sp>
      <p:sp>
        <p:nvSpPr>
          <p:cNvPr id="11" name="Text 8"/>
          <p:cNvSpPr/>
          <p:nvPr/>
        </p:nvSpPr>
        <p:spPr>
          <a:xfrm>
            <a:off x="4892040" y="1783080"/>
            <a:ext cx="2651760" cy="310896"/>
          </a:xfrm>
          <a:prstGeom prst="rect">
            <a:avLst/>
          </a:prstGeom>
          <a:noFill/>
          <a:ln/>
        </p:spPr>
        <p:txBody>
          <a:bodyPr wrap="square" lIns="0" tIns="0" rIns="0" bIns="0" rtlCol="0" anchor="ctr"/>
          <a:lstStyle/>
          <a:p>
            <a:pPr marL="0" indent="0">
              <a:buNone/>
            </a:pPr>
            <a:r>
              <a:rPr lang="en-US" sz="1400" b="1" dirty="0">
                <a:solidFill>
                  <a:srgbClr val="0F2E42"/>
                </a:solidFill>
                <a:latin typeface="Calibri" pitchFamily="34" charset="0"/>
                <a:ea typeface="Calibri" pitchFamily="34" charset="-122"/>
                <a:cs typeface="Calibri" pitchFamily="34" charset="-120"/>
              </a:rPr>
              <a:t>Gestión de rutas</a:t>
            </a:r>
            <a:endParaRPr lang="en-US" sz="1400" dirty="0"/>
          </a:p>
        </p:txBody>
      </p:sp>
      <p:sp>
        <p:nvSpPr>
          <p:cNvPr id="12" name="Text 9"/>
          <p:cNvSpPr/>
          <p:nvPr/>
        </p:nvSpPr>
        <p:spPr>
          <a:xfrm>
            <a:off x="4599432" y="2203704"/>
            <a:ext cx="2916936" cy="1097280"/>
          </a:xfrm>
          <a:prstGeom prst="rect">
            <a:avLst/>
          </a:prstGeom>
          <a:noFill/>
          <a:ln/>
        </p:spPr>
        <p:txBody>
          <a:bodyPr wrap="square" lIns="0" tIns="0" rIns="0" bIns="0" rtlCol="0" anchor="ctr"/>
          <a:lstStyle/>
          <a:p>
            <a:pPr marL="0" indent="0">
              <a:lnSpc>
                <a:spcPct val="115000"/>
              </a:lnSpc>
              <a:buNone/>
            </a:pPr>
            <a:r>
              <a:rPr lang="en-US" sz="1150" dirty="0">
                <a:solidFill>
                  <a:srgbClr val="5A6B78"/>
                </a:solidFill>
                <a:latin typeface="Calibri" pitchFamily="34" charset="0"/>
                <a:ea typeface="Calibri" pitchFamily="34" charset="-122"/>
                <a:cs typeface="Calibri" pitchFamily="34" charset="-120"/>
              </a:rPr>
              <a:t>Planificación de viajes y registro de hitos de salida, tránsito y entrega.</a:t>
            </a:r>
            <a:endParaRPr lang="en-US" sz="1150" dirty="0"/>
          </a:p>
        </p:txBody>
      </p:sp>
      <p:sp>
        <p:nvSpPr>
          <p:cNvPr id="13" name="Shape 10"/>
          <p:cNvSpPr/>
          <p:nvPr/>
        </p:nvSpPr>
        <p:spPr>
          <a:xfrm>
            <a:off x="8046720" y="1600200"/>
            <a:ext cx="3429000" cy="1920240"/>
          </a:xfrm>
          <a:prstGeom prst="roundRect">
            <a:avLst>
              <a:gd name="adj" fmla="val 4286"/>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14" name="Shape 11"/>
          <p:cNvSpPr/>
          <p:nvPr/>
        </p:nvSpPr>
        <p:spPr>
          <a:xfrm>
            <a:off x="8302752" y="1837944"/>
            <a:ext cx="201168" cy="201168"/>
          </a:xfrm>
          <a:prstGeom prst="ellipse">
            <a:avLst/>
          </a:prstGeom>
          <a:solidFill>
            <a:srgbClr val="2E7FB8"/>
          </a:solidFill>
          <a:ln w="12700">
            <a:solidFill>
              <a:srgbClr val="2E7FB8"/>
            </a:solidFill>
            <a:prstDash val="solid"/>
          </a:ln>
        </p:spPr>
        <p:txBody>
          <a:bodyPr/>
          <a:lstStyle/>
          <a:p>
            <a:endParaRPr lang="es-CL"/>
          </a:p>
        </p:txBody>
      </p:sp>
      <p:sp>
        <p:nvSpPr>
          <p:cNvPr id="15" name="Text 12"/>
          <p:cNvSpPr/>
          <p:nvPr/>
        </p:nvSpPr>
        <p:spPr>
          <a:xfrm>
            <a:off x="8595360" y="1783080"/>
            <a:ext cx="2651760" cy="310896"/>
          </a:xfrm>
          <a:prstGeom prst="rect">
            <a:avLst/>
          </a:prstGeom>
          <a:noFill/>
          <a:ln/>
        </p:spPr>
        <p:txBody>
          <a:bodyPr wrap="square" lIns="0" tIns="0" rIns="0" bIns="0" rtlCol="0" anchor="ctr"/>
          <a:lstStyle/>
          <a:p>
            <a:pPr marL="0" indent="0">
              <a:buNone/>
            </a:pPr>
            <a:r>
              <a:rPr lang="en-US" sz="1400" b="1" dirty="0">
                <a:solidFill>
                  <a:srgbClr val="0F2E42"/>
                </a:solidFill>
                <a:latin typeface="Calibri" pitchFamily="34" charset="0"/>
                <a:ea typeface="Calibri" pitchFamily="34" charset="-122"/>
                <a:cs typeface="Calibri" pitchFamily="34" charset="-120"/>
              </a:rPr>
              <a:t>Gestión de facturación</a:t>
            </a:r>
            <a:endParaRPr lang="en-US" sz="1400" dirty="0"/>
          </a:p>
        </p:txBody>
      </p:sp>
      <p:sp>
        <p:nvSpPr>
          <p:cNvPr id="16" name="Text 13"/>
          <p:cNvSpPr/>
          <p:nvPr/>
        </p:nvSpPr>
        <p:spPr>
          <a:xfrm>
            <a:off x="8302752" y="2203704"/>
            <a:ext cx="2916936" cy="1097280"/>
          </a:xfrm>
          <a:prstGeom prst="rect">
            <a:avLst/>
          </a:prstGeom>
          <a:noFill/>
          <a:ln/>
        </p:spPr>
        <p:txBody>
          <a:bodyPr wrap="square" lIns="0" tIns="0" rIns="0" bIns="0" rtlCol="0" anchor="ctr"/>
          <a:lstStyle/>
          <a:p>
            <a:pPr marL="0" indent="0">
              <a:lnSpc>
                <a:spcPct val="115000"/>
              </a:lnSpc>
              <a:buNone/>
            </a:pPr>
            <a:r>
              <a:rPr lang="en-US" sz="1150" dirty="0">
                <a:solidFill>
                  <a:srgbClr val="5A6B78"/>
                </a:solidFill>
                <a:latin typeface="Calibri" pitchFamily="34" charset="0"/>
                <a:ea typeface="Calibri" pitchFamily="34" charset="-122"/>
                <a:cs typeface="Calibri" pitchFamily="34" charset="-120"/>
              </a:rPr>
              <a:t>Cobro conectado a lo efectivamente entregado y control de cuentas por cobrar.</a:t>
            </a:r>
            <a:endParaRPr lang="en-US" sz="1150" dirty="0"/>
          </a:p>
        </p:txBody>
      </p:sp>
      <p:sp>
        <p:nvSpPr>
          <p:cNvPr id="17" name="Shape 14"/>
          <p:cNvSpPr/>
          <p:nvPr/>
        </p:nvSpPr>
        <p:spPr>
          <a:xfrm>
            <a:off x="640080" y="3749040"/>
            <a:ext cx="3429000" cy="1920240"/>
          </a:xfrm>
          <a:prstGeom prst="roundRect">
            <a:avLst>
              <a:gd name="adj" fmla="val 4286"/>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18" name="Shape 15"/>
          <p:cNvSpPr/>
          <p:nvPr/>
        </p:nvSpPr>
        <p:spPr>
          <a:xfrm>
            <a:off x="896112" y="3986784"/>
            <a:ext cx="201168" cy="201168"/>
          </a:xfrm>
          <a:prstGeom prst="ellipse">
            <a:avLst/>
          </a:prstGeom>
          <a:solidFill>
            <a:srgbClr val="16A394"/>
          </a:solidFill>
          <a:ln w="12700">
            <a:solidFill>
              <a:srgbClr val="16A394"/>
            </a:solidFill>
            <a:prstDash val="solid"/>
          </a:ln>
        </p:spPr>
        <p:txBody>
          <a:bodyPr/>
          <a:lstStyle/>
          <a:p>
            <a:endParaRPr lang="es-CL"/>
          </a:p>
        </p:txBody>
      </p:sp>
      <p:sp>
        <p:nvSpPr>
          <p:cNvPr id="19" name="Text 16"/>
          <p:cNvSpPr/>
          <p:nvPr/>
        </p:nvSpPr>
        <p:spPr>
          <a:xfrm>
            <a:off x="1188720" y="3931920"/>
            <a:ext cx="2651760" cy="310896"/>
          </a:xfrm>
          <a:prstGeom prst="rect">
            <a:avLst/>
          </a:prstGeom>
          <a:noFill/>
          <a:ln/>
        </p:spPr>
        <p:txBody>
          <a:bodyPr wrap="square" lIns="0" tIns="0" rIns="0" bIns="0" rtlCol="0" anchor="ctr"/>
          <a:lstStyle/>
          <a:p>
            <a:pPr marL="0" indent="0">
              <a:buNone/>
            </a:pPr>
            <a:r>
              <a:rPr lang="en-US" sz="1400" b="1" dirty="0">
                <a:solidFill>
                  <a:srgbClr val="0F2E42"/>
                </a:solidFill>
                <a:latin typeface="Calibri" pitchFamily="34" charset="0"/>
                <a:ea typeface="Calibri" pitchFamily="34" charset="-122"/>
                <a:cs typeface="Calibri" pitchFamily="34" charset="-120"/>
              </a:rPr>
              <a:t>Mantenimiento de flota</a:t>
            </a:r>
            <a:endParaRPr lang="en-US" sz="1400" dirty="0"/>
          </a:p>
        </p:txBody>
      </p:sp>
      <p:sp>
        <p:nvSpPr>
          <p:cNvPr id="20" name="Text 17"/>
          <p:cNvSpPr/>
          <p:nvPr/>
        </p:nvSpPr>
        <p:spPr>
          <a:xfrm>
            <a:off x="896112" y="4352544"/>
            <a:ext cx="2916936" cy="1097280"/>
          </a:xfrm>
          <a:prstGeom prst="rect">
            <a:avLst/>
          </a:prstGeom>
          <a:noFill/>
          <a:ln/>
        </p:spPr>
        <p:txBody>
          <a:bodyPr wrap="square" lIns="0" tIns="0" rIns="0" bIns="0" rtlCol="0" anchor="ctr"/>
          <a:lstStyle/>
          <a:p>
            <a:pPr marL="0" indent="0">
              <a:lnSpc>
                <a:spcPct val="115000"/>
              </a:lnSpc>
              <a:buNone/>
            </a:pPr>
            <a:r>
              <a:rPr lang="en-US" sz="1150" dirty="0">
                <a:solidFill>
                  <a:srgbClr val="5A6B78"/>
                </a:solidFill>
                <a:latin typeface="Calibri" pitchFamily="34" charset="0"/>
                <a:ea typeface="Calibri" pitchFamily="34" charset="-122"/>
                <a:cs typeface="Calibri" pitchFamily="34" charset="-120"/>
              </a:rPr>
              <a:t>Ficha por vehículo, kilometraje y mantención preventiva con alertas anticipadas.</a:t>
            </a:r>
            <a:endParaRPr lang="en-US" sz="1150" dirty="0"/>
          </a:p>
        </p:txBody>
      </p:sp>
      <p:sp>
        <p:nvSpPr>
          <p:cNvPr id="21" name="Shape 18"/>
          <p:cNvSpPr/>
          <p:nvPr/>
        </p:nvSpPr>
        <p:spPr>
          <a:xfrm>
            <a:off x="4343400" y="3749040"/>
            <a:ext cx="3429000" cy="1920240"/>
          </a:xfrm>
          <a:prstGeom prst="roundRect">
            <a:avLst>
              <a:gd name="adj" fmla="val 4286"/>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22" name="Shape 19"/>
          <p:cNvSpPr/>
          <p:nvPr/>
        </p:nvSpPr>
        <p:spPr>
          <a:xfrm>
            <a:off x="4599432" y="3986784"/>
            <a:ext cx="201168" cy="201168"/>
          </a:xfrm>
          <a:prstGeom prst="ellipse">
            <a:avLst/>
          </a:prstGeom>
          <a:solidFill>
            <a:srgbClr val="16A394"/>
          </a:solidFill>
          <a:ln w="12700">
            <a:solidFill>
              <a:srgbClr val="16A394"/>
            </a:solidFill>
            <a:prstDash val="solid"/>
          </a:ln>
        </p:spPr>
        <p:txBody>
          <a:bodyPr/>
          <a:lstStyle/>
          <a:p>
            <a:endParaRPr lang="es-CL"/>
          </a:p>
        </p:txBody>
      </p:sp>
      <p:sp>
        <p:nvSpPr>
          <p:cNvPr id="23" name="Text 20"/>
          <p:cNvSpPr/>
          <p:nvPr/>
        </p:nvSpPr>
        <p:spPr>
          <a:xfrm>
            <a:off x="4892040" y="3931920"/>
            <a:ext cx="2651760" cy="310896"/>
          </a:xfrm>
          <a:prstGeom prst="rect">
            <a:avLst/>
          </a:prstGeom>
          <a:noFill/>
          <a:ln/>
        </p:spPr>
        <p:txBody>
          <a:bodyPr wrap="square" lIns="0" tIns="0" rIns="0" bIns="0" rtlCol="0" anchor="ctr"/>
          <a:lstStyle/>
          <a:p>
            <a:pPr marL="0" indent="0">
              <a:buNone/>
            </a:pPr>
            <a:r>
              <a:rPr lang="en-US" sz="1400" b="1" dirty="0">
                <a:solidFill>
                  <a:srgbClr val="0F2E42"/>
                </a:solidFill>
                <a:latin typeface="Calibri" pitchFamily="34" charset="0"/>
                <a:ea typeface="Calibri" pitchFamily="34" charset="-122"/>
                <a:cs typeface="Calibri" pitchFamily="34" charset="-120"/>
              </a:rPr>
              <a:t>Gestión documental</a:t>
            </a:r>
            <a:endParaRPr lang="en-US" sz="1400" dirty="0"/>
          </a:p>
        </p:txBody>
      </p:sp>
      <p:sp>
        <p:nvSpPr>
          <p:cNvPr id="24" name="Text 21"/>
          <p:cNvSpPr/>
          <p:nvPr/>
        </p:nvSpPr>
        <p:spPr>
          <a:xfrm>
            <a:off x="4599432" y="4352544"/>
            <a:ext cx="2916936" cy="1097280"/>
          </a:xfrm>
          <a:prstGeom prst="rect">
            <a:avLst/>
          </a:prstGeom>
          <a:noFill/>
          <a:ln/>
        </p:spPr>
        <p:txBody>
          <a:bodyPr wrap="square" lIns="0" tIns="0" rIns="0" bIns="0" rtlCol="0" anchor="ctr"/>
          <a:lstStyle/>
          <a:p>
            <a:pPr marL="0" indent="0">
              <a:lnSpc>
                <a:spcPct val="115000"/>
              </a:lnSpc>
              <a:buNone/>
            </a:pPr>
            <a:r>
              <a:rPr lang="en-US" sz="1150" dirty="0">
                <a:solidFill>
                  <a:srgbClr val="5A6B78"/>
                </a:solidFill>
                <a:latin typeface="Calibri" pitchFamily="34" charset="0"/>
                <a:ea typeface="Calibri" pitchFamily="34" charset="-122"/>
                <a:cs typeface="Calibri" pitchFamily="34" charset="-120"/>
              </a:rPr>
              <a:t>Guías, facturas, permisos y licencias con aviso de vencimientos.</a:t>
            </a:r>
            <a:endParaRPr lang="en-US" sz="1150" dirty="0"/>
          </a:p>
        </p:txBody>
      </p:sp>
      <p:sp>
        <p:nvSpPr>
          <p:cNvPr id="25" name="Shape 22"/>
          <p:cNvSpPr/>
          <p:nvPr/>
        </p:nvSpPr>
        <p:spPr>
          <a:xfrm>
            <a:off x="8046720" y="3749040"/>
            <a:ext cx="3429000" cy="1920240"/>
          </a:xfrm>
          <a:prstGeom prst="roundRect">
            <a:avLst>
              <a:gd name="adj" fmla="val 4286"/>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26" name="Shape 23"/>
          <p:cNvSpPr/>
          <p:nvPr/>
        </p:nvSpPr>
        <p:spPr>
          <a:xfrm>
            <a:off x="8302752" y="3986784"/>
            <a:ext cx="201168" cy="201168"/>
          </a:xfrm>
          <a:prstGeom prst="ellipse">
            <a:avLst/>
          </a:prstGeom>
          <a:solidFill>
            <a:srgbClr val="16A394"/>
          </a:solidFill>
          <a:ln w="12700">
            <a:solidFill>
              <a:srgbClr val="16A394"/>
            </a:solidFill>
            <a:prstDash val="solid"/>
          </a:ln>
        </p:spPr>
        <p:txBody>
          <a:bodyPr/>
          <a:lstStyle/>
          <a:p>
            <a:endParaRPr lang="es-CL"/>
          </a:p>
        </p:txBody>
      </p:sp>
      <p:sp>
        <p:nvSpPr>
          <p:cNvPr id="27" name="Text 24"/>
          <p:cNvSpPr/>
          <p:nvPr/>
        </p:nvSpPr>
        <p:spPr>
          <a:xfrm>
            <a:off x="8595360" y="3931920"/>
            <a:ext cx="2651760" cy="310896"/>
          </a:xfrm>
          <a:prstGeom prst="rect">
            <a:avLst/>
          </a:prstGeom>
          <a:noFill/>
          <a:ln/>
        </p:spPr>
        <p:txBody>
          <a:bodyPr wrap="square" lIns="0" tIns="0" rIns="0" bIns="0" rtlCol="0" anchor="ctr"/>
          <a:lstStyle/>
          <a:p>
            <a:pPr marL="0" indent="0">
              <a:buNone/>
            </a:pPr>
            <a:r>
              <a:rPr lang="en-US" sz="1400" b="1" dirty="0">
                <a:solidFill>
                  <a:srgbClr val="0F2E42"/>
                </a:solidFill>
                <a:latin typeface="Calibri" pitchFamily="34" charset="0"/>
                <a:ea typeface="Calibri" pitchFamily="34" charset="-122"/>
                <a:cs typeface="Calibri" pitchFamily="34" charset="-120"/>
              </a:rPr>
              <a:t>Innovación</a:t>
            </a:r>
            <a:endParaRPr lang="en-US" sz="1400" dirty="0"/>
          </a:p>
        </p:txBody>
      </p:sp>
      <p:sp>
        <p:nvSpPr>
          <p:cNvPr id="28" name="Text 25"/>
          <p:cNvSpPr/>
          <p:nvPr/>
        </p:nvSpPr>
        <p:spPr>
          <a:xfrm>
            <a:off x="8302752" y="4352544"/>
            <a:ext cx="2916936" cy="1097280"/>
          </a:xfrm>
          <a:prstGeom prst="rect">
            <a:avLst/>
          </a:prstGeom>
          <a:noFill/>
          <a:ln/>
        </p:spPr>
        <p:txBody>
          <a:bodyPr wrap="square" lIns="0" tIns="0" rIns="0" bIns="0" rtlCol="0" anchor="ctr"/>
          <a:lstStyle/>
          <a:p>
            <a:pPr marL="0" indent="0">
              <a:lnSpc>
                <a:spcPct val="115000"/>
              </a:lnSpc>
              <a:buNone/>
            </a:pPr>
            <a:r>
              <a:rPr lang="en-US" sz="1150" dirty="0">
                <a:solidFill>
                  <a:srgbClr val="5A6B78"/>
                </a:solidFill>
                <a:latin typeface="Calibri" pitchFamily="34" charset="0"/>
                <a:ea typeface="Calibri" pitchFamily="34" charset="-122"/>
                <a:cs typeface="Calibri" pitchFamily="34" charset="-120"/>
              </a:rPr>
              <a:t>Tablero de indicadores: costo por kilómetro, utilización de flota y cumplimiento.</a:t>
            </a:r>
            <a:endParaRPr lang="en-US" sz="1150" dirty="0"/>
          </a:p>
        </p:txBody>
      </p:sp>
      <p:sp>
        <p:nvSpPr>
          <p:cNvPr id="29" name="Text 26"/>
          <p:cNvSpPr/>
          <p:nvPr/>
        </p:nvSpPr>
        <p:spPr>
          <a:xfrm>
            <a:off x="640080" y="5989320"/>
            <a:ext cx="10607040" cy="320040"/>
          </a:xfrm>
          <a:prstGeom prst="rect">
            <a:avLst/>
          </a:prstGeom>
          <a:noFill/>
          <a:ln/>
        </p:spPr>
        <p:txBody>
          <a:bodyPr wrap="square" lIns="0" tIns="0" rIns="0" bIns="0" rtlCol="0" anchor="ctr"/>
          <a:lstStyle/>
          <a:p>
            <a:pPr marL="0" indent="0">
              <a:buNone/>
            </a:pPr>
            <a:r>
              <a:rPr lang="en-US" sz="1150" i="1" dirty="0">
                <a:solidFill>
                  <a:srgbClr val="5A6B78"/>
                </a:solidFill>
                <a:latin typeface="Calibri" pitchFamily="34" charset="0"/>
                <a:ea typeface="Calibri" pitchFamily="34" charset="-122"/>
                <a:cs typeface="Calibri" pitchFamily="34" charset="-120"/>
              </a:rPr>
              <a:t>Núcleo obligatorio: pedidos, rutas y gestión documental. Alcance incremental: mantenimiento, facturación e innovación.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548640"/>
          </a:xfrm>
          <a:prstGeom prst="rect">
            <a:avLst/>
          </a:prstGeom>
          <a:noFill/>
          <a:ln/>
        </p:spPr>
        <p:txBody>
          <a:bodyPr wrap="square" lIns="0" tIns="0" rIns="0" bIns="0" rtlCol="0" anchor="ctr"/>
          <a:lstStyle/>
          <a:p>
            <a:pPr marL="0" indent="0">
              <a:buNone/>
            </a:pPr>
            <a:r>
              <a:rPr lang="en-US" sz="3000" b="1" dirty="0">
                <a:solidFill>
                  <a:srgbClr val="0F2E42"/>
                </a:solidFill>
                <a:latin typeface="Calibri" pitchFamily="34" charset="0"/>
                <a:ea typeface="Calibri" pitchFamily="34" charset="-122"/>
                <a:cs typeface="Calibri" pitchFamily="34" charset="-120"/>
              </a:rPr>
              <a:t>Arquitectura de la solución</a:t>
            </a:r>
            <a:endParaRPr lang="en-US" sz="3000" dirty="0"/>
          </a:p>
        </p:txBody>
      </p:sp>
      <p:sp>
        <p:nvSpPr>
          <p:cNvPr id="3" name="Text 1"/>
          <p:cNvSpPr/>
          <p:nvPr/>
        </p:nvSpPr>
        <p:spPr>
          <a:xfrm>
            <a:off x="640080" y="932688"/>
            <a:ext cx="10881360" cy="36576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Tres capas y un único modelo de información</a:t>
            </a:r>
            <a:endParaRPr lang="en-US" sz="1500" dirty="0"/>
          </a:p>
        </p:txBody>
      </p:sp>
      <p:pic>
        <p:nvPicPr>
          <p:cNvPr id="4" name="Image 0" descr="/mnt/user-data/outputs/logo/vialnex-isotipo-512.png"/>
          <p:cNvPicPr>
            <a:picLocks noChangeAspect="1"/>
          </p:cNvPicPr>
          <p:nvPr/>
        </p:nvPicPr>
        <p:blipFill>
          <a:blip r:embed="rId3"/>
          <a:stretch>
            <a:fillRect/>
          </a:stretch>
        </p:blipFill>
        <p:spPr>
          <a:xfrm>
            <a:off x="11475720" y="6172200"/>
            <a:ext cx="384048" cy="384048"/>
          </a:xfrm>
          <a:prstGeom prst="rect">
            <a:avLst/>
          </a:prstGeom>
        </p:spPr>
      </p:pic>
      <p:sp>
        <p:nvSpPr>
          <p:cNvPr id="5" name="Shape 2"/>
          <p:cNvSpPr/>
          <p:nvPr/>
        </p:nvSpPr>
        <p:spPr>
          <a:xfrm>
            <a:off x="2011680" y="1554480"/>
            <a:ext cx="8138160" cy="777240"/>
          </a:xfrm>
          <a:prstGeom prst="roundRect">
            <a:avLst>
              <a:gd name="adj" fmla="val 9412"/>
            </a:avLst>
          </a:prstGeom>
          <a:solidFill>
            <a:srgbClr val="0F2E42"/>
          </a:solidFill>
          <a:ln w="12700">
            <a:solidFill>
              <a:srgbClr val="0F2E42"/>
            </a:solidFill>
            <a:prstDash val="solid"/>
          </a:ln>
        </p:spPr>
        <p:txBody>
          <a:bodyPr/>
          <a:lstStyle/>
          <a:p>
            <a:endParaRPr lang="es-CL"/>
          </a:p>
        </p:txBody>
      </p:sp>
      <p:sp>
        <p:nvSpPr>
          <p:cNvPr id="6" name="Text 3"/>
          <p:cNvSpPr/>
          <p:nvPr/>
        </p:nvSpPr>
        <p:spPr>
          <a:xfrm>
            <a:off x="2148840" y="1664208"/>
            <a:ext cx="7863840" cy="274320"/>
          </a:xfrm>
          <a:prstGeom prst="rect">
            <a:avLst/>
          </a:prstGeom>
          <a:noFill/>
          <a:ln/>
        </p:spPr>
        <p:txBody>
          <a:bodyPr wrap="square" lIns="0" tIns="0" rIns="0" bIns="0" rtlCol="0" anchor="t"/>
          <a:lstStyle/>
          <a:p>
            <a:pPr marL="0" indent="0" algn="ctr">
              <a:buNone/>
            </a:pPr>
            <a:r>
              <a:rPr lang="en-US" sz="1500" b="1" dirty="0">
                <a:solidFill>
                  <a:srgbClr val="FFFFFF"/>
                </a:solidFill>
                <a:latin typeface="Calibri" pitchFamily="34" charset="0"/>
                <a:ea typeface="Calibri" pitchFamily="34" charset="-122"/>
                <a:cs typeface="Calibri" pitchFamily="34" charset="-120"/>
              </a:rPr>
              <a:t>Cliente web y móvil</a:t>
            </a:r>
            <a:endParaRPr lang="en-US" sz="1500" dirty="0"/>
          </a:p>
        </p:txBody>
      </p:sp>
      <p:sp>
        <p:nvSpPr>
          <p:cNvPr id="7" name="Text 4"/>
          <p:cNvSpPr/>
          <p:nvPr/>
        </p:nvSpPr>
        <p:spPr>
          <a:xfrm>
            <a:off x="2121408" y="1938528"/>
            <a:ext cx="7918704" cy="320040"/>
          </a:xfrm>
          <a:prstGeom prst="rect">
            <a:avLst/>
          </a:prstGeom>
          <a:noFill/>
          <a:ln/>
        </p:spPr>
        <p:txBody>
          <a:bodyPr wrap="square" lIns="0" tIns="0" rIns="0" bIns="0" rtlCol="0" anchor="ctr"/>
          <a:lstStyle/>
          <a:p>
            <a:pPr marL="0" indent="0" algn="ctr">
              <a:buNone/>
            </a:pPr>
            <a:r>
              <a:rPr lang="en-US" sz="950" dirty="0">
                <a:solidFill>
                  <a:srgbClr val="AEC6D6"/>
                </a:solidFill>
                <a:latin typeface="Calibri" pitchFamily="34" charset="0"/>
                <a:ea typeface="Calibri" pitchFamily="34" charset="-122"/>
                <a:cs typeface="Calibri" pitchFamily="34" charset="-120"/>
              </a:rPr>
              <a:t>Interfaz responsiva por perfil de usuario: administrador, despachador, jefe de flota, administración y conductor</a:t>
            </a:r>
            <a:endParaRPr lang="en-US" sz="950" dirty="0"/>
          </a:p>
        </p:txBody>
      </p:sp>
      <p:sp>
        <p:nvSpPr>
          <p:cNvPr id="8" name="Shape 5"/>
          <p:cNvSpPr/>
          <p:nvPr/>
        </p:nvSpPr>
        <p:spPr>
          <a:xfrm>
            <a:off x="6080760" y="2331720"/>
            <a:ext cx="0" cy="320040"/>
          </a:xfrm>
          <a:prstGeom prst="line">
            <a:avLst/>
          </a:prstGeom>
          <a:noFill/>
          <a:ln w="25400">
            <a:solidFill>
              <a:srgbClr val="2E7FB8"/>
            </a:solidFill>
            <a:prstDash val="solid"/>
            <a:tailEnd type="triangle"/>
          </a:ln>
        </p:spPr>
        <p:txBody>
          <a:bodyPr/>
          <a:lstStyle/>
          <a:p>
            <a:endParaRPr lang="es-CL"/>
          </a:p>
        </p:txBody>
      </p:sp>
      <p:sp>
        <p:nvSpPr>
          <p:cNvPr id="9" name="Text 6"/>
          <p:cNvSpPr/>
          <p:nvPr/>
        </p:nvSpPr>
        <p:spPr>
          <a:xfrm>
            <a:off x="6217920" y="2377440"/>
            <a:ext cx="1828800" cy="228600"/>
          </a:xfrm>
          <a:prstGeom prst="rect">
            <a:avLst/>
          </a:prstGeom>
          <a:noFill/>
          <a:ln/>
        </p:spPr>
        <p:txBody>
          <a:bodyPr wrap="square" lIns="0" tIns="0" rIns="0" bIns="0" rtlCol="0" anchor="ctr"/>
          <a:lstStyle/>
          <a:p>
            <a:pPr marL="0" indent="0">
              <a:buNone/>
            </a:pPr>
            <a:r>
              <a:rPr lang="en-US" sz="900" dirty="0">
                <a:solidFill>
                  <a:srgbClr val="5A6B78"/>
                </a:solidFill>
                <a:latin typeface="Calibri" pitchFamily="34" charset="0"/>
                <a:ea typeface="Calibri" pitchFamily="34" charset="-122"/>
                <a:cs typeface="Calibri" pitchFamily="34" charset="-120"/>
              </a:rPr>
              <a:t>HTTPS / API REST</a:t>
            </a:r>
            <a:endParaRPr lang="en-US" sz="900" dirty="0"/>
          </a:p>
        </p:txBody>
      </p:sp>
      <p:sp>
        <p:nvSpPr>
          <p:cNvPr id="10" name="Shape 7"/>
          <p:cNvSpPr/>
          <p:nvPr/>
        </p:nvSpPr>
        <p:spPr>
          <a:xfrm>
            <a:off x="2011680" y="2651760"/>
            <a:ext cx="8138160" cy="1691640"/>
          </a:xfrm>
          <a:prstGeom prst="roundRect">
            <a:avLst>
              <a:gd name="adj" fmla="val 4324"/>
            </a:avLst>
          </a:prstGeom>
          <a:solidFill>
            <a:srgbClr val="F2F6F9"/>
          </a:solidFill>
          <a:ln w="12700">
            <a:solidFill>
              <a:srgbClr val="D8E2E9"/>
            </a:solidFill>
            <a:prstDash val="solid"/>
          </a:ln>
        </p:spPr>
        <p:txBody>
          <a:bodyPr/>
          <a:lstStyle/>
          <a:p>
            <a:endParaRPr lang="es-CL"/>
          </a:p>
        </p:txBody>
      </p:sp>
      <p:sp>
        <p:nvSpPr>
          <p:cNvPr id="11" name="Text 8"/>
          <p:cNvSpPr/>
          <p:nvPr/>
        </p:nvSpPr>
        <p:spPr>
          <a:xfrm>
            <a:off x="2194560" y="2743200"/>
            <a:ext cx="3657600" cy="256032"/>
          </a:xfrm>
          <a:prstGeom prst="rect">
            <a:avLst/>
          </a:prstGeom>
          <a:noFill/>
          <a:ln/>
        </p:spPr>
        <p:txBody>
          <a:bodyPr wrap="square" lIns="0" tIns="0" rIns="0" bIns="0" rtlCol="0" anchor="ctr"/>
          <a:lstStyle/>
          <a:p>
            <a:pPr marL="0" indent="0">
              <a:buNone/>
            </a:pPr>
            <a:r>
              <a:rPr lang="en-US" sz="1200" b="1" dirty="0">
                <a:solidFill>
                  <a:srgbClr val="0F2E42"/>
                </a:solidFill>
                <a:latin typeface="Calibri" pitchFamily="34" charset="0"/>
                <a:ea typeface="Calibri" pitchFamily="34" charset="-122"/>
                <a:cs typeface="Calibri" pitchFamily="34" charset="-120"/>
              </a:rPr>
              <a:t>Capa de aplicación</a:t>
            </a:r>
            <a:endParaRPr lang="en-US" sz="1200" dirty="0"/>
          </a:p>
        </p:txBody>
      </p:sp>
      <p:sp>
        <p:nvSpPr>
          <p:cNvPr id="12" name="Shape 9"/>
          <p:cNvSpPr/>
          <p:nvPr/>
        </p:nvSpPr>
        <p:spPr>
          <a:xfrm>
            <a:off x="2212848" y="3090672"/>
            <a:ext cx="2377440" cy="420624"/>
          </a:xfrm>
          <a:prstGeom prst="roundRect">
            <a:avLst>
              <a:gd name="adj" fmla="val 13043"/>
            </a:avLst>
          </a:prstGeom>
          <a:solidFill>
            <a:srgbClr val="FFFFFF"/>
          </a:solidFill>
          <a:ln w="12700">
            <a:solidFill>
              <a:srgbClr val="2E7FB8"/>
            </a:solidFill>
            <a:prstDash val="solid"/>
          </a:ln>
        </p:spPr>
        <p:txBody>
          <a:bodyPr/>
          <a:lstStyle/>
          <a:p>
            <a:endParaRPr lang="es-CL"/>
          </a:p>
        </p:txBody>
      </p:sp>
      <p:sp>
        <p:nvSpPr>
          <p:cNvPr id="13" name="Text 10"/>
          <p:cNvSpPr/>
          <p:nvPr/>
        </p:nvSpPr>
        <p:spPr>
          <a:xfrm>
            <a:off x="2212848" y="3090672"/>
            <a:ext cx="2377440" cy="420624"/>
          </a:xfrm>
          <a:prstGeom prst="rect">
            <a:avLst/>
          </a:prstGeom>
          <a:noFill/>
          <a:ln/>
        </p:spPr>
        <p:txBody>
          <a:bodyPr wrap="square" lIns="0" tIns="0" rIns="0" bIns="0" rtlCol="0" anchor="ctr"/>
          <a:lstStyle/>
          <a:p>
            <a:pPr marL="0" indent="0" algn="ctr">
              <a:buNone/>
            </a:pPr>
            <a:r>
              <a:rPr lang="en-US" sz="1100" b="1" dirty="0">
                <a:solidFill>
                  <a:srgbClr val="0F2E42"/>
                </a:solidFill>
                <a:latin typeface="Calibri" pitchFamily="34" charset="0"/>
                <a:ea typeface="Calibri" pitchFamily="34" charset="-122"/>
                <a:cs typeface="Calibri" pitchFamily="34" charset="-120"/>
              </a:rPr>
              <a:t>Pedidos</a:t>
            </a:r>
            <a:endParaRPr lang="en-US" sz="1100" dirty="0"/>
          </a:p>
        </p:txBody>
      </p:sp>
      <p:sp>
        <p:nvSpPr>
          <p:cNvPr id="14" name="Shape 11"/>
          <p:cNvSpPr/>
          <p:nvPr/>
        </p:nvSpPr>
        <p:spPr>
          <a:xfrm>
            <a:off x="4818888" y="3090672"/>
            <a:ext cx="2377440" cy="420624"/>
          </a:xfrm>
          <a:prstGeom prst="roundRect">
            <a:avLst>
              <a:gd name="adj" fmla="val 13043"/>
            </a:avLst>
          </a:prstGeom>
          <a:solidFill>
            <a:srgbClr val="FFFFFF"/>
          </a:solidFill>
          <a:ln w="12700">
            <a:solidFill>
              <a:srgbClr val="2E7FB8"/>
            </a:solidFill>
            <a:prstDash val="solid"/>
          </a:ln>
        </p:spPr>
        <p:txBody>
          <a:bodyPr/>
          <a:lstStyle/>
          <a:p>
            <a:endParaRPr lang="es-CL"/>
          </a:p>
        </p:txBody>
      </p:sp>
      <p:sp>
        <p:nvSpPr>
          <p:cNvPr id="15" name="Text 12"/>
          <p:cNvSpPr/>
          <p:nvPr/>
        </p:nvSpPr>
        <p:spPr>
          <a:xfrm>
            <a:off x="4818888" y="3090672"/>
            <a:ext cx="2377440" cy="420624"/>
          </a:xfrm>
          <a:prstGeom prst="rect">
            <a:avLst/>
          </a:prstGeom>
          <a:noFill/>
          <a:ln/>
        </p:spPr>
        <p:txBody>
          <a:bodyPr wrap="square" lIns="0" tIns="0" rIns="0" bIns="0" rtlCol="0" anchor="ctr"/>
          <a:lstStyle/>
          <a:p>
            <a:pPr marL="0" indent="0" algn="ctr">
              <a:buNone/>
            </a:pPr>
            <a:r>
              <a:rPr lang="en-US" sz="1100" b="1" dirty="0">
                <a:solidFill>
                  <a:srgbClr val="0F2E42"/>
                </a:solidFill>
                <a:latin typeface="Calibri" pitchFamily="34" charset="0"/>
                <a:ea typeface="Calibri" pitchFamily="34" charset="-122"/>
                <a:cs typeface="Calibri" pitchFamily="34" charset="-120"/>
              </a:rPr>
              <a:t>Rutas</a:t>
            </a:r>
            <a:endParaRPr lang="en-US" sz="1100" dirty="0"/>
          </a:p>
        </p:txBody>
      </p:sp>
      <p:sp>
        <p:nvSpPr>
          <p:cNvPr id="16" name="Shape 13"/>
          <p:cNvSpPr/>
          <p:nvPr/>
        </p:nvSpPr>
        <p:spPr>
          <a:xfrm>
            <a:off x="7424928" y="3090672"/>
            <a:ext cx="2377440" cy="420624"/>
          </a:xfrm>
          <a:prstGeom prst="roundRect">
            <a:avLst>
              <a:gd name="adj" fmla="val 13043"/>
            </a:avLst>
          </a:prstGeom>
          <a:solidFill>
            <a:srgbClr val="FFFFFF"/>
          </a:solidFill>
          <a:ln w="12700">
            <a:solidFill>
              <a:srgbClr val="2E7FB8"/>
            </a:solidFill>
            <a:prstDash val="solid"/>
          </a:ln>
        </p:spPr>
        <p:txBody>
          <a:bodyPr/>
          <a:lstStyle/>
          <a:p>
            <a:endParaRPr lang="es-CL"/>
          </a:p>
        </p:txBody>
      </p:sp>
      <p:sp>
        <p:nvSpPr>
          <p:cNvPr id="17" name="Text 14"/>
          <p:cNvSpPr/>
          <p:nvPr/>
        </p:nvSpPr>
        <p:spPr>
          <a:xfrm>
            <a:off x="7424928" y="3090672"/>
            <a:ext cx="2377440" cy="420624"/>
          </a:xfrm>
          <a:prstGeom prst="rect">
            <a:avLst/>
          </a:prstGeom>
          <a:noFill/>
          <a:ln/>
        </p:spPr>
        <p:txBody>
          <a:bodyPr wrap="square" lIns="0" tIns="0" rIns="0" bIns="0" rtlCol="0" anchor="ctr"/>
          <a:lstStyle/>
          <a:p>
            <a:pPr marL="0" indent="0" algn="ctr">
              <a:buNone/>
            </a:pPr>
            <a:r>
              <a:rPr lang="en-US" sz="1100" b="1" dirty="0">
                <a:solidFill>
                  <a:srgbClr val="0F2E42"/>
                </a:solidFill>
                <a:latin typeface="Calibri" pitchFamily="34" charset="0"/>
                <a:ea typeface="Calibri" pitchFamily="34" charset="-122"/>
                <a:cs typeface="Calibri" pitchFamily="34" charset="-120"/>
              </a:rPr>
              <a:t>Facturación</a:t>
            </a:r>
            <a:endParaRPr lang="en-US" sz="1100" dirty="0"/>
          </a:p>
        </p:txBody>
      </p:sp>
      <p:sp>
        <p:nvSpPr>
          <p:cNvPr id="18" name="Shape 15"/>
          <p:cNvSpPr/>
          <p:nvPr/>
        </p:nvSpPr>
        <p:spPr>
          <a:xfrm>
            <a:off x="2212848" y="3639312"/>
            <a:ext cx="2377440" cy="420624"/>
          </a:xfrm>
          <a:prstGeom prst="roundRect">
            <a:avLst>
              <a:gd name="adj" fmla="val 13043"/>
            </a:avLst>
          </a:prstGeom>
          <a:solidFill>
            <a:srgbClr val="FFFFFF"/>
          </a:solidFill>
          <a:ln w="12700">
            <a:solidFill>
              <a:srgbClr val="16A394"/>
            </a:solidFill>
            <a:prstDash val="solid"/>
          </a:ln>
        </p:spPr>
        <p:txBody>
          <a:bodyPr/>
          <a:lstStyle/>
          <a:p>
            <a:endParaRPr lang="es-CL"/>
          </a:p>
        </p:txBody>
      </p:sp>
      <p:sp>
        <p:nvSpPr>
          <p:cNvPr id="19" name="Text 16"/>
          <p:cNvSpPr/>
          <p:nvPr/>
        </p:nvSpPr>
        <p:spPr>
          <a:xfrm>
            <a:off x="2212848" y="3639312"/>
            <a:ext cx="2377440" cy="420624"/>
          </a:xfrm>
          <a:prstGeom prst="rect">
            <a:avLst/>
          </a:prstGeom>
          <a:noFill/>
          <a:ln/>
        </p:spPr>
        <p:txBody>
          <a:bodyPr wrap="square" lIns="0" tIns="0" rIns="0" bIns="0" rtlCol="0" anchor="ctr"/>
          <a:lstStyle/>
          <a:p>
            <a:pPr marL="0" indent="0" algn="ctr">
              <a:buNone/>
            </a:pPr>
            <a:r>
              <a:rPr lang="en-US" sz="1100" b="1" dirty="0">
                <a:solidFill>
                  <a:srgbClr val="0F2E42"/>
                </a:solidFill>
                <a:latin typeface="Calibri" pitchFamily="34" charset="0"/>
                <a:ea typeface="Calibri" pitchFamily="34" charset="-122"/>
                <a:cs typeface="Calibri" pitchFamily="34" charset="-120"/>
              </a:rPr>
              <a:t>Mantenimiento</a:t>
            </a:r>
            <a:endParaRPr lang="en-US" sz="1100" dirty="0"/>
          </a:p>
        </p:txBody>
      </p:sp>
      <p:sp>
        <p:nvSpPr>
          <p:cNvPr id="20" name="Shape 17"/>
          <p:cNvSpPr/>
          <p:nvPr/>
        </p:nvSpPr>
        <p:spPr>
          <a:xfrm>
            <a:off x="4818888" y="3639312"/>
            <a:ext cx="2377440" cy="420624"/>
          </a:xfrm>
          <a:prstGeom prst="roundRect">
            <a:avLst>
              <a:gd name="adj" fmla="val 13043"/>
            </a:avLst>
          </a:prstGeom>
          <a:solidFill>
            <a:srgbClr val="FFFFFF"/>
          </a:solidFill>
          <a:ln w="12700">
            <a:solidFill>
              <a:srgbClr val="16A394"/>
            </a:solidFill>
            <a:prstDash val="solid"/>
          </a:ln>
        </p:spPr>
        <p:txBody>
          <a:bodyPr/>
          <a:lstStyle/>
          <a:p>
            <a:endParaRPr lang="es-CL"/>
          </a:p>
        </p:txBody>
      </p:sp>
      <p:sp>
        <p:nvSpPr>
          <p:cNvPr id="21" name="Text 18"/>
          <p:cNvSpPr/>
          <p:nvPr/>
        </p:nvSpPr>
        <p:spPr>
          <a:xfrm>
            <a:off x="4818888" y="3639312"/>
            <a:ext cx="2377440" cy="420624"/>
          </a:xfrm>
          <a:prstGeom prst="rect">
            <a:avLst/>
          </a:prstGeom>
          <a:noFill/>
          <a:ln/>
        </p:spPr>
        <p:txBody>
          <a:bodyPr wrap="square" lIns="0" tIns="0" rIns="0" bIns="0" rtlCol="0" anchor="ctr"/>
          <a:lstStyle/>
          <a:p>
            <a:pPr marL="0" indent="0" algn="ctr">
              <a:buNone/>
            </a:pPr>
            <a:r>
              <a:rPr lang="en-US" sz="1100" b="1" dirty="0">
                <a:solidFill>
                  <a:srgbClr val="0F2E42"/>
                </a:solidFill>
                <a:latin typeface="Calibri" pitchFamily="34" charset="0"/>
                <a:ea typeface="Calibri" pitchFamily="34" charset="-122"/>
                <a:cs typeface="Calibri" pitchFamily="34" charset="-120"/>
              </a:rPr>
              <a:t>Documentos</a:t>
            </a:r>
            <a:endParaRPr lang="en-US" sz="1100" dirty="0"/>
          </a:p>
        </p:txBody>
      </p:sp>
      <p:sp>
        <p:nvSpPr>
          <p:cNvPr id="22" name="Shape 19"/>
          <p:cNvSpPr/>
          <p:nvPr/>
        </p:nvSpPr>
        <p:spPr>
          <a:xfrm>
            <a:off x="7424928" y="3639312"/>
            <a:ext cx="2377440" cy="420624"/>
          </a:xfrm>
          <a:prstGeom prst="roundRect">
            <a:avLst>
              <a:gd name="adj" fmla="val 13043"/>
            </a:avLst>
          </a:prstGeom>
          <a:solidFill>
            <a:srgbClr val="FFFFFF"/>
          </a:solidFill>
          <a:ln w="12700">
            <a:solidFill>
              <a:srgbClr val="16A394"/>
            </a:solidFill>
            <a:prstDash val="solid"/>
          </a:ln>
        </p:spPr>
        <p:txBody>
          <a:bodyPr/>
          <a:lstStyle/>
          <a:p>
            <a:endParaRPr lang="es-CL"/>
          </a:p>
        </p:txBody>
      </p:sp>
      <p:sp>
        <p:nvSpPr>
          <p:cNvPr id="23" name="Text 20"/>
          <p:cNvSpPr/>
          <p:nvPr/>
        </p:nvSpPr>
        <p:spPr>
          <a:xfrm>
            <a:off x="7424928" y="3639312"/>
            <a:ext cx="2377440" cy="420624"/>
          </a:xfrm>
          <a:prstGeom prst="rect">
            <a:avLst/>
          </a:prstGeom>
          <a:noFill/>
          <a:ln/>
        </p:spPr>
        <p:txBody>
          <a:bodyPr wrap="square" lIns="0" tIns="0" rIns="0" bIns="0" rtlCol="0" anchor="ctr"/>
          <a:lstStyle/>
          <a:p>
            <a:pPr marL="0" indent="0" algn="ctr">
              <a:buNone/>
            </a:pPr>
            <a:r>
              <a:rPr lang="en-US" sz="1100" b="1" dirty="0">
                <a:solidFill>
                  <a:srgbClr val="0F2E42"/>
                </a:solidFill>
                <a:latin typeface="Calibri" pitchFamily="34" charset="0"/>
                <a:ea typeface="Calibri" pitchFamily="34" charset="-122"/>
                <a:cs typeface="Calibri" pitchFamily="34" charset="-120"/>
              </a:rPr>
              <a:t>Indicadores</a:t>
            </a:r>
            <a:endParaRPr lang="en-US" sz="1100" dirty="0"/>
          </a:p>
        </p:txBody>
      </p:sp>
      <p:sp>
        <p:nvSpPr>
          <p:cNvPr id="24" name="Shape 21"/>
          <p:cNvSpPr/>
          <p:nvPr/>
        </p:nvSpPr>
        <p:spPr>
          <a:xfrm>
            <a:off x="2011680" y="4224528"/>
            <a:ext cx="8138160" cy="420624"/>
          </a:xfrm>
          <a:prstGeom prst="roundRect">
            <a:avLst>
              <a:gd name="adj" fmla="val 13043"/>
            </a:avLst>
          </a:prstGeom>
          <a:solidFill>
            <a:srgbClr val="FFFFFF"/>
          </a:solidFill>
          <a:ln w="12700">
            <a:solidFill>
              <a:srgbClr val="D8E2E9"/>
            </a:solidFill>
            <a:prstDash val="solid"/>
          </a:ln>
        </p:spPr>
        <p:txBody>
          <a:bodyPr/>
          <a:lstStyle/>
          <a:p>
            <a:endParaRPr lang="es-CL"/>
          </a:p>
        </p:txBody>
      </p:sp>
      <p:sp>
        <p:nvSpPr>
          <p:cNvPr id="25" name="Text 22"/>
          <p:cNvSpPr/>
          <p:nvPr/>
        </p:nvSpPr>
        <p:spPr>
          <a:xfrm>
            <a:off x="2011680" y="4224528"/>
            <a:ext cx="8138160" cy="420624"/>
          </a:xfrm>
          <a:prstGeom prst="rect">
            <a:avLst/>
          </a:prstGeom>
          <a:noFill/>
          <a:ln/>
        </p:spPr>
        <p:txBody>
          <a:bodyPr wrap="square" lIns="0" tIns="0" rIns="0" bIns="0" rtlCol="0" anchor="ctr"/>
          <a:lstStyle/>
          <a:p>
            <a:pPr marL="0" indent="0" algn="ctr">
              <a:buNone/>
            </a:pPr>
            <a:r>
              <a:rPr lang="en-US" sz="1100" dirty="0">
                <a:solidFill>
                  <a:srgbClr val="5A6B78"/>
                </a:solidFill>
                <a:latin typeface="Calibri" pitchFamily="34" charset="0"/>
                <a:ea typeface="Calibri" pitchFamily="34" charset="-122"/>
                <a:cs typeface="Calibri" pitchFamily="34" charset="-120"/>
              </a:rPr>
              <a:t>Autenticación, control de acceso por rol y registro de auditoría</a:t>
            </a:r>
            <a:endParaRPr lang="en-US" sz="1100" dirty="0"/>
          </a:p>
        </p:txBody>
      </p:sp>
      <p:sp>
        <p:nvSpPr>
          <p:cNvPr id="26" name="Shape 23"/>
          <p:cNvSpPr/>
          <p:nvPr/>
        </p:nvSpPr>
        <p:spPr>
          <a:xfrm>
            <a:off x="6080760" y="4663440"/>
            <a:ext cx="0" cy="320040"/>
          </a:xfrm>
          <a:prstGeom prst="line">
            <a:avLst/>
          </a:prstGeom>
          <a:noFill/>
          <a:ln w="25400">
            <a:solidFill>
              <a:srgbClr val="16A394"/>
            </a:solidFill>
            <a:prstDash val="solid"/>
            <a:tailEnd type="triangle"/>
          </a:ln>
        </p:spPr>
        <p:txBody>
          <a:bodyPr/>
          <a:lstStyle/>
          <a:p>
            <a:endParaRPr lang="es-CL"/>
          </a:p>
        </p:txBody>
      </p:sp>
      <p:sp>
        <p:nvSpPr>
          <p:cNvPr id="27" name="Shape 24"/>
          <p:cNvSpPr/>
          <p:nvPr/>
        </p:nvSpPr>
        <p:spPr>
          <a:xfrm>
            <a:off x="2011680" y="4983480"/>
            <a:ext cx="3931920" cy="868680"/>
          </a:xfrm>
          <a:prstGeom prst="roundRect">
            <a:avLst>
              <a:gd name="adj" fmla="val 8421"/>
            </a:avLst>
          </a:prstGeom>
          <a:solidFill>
            <a:srgbClr val="16A394"/>
          </a:solidFill>
          <a:ln w="12700">
            <a:solidFill>
              <a:srgbClr val="16A394"/>
            </a:solidFill>
            <a:prstDash val="solid"/>
          </a:ln>
        </p:spPr>
        <p:txBody>
          <a:bodyPr/>
          <a:lstStyle/>
          <a:p>
            <a:endParaRPr lang="es-CL"/>
          </a:p>
        </p:txBody>
      </p:sp>
      <p:sp>
        <p:nvSpPr>
          <p:cNvPr id="28" name="Text 25"/>
          <p:cNvSpPr/>
          <p:nvPr/>
        </p:nvSpPr>
        <p:spPr>
          <a:xfrm>
            <a:off x="2148840" y="5093208"/>
            <a:ext cx="3657600" cy="27432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Base de datos relacional</a:t>
            </a:r>
            <a:endParaRPr lang="en-US" sz="1300" dirty="0"/>
          </a:p>
        </p:txBody>
      </p:sp>
      <p:sp>
        <p:nvSpPr>
          <p:cNvPr id="29" name="Text 26"/>
          <p:cNvSpPr/>
          <p:nvPr/>
        </p:nvSpPr>
        <p:spPr>
          <a:xfrm>
            <a:off x="2121408" y="5367528"/>
            <a:ext cx="3712464" cy="411480"/>
          </a:xfrm>
          <a:prstGeom prst="rect">
            <a:avLst/>
          </a:prstGeom>
          <a:noFill/>
          <a:ln/>
        </p:spPr>
        <p:txBody>
          <a:bodyPr wrap="square" lIns="0" tIns="0" rIns="0" bIns="0" rtlCol="0" anchor="ctr"/>
          <a:lstStyle/>
          <a:p>
            <a:pPr marL="0" indent="0" algn="ctr">
              <a:buNone/>
            </a:pPr>
            <a:r>
              <a:rPr lang="en-US" sz="950" dirty="0">
                <a:solidFill>
                  <a:srgbClr val="D5F0EA"/>
                </a:solidFill>
                <a:latin typeface="Calibri" pitchFamily="34" charset="0"/>
                <a:ea typeface="Calibri" pitchFamily="34" charset="-122"/>
                <a:cs typeface="Calibri" pitchFamily="34" charset="-120"/>
              </a:rPr>
              <a:t>Modelo único que integra pedidos, rutas, flota, documentos y facturación</a:t>
            </a:r>
            <a:endParaRPr lang="en-US" sz="950" dirty="0"/>
          </a:p>
        </p:txBody>
      </p:sp>
      <p:sp>
        <p:nvSpPr>
          <p:cNvPr id="30" name="Shape 27"/>
          <p:cNvSpPr/>
          <p:nvPr/>
        </p:nvSpPr>
        <p:spPr>
          <a:xfrm>
            <a:off x="6217920" y="4983480"/>
            <a:ext cx="3931920" cy="868680"/>
          </a:xfrm>
          <a:prstGeom prst="roundRect">
            <a:avLst>
              <a:gd name="adj" fmla="val 8421"/>
            </a:avLst>
          </a:prstGeom>
          <a:solidFill>
            <a:srgbClr val="2E7FB8"/>
          </a:solidFill>
          <a:ln w="12700">
            <a:solidFill>
              <a:srgbClr val="2E7FB8"/>
            </a:solidFill>
            <a:prstDash val="solid"/>
          </a:ln>
        </p:spPr>
        <p:txBody>
          <a:bodyPr/>
          <a:lstStyle/>
          <a:p>
            <a:endParaRPr lang="es-CL"/>
          </a:p>
        </p:txBody>
      </p:sp>
      <p:sp>
        <p:nvSpPr>
          <p:cNvPr id="31" name="Text 28"/>
          <p:cNvSpPr/>
          <p:nvPr/>
        </p:nvSpPr>
        <p:spPr>
          <a:xfrm>
            <a:off x="6355080" y="5093208"/>
            <a:ext cx="3657600" cy="27432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Almacenamiento de documentos</a:t>
            </a:r>
            <a:endParaRPr lang="en-US" sz="1300" dirty="0"/>
          </a:p>
        </p:txBody>
      </p:sp>
      <p:sp>
        <p:nvSpPr>
          <p:cNvPr id="32" name="Text 29"/>
          <p:cNvSpPr/>
          <p:nvPr/>
        </p:nvSpPr>
        <p:spPr>
          <a:xfrm>
            <a:off x="6327648" y="5367528"/>
            <a:ext cx="3712464" cy="411480"/>
          </a:xfrm>
          <a:prstGeom prst="rect">
            <a:avLst/>
          </a:prstGeom>
          <a:noFill/>
          <a:ln/>
        </p:spPr>
        <p:txBody>
          <a:bodyPr wrap="square" lIns="0" tIns="0" rIns="0" bIns="0" rtlCol="0" anchor="ctr"/>
          <a:lstStyle/>
          <a:p>
            <a:pPr marL="0" indent="0" algn="ctr">
              <a:buNone/>
            </a:pPr>
            <a:r>
              <a:rPr lang="en-US" sz="950" dirty="0">
                <a:solidFill>
                  <a:srgbClr val="D8E9F5"/>
                </a:solidFill>
                <a:latin typeface="Calibri" pitchFamily="34" charset="0"/>
                <a:ea typeface="Calibri" pitchFamily="34" charset="-122"/>
                <a:cs typeface="Calibri" pitchFamily="34" charset="-120"/>
              </a:rPr>
              <a:t>Guías, facturas, permisos y licencias asociados al pedido</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548640"/>
          </a:xfrm>
          <a:prstGeom prst="rect">
            <a:avLst/>
          </a:prstGeom>
          <a:noFill/>
          <a:ln/>
        </p:spPr>
        <p:txBody>
          <a:bodyPr wrap="square" lIns="0" tIns="0" rIns="0" bIns="0" rtlCol="0" anchor="ctr"/>
          <a:lstStyle/>
          <a:p>
            <a:pPr marL="0" indent="0">
              <a:buNone/>
            </a:pPr>
            <a:r>
              <a:rPr lang="en-US" sz="3000" b="1" dirty="0">
                <a:solidFill>
                  <a:srgbClr val="0F2E42"/>
                </a:solidFill>
                <a:latin typeface="Calibri" pitchFamily="34" charset="0"/>
                <a:ea typeface="Calibri" pitchFamily="34" charset="-122"/>
                <a:cs typeface="Calibri" pitchFamily="34" charset="-120"/>
              </a:rPr>
              <a:t>Modelo de datos</a:t>
            </a:r>
            <a:endParaRPr lang="en-US" sz="3000" dirty="0"/>
          </a:p>
        </p:txBody>
      </p:sp>
      <p:sp>
        <p:nvSpPr>
          <p:cNvPr id="3" name="Text 1"/>
          <p:cNvSpPr/>
          <p:nvPr/>
        </p:nvSpPr>
        <p:spPr>
          <a:xfrm>
            <a:off x="640080" y="932688"/>
            <a:ext cx="10881360" cy="36576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El corazón del proyecto: las entidades que hoy están desconectadas</a:t>
            </a:r>
            <a:endParaRPr lang="en-US" sz="1500" dirty="0"/>
          </a:p>
        </p:txBody>
      </p:sp>
      <p:pic>
        <p:nvPicPr>
          <p:cNvPr id="4" name="Image 0" descr="/mnt/user-data/outputs/logo/vialnex-isotipo-512.png"/>
          <p:cNvPicPr>
            <a:picLocks noChangeAspect="1"/>
          </p:cNvPicPr>
          <p:nvPr/>
        </p:nvPicPr>
        <p:blipFill>
          <a:blip r:embed="rId3"/>
          <a:stretch>
            <a:fillRect/>
          </a:stretch>
        </p:blipFill>
        <p:spPr>
          <a:xfrm>
            <a:off x="11475720" y="6172200"/>
            <a:ext cx="384048" cy="384048"/>
          </a:xfrm>
          <a:prstGeom prst="rect">
            <a:avLst/>
          </a:prstGeom>
        </p:spPr>
      </p:pic>
      <p:sp>
        <p:nvSpPr>
          <p:cNvPr id="5" name="Shape 2"/>
          <p:cNvSpPr/>
          <p:nvPr/>
        </p:nvSpPr>
        <p:spPr>
          <a:xfrm>
            <a:off x="731520" y="1737360"/>
            <a:ext cx="2286000" cy="777240"/>
          </a:xfrm>
          <a:prstGeom prst="roundRect">
            <a:avLst>
              <a:gd name="adj" fmla="val 9412"/>
            </a:avLst>
          </a:prstGeom>
          <a:solidFill>
            <a:srgbClr val="FFFFFF"/>
          </a:solidFill>
          <a:ln w="19050">
            <a:solidFill>
              <a:srgbClr val="2E7FB8"/>
            </a:solidFill>
            <a:prstDash val="solid"/>
          </a:ln>
          <a:effectLst>
            <a:outerShdw blurRad="152400" dist="25400" dir="5400000" algn="bl" rotWithShape="0">
              <a:srgbClr val="0F2E42">
                <a:alpha val="12000"/>
              </a:srgbClr>
            </a:outerShdw>
          </a:effectLst>
        </p:spPr>
        <p:txBody>
          <a:bodyPr/>
          <a:lstStyle/>
          <a:p>
            <a:endParaRPr lang="es-CL"/>
          </a:p>
        </p:txBody>
      </p:sp>
      <p:sp>
        <p:nvSpPr>
          <p:cNvPr id="6" name="Text 3"/>
          <p:cNvSpPr/>
          <p:nvPr/>
        </p:nvSpPr>
        <p:spPr>
          <a:xfrm>
            <a:off x="731520" y="1737360"/>
            <a:ext cx="2286000" cy="777240"/>
          </a:xfrm>
          <a:prstGeom prst="rect">
            <a:avLst/>
          </a:prstGeom>
          <a:noFill/>
          <a:ln/>
        </p:spPr>
        <p:txBody>
          <a:bodyPr wrap="square" lIns="0" tIns="0" rIns="0" bIns="0" rtlCol="0" anchor="ctr"/>
          <a:lstStyle/>
          <a:p>
            <a:pPr marL="0" indent="0" algn="ctr">
              <a:buNone/>
            </a:pPr>
            <a:r>
              <a:rPr lang="en-US" sz="1400" b="1" dirty="0">
                <a:solidFill>
                  <a:srgbClr val="0F2E42"/>
                </a:solidFill>
                <a:latin typeface="Calibri" pitchFamily="34" charset="0"/>
                <a:ea typeface="Calibri" pitchFamily="34" charset="-122"/>
                <a:cs typeface="Calibri" pitchFamily="34" charset="-120"/>
              </a:rPr>
              <a:t>Cliente</a:t>
            </a:r>
            <a:endParaRPr lang="en-US" sz="1400" dirty="0"/>
          </a:p>
        </p:txBody>
      </p:sp>
      <p:sp>
        <p:nvSpPr>
          <p:cNvPr id="7" name="Shape 4"/>
          <p:cNvSpPr/>
          <p:nvPr/>
        </p:nvSpPr>
        <p:spPr>
          <a:xfrm>
            <a:off x="3291840" y="1737360"/>
            <a:ext cx="2286000" cy="777240"/>
          </a:xfrm>
          <a:prstGeom prst="roundRect">
            <a:avLst>
              <a:gd name="adj" fmla="val 9412"/>
            </a:avLst>
          </a:prstGeom>
          <a:solidFill>
            <a:srgbClr val="FFFFFF"/>
          </a:solidFill>
          <a:ln w="19050">
            <a:solidFill>
              <a:srgbClr val="16A394"/>
            </a:solidFill>
            <a:prstDash val="solid"/>
          </a:ln>
          <a:effectLst>
            <a:outerShdw blurRad="152400" dist="25400" dir="5400000" algn="bl" rotWithShape="0">
              <a:srgbClr val="0F2E42">
                <a:alpha val="12000"/>
              </a:srgbClr>
            </a:outerShdw>
          </a:effectLst>
        </p:spPr>
        <p:txBody>
          <a:bodyPr/>
          <a:lstStyle/>
          <a:p>
            <a:endParaRPr lang="es-CL"/>
          </a:p>
        </p:txBody>
      </p:sp>
      <p:sp>
        <p:nvSpPr>
          <p:cNvPr id="8" name="Text 5"/>
          <p:cNvSpPr/>
          <p:nvPr/>
        </p:nvSpPr>
        <p:spPr>
          <a:xfrm>
            <a:off x="3291840" y="1737360"/>
            <a:ext cx="2286000" cy="777240"/>
          </a:xfrm>
          <a:prstGeom prst="rect">
            <a:avLst/>
          </a:prstGeom>
          <a:noFill/>
          <a:ln/>
        </p:spPr>
        <p:txBody>
          <a:bodyPr wrap="square" lIns="0" tIns="0" rIns="0" bIns="0" rtlCol="0" anchor="ctr"/>
          <a:lstStyle/>
          <a:p>
            <a:pPr marL="0" indent="0" algn="ctr">
              <a:buNone/>
            </a:pPr>
            <a:r>
              <a:rPr lang="en-US" sz="1400" b="1" dirty="0">
                <a:solidFill>
                  <a:srgbClr val="0F2E42"/>
                </a:solidFill>
                <a:latin typeface="Calibri" pitchFamily="34" charset="0"/>
                <a:ea typeface="Calibri" pitchFamily="34" charset="-122"/>
                <a:cs typeface="Calibri" pitchFamily="34" charset="-120"/>
              </a:rPr>
              <a:t>Pedido</a:t>
            </a:r>
            <a:endParaRPr lang="en-US" sz="1400" dirty="0"/>
          </a:p>
        </p:txBody>
      </p:sp>
      <p:sp>
        <p:nvSpPr>
          <p:cNvPr id="9" name="Shape 6"/>
          <p:cNvSpPr/>
          <p:nvPr/>
        </p:nvSpPr>
        <p:spPr>
          <a:xfrm>
            <a:off x="5852160" y="1737360"/>
            <a:ext cx="2286000" cy="777240"/>
          </a:xfrm>
          <a:prstGeom prst="roundRect">
            <a:avLst>
              <a:gd name="adj" fmla="val 9412"/>
            </a:avLst>
          </a:prstGeom>
          <a:solidFill>
            <a:srgbClr val="FFFFFF"/>
          </a:solidFill>
          <a:ln w="19050">
            <a:solidFill>
              <a:srgbClr val="2E7FB8"/>
            </a:solidFill>
            <a:prstDash val="solid"/>
          </a:ln>
          <a:effectLst>
            <a:outerShdw blurRad="152400" dist="25400" dir="5400000" algn="bl" rotWithShape="0">
              <a:srgbClr val="0F2E42">
                <a:alpha val="12000"/>
              </a:srgbClr>
            </a:outerShdw>
          </a:effectLst>
        </p:spPr>
        <p:txBody>
          <a:bodyPr/>
          <a:lstStyle/>
          <a:p>
            <a:endParaRPr lang="es-CL"/>
          </a:p>
        </p:txBody>
      </p:sp>
      <p:sp>
        <p:nvSpPr>
          <p:cNvPr id="10" name="Text 7"/>
          <p:cNvSpPr/>
          <p:nvPr/>
        </p:nvSpPr>
        <p:spPr>
          <a:xfrm>
            <a:off x="5852160" y="1737360"/>
            <a:ext cx="2286000" cy="777240"/>
          </a:xfrm>
          <a:prstGeom prst="rect">
            <a:avLst/>
          </a:prstGeom>
          <a:noFill/>
          <a:ln/>
        </p:spPr>
        <p:txBody>
          <a:bodyPr wrap="square" lIns="0" tIns="0" rIns="0" bIns="0" rtlCol="0" anchor="ctr"/>
          <a:lstStyle/>
          <a:p>
            <a:pPr marL="0" indent="0" algn="ctr">
              <a:buNone/>
            </a:pPr>
            <a:r>
              <a:rPr lang="en-US" sz="1400" b="1" dirty="0">
                <a:solidFill>
                  <a:srgbClr val="0F2E42"/>
                </a:solidFill>
                <a:latin typeface="Calibri" pitchFamily="34" charset="0"/>
                <a:ea typeface="Calibri" pitchFamily="34" charset="-122"/>
                <a:cs typeface="Calibri" pitchFamily="34" charset="-120"/>
              </a:rPr>
              <a:t>Ruta</a:t>
            </a:r>
            <a:endParaRPr lang="en-US" sz="1400" dirty="0"/>
          </a:p>
        </p:txBody>
      </p:sp>
      <p:sp>
        <p:nvSpPr>
          <p:cNvPr id="11" name="Shape 8"/>
          <p:cNvSpPr/>
          <p:nvPr/>
        </p:nvSpPr>
        <p:spPr>
          <a:xfrm>
            <a:off x="731520" y="3200400"/>
            <a:ext cx="2286000" cy="777240"/>
          </a:xfrm>
          <a:prstGeom prst="roundRect">
            <a:avLst>
              <a:gd name="adj" fmla="val 9412"/>
            </a:avLst>
          </a:prstGeom>
          <a:solidFill>
            <a:srgbClr val="FFFFFF"/>
          </a:solidFill>
          <a:ln w="19050">
            <a:solidFill>
              <a:srgbClr val="2E7FB8"/>
            </a:solidFill>
            <a:prstDash val="solid"/>
          </a:ln>
          <a:effectLst>
            <a:outerShdw blurRad="152400" dist="25400" dir="5400000" algn="bl" rotWithShape="0">
              <a:srgbClr val="0F2E42">
                <a:alpha val="12000"/>
              </a:srgbClr>
            </a:outerShdw>
          </a:effectLst>
        </p:spPr>
        <p:txBody>
          <a:bodyPr/>
          <a:lstStyle/>
          <a:p>
            <a:endParaRPr lang="es-CL"/>
          </a:p>
        </p:txBody>
      </p:sp>
      <p:sp>
        <p:nvSpPr>
          <p:cNvPr id="12" name="Text 9"/>
          <p:cNvSpPr/>
          <p:nvPr/>
        </p:nvSpPr>
        <p:spPr>
          <a:xfrm>
            <a:off x="731520" y="3200400"/>
            <a:ext cx="2286000" cy="777240"/>
          </a:xfrm>
          <a:prstGeom prst="rect">
            <a:avLst/>
          </a:prstGeom>
          <a:noFill/>
          <a:ln/>
        </p:spPr>
        <p:txBody>
          <a:bodyPr wrap="square" lIns="0" tIns="0" rIns="0" bIns="0" rtlCol="0" anchor="ctr"/>
          <a:lstStyle/>
          <a:p>
            <a:pPr marL="0" indent="0" algn="ctr">
              <a:buNone/>
            </a:pPr>
            <a:r>
              <a:rPr lang="en-US" sz="1400" b="1" dirty="0">
                <a:solidFill>
                  <a:srgbClr val="0F2E42"/>
                </a:solidFill>
                <a:latin typeface="Calibri" pitchFamily="34" charset="0"/>
                <a:ea typeface="Calibri" pitchFamily="34" charset="-122"/>
                <a:cs typeface="Calibri" pitchFamily="34" charset="-120"/>
              </a:rPr>
              <a:t>Vehículo</a:t>
            </a:r>
            <a:endParaRPr lang="en-US" sz="1400" dirty="0"/>
          </a:p>
        </p:txBody>
      </p:sp>
      <p:sp>
        <p:nvSpPr>
          <p:cNvPr id="13" name="Shape 10"/>
          <p:cNvSpPr/>
          <p:nvPr/>
        </p:nvSpPr>
        <p:spPr>
          <a:xfrm>
            <a:off x="3291840" y="3200400"/>
            <a:ext cx="2286000" cy="777240"/>
          </a:xfrm>
          <a:prstGeom prst="roundRect">
            <a:avLst>
              <a:gd name="adj" fmla="val 9412"/>
            </a:avLst>
          </a:prstGeom>
          <a:solidFill>
            <a:srgbClr val="FFFFFF"/>
          </a:solidFill>
          <a:ln w="19050">
            <a:solidFill>
              <a:srgbClr val="2E7FB8"/>
            </a:solidFill>
            <a:prstDash val="solid"/>
          </a:ln>
          <a:effectLst>
            <a:outerShdw blurRad="152400" dist="25400" dir="5400000" algn="bl" rotWithShape="0">
              <a:srgbClr val="0F2E42">
                <a:alpha val="12000"/>
              </a:srgbClr>
            </a:outerShdw>
          </a:effectLst>
        </p:spPr>
        <p:txBody>
          <a:bodyPr/>
          <a:lstStyle/>
          <a:p>
            <a:endParaRPr lang="es-CL"/>
          </a:p>
        </p:txBody>
      </p:sp>
      <p:sp>
        <p:nvSpPr>
          <p:cNvPr id="14" name="Text 11"/>
          <p:cNvSpPr/>
          <p:nvPr/>
        </p:nvSpPr>
        <p:spPr>
          <a:xfrm>
            <a:off x="3291840" y="3200400"/>
            <a:ext cx="2286000" cy="777240"/>
          </a:xfrm>
          <a:prstGeom prst="rect">
            <a:avLst/>
          </a:prstGeom>
          <a:noFill/>
          <a:ln/>
        </p:spPr>
        <p:txBody>
          <a:bodyPr wrap="square" lIns="0" tIns="0" rIns="0" bIns="0" rtlCol="0" anchor="ctr"/>
          <a:lstStyle/>
          <a:p>
            <a:pPr marL="0" indent="0" algn="ctr">
              <a:buNone/>
            </a:pPr>
            <a:r>
              <a:rPr lang="en-US" sz="1400" b="1" dirty="0">
                <a:solidFill>
                  <a:srgbClr val="0F2E42"/>
                </a:solidFill>
                <a:latin typeface="Calibri" pitchFamily="34" charset="0"/>
                <a:ea typeface="Calibri" pitchFamily="34" charset="-122"/>
                <a:cs typeface="Calibri" pitchFamily="34" charset="-120"/>
              </a:rPr>
              <a:t>Conductor</a:t>
            </a:r>
            <a:endParaRPr lang="en-US" sz="1400" dirty="0"/>
          </a:p>
        </p:txBody>
      </p:sp>
      <p:sp>
        <p:nvSpPr>
          <p:cNvPr id="15" name="Shape 12"/>
          <p:cNvSpPr/>
          <p:nvPr/>
        </p:nvSpPr>
        <p:spPr>
          <a:xfrm>
            <a:off x="5852160" y="3200400"/>
            <a:ext cx="2286000" cy="777240"/>
          </a:xfrm>
          <a:prstGeom prst="roundRect">
            <a:avLst>
              <a:gd name="adj" fmla="val 9412"/>
            </a:avLst>
          </a:prstGeom>
          <a:solidFill>
            <a:srgbClr val="FFFFFF"/>
          </a:solidFill>
          <a:ln w="19050">
            <a:solidFill>
              <a:srgbClr val="16A394"/>
            </a:solidFill>
            <a:prstDash val="solid"/>
          </a:ln>
          <a:effectLst>
            <a:outerShdw blurRad="152400" dist="25400" dir="5400000" algn="bl" rotWithShape="0">
              <a:srgbClr val="0F2E42">
                <a:alpha val="12000"/>
              </a:srgbClr>
            </a:outerShdw>
          </a:effectLst>
        </p:spPr>
        <p:txBody>
          <a:bodyPr/>
          <a:lstStyle/>
          <a:p>
            <a:endParaRPr lang="es-CL"/>
          </a:p>
        </p:txBody>
      </p:sp>
      <p:sp>
        <p:nvSpPr>
          <p:cNvPr id="16" name="Text 13"/>
          <p:cNvSpPr/>
          <p:nvPr/>
        </p:nvSpPr>
        <p:spPr>
          <a:xfrm>
            <a:off x="5852160" y="3200400"/>
            <a:ext cx="2286000" cy="777240"/>
          </a:xfrm>
          <a:prstGeom prst="rect">
            <a:avLst/>
          </a:prstGeom>
          <a:noFill/>
          <a:ln/>
        </p:spPr>
        <p:txBody>
          <a:bodyPr wrap="square" lIns="0" tIns="0" rIns="0" bIns="0" rtlCol="0" anchor="ctr"/>
          <a:lstStyle/>
          <a:p>
            <a:pPr marL="0" indent="0" algn="ctr">
              <a:buNone/>
            </a:pPr>
            <a:r>
              <a:rPr lang="en-US" sz="1400" b="1" dirty="0">
                <a:solidFill>
                  <a:srgbClr val="0F2E42"/>
                </a:solidFill>
                <a:latin typeface="Calibri" pitchFamily="34" charset="0"/>
                <a:ea typeface="Calibri" pitchFamily="34" charset="-122"/>
                <a:cs typeface="Calibri" pitchFamily="34" charset="-120"/>
              </a:rPr>
              <a:t>Documento</a:t>
            </a:r>
            <a:endParaRPr lang="en-US" sz="1400" dirty="0"/>
          </a:p>
        </p:txBody>
      </p:sp>
      <p:sp>
        <p:nvSpPr>
          <p:cNvPr id="17" name="Shape 14"/>
          <p:cNvSpPr/>
          <p:nvPr/>
        </p:nvSpPr>
        <p:spPr>
          <a:xfrm>
            <a:off x="731520" y="4663440"/>
            <a:ext cx="2286000" cy="777240"/>
          </a:xfrm>
          <a:prstGeom prst="roundRect">
            <a:avLst>
              <a:gd name="adj" fmla="val 9412"/>
            </a:avLst>
          </a:prstGeom>
          <a:solidFill>
            <a:srgbClr val="FFFFFF"/>
          </a:solidFill>
          <a:ln w="19050">
            <a:solidFill>
              <a:srgbClr val="2E7FB8"/>
            </a:solidFill>
            <a:prstDash val="solid"/>
          </a:ln>
          <a:effectLst>
            <a:outerShdw blurRad="152400" dist="25400" dir="5400000" algn="bl" rotWithShape="0">
              <a:srgbClr val="0F2E42">
                <a:alpha val="12000"/>
              </a:srgbClr>
            </a:outerShdw>
          </a:effectLst>
        </p:spPr>
        <p:txBody>
          <a:bodyPr/>
          <a:lstStyle/>
          <a:p>
            <a:endParaRPr lang="es-CL"/>
          </a:p>
        </p:txBody>
      </p:sp>
      <p:sp>
        <p:nvSpPr>
          <p:cNvPr id="18" name="Text 15"/>
          <p:cNvSpPr/>
          <p:nvPr/>
        </p:nvSpPr>
        <p:spPr>
          <a:xfrm>
            <a:off x="731520" y="4663440"/>
            <a:ext cx="2286000" cy="777240"/>
          </a:xfrm>
          <a:prstGeom prst="rect">
            <a:avLst/>
          </a:prstGeom>
          <a:noFill/>
          <a:ln/>
        </p:spPr>
        <p:txBody>
          <a:bodyPr wrap="square" lIns="0" tIns="0" rIns="0" bIns="0" rtlCol="0" anchor="ctr"/>
          <a:lstStyle/>
          <a:p>
            <a:pPr marL="0" indent="0" algn="ctr">
              <a:buNone/>
            </a:pPr>
            <a:r>
              <a:rPr lang="en-US" sz="1400" b="1" dirty="0">
                <a:solidFill>
                  <a:srgbClr val="0F2E42"/>
                </a:solidFill>
                <a:latin typeface="Calibri" pitchFamily="34" charset="0"/>
                <a:ea typeface="Calibri" pitchFamily="34" charset="-122"/>
                <a:cs typeface="Calibri" pitchFamily="34" charset="-120"/>
              </a:rPr>
              <a:t>Mantención</a:t>
            </a:r>
            <a:endParaRPr lang="en-US" sz="1400" dirty="0"/>
          </a:p>
        </p:txBody>
      </p:sp>
      <p:sp>
        <p:nvSpPr>
          <p:cNvPr id="19" name="Shape 16"/>
          <p:cNvSpPr/>
          <p:nvPr/>
        </p:nvSpPr>
        <p:spPr>
          <a:xfrm>
            <a:off x="3291840" y="4663440"/>
            <a:ext cx="2286000" cy="777240"/>
          </a:xfrm>
          <a:prstGeom prst="roundRect">
            <a:avLst>
              <a:gd name="adj" fmla="val 9412"/>
            </a:avLst>
          </a:prstGeom>
          <a:solidFill>
            <a:srgbClr val="FFFFFF"/>
          </a:solidFill>
          <a:ln w="19050">
            <a:solidFill>
              <a:srgbClr val="2E7FB8"/>
            </a:solidFill>
            <a:prstDash val="solid"/>
          </a:ln>
          <a:effectLst>
            <a:outerShdw blurRad="152400" dist="25400" dir="5400000" algn="bl" rotWithShape="0">
              <a:srgbClr val="0F2E42">
                <a:alpha val="12000"/>
              </a:srgbClr>
            </a:outerShdw>
          </a:effectLst>
        </p:spPr>
        <p:txBody>
          <a:bodyPr/>
          <a:lstStyle/>
          <a:p>
            <a:endParaRPr lang="es-CL"/>
          </a:p>
        </p:txBody>
      </p:sp>
      <p:sp>
        <p:nvSpPr>
          <p:cNvPr id="20" name="Text 17"/>
          <p:cNvSpPr/>
          <p:nvPr/>
        </p:nvSpPr>
        <p:spPr>
          <a:xfrm>
            <a:off x="3291840" y="4663440"/>
            <a:ext cx="2286000" cy="777240"/>
          </a:xfrm>
          <a:prstGeom prst="rect">
            <a:avLst/>
          </a:prstGeom>
          <a:noFill/>
          <a:ln/>
        </p:spPr>
        <p:txBody>
          <a:bodyPr wrap="square" lIns="0" tIns="0" rIns="0" bIns="0" rtlCol="0" anchor="ctr"/>
          <a:lstStyle/>
          <a:p>
            <a:pPr marL="0" indent="0" algn="ctr">
              <a:buNone/>
            </a:pPr>
            <a:r>
              <a:rPr lang="en-US" sz="1400" b="1" dirty="0">
                <a:solidFill>
                  <a:srgbClr val="0F2E42"/>
                </a:solidFill>
                <a:latin typeface="Calibri" pitchFamily="34" charset="0"/>
                <a:ea typeface="Calibri" pitchFamily="34" charset="-122"/>
                <a:cs typeface="Calibri" pitchFamily="34" charset="-120"/>
              </a:rPr>
              <a:t>Factura</a:t>
            </a:r>
            <a:endParaRPr lang="en-US" sz="1400" dirty="0"/>
          </a:p>
        </p:txBody>
      </p:sp>
      <p:sp>
        <p:nvSpPr>
          <p:cNvPr id="21" name="Shape 18"/>
          <p:cNvSpPr/>
          <p:nvPr/>
        </p:nvSpPr>
        <p:spPr>
          <a:xfrm>
            <a:off x="3017520" y="2121408"/>
            <a:ext cx="274320" cy="0"/>
          </a:xfrm>
          <a:prstGeom prst="line">
            <a:avLst/>
          </a:prstGeom>
          <a:noFill/>
          <a:ln w="22225">
            <a:solidFill>
              <a:srgbClr val="D8E2E9"/>
            </a:solidFill>
            <a:prstDash val="solid"/>
          </a:ln>
        </p:spPr>
        <p:txBody>
          <a:bodyPr/>
          <a:lstStyle/>
          <a:p>
            <a:endParaRPr lang="es-CL"/>
          </a:p>
        </p:txBody>
      </p:sp>
      <p:sp>
        <p:nvSpPr>
          <p:cNvPr id="22" name="Shape 19"/>
          <p:cNvSpPr/>
          <p:nvPr/>
        </p:nvSpPr>
        <p:spPr>
          <a:xfrm>
            <a:off x="5577840" y="2121408"/>
            <a:ext cx="274320" cy="0"/>
          </a:xfrm>
          <a:prstGeom prst="line">
            <a:avLst/>
          </a:prstGeom>
          <a:noFill/>
          <a:ln w="22225">
            <a:solidFill>
              <a:srgbClr val="D8E2E9"/>
            </a:solidFill>
            <a:prstDash val="solid"/>
          </a:ln>
        </p:spPr>
        <p:txBody>
          <a:bodyPr/>
          <a:lstStyle/>
          <a:p>
            <a:endParaRPr lang="es-CL"/>
          </a:p>
        </p:txBody>
      </p:sp>
      <p:sp>
        <p:nvSpPr>
          <p:cNvPr id="23" name="Shape 20"/>
          <p:cNvSpPr/>
          <p:nvPr/>
        </p:nvSpPr>
        <p:spPr>
          <a:xfrm>
            <a:off x="1874520" y="2514600"/>
            <a:ext cx="0" cy="685800"/>
          </a:xfrm>
          <a:prstGeom prst="line">
            <a:avLst/>
          </a:prstGeom>
          <a:noFill/>
          <a:ln w="22225">
            <a:solidFill>
              <a:srgbClr val="D8E2E9"/>
            </a:solidFill>
            <a:prstDash val="solid"/>
          </a:ln>
        </p:spPr>
        <p:txBody>
          <a:bodyPr/>
          <a:lstStyle/>
          <a:p>
            <a:endParaRPr lang="es-CL"/>
          </a:p>
        </p:txBody>
      </p:sp>
      <p:sp>
        <p:nvSpPr>
          <p:cNvPr id="24" name="Shape 21"/>
          <p:cNvSpPr/>
          <p:nvPr/>
        </p:nvSpPr>
        <p:spPr>
          <a:xfrm>
            <a:off x="4434840" y="2514600"/>
            <a:ext cx="0" cy="685800"/>
          </a:xfrm>
          <a:prstGeom prst="line">
            <a:avLst/>
          </a:prstGeom>
          <a:noFill/>
          <a:ln w="22225">
            <a:solidFill>
              <a:srgbClr val="D8E2E9"/>
            </a:solidFill>
            <a:prstDash val="solid"/>
          </a:ln>
        </p:spPr>
        <p:txBody>
          <a:bodyPr/>
          <a:lstStyle/>
          <a:p>
            <a:endParaRPr lang="es-CL"/>
          </a:p>
        </p:txBody>
      </p:sp>
      <p:sp>
        <p:nvSpPr>
          <p:cNvPr id="25" name="Shape 22"/>
          <p:cNvSpPr/>
          <p:nvPr/>
        </p:nvSpPr>
        <p:spPr>
          <a:xfrm>
            <a:off x="6995160" y="2514600"/>
            <a:ext cx="0" cy="685800"/>
          </a:xfrm>
          <a:prstGeom prst="line">
            <a:avLst/>
          </a:prstGeom>
          <a:noFill/>
          <a:ln w="22225">
            <a:solidFill>
              <a:srgbClr val="D8E2E9"/>
            </a:solidFill>
            <a:prstDash val="solid"/>
          </a:ln>
        </p:spPr>
        <p:txBody>
          <a:bodyPr/>
          <a:lstStyle/>
          <a:p>
            <a:endParaRPr lang="es-CL"/>
          </a:p>
        </p:txBody>
      </p:sp>
      <p:sp>
        <p:nvSpPr>
          <p:cNvPr id="26" name="Shape 23"/>
          <p:cNvSpPr/>
          <p:nvPr/>
        </p:nvSpPr>
        <p:spPr>
          <a:xfrm>
            <a:off x="3017520" y="3584448"/>
            <a:ext cx="274320" cy="0"/>
          </a:xfrm>
          <a:prstGeom prst="line">
            <a:avLst/>
          </a:prstGeom>
          <a:noFill/>
          <a:ln w="22225">
            <a:solidFill>
              <a:srgbClr val="D8E2E9"/>
            </a:solidFill>
            <a:prstDash val="solid"/>
          </a:ln>
        </p:spPr>
        <p:txBody>
          <a:bodyPr/>
          <a:lstStyle/>
          <a:p>
            <a:endParaRPr lang="es-CL"/>
          </a:p>
        </p:txBody>
      </p:sp>
      <p:sp>
        <p:nvSpPr>
          <p:cNvPr id="27" name="Shape 24"/>
          <p:cNvSpPr/>
          <p:nvPr/>
        </p:nvSpPr>
        <p:spPr>
          <a:xfrm>
            <a:off x="5577840" y="3584448"/>
            <a:ext cx="274320" cy="0"/>
          </a:xfrm>
          <a:prstGeom prst="line">
            <a:avLst/>
          </a:prstGeom>
          <a:noFill/>
          <a:ln w="22225">
            <a:solidFill>
              <a:srgbClr val="D8E2E9"/>
            </a:solidFill>
            <a:prstDash val="solid"/>
          </a:ln>
        </p:spPr>
        <p:txBody>
          <a:bodyPr/>
          <a:lstStyle/>
          <a:p>
            <a:endParaRPr lang="es-CL"/>
          </a:p>
        </p:txBody>
      </p:sp>
      <p:sp>
        <p:nvSpPr>
          <p:cNvPr id="28" name="Shape 25"/>
          <p:cNvSpPr/>
          <p:nvPr/>
        </p:nvSpPr>
        <p:spPr>
          <a:xfrm>
            <a:off x="1874520" y="3977640"/>
            <a:ext cx="0" cy="685800"/>
          </a:xfrm>
          <a:prstGeom prst="line">
            <a:avLst/>
          </a:prstGeom>
          <a:noFill/>
          <a:ln w="22225">
            <a:solidFill>
              <a:srgbClr val="D8E2E9"/>
            </a:solidFill>
            <a:prstDash val="solid"/>
          </a:ln>
        </p:spPr>
        <p:txBody>
          <a:bodyPr/>
          <a:lstStyle/>
          <a:p>
            <a:endParaRPr lang="es-CL"/>
          </a:p>
        </p:txBody>
      </p:sp>
      <p:sp>
        <p:nvSpPr>
          <p:cNvPr id="29" name="Shape 26"/>
          <p:cNvSpPr/>
          <p:nvPr/>
        </p:nvSpPr>
        <p:spPr>
          <a:xfrm>
            <a:off x="4434840" y="3977640"/>
            <a:ext cx="0" cy="685800"/>
          </a:xfrm>
          <a:prstGeom prst="line">
            <a:avLst/>
          </a:prstGeom>
          <a:noFill/>
          <a:ln w="22225">
            <a:solidFill>
              <a:srgbClr val="D8E2E9"/>
            </a:solidFill>
            <a:prstDash val="solid"/>
          </a:ln>
        </p:spPr>
        <p:txBody>
          <a:bodyPr/>
          <a:lstStyle/>
          <a:p>
            <a:endParaRPr lang="es-CL"/>
          </a:p>
        </p:txBody>
      </p:sp>
      <p:sp>
        <p:nvSpPr>
          <p:cNvPr id="30" name="Shape 27"/>
          <p:cNvSpPr/>
          <p:nvPr/>
        </p:nvSpPr>
        <p:spPr>
          <a:xfrm>
            <a:off x="3017520" y="5047488"/>
            <a:ext cx="274320" cy="0"/>
          </a:xfrm>
          <a:prstGeom prst="line">
            <a:avLst/>
          </a:prstGeom>
          <a:noFill/>
          <a:ln w="22225">
            <a:solidFill>
              <a:srgbClr val="D8E2E9"/>
            </a:solidFill>
            <a:prstDash val="solid"/>
          </a:ln>
        </p:spPr>
        <p:txBody>
          <a:bodyPr/>
          <a:lstStyle/>
          <a:p>
            <a:endParaRPr lang="es-CL"/>
          </a:p>
        </p:txBody>
      </p:sp>
      <p:sp>
        <p:nvSpPr>
          <p:cNvPr id="31" name="Shape 28"/>
          <p:cNvSpPr/>
          <p:nvPr/>
        </p:nvSpPr>
        <p:spPr>
          <a:xfrm>
            <a:off x="8732520" y="1737360"/>
            <a:ext cx="2788920" cy="2240280"/>
          </a:xfrm>
          <a:prstGeom prst="roundRect">
            <a:avLst>
              <a:gd name="adj" fmla="val 3265"/>
            </a:avLst>
          </a:prstGeom>
          <a:solidFill>
            <a:srgbClr val="0F2E42"/>
          </a:solidFill>
          <a:ln w="12700">
            <a:solidFill>
              <a:srgbClr val="0F2E42"/>
            </a:solidFill>
            <a:prstDash val="solid"/>
          </a:ln>
        </p:spPr>
        <p:txBody>
          <a:bodyPr/>
          <a:lstStyle/>
          <a:p>
            <a:endParaRPr lang="es-CL"/>
          </a:p>
        </p:txBody>
      </p:sp>
      <p:sp>
        <p:nvSpPr>
          <p:cNvPr id="32" name="Text 29"/>
          <p:cNvSpPr/>
          <p:nvPr/>
        </p:nvSpPr>
        <p:spPr>
          <a:xfrm>
            <a:off x="8961120" y="1938528"/>
            <a:ext cx="2377440" cy="640080"/>
          </a:xfrm>
          <a:prstGeom prst="rect">
            <a:avLst/>
          </a:prstGeom>
          <a:noFill/>
          <a:ln/>
        </p:spPr>
        <p:txBody>
          <a:bodyPr wrap="square" lIns="0" tIns="0" rIns="0" bIns="0" rtlCol="0" anchor="ctr"/>
          <a:lstStyle/>
          <a:p>
            <a:pPr marL="0" indent="0">
              <a:lnSpc>
                <a:spcPct val="110000"/>
              </a:lnSpc>
              <a:buNone/>
            </a:pPr>
            <a:r>
              <a:rPr lang="en-US" sz="1400" b="1" dirty="0">
                <a:solidFill>
                  <a:srgbClr val="16A394"/>
                </a:solidFill>
                <a:latin typeface="Calibri" pitchFamily="34" charset="0"/>
                <a:ea typeface="Calibri" pitchFamily="34" charset="-122"/>
                <a:cs typeface="Calibri" pitchFamily="34" charset="-120"/>
              </a:rPr>
              <a:t>El pedido articula todo el modelo</a:t>
            </a:r>
            <a:endParaRPr lang="en-US" sz="1400" dirty="0"/>
          </a:p>
        </p:txBody>
      </p:sp>
      <p:sp>
        <p:nvSpPr>
          <p:cNvPr id="33" name="Text 30"/>
          <p:cNvSpPr/>
          <p:nvPr/>
        </p:nvSpPr>
        <p:spPr>
          <a:xfrm>
            <a:off x="8961120" y="2606040"/>
            <a:ext cx="2377440" cy="1188720"/>
          </a:xfrm>
          <a:prstGeom prst="rect">
            <a:avLst/>
          </a:prstGeom>
          <a:noFill/>
          <a:ln/>
        </p:spPr>
        <p:txBody>
          <a:bodyPr wrap="square" lIns="0" tIns="0" rIns="0" bIns="0" rtlCol="0" anchor="ctr"/>
          <a:lstStyle/>
          <a:p>
            <a:pPr marL="0" indent="0">
              <a:lnSpc>
                <a:spcPct val="120000"/>
              </a:lnSpc>
              <a:buNone/>
            </a:pPr>
            <a:r>
              <a:rPr lang="en-US" sz="1100" dirty="0">
                <a:solidFill>
                  <a:srgbClr val="BBCEDA"/>
                </a:solidFill>
                <a:latin typeface="Calibri" pitchFamily="34" charset="0"/>
                <a:ea typeface="Calibri" pitchFamily="34" charset="-122"/>
                <a:cs typeface="Calibri" pitchFamily="34" charset="-120"/>
              </a:rPr>
              <a:t>Arrastra consigo su ruta, la documentación generada durante el viaje y el cobro asociado. Esa cadena es la que hoy se rompe.</a:t>
            </a:r>
            <a:endParaRPr lang="en-US" sz="1100" dirty="0"/>
          </a:p>
        </p:txBody>
      </p:sp>
      <p:sp>
        <p:nvSpPr>
          <p:cNvPr id="34" name="Shape 31"/>
          <p:cNvSpPr/>
          <p:nvPr/>
        </p:nvSpPr>
        <p:spPr>
          <a:xfrm>
            <a:off x="8732520" y="4160520"/>
            <a:ext cx="2788920" cy="1874520"/>
          </a:xfrm>
          <a:prstGeom prst="roundRect">
            <a:avLst>
              <a:gd name="adj" fmla="val 3902"/>
            </a:avLst>
          </a:prstGeom>
          <a:solidFill>
            <a:srgbClr val="F2F6F9"/>
          </a:solidFill>
          <a:ln w="12700">
            <a:solidFill>
              <a:srgbClr val="D8E2E9"/>
            </a:solidFill>
            <a:prstDash val="solid"/>
          </a:ln>
        </p:spPr>
        <p:txBody>
          <a:bodyPr/>
          <a:lstStyle/>
          <a:p>
            <a:endParaRPr lang="es-CL"/>
          </a:p>
        </p:txBody>
      </p:sp>
      <p:sp>
        <p:nvSpPr>
          <p:cNvPr id="35" name="Text 32"/>
          <p:cNvSpPr/>
          <p:nvPr/>
        </p:nvSpPr>
        <p:spPr>
          <a:xfrm>
            <a:off x="8961120" y="4343400"/>
            <a:ext cx="2377440" cy="274320"/>
          </a:xfrm>
          <a:prstGeom prst="rect">
            <a:avLst/>
          </a:prstGeom>
          <a:noFill/>
          <a:ln/>
        </p:spPr>
        <p:txBody>
          <a:bodyPr wrap="square" lIns="0" tIns="0" rIns="0" bIns="0" rtlCol="0" anchor="ctr"/>
          <a:lstStyle/>
          <a:p>
            <a:pPr marL="0" indent="0">
              <a:buNone/>
            </a:pPr>
            <a:r>
              <a:rPr lang="en-US" sz="1250" b="1" dirty="0">
                <a:solidFill>
                  <a:srgbClr val="0F2E42"/>
                </a:solidFill>
                <a:latin typeface="Calibri" pitchFamily="34" charset="0"/>
                <a:ea typeface="Calibri" pitchFamily="34" charset="-122"/>
                <a:cs typeface="Calibri" pitchFamily="34" charset="-120"/>
              </a:rPr>
              <a:t>Primera actividad crítica</a:t>
            </a:r>
            <a:endParaRPr lang="en-US" sz="1250" dirty="0"/>
          </a:p>
        </p:txBody>
      </p:sp>
      <p:sp>
        <p:nvSpPr>
          <p:cNvPr id="36" name="Text 33"/>
          <p:cNvSpPr/>
          <p:nvPr/>
        </p:nvSpPr>
        <p:spPr>
          <a:xfrm>
            <a:off x="8961120" y="4663440"/>
            <a:ext cx="2377440" cy="1188720"/>
          </a:xfrm>
          <a:prstGeom prst="rect">
            <a:avLst/>
          </a:prstGeom>
          <a:noFill/>
          <a:ln/>
        </p:spPr>
        <p:txBody>
          <a:bodyPr wrap="square" lIns="0" tIns="0" rIns="0" bIns="0" rtlCol="0" anchor="ctr"/>
          <a:lstStyle/>
          <a:p>
            <a:pPr marL="0" indent="0">
              <a:lnSpc>
                <a:spcPct val="120000"/>
              </a:lnSpc>
              <a:buNone/>
            </a:pPr>
            <a:r>
              <a:rPr lang="en-US" sz="1050" dirty="0">
                <a:solidFill>
                  <a:srgbClr val="5A6B78"/>
                </a:solidFill>
                <a:latin typeface="Calibri" pitchFamily="34" charset="0"/>
                <a:ea typeface="Calibri" pitchFamily="34" charset="-122"/>
                <a:cs typeface="Calibri" pitchFamily="34" charset="-120"/>
              </a:rPr>
              <a:t>Sin este modelo la integración entre módulos es imposible. Por eso ocupa las semanas 3 a 5 del plan de trabajo, antes de construir cualquier módulo.</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548640"/>
          </a:xfrm>
          <a:prstGeom prst="rect">
            <a:avLst/>
          </a:prstGeom>
          <a:noFill/>
          <a:ln/>
        </p:spPr>
        <p:txBody>
          <a:bodyPr wrap="square" lIns="0" tIns="0" rIns="0" bIns="0" rtlCol="0" anchor="ctr"/>
          <a:lstStyle/>
          <a:p>
            <a:pPr marL="0" indent="0">
              <a:buNone/>
            </a:pPr>
            <a:r>
              <a:rPr lang="en-US" sz="3000" b="1" dirty="0">
                <a:solidFill>
                  <a:srgbClr val="0F2E42"/>
                </a:solidFill>
                <a:latin typeface="Calibri" pitchFamily="34" charset="0"/>
                <a:ea typeface="Calibri" pitchFamily="34" charset="-122"/>
                <a:cs typeface="Calibri" pitchFamily="34" charset="-120"/>
              </a:rPr>
              <a:t>Mockup · Panel de control</a:t>
            </a:r>
            <a:endParaRPr lang="en-US" sz="3000" dirty="0"/>
          </a:p>
        </p:txBody>
      </p:sp>
      <p:sp>
        <p:nvSpPr>
          <p:cNvPr id="3" name="Text 1"/>
          <p:cNvSpPr/>
          <p:nvPr/>
        </p:nvSpPr>
        <p:spPr>
          <a:xfrm>
            <a:off x="640080" y="932688"/>
            <a:ext cx="10881360" cy="36576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Lo primero que ve el administrador al entrar a la plataforma</a:t>
            </a:r>
            <a:endParaRPr lang="en-US" sz="1500" dirty="0"/>
          </a:p>
        </p:txBody>
      </p:sp>
      <p:pic>
        <p:nvPicPr>
          <p:cNvPr id="4" name="Image 0" descr="/mnt/user-data/outputs/logo/vialnex-isotipo-512.png"/>
          <p:cNvPicPr>
            <a:picLocks noChangeAspect="1"/>
          </p:cNvPicPr>
          <p:nvPr/>
        </p:nvPicPr>
        <p:blipFill>
          <a:blip r:embed="rId3"/>
          <a:stretch>
            <a:fillRect/>
          </a:stretch>
        </p:blipFill>
        <p:spPr>
          <a:xfrm>
            <a:off x="11475720" y="6172200"/>
            <a:ext cx="384048" cy="384048"/>
          </a:xfrm>
          <a:prstGeom prst="rect">
            <a:avLst/>
          </a:prstGeom>
        </p:spPr>
      </p:pic>
      <p:sp>
        <p:nvSpPr>
          <p:cNvPr id="5" name="Shape 2"/>
          <p:cNvSpPr/>
          <p:nvPr/>
        </p:nvSpPr>
        <p:spPr>
          <a:xfrm>
            <a:off x="640080" y="1508760"/>
            <a:ext cx="10881360" cy="4800600"/>
          </a:xfrm>
          <a:prstGeom prst="roundRect">
            <a:avLst>
              <a:gd name="adj" fmla="val 952"/>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6" name="Shape 3"/>
          <p:cNvSpPr/>
          <p:nvPr/>
        </p:nvSpPr>
        <p:spPr>
          <a:xfrm>
            <a:off x="649224" y="1517904"/>
            <a:ext cx="10863072" cy="292608"/>
          </a:xfrm>
          <a:prstGeom prst="rect">
            <a:avLst/>
          </a:prstGeom>
          <a:solidFill>
            <a:srgbClr val="F2F6F9"/>
          </a:solidFill>
          <a:ln w="12700">
            <a:solidFill>
              <a:srgbClr val="F2F6F9"/>
            </a:solidFill>
            <a:prstDash val="solid"/>
          </a:ln>
        </p:spPr>
        <p:txBody>
          <a:bodyPr/>
          <a:lstStyle/>
          <a:p>
            <a:endParaRPr lang="es-CL"/>
          </a:p>
        </p:txBody>
      </p:sp>
      <p:sp>
        <p:nvSpPr>
          <p:cNvPr id="7" name="Shape 4"/>
          <p:cNvSpPr/>
          <p:nvPr/>
        </p:nvSpPr>
        <p:spPr>
          <a:xfrm>
            <a:off x="786384" y="1609344"/>
            <a:ext cx="100584" cy="100584"/>
          </a:xfrm>
          <a:prstGeom prst="ellipse">
            <a:avLst/>
          </a:prstGeom>
          <a:solidFill>
            <a:srgbClr val="E06C5B"/>
          </a:solidFill>
          <a:ln w="12700">
            <a:solidFill>
              <a:srgbClr val="E06C5B"/>
            </a:solidFill>
            <a:prstDash val="solid"/>
          </a:ln>
        </p:spPr>
        <p:txBody>
          <a:bodyPr/>
          <a:lstStyle/>
          <a:p>
            <a:endParaRPr lang="es-CL"/>
          </a:p>
        </p:txBody>
      </p:sp>
      <p:sp>
        <p:nvSpPr>
          <p:cNvPr id="8" name="Shape 5"/>
          <p:cNvSpPr/>
          <p:nvPr/>
        </p:nvSpPr>
        <p:spPr>
          <a:xfrm>
            <a:off x="969264" y="1609344"/>
            <a:ext cx="100584" cy="100584"/>
          </a:xfrm>
          <a:prstGeom prst="ellipse">
            <a:avLst/>
          </a:prstGeom>
          <a:solidFill>
            <a:srgbClr val="E8B84B"/>
          </a:solidFill>
          <a:ln w="12700">
            <a:solidFill>
              <a:srgbClr val="E8B84B"/>
            </a:solidFill>
            <a:prstDash val="solid"/>
          </a:ln>
        </p:spPr>
        <p:txBody>
          <a:bodyPr/>
          <a:lstStyle/>
          <a:p>
            <a:endParaRPr lang="es-CL"/>
          </a:p>
        </p:txBody>
      </p:sp>
      <p:sp>
        <p:nvSpPr>
          <p:cNvPr id="9" name="Shape 6"/>
          <p:cNvSpPr/>
          <p:nvPr/>
        </p:nvSpPr>
        <p:spPr>
          <a:xfrm>
            <a:off x="1152144" y="1609344"/>
            <a:ext cx="100584" cy="100584"/>
          </a:xfrm>
          <a:prstGeom prst="ellipse">
            <a:avLst/>
          </a:prstGeom>
          <a:solidFill>
            <a:srgbClr val="5BB98C"/>
          </a:solidFill>
          <a:ln w="12700">
            <a:solidFill>
              <a:srgbClr val="5BB98C"/>
            </a:solidFill>
            <a:prstDash val="solid"/>
          </a:ln>
        </p:spPr>
        <p:txBody>
          <a:bodyPr/>
          <a:lstStyle/>
          <a:p>
            <a:endParaRPr lang="es-CL"/>
          </a:p>
        </p:txBody>
      </p:sp>
      <p:sp>
        <p:nvSpPr>
          <p:cNvPr id="10" name="Shape 7"/>
          <p:cNvSpPr/>
          <p:nvPr/>
        </p:nvSpPr>
        <p:spPr>
          <a:xfrm>
            <a:off x="1417320" y="1572768"/>
            <a:ext cx="9875520" cy="182880"/>
          </a:xfrm>
          <a:prstGeom prst="roundRect">
            <a:avLst>
              <a:gd name="adj" fmla="val 25000"/>
            </a:avLst>
          </a:prstGeom>
          <a:solidFill>
            <a:srgbClr val="FFFFFF"/>
          </a:solidFill>
          <a:ln w="9525">
            <a:solidFill>
              <a:srgbClr val="D8E2E9"/>
            </a:solidFill>
            <a:prstDash val="solid"/>
          </a:ln>
        </p:spPr>
        <p:txBody>
          <a:bodyPr/>
          <a:lstStyle/>
          <a:p>
            <a:endParaRPr lang="es-CL"/>
          </a:p>
        </p:txBody>
      </p:sp>
      <p:sp>
        <p:nvSpPr>
          <p:cNvPr id="11" name="Text 8"/>
          <p:cNvSpPr/>
          <p:nvPr/>
        </p:nvSpPr>
        <p:spPr>
          <a:xfrm>
            <a:off x="1508760" y="1572768"/>
            <a:ext cx="9692640" cy="18288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vialnex.cl/panel</a:t>
            </a:r>
            <a:endParaRPr lang="en-US" sz="800" dirty="0"/>
          </a:p>
        </p:txBody>
      </p:sp>
      <p:sp>
        <p:nvSpPr>
          <p:cNvPr id="12" name="Shape 9"/>
          <p:cNvSpPr/>
          <p:nvPr/>
        </p:nvSpPr>
        <p:spPr>
          <a:xfrm>
            <a:off x="649224" y="1810512"/>
            <a:ext cx="1417320" cy="4489704"/>
          </a:xfrm>
          <a:prstGeom prst="rect">
            <a:avLst/>
          </a:prstGeom>
          <a:solidFill>
            <a:srgbClr val="0F2E42"/>
          </a:solidFill>
          <a:ln w="12700">
            <a:solidFill>
              <a:srgbClr val="0F2E42"/>
            </a:solidFill>
            <a:prstDash val="solid"/>
          </a:ln>
        </p:spPr>
        <p:txBody>
          <a:bodyPr/>
          <a:lstStyle/>
          <a:p>
            <a:endParaRPr lang="es-CL"/>
          </a:p>
        </p:txBody>
      </p:sp>
      <p:pic>
        <p:nvPicPr>
          <p:cNvPr id="13" name="Image 1" descr="/mnt/user-data/outputs/logo/vialnex-logo-blanco-transp-1024.png"/>
          <p:cNvPicPr>
            <a:picLocks noChangeAspect="1"/>
          </p:cNvPicPr>
          <p:nvPr/>
        </p:nvPicPr>
        <p:blipFill>
          <a:blip r:embed="rId4"/>
          <a:stretch>
            <a:fillRect/>
          </a:stretch>
        </p:blipFill>
        <p:spPr>
          <a:xfrm>
            <a:off x="749808" y="1892808"/>
            <a:ext cx="960120" cy="283464"/>
          </a:xfrm>
          <a:prstGeom prst="rect">
            <a:avLst/>
          </a:prstGeom>
        </p:spPr>
      </p:pic>
      <p:sp>
        <p:nvSpPr>
          <p:cNvPr id="14" name="Shape 10"/>
          <p:cNvSpPr/>
          <p:nvPr/>
        </p:nvSpPr>
        <p:spPr>
          <a:xfrm>
            <a:off x="731520" y="2340864"/>
            <a:ext cx="1252728" cy="292608"/>
          </a:xfrm>
          <a:prstGeom prst="roundRect">
            <a:avLst>
              <a:gd name="adj" fmla="val 15625"/>
            </a:avLst>
          </a:prstGeom>
          <a:solidFill>
            <a:srgbClr val="16A394"/>
          </a:solidFill>
          <a:ln w="12700">
            <a:solidFill>
              <a:srgbClr val="16A394"/>
            </a:solidFill>
            <a:prstDash val="solid"/>
          </a:ln>
        </p:spPr>
        <p:txBody>
          <a:bodyPr/>
          <a:lstStyle/>
          <a:p>
            <a:endParaRPr lang="es-CL"/>
          </a:p>
        </p:txBody>
      </p:sp>
      <p:sp>
        <p:nvSpPr>
          <p:cNvPr id="15" name="Shape 11"/>
          <p:cNvSpPr/>
          <p:nvPr/>
        </p:nvSpPr>
        <p:spPr>
          <a:xfrm>
            <a:off x="859536" y="2450592"/>
            <a:ext cx="82296" cy="82296"/>
          </a:xfrm>
          <a:prstGeom prst="ellipse">
            <a:avLst/>
          </a:prstGeom>
          <a:solidFill>
            <a:srgbClr val="FFFFFF"/>
          </a:solidFill>
          <a:ln w="12700">
            <a:solidFill>
              <a:srgbClr val="FFFFFF"/>
            </a:solidFill>
            <a:prstDash val="solid"/>
          </a:ln>
        </p:spPr>
        <p:txBody>
          <a:bodyPr/>
          <a:lstStyle/>
          <a:p>
            <a:endParaRPr lang="es-CL"/>
          </a:p>
        </p:txBody>
      </p:sp>
      <p:sp>
        <p:nvSpPr>
          <p:cNvPr id="16" name="Text 12"/>
          <p:cNvSpPr/>
          <p:nvPr/>
        </p:nvSpPr>
        <p:spPr>
          <a:xfrm>
            <a:off x="1024128" y="2377440"/>
            <a:ext cx="96012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Panel</a:t>
            </a:r>
            <a:endParaRPr lang="en-US" sz="950" dirty="0"/>
          </a:p>
        </p:txBody>
      </p:sp>
      <p:sp>
        <p:nvSpPr>
          <p:cNvPr id="17" name="Shape 13"/>
          <p:cNvSpPr/>
          <p:nvPr/>
        </p:nvSpPr>
        <p:spPr>
          <a:xfrm>
            <a:off x="859536" y="2779776"/>
            <a:ext cx="82296" cy="82296"/>
          </a:xfrm>
          <a:prstGeom prst="ellipse">
            <a:avLst/>
          </a:prstGeom>
          <a:solidFill>
            <a:srgbClr val="2E7FB8"/>
          </a:solidFill>
          <a:ln w="12700">
            <a:solidFill>
              <a:srgbClr val="2E7FB8"/>
            </a:solidFill>
            <a:prstDash val="solid"/>
          </a:ln>
        </p:spPr>
        <p:txBody>
          <a:bodyPr/>
          <a:lstStyle/>
          <a:p>
            <a:endParaRPr lang="es-CL"/>
          </a:p>
        </p:txBody>
      </p:sp>
      <p:sp>
        <p:nvSpPr>
          <p:cNvPr id="18" name="Text 14"/>
          <p:cNvSpPr/>
          <p:nvPr/>
        </p:nvSpPr>
        <p:spPr>
          <a:xfrm>
            <a:off x="1024128" y="2706624"/>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Pedidos</a:t>
            </a:r>
            <a:endParaRPr lang="en-US" sz="950" dirty="0"/>
          </a:p>
        </p:txBody>
      </p:sp>
      <p:sp>
        <p:nvSpPr>
          <p:cNvPr id="19" name="Shape 15"/>
          <p:cNvSpPr/>
          <p:nvPr/>
        </p:nvSpPr>
        <p:spPr>
          <a:xfrm>
            <a:off x="859536" y="3108960"/>
            <a:ext cx="82296" cy="82296"/>
          </a:xfrm>
          <a:prstGeom prst="ellipse">
            <a:avLst/>
          </a:prstGeom>
          <a:solidFill>
            <a:srgbClr val="2E7FB8"/>
          </a:solidFill>
          <a:ln w="12700">
            <a:solidFill>
              <a:srgbClr val="2E7FB8"/>
            </a:solidFill>
            <a:prstDash val="solid"/>
          </a:ln>
        </p:spPr>
        <p:txBody>
          <a:bodyPr/>
          <a:lstStyle/>
          <a:p>
            <a:endParaRPr lang="es-CL"/>
          </a:p>
        </p:txBody>
      </p:sp>
      <p:sp>
        <p:nvSpPr>
          <p:cNvPr id="20" name="Text 16"/>
          <p:cNvSpPr/>
          <p:nvPr/>
        </p:nvSpPr>
        <p:spPr>
          <a:xfrm>
            <a:off x="1024128" y="3035808"/>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Rutas</a:t>
            </a:r>
            <a:endParaRPr lang="en-US" sz="950" dirty="0"/>
          </a:p>
        </p:txBody>
      </p:sp>
      <p:sp>
        <p:nvSpPr>
          <p:cNvPr id="21" name="Shape 17"/>
          <p:cNvSpPr/>
          <p:nvPr/>
        </p:nvSpPr>
        <p:spPr>
          <a:xfrm>
            <a:off x="859536" y="3438144"/>
            <a:ext cx="82296" cy="82296"/>
          </a:xfrm>
          <a:prstGeom prst="ellipse">
            <a:avLst/>
          </a:prstGeom>
          <a:solidFill>
            <a:srgbClr val="2E7FB8"/>
          </a:solidFill>
          <a:ln w="12700">
            <a:solidFill>
              <a:srgbClr val="2E7FB8"/>
            </a:solidFill>
            <a:prstDash val="solid"/>
          </a:ln>
        </p:spPr>
        <p:txBody>
          <a:bodyPr/>
          <a:lstStyle/>
          <a:p>
            <a:endParaRPr lang="es-CL"/>
          </a:p>
        </p:txBody>
      </p:sp>
      <p:sp>
        <p:nvSpPr>
          <p:cNvPr id="22" name="Text 18"/>
          <p:cNvSpPr/>
          <p:nvPr/>
        </p:nvSpPr>
        <p:spPr>
          <a:xfrm>
            <a:off x="1024128" y="3364992"/>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Flota</a:t>
            </a:r>
            <a:endParaRPr lang="en-US" sz="950" dirty="0"/>
          </a:p>
        </p:txBody>
      </p:sp>
      <p:sp>
        <p:nvSpPr>
          <p:cNvPr id="23" name="Shape 19"/>
          <p:cNvSpPr/>
          <p:nvPr/>
        </p:nvSpPr>
        <p:spPr>
          <a:xfrm>
            <a:off x="859536" y="3767328"/>
            <a:ext cx="82296" cy="82296"/>
          </a:xfrm>
          <a:prstGeom prst="ellipse">
            <a:avLst/>
          </a:prstGeom>
          <a:solidFill>
            <a:srgbClr val="2E7FB8"/>
          </a:solidFill>
          <a:ln w="12700">
            <a:solidFill>
              <a:srgbClr val="2E7FB8"/>
            </a:solidFill>
            <a:prstDash val="solid"/>
          </a:ln>
        </p:spPr>
        <p:txBody>
          <a:bodyPr/>
          <a:lstStyle/>
          <a:p>
            <a:endParaRPr lang="es-CL"/>
          </a:p>
        </p:txBody>
      </p:sp>
      <p:sp>
        <p:nvSpPr>
          <p:cNvPr id="24" name="Text 20"/>
          <p:cNvSpPr/>
          <p:nvPr/>
        </p:nvSpPr>
        <p:spPr>
          <a:xfrm>
            <a:off x="1024128" y="3694176"/>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Documentos</a:t>
            </a:r>
            <a:endParaRPr lang="en-US" sz="950" dirty="0"/>
          </a:p>
        </p:txBody>
      </p:sp>
      <p:sp>
        <p:nvSpPr>
          <p:cNvPr id="25" name="Shape 21"/>
          <p:cNvSpPr/>
          <p:nvPr/>
        </p:nvSpPr>
        <p:spPr>
          <a:xfrm>
            <a:off x="859536" y="4096512"/>
            <a:ext cx="82296" cy="82296"/>
          </a:xfrm>
          <a:prstGeom prst="ellipse">
            <a:avLst/>
          </a:prstGeom>
          <a:solidFill>
            <a:srgbClr val="2E7FB8"/>
          </a:solidFill>
          <a:ln w="12700">
            <a:solidFill>
              <a:srgbClr val="2E7FB8"/>
            </a:solidFill>
            <a:prstDash val="solid"/>
          </a:ln>
        </p:spPr>
        <p:txBody>
          <a:bodyPr/>
          <a:lstStyle/>
          <a:p>
            <a:endParaRPr lang="es-CL"/>
          </a:p>
        </p:txBody>
      </p:sp>
      <p:sp>
        <p:nvSpPr>
          <p:cNvPr id="26" name="Text 22"/>
          <p:cNvSpPr/>
          <p:nvPr/>
        </p:nvSpPr>
        <p:spPr>
          <a:xfrm>
            <a:off x="1024128" y="4023360"/>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Facturación</a:t>
            </a:r>
            <a:endParaRPr lang="en-US" sz="950" dirty="0"/>
          </a:p>
        </p:txBody>
      </p:sp>
      <p:sp>
        <p:nvSpPr>
          <p:cNvPr id="27" name="Text 23"/>
          <p:cNvSpPr/>
          <p:nvPr/>
        </p:nvSpPr>
        <p:spPr>
          <a:xfrm>
            <a:off x="2240280" y="1874520"/>
            <a:ext cx="3657600" cy="274320"/>
          </a:xfrm>
          <a:prstGeom prst="rect">
            <a:avLst/>
          </a:prstGeom>
          <a:noFill/>
          <a:ln/>
        </p:spPr>
        <p:txBody>
          <a:bodyPr wrap="square" lIns="0" tIns="0" rIns="0" bIns="0" rtlCol="0" anchor="ctr"/>
          <a:lstStyle/>
          <a:p>
            <a:pPr marL="0" indent="0">
              <a:buNone/>
            </a:pPr>
            <a:r>
              <a:rPr lang="en-US" sz="1500" b="1" dirty="0">
                <a:solidFill>
                  <a:srgbClr val="0F2E42"/>
                </a:solidFill>
                <a:latin typeface="Calibri" pitchFamily="34" charset="0"/>
                <a:ea typeface="Calibri" pitchFamily="34" charset="-122"/>
                <a:cs typeface="Calibri" pitchFamily="34" charset="-120"/>
              </a:rPr>
              <a:t>Panel de control</a:t>
            </a:r>
            <a:endParaRPr lang="en-US" sz="1500" dirty="0"/>
          </a:p>
        </p:txBody>
      </p:sp>
      <p:sp>
        <p:nvSpPr>
          <p:cNvPr id="28" name="Text 24"/>
          <p:cNvSpPr/>
          <p:nvPr/>
        </p:nvSpPr>
        <p:spPr>
          <a:xfrm>
            <a:off x="2240280" y="2148840"/>
            <a:ext cx="3657600" cy="228600"/>
          </a:xfrm>
          <a:prstGeom prst="rect">
            <a:avLst/>
          </a:prstGeom>
          <a:noFill/>
          <a:ln/>
        </p:spPr>
        <p:txBody>
          <a:bodyPr wrap="square" lIns="0" tIns="0" rIns="0" bIns="0" rtlCol="0" anchor="ctr"/>
          <a:lstStyle/>
          <a:p>
            <a:pPr marL="0" indent="0">
              <a:buNone/>
            </a:pPr>
            <a:r>
              <a:rPr lang="en-US" sz="950" dirty="0">
                <a:solidFill>
                  <a:srgbClr val="5A6B78"/>
                </a:solidFill>
                <a:latin typeface="Calibri" pitchFamily="34" charset="0"/>
                <a:ea typeface="Calibri" pitchFamily="34" charset="-122"/>
                <a:cs typeface="Calibri" pitchFamily="34" charset="-120"/>
              </a:rPr>
              <a:t>Resumen operacional de hoy</a:t>
            </a:r>
            <a:endParaRPr lang="en-US" sz="950" dirty="0"/>
          </a:p>
        </p:txBody>
      </p:sp>
      <p:sp>
        <p:nvSpPr>
          <p:cNvPr id="29" name="Shape 25"/>
          <p:cNvSpPr/>
          <p:nvPr/>
        </p:nvSpPr>
        <p:spPr>
          <a:xfrm>
            <a:off x="2240280" y="2514600"/>
            <a:ext cx="1664208" cy="658368"/>
          </a:xfrm>
          <a:prstGeom prst="roundRect">
            <a:avLst>
              <a:gd name="adj" fmla="val 8333"/>
            </a:avLst>
          </a:prstGeom>
          <a:solidFill>
            <a:srgbClr val="F2F6F9"/>
          </a:solidFill>
          <a:ln w="9525">
            <a:solidFill>
              <a:srgbClr val="D8E2E9"/>
            </a:solidFill>
            <a:prstDash val="solid"/>
          </a:ln>
        </p:spPr>
        <p:txBody>
          <a:bodyPr/>
          <a:lstStyle/>
          <a:p>
            <a:endParaRPr lang="es-CL"/>
          </a:p>
        </p:txBody>
      </p:sp>
      <p:sp>
        <p:nvSpPr>
          <p:cNvPr id="30" name="Text 26"/>
          <p:cNvSpPr/>
          <p:nvPr/>
        </p:nvSpPr>
        <p:spPr>
          <a:xfrm>
            <a:off x="2350008" y="2587752"/>
            <a:ext cx="1444752" cy="18288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Pedidos activos</a:t>
            </a:r>
            <a:endParaRPr lang="en-US" sz="800" dirty="0"/>
          </a:p>
        </p:txBody>
      </p:sp>
      <p:sp>
        <p:nvSpPr>
          <p:cNvPr id="31" name="Text 27"/>
          <p:cNvSpPr/>
          <p:nvPr/>
        </p:nvSpPr>
        <p:spPr>
          <a:xfrm>
            <a:off x="2350008" y="2752344"/>
            <a:ext cx="1444752" cy="329184"/>
          </a:xfrm>
          <a:prstGeom prst="rect">
            <a:avLst/>
          </a:prstGeom>
          <a:noFill/>
          <a:ln/>
        </p:spPr>
        <p:txBody>
          <a:bodyPr wrap="square" lIns="0" tIns="0" rIns="0" bIns="0" rtlCol="0" anchor="ctr"/>
          <a:lstStyle/>
          <a:p>
            <a:pPr marL="0" indent="0">
              <a:buNone/>
            </a:pPr>
            <a:r>
              <a:rPr lang="en-US" sz="1800" b="1" dirty="0">
                <a:solidFill>
                  <a:srgbClr val="2E7FB8"/>
                </a:solidFill>
                <a:latin typeface="Calibri" pitchFamily="34" charset="0"/>
                <a:ea typeface="Calibri" pitchFamily="34" charset="-122"/>
                <a:cs typeface="Calibri" pitchFamily="34" charset="-120"/>
              </a:rPr>
              <a:t>24</a:t>
            </a:r>
            <a:endParaRPr lang="en-US" sz="1800" dirty="0"/>
          </a:p>
        </p:txBody>
      </p:sp>
      <p:sp>
        <p:nvSpPr>
          <p:cNvPr id="32" name="Shape 28"/>
          <p:cNvSpPr/>
          <p:nvPr/>
        </p:nvSpPr>
        <p:spPr>
          <a:xfrm>
            <a:off x="4050792" y="2514600"/>
            <a:ext cx="1664208" cy="658368"/>
          </a:xfrm>
          <a:prstGeom prst="roundRect">
            <a:avLst>
              <a:gd name="adj" fmla="val 8333"/>
            </a:avLst>
          </a:prstGeom>
          <a:solidFill>
            <a:srgbClr val="F2F6F9"/>
          </a:solidFill>
          <a:ln w="9525">
            <a:solidFill>
              <a:srgbClr val="D8E2E9"/>
            </a:solidFill>
            <a:prstDash val="solid"/>
          </a:ln>
        </p:spPr>
        <p:txBody>
          <a:bodyPr/>
          <a:lstStyle/>
          <a:p>
            <a:endParaRPr lang="es-CL"/>
          </a:p>
        </p:txBody>
      </p:sp>
      <p:sp>
        <p:nvSpPr>
          <p:cNvPr id="33" name="Text 29"/>
          <p:cNvSpPr/>
          <p:nvPr/>
        </p:nvSpPr>
        <p:spPr>
          <a:xfrm>
            <a:off x="4160520" y="2587752"/>
            <a:ext cx="1444752" cy="18288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En ruta</a:t>
            </a:r>
            <a:endParaRPr lang="en-US" sz="800" dirty="0"/>
          </a:p>
        </p:txBody>
      </p:sp>
      <p:sp>
        <p:nvSpPr>
          <p:cNvPr id="34" name="Text 30"/>
          <p:cNvSpPr/>
          <p:nvPr/>
        </p:nvSpPr>
        <p:spPr>
          <a:xfrm>
            <a:off x="4160520" y="2752344"/>
            <a:ext cx="1444752" cy="329184"/>
          </a:xfrm>
          <a:prstGeom prst="rect">
            <a:avLst/>
          </a:prstGeom>
          <a:noFill/>
          <a:ln/>
        </p:spPr>
        <p:txBody>
          <a:bodyPr wrap="square" lIns="0" tIns="0" rIns="0" bIns="0" rtlCol="0" anchor="ctr"/>
          <a:lstStyle/>
          <a:p>
            <a:pPr marL="0" indent="0">
              <a:buNone/>
            </a:pPr>
            <a:r>
              <a:rPr lang="en-US" sz="1800" b="1" dirty="0">
                <a:solidFill>
                  <a:srgbClr val="16A394"/>
                </a:solidFill>
                <a:latin typeface="Calibri" pitchFamily="34" charset="0"/>
                <a:ea typeface="Calibri" pitchFamily="34" charset="-122"/>
                <a:cs typeface="Calibri" pitchFamily="34" charset="-120"/>
              </a:rPr>
              <a:t>9</a:t>
            </a:r>
            <a:endParaRPr lang="en-US" sz="1800" dirty="0"/>
          </a:p>
        </p:txBody>
      </p:sp>
      <p:sp>
        <p:nvSpPr>
          <p:cNvPr id="35" name="Shape 31"/>
          <p:cNvSpPr/>
          <p:nvPr/>
        </p:nvSpPr>
        <p:spPr>
          <a:xfrm>
            <a:off x="5861304" y="2514600"/>
            <a:ext cx="1664208" cy="658368"/>
          </a:xfrm>
          <a:prstGeom prst="roundRect">
            <a:avLst>
              <a:gd name="adj" fmla="val 8333"/>
            </a:avLst>
          </a:prstGeom>
          <a:solidFill>
            <a:srgbClr val="F2F6F9"/>
          </a:solidFill>
          <a:ln w="9525">
            <a:solidFill>
              <a:srgbClr val="D8E2E9"/>
            </a:solidFill>
            <a:prstDash val="solid"/>
          </a:ln>
        </p:spPr>
        <p:txBody>
          <a:bodyPr/>
          <a:lstStyle/>
          <a:p>
            <a:endParaRPr lang="es-CL"/>
          </a:p>
        </p:txBody>
      </p:sp>
      <p:sp>
        <p:nvSpPr>
          <p:cNvPr id="36" name="Text 32"/>
          <p:cNvSpPr/>
          <p:nvPr/>
        </p:nvSpPr>
        <p:spPr>
          <a:xfrm>
            <a:off x="5971032" y="2587752"/>
            <a:ext cx="1444752" cy="18288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Entregados hoy</a:t>
            </a:r>
            <a:endParaRPr lang="en-US" sz="800" dirty="0"/>
          </a:p>
        </p:txBody>
      </p:sp>
      <p:sp>
        <p:nvSpPr>
          <p:cNvPr id="37" name="Text 33"/>
          <p:cNvSpPr/>
          <p:nvPr/>
        </p:nvSpPr>
        <p:spPr>
          <a:xfrm>
            <a:off x="5971032" y="2752344"/>
            <a:ext cx="1444752" cy="329184"/>
          </a:xfrm>
          <a:prstGeom prst="rect">
            <a:avLst/>
          </a:prstGeom>
          <a:noFill/>
          <a:ln/>
        </p:spPr>
        <p:txBody>
          <a:bodyPr wrap="square" lIns="0" tIns="0" rIns="0" bIns="0" rtlCol="0" anchor="ctr"/>
          <a:lstStyle/>
          <a:p>
            <a:pPr marL="0" indent="0">
              <a:buNone/>
            </a:pPr>
            <a:r>
              <a:rPr lang="en-US" sz="1800" b="1" dirty="0">
                <a:solidFill>
                  <a:srgbClr val="16A394"/>
                </a:solidFill>
                <a:latin typeface="Calibri" pitchFamily="34" charset="0"/>
                <a:ea typeface="Calibri" pitchFamily="34" charset="-122"/>
                <a:cs typeface="Calibri" pitchFamily="34" charset="-120"/>
              </a:rPr>
              <a:t>13</a:t>
            </a:r>
            <a:endParaRPr lang="en-US" sz="1800" dirty="0"/>
          </a:p>
        </p:txBody>
      </p:sp>
      <p:sp>
        <p:nvSpPr>
          <p:cNvPr id="38" name="Shape 34"/>
          <p:cNvSpPr/>
          <p:nvPr/>
        </p:nvSpPr>
        <p:spPr>
          <a:xfrm>
            <a:off x="7671816" y="2514600"/>
            <a:ext cx="1664208" cy="658368"/>
          </a:xfrm>
          <a:prstGeom prst="roundRect">
            <a:avLst>
              <a:gd name="adj" fmla="val 8333"/>
            </a:avLst>
          </a:prstGeom>
          <a:solidFill>
            <a:srgbClr val="F2F6F9"/>
          </a:solidFill>
          <a:ln w="9525">
            <a:solidFill>
              <a:srgbClr val="D8E2E9"/>
            </a:solidFill>
            <a:prstDash val="solid"/>
          </a:ln>
        </p:spPr>
        <p:txBody>
          <a:bodyPr/>
          <a:lstStyle/>
          <a:p>
            <a:endParaRPr lang="es-CL"/>
          </a:p>
        </p:txBody>
      </p:sp>
      <p:sp>
        <p:nvSpPr>
          <p:cNvPr id="39" name="Text 35"/>
          <p:cNvSpPr/>
          <p:nvPr/>
        </p:nvSpPr>
        <p:spPr>
          <a:xfrm>
            <a:off x="7781544" y="2587752"/>
            <a:ext cx="1444752" cy="18288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Por facturar</a:t>
            </a:r>
            <a:endParaRPr lang="en-US" sz="800" dirty="0"/>
          </a:p>
        </p:txBody>
      </p:sp>
      <p:sp>
        <p:nvSpPr>
          <p:cNvPr id="40" name="Text 36"/>
          <p:cNvSpPr/>
          <p:nvPr/>
        </p:nvSpPr>
        <p:spPr>
          <a:xfrm>
            <a:off x="7781544" y="2752344"/>
            <a:ext cx="1444752" cy="329184"/>
          </a:xfrm>
          <a:prstGeom prst="rect">
            <a:avLst/>
          </a:prstGeom>
          <a:noFill/>
          <a:ln/>
        </p:spPr>
        <p:txBody>
          <a:bodyPr wrap="square" lIns="0" tIns="0" rIns="0" bIns="0" rtlCol="0" anchor="ctr"/>
          <a:lstStyle/>
          <a:p>
            <a:pPr marL="0" indent="0">
              <a:buNone/>
            </a:pPr>
            <a:r>
              <a:rPr lang="en-US" sz="1800" b="1" dirty="0">
                <a:solidFill>
                  <a:srgbClr val="C87B2E"/>
                </a:solidFill>
                <a:latin typeface="Calibri" pitchFamily="34" charset="0"/>
                <a:ea typeface="Calibri" pitchFamily="34" charset="-122"/>
                <a:cs typeface="Calibri" pitchFamily="34" charset="-120"/>
              </a:rPr>
              <a:t>7</a:t>
            </a:r>
            <a:endParaRPr lang="en-US" sz="1800" dirty="0"/>
          </a:p>
        </p:txBody>
      </p:sp>
      <p:sp>
        <p:nvSpPr>
          <p:cNvPr id="41" name="Shape 37"/>
          <p:cNvSpPr/>
          <p:nvPr/>
        </p:nvSpPr>
        <p:spPr>
          <a:xfrm>
            <a:off x="9482328" y="2514600"/>
            <a:ext cx="1664208" cy="658368"/>
          </a:xfrm>
          <a:prstGeom prst="roundRect">
            <a:avLst>
              <a:gd name="adj" fmla="val 8333"/>
            </a:avLst>
          </a:prstGeom>
          <a:solidFill>
            <a:srgbClr val="F2F6F9"/>
          </a:solidFill>
          <a:ln w="9525">
            <a:solidFill>
              <a:srgbClr val="D8E2E9"/>
            </a:solidFill>
            <a:prstDash val="solid"/>
          </a:ln>
        </p:spPr>
        <p:txBody>
          <a:bodyPr/>
          <a:lstStyle/>
          <a:p>
            <a:endParaRPr lang="es-CL"/>
          </a:p>
        </p:txBody>
      </p:sp>
      <p:sp>
        <p:nvSpPr>
          <p:cNvPr id="42" name="Text 38"/>
          <p:cNvSpPr/>
          <p:nvPr/>
        </p:nvSpPr>
        <p:spPr>
          <a:xfrm>
            <a:off x="9592056" y="2587752"/>
            <a:ext cx="1444752" cy="18288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Alertas de flota</a:t>
            </a:r>
            <a:endParaRPr lang="en-US" sz="800" dirty="0"/>
          </a:p>
        </p:txBody>
      </p:sp>
      <p:sp>
        <p:nvSpPr>
          <p:cNvPr id="43" name="Text 39"/>
          <p:cNvSpPr/>
          <p:nvPr/>
        </p:nvSpPr>
        <p:spPr>
          <a:xfrm>
            <a:off x="9592056" y="2752344"/>
            <a:ext cx="1444752" cy="329184"/>
          </a:xfrm>
          <a:prstGeom prst="rect">
            <a:avLst/>
          </a:prstGeom>
          <a:noFill/>
          <a:ln/>
        </p:spPr>
        <p:txBody>
          <a:bodyPr wrap="square" lIns="0" tIns="0" rIns="0" bIns="0" rtlCol="0" anchor="ctr"/>
          <a:lstStyle/>
          <a:p>
            <a:pPr marL="0" indent="0">
              <a:buNone/>
            </a:pPr>
            <a:r>
              <a:rPr lang="en-US" sz="1800" b="1" dirty="0">
                <a:solidFill>
                  <a:srgbClr val="C0504D"/>
                </a:solidFill>
                <a:latin typeface="Calibri" pitchFamily="34" charset="0"/>
                <a:ea typeface="Calibri" pitchFamily="34" charset="-122"/>
                <a:cs typeface="Calibri" pitchFamily="34" charset="-120"/>
              </a:rPr>
              <a:t>3</a:t>
            </a:r>
            <a:endParaRPr lang="en-US" sz="1800" dirty="0"/>
          </a:p>
        </p:txBody>
      </p:sp>
      <p:sp>
        <p:nvSpPr>
          <p:cNvPr id="44" name="Text 40"/>
          <p:cNvSpPr/>
          <p:nvPr/>
        </p:nvSpPr>
        <p:spPr>
          <a:xfrm>
            <a:off x="2240280" y="3383280"/>
            <a:ext cx="3657600" cy="256032"/>
          </a:xfrm>
          <a:prstGeom prst="rect">
            <a:avLst/>
          </a:prstGeom>
          <a:noFill/>
          <a:ln/>
        </p:spPr>
        <p:txBody>
          <a:bodyPr wrap="square" lIns="0" tIns="0" rIns="0" bIns="0" rtlCol="0" anchor="ctr"/>
          <a:lstStyle/>
          <a:p>
            <a:pPr marL="0" indent="0">
              <a:buNone/>
            </a:pPr>
            <a:r>
              <a:rPr lang="en-US" sz="1200" b="1" dirty="0">
                <a:solidFill>
                  <a:srgbClr val="0F2E42"/>
                </a:solidFill>
                <a:latin typeface="Calibri" pitchFamily="34" charset="0"/>
                <a:ea typeface="Calibri" pitchFamily="34" charset="-122"/>
                <a:cs typeface="Calibri" pitchFamily="34" charset="-120"/>
              </a:rPr>
              <a:t>Pedidos del día</a:t>
            </a:r>
            <a:endParaRPr lang="en-US" sz="1200" dirty="0"/>
          </a:p>
        </p:txBody>
      </p:sp>
      <p:sp>
        <p:nvSpPr>
          <p:cNvPr id="45" name="Shape 41"/>
          <p:cNvSpPr/>
          <p:nvPr/>
        </p:nvSpPr>
        <p:spPr>
          <a:xfrm>
            <a:off x="2240280" y="3675888"/>
            <a:ext cx="5852160" cy="274320"/>
          </a:xfrm>
          <a:prstGeom prst="rect">
            <a:avLst/>
          </a:prstGeom>
          <a:solidFill>
            <a:srgbClr val="F2F6F9"/>
          </a:solidFill>
          <a:ln w="9525">
            <a:solidFill>
              <a:srgbClr val="D8E2E9"/>
            </a:solidFill>
            <a:prstDash val="solid"/>
          </a:ln>
        </p:spPr>
        <p:txBody>
          <a:bodyPr/>
          <a:lstStyle/>
          <a:p>
            <a:endParaRPr lang="es-CL"/>
          </a:p>
        </p:txBody>
      </p:sp>
      <p:sp>
        <p:nvSpPr>
          <p:cNvPr id="46" name="Text 42"/>
          <p:cNvSpPr/>
          <p:nvPr/>
        </p:nvSpPr>
        <p:spPr>
          <a:xfrm>
            <a:off x="2313432" y="3675888"/>
            <a:ext cx="1005840" cy="274320"/>
          </a:xfrm>
          <a:prstGeom prst="rect">
            <a:avLst/>
          </a:prstGeom>
          <a:noFill/>
          <a:ln/>
        </p:spPr>
        <p:txBody>
          <a:bodyPr wrap="square" lIns="0" tIns="0" rIns="0" bIns="0" rtlCol="0" anchor="ctr"/>
          <a:lstStyle/>
          <a:p>
            <a:pPr marL="0" indent="0">
              <a:buNone/>
            </a:pPr>
            <a:r>
              <a:rPr lang="en-US" sz="850" b="1" dirty="0">
                <a:solidFill>
                  <a:srgbClr val="0F2E42"/>
                </a:solidFill>
                <a:latin typeface="Calibri" pitchFamily="34" charset="0"/>
                <a:ea typeface="Calibri" pitchFamily="34" charset="-122"/>
                <a:cs typeface="Calibri" pitchFamily="34" charset="-120"/>
              </a:rPr>
              <a:t>Pedido</a:t>
            </a:r>
            <a:endParaRPr lang="en-US" sz="850" dirty="0"/>
          </a:p>
        </p:txBody>
      </p:sp>
      <p:sp>
        <p:nvSpPr>
          <p:cNvPr id="47" name="Text 43"/>
          <p:cNvSpPr/>
          <p:nvPr/>
        </p:nvSpPr>
        <p:spPr>
          <a:xfrm>
            <a:off x="3410712" y="3675888"/>
            <a:ext cx="1737360" cy="274320"/>
          </a:xfrm>
          <a:prstGeom prst="rect">
            <a:avLst/>
          </a:prstGeom>
          <a:noFill/>
          <a:ln/>
        </p:spPr>
        <p:txBody>
          <a:bodyPr wrap="square" lIns="0" tIns="0" rIns="0" bIns="0" rtlCol="0" anchor="ctr"/>
          <a:lstStyle/>
          <a:p>
            <a:pPr marL="0" indent="0">
              <a:buNone/>
            </a:pPr>
            <a:r>
              <a:rPr lang="en-US" sz="850" b="1" dirty="0">
                <a:solidFill>
                  <a:srgbClr val="0F2E42"/>
                </a:solidFill>
                <a:latin typeface="Calibri" pitchFamily="34" charset="0"/>
                <a:ea typeface="Calibri" pitchFamily="34" charset="-122"/>
                <a:cs typeface="Calibri" pitchFamily="34" charset="-120"/>
              </a:rPr>
              <a:t>Cliente</a:t>
            </a:r>
            <a:endParaRPr lang="en-US" sz="850" dirty="0"/>
          </a:p>
        </p:txBody>
      </p:sp>
      <p:sp>
        <p:nvSpPr>
          <p:cNvPr id="48" name="Text 44"/>
          <p:cNvSpPr/>
          <p:nvPr/>
        </p:nvSpPr>
        <p:spPr>
          <a:xfrm>
            <a:off x="5239512" y="3675888"/>
            <a:ext cx="1737360" cy="274320"/>
          </a:xfrm>
          <a:prstGeom prst="rect">
            <a:avLst/>
          </a:prstGeom>
          <a:noFill/>
          <a:ln/>
        </p:spPr>
        <p:txBody>
          <a:bodyPr wrap="square" lIns="0" tIns="0" rIns="0" bIns="0" rtlCol="0" anchor="ctr"/>
          <a:lstStyle/>
          <a:p>
            <a:pPr marL="0" indent="0">
              <a:buNone/>
            </a:pPr>
            <a:r>
              <a:rPr lang="en-US" sz="850" b="1" dirty="0">
                <a:solidFill>
                  <a:srgbClr val="0F2E42"/>
                </a:solidFill>
                <a:latin typeface="Calibri" pitchFamily="34" charset="0"/>
                <a:ea typeface="Calibri" pitchFamily="34" charset="-122"/>
                <a:cs typeface="Calibri" pitchFamily="34" charset="-120"/>
              </a:rPr>
              <a:t>Destino</a:t>
            </a:r>
            <a:endParaRPr lang="en-US" sz="850" dirty="0"/>
          </a:p>
        </p:txBody>
      </p:sp>
      <p:sp>
        <p:nvSpPr>
          <p:cNvPr id="49" name="Text 45"/>
          <p:cNvSpPr/>
          <p:nvPr/>
        </p:nvSpPr>
        <p:spPr>
          <a:xfrm>
            <a:off x="7068312" y="3675888"/>
            <a:ext cx="1005840" cy="274320"/>
          </a:xfrm>
          <a:prstGeom prst="rect">
            <a:avLst/>
          </a:prstGeom>
          <a:noFill/>
          <a:ln/>
        </p:spPr>
        <p:txBody>
          <a:bodyPr wrap="square" lIns="0" tIns="0" rIns="0" bIns="0" rtlCol="0" anchor="ctr"/>
          <a:lstStyle/>
          <a:p>
            <a:pPr marL="0" indent="0">
              <a:buNone/>
            </a:pPr>
            <a:r>
              <a:rPr lang="en-US" sz="850" b="1" dirty="0">
                <a:solidFill>
                  <a:srgbClr val="0F2E42"/>
                </a:solidFill>
                <a:latin typeface="Calibri" pitchFamily="34" charset="0"/>
                <a:ea typeface="Calibri" pitchFamily="34" charset="-122"/>
                <a:cs typeface="Calibri" pitchFamily="34" charset="-120"/>
              </a:rPr>
              <a:t>Estado</a:t>
            </a:r>
            <a:endParaRPr lang="en-US" sz="850" dirty="0"/>
          </a:p>
        </p:txBody>
      </p:sp>
      <p:sp>
        <p:nvSpPr>
          <p:cNvPr id="50" name="Shape 46"/>
          <p:cNvSpPr/>
          <p:nvPr/>
        </p:nvSpPr>
        <p:spPr>
          <a:xfrm>
            <a:off x="2240280" y="3950208"/>
            <a:ext cx="5852160" cy="274320"/>
          </a:xfrm>
          <a:prstGeom prst="rect">
            <a:avLst/>
          </a:prstGeom>
          <a:solidFill>
            <a:srgbClr val="FFFFFF"/>
          </a:solidFill>
          <a:ln w="9525">
            <a:solidFill>
              <a:srgbClr val="D8E2E9"/>
            </a:solidFill>
            <a:prstDash val="solid"/>
          </a:ln>
        </p:spPr>
        <p:txBody>
          <a:bodyPr/>
          <a:lstStyle/>
          <a:p>
            <a:endParaRPr lang="es-CL"/>
          </a:p>
        </p:txBody>
      </p:sp>
      <p:sp>
        <p:nvSpPr>
          <p:cNvPr id="51" name="Text 47"/>
          <p:cNvSpPr/>
          <p:nvPr/>
        </p:nvSpPr>
        <p:spPr>
          <a:xfrm>
            <a:off x="2313432" y="3950208"/>
            <a:ext cx="100584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PD-1042</a:t>
            </a:r>
            <a:endParaRPr lang="en-US" sz="850" dirty="0"/>
          </a:p>
        </p:txBody>
      </p:sp>
      <p:sp>
        <p:nvSpPr>
          <p:cNvPr id="52" name="Text 48"/>
          <p:cNvSpPr/>
          <p:nvPr/>
        </p:nvSpPr>
        <p:spPr>
          <a:xfrm>
            <a:off x="3410712" y="3950208"/>
            <a:ext cx="173736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Comercial Andes</a:t>
            </a:r>
            <a:endParaRPr lang="en-US" sz="850" dirty="0"/>
          </a:p>
        </p:txBody>
      </p:sp>
      <p:sp>
        <p:nvSpPr>
          <p:cNvPr id="53" name="Text 49"/>
          <p:cNvSpPr/>
          <p:nvPr/>
        </p:nvSpPr>
        <p:spPr>
          <a:xfrm>
            <a:off x="5239512" y="3950208"/>
            <a:ext cx="173736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San Antonio</a:t>
            </a:r>
            <a:endParaRPr lang="en-US" sz="850" dirty="0"/>
          </a:p>
        </p:txBody>
      </p:sp>
      <p:sp>
        <p:nvSpPr>
          <p:cNvPr id="54" name="Shape 50"/>
          <p:cNvSpPr/>
          <p:nvPr/>
        </p:nvSpPr>
        <p:spPr>
          <a:xfrm>
            <a:off x="7068312" y="4005072"/>
            <a:ext cx="868680" cy="164592"/>
          </a:xfrm>
          <a:prstGeom prst="roundRect">
            <a:avLst>
              <a:gd name="adj" fmla="val 50000"/>
            </a:avLst>
          </a:prstGeom>
          <a:solidFill>
            <a:srgbClr val="DFF3EC"/>
          </a:solidFill>
          <a:ln w="12700">
            <a:solidFill>
              <a:srgbClr val="DFF3EC"/>
            </a:solidFill>
            <a:prstDash val="solid"/>
          </a:ln>
        </p:spPr>
        <p:txBody>
          <a:bodyPr/>
          <a:lstStyle/>
          <a:p>
            <a:endParaRPr lang="es-CL"/>
          </a:p>
        </p:txBody>
      </p:sp>
      <p:sp>
        <p:nvSpPr>
          <p:cNvPr id="55" name="Text 51"/>
          <p:cNvSpPr/>
          <p:nvPr/>
        </p:nvSpPr>
        <p:spPr>
          <a:xfrm>
            <a:off x="7068312" y="4005072"/>
            <a:ext cx="868680" cy="164592"/>
          </a:xfrm>
          <a:prstGeom prst="rect">
            <a:avLst/>
          </a:prstGeom>
          <a:noFill/>
          <a:ln/>
        </p:spPr>
        <p:txBody>
          <a:bodyPr wrap="square" lIns="0" tIns="0" rIns="0" bIns="0" rtlCol="0" anchor="ctr"/>
          <a:lstStyle/>
          <a:p>
            <a:pPr marL="0" indent="0" algn="ctr">
              <a:buNone/>
            </a:pPr>
            <a:r>
              <a:rPr lang="en-US" sz="700" b="1" dirty="0">
                <a:solidFill>
                  <a:srgbClr val="0E6B5E"/>
                </a:solidFill>
                <a:latin typeface="Calibri" pitchFamily="34" charset="0"/>
                <a:ea typeface="Calibri" pitchFamily="34" charset="-122"/>
                <a:cs typeface="Calibri" pitchFamily="34" charset="-120"/>
              </a:rPr>
              <a:t>Entregado</a:t>
            </a:r>
            <a:endParaRPr lang="en-US" sz="700" dirty="0"/>
          </a:p>
        </p:txBody>
      </p:sp>
      <p:sp>
        <p:nvSpPr>
          <p:cNvPr id="56" name="Shape 52"/>
          <p:cNvSpPr/>
          <p:nvPr/>
        </p:nvSpPr>
        <p:spPr>
          <a:xfrm>
            <a:off x="2240280" y="4224528"/>
            <a:ext cx="5852160" cy="274320"/>
          </a:xfrm>
          <a:prstGeom prst="rect">
            <a:avLst/>
          </a:prstGeom>
          <a:solidFill>
            <a:srgbClr val="FFFFFF"/>
          </a:solidFill>
          <a:ln w="9525">
            <a:solidFill>
              <a:srgbClr val="D8E2E9"/>
            </a:solidFill>
            <a:prstDash val="solid"/>
          </a:ln>
        </p:spPr>
        <p:txBody>
          <a:bodyPr/>
          <a:lstStyle/>
          <a:p>
            <a:endParaRPr lang="es-CL"/>
          </a:p>
        </p:txBody>
      </p:sp>
      <p:sp>
        <p:nvSpPr>
          <p:cNvPr id="57" name="Text 53"/>
          <p:cNvSpPr/>
          <p:nvPr/>
        </p:nvSpPr>
        <p:spPr>
          <a:xfrm>
            <a:off x="2313432" y="4224528"/>
            <a:ext cx="100584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PD-1043</a:t>
            </a:r>
            <a:endParaRPr lang="en-US" sz="850" dirty="0"/>
          </a:p>
        </p:txBody>
      </p:sp>
      <p:sp>
        <p:nvSpPr>
          <p:cNvPr id="58" name="Text 54"/>
          <p:cNvSpPr/>
          <p:nvPr/>
        </p:nvSpPr>
        <p:spPr>
          <a:xfrm>
            <a:off x="3410712" y="4224528"/>
            <a:ext cx="173736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Distrib. Sur</a:t>
            </a:r>
            <a:endParaRPr lang="en-US" sz="850" dirty="0"/>
          </a:p>
        </p:txBody>
      </p:sp>
      <p:sp>
        <p:nvSpPr>
          <p:cNvPr id="59" name="Text 55"/>
          <p:cNvSpPr/>
          <p:nvPr/>
        </p:nvSpPr>
        <p:spPr>
          <a:xfrm>
            <a:off x="5239512" y="4224528"/>
            <a:ext cx="173736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Rancagua</a:t>
            </a:r>
            <a:endParaRPr lang="en-US" sz="850" dirty="0"/>
          </a:p>
        </p:txBody>
      </p:sp>
      <p:sp>
        <p:nvSpPr>
          <p:cNvPr id="60" name="Shape 56"/>
          <p:cNvSpPr/>
          <p:nvPr/>
        </p:nvSpPr>
        <p:spPr>
          <a:xfrm>
            <a:off x="7068312" y="4279392"/>
            <a:ext cx="868680" cy="164592"/>
          </a:xfrm>
          <a:prstGeom prst="roundRect">
            <a:avLst>
              <a:gd name="adj" fmla="val 50000"/>
            </a:avLst>
          </a:prstGeom>
          <a:solidFill>
            <a:srgbClr val="DCEBF6"/>
          </a:solidFill>
          <a:ln w="12700">
            <a:solidFill>
              <a:srgbClr val="DCEBF6"/>
            </a:solidFill>
            <a:prstDash val="solid"/>
          </a:ln>
        </p:spPr>
        <p:txBody>
          <a:bodyPr/>
          <a:lstStyle/>
          <a:p>
            <a:endParaRPr lang="es-CL"/>
          </a:p>
        </p:txBody>
      </p:sp>
      <p:sp>
        <p:nvSpPr>
          <p:cNvPr id="61" name="Text 57"/>
          <p:cNvSpPr/>
          <p:nvPr/>
        </p:nvSpPr>
        <p:spPr>
          <a:xfrm>
            <a:off x="7068312" y="4279392"/>
            <a:ext cx="868680" cy="164592"/>
          </a:xfrm>
          <a:prstGeom prst="rect">
            <a:avLst/>
          </a:prstGeom>
          <a:noFill/>
          <a:ln/>
        </p:spPr>
        <p:txBody>
          <a:bodyPr wrap="square" lIns="0" tIns="0" rIns="0" bIns="0" rtlCol="0" anchor="ctr"/>
          <a:lstStyle/>
          <a:p>
            <a:pPr marL="0" indent="0" algn="ctr">
              <a:buNone/>
            </a:pPr>
            <a:r>
              <a:rPr lang="en-US" sz="700" b="1" dirty="0">
                <a:solidFill>
                  <a:srgbClr val="1B5B87"/>
                </a:solidFill>
                <a:latin typeface="Calibri" pitchFamily="34" charset="0"/>
                <a:ea typeface="Calibri" pitchFamily="34" charset="-122"/>
                <a:cs typeface="Calibri" pitchFamily="34" charset="-120"/>
              </a:rPr>
              <a:t>En ruta</a:t>
            </a:r>
            <a:endParaRPr lang="en-US" sz="700" dirty="0"/>
          </a:p>
        </p:txBody>
      </p:sp>
      <p:sp>
        <p:nvSpPr>
          <p:cNvPr id="62" name="Shape 58"/>
          <p:cNvSpPr/>
          <p:nvPr/>
        </p:nvSpPr>
        <p:spPr>
          <a:xfrm>
            <a:off x="2240280" y="4498848"/>
            <a:ext cx="5852160" cy="274320"/>
          </a:xfrm>
          <a:prstGeom prst="rect">
            <a:avLst/>
          </a:prstGeom>
          <a:solidFill>
            <a:srgbClr val="FFFFFF"/>
          </a:solidFill>
          <a:ln w="9525">
            <a:solidFill>
              <a:srgbClr val="D8E2E9"/>
            </a:solidFill>
            <a:prstDash val="solid"/>
          </a:ln>
        </p:spPr>
        <p:txBody>
          <a:bodyPr/>
          <a:lstStyle/>
          <a:p>
            <a:endParaRPr lang="es-CL"/>
          </a:p>
        </p:txBody>
      </p:sp>
      <p:sp>
        <p:nvSpPr>
          <p:cNvPr id="63" name="Text 59"/>
          <p:cNvSpPr/>
          <p:nvPr/>
        </p:nvSpPr>
        <p:spPr>
          <a:xfrm>
            <a:off x="2313432" y="4498848"/>
            <a:ext cx="100584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PD-1044</a:t>
            </a:r>
            <a:endParaRPr lang="en-US" sz="850" dirty="0"/>
          </a:p>
        </p:txBody>
      </p:sp>
      <p:sp>
        <p:nvSpPr>
          <p:cNvPr id="64" name="Text 60"/>
          <p:cNvSpPr/>
          <p:nvPr/>
        </p:nvSpPr>
        <p:spPr>
          <a:xfrm>
            <a:off x="3410712" y="4498848"/>
            <a:ext cx="173736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Áridos Maipo</a:t>
            </a:r>
            <a:endParaRPr lang="en-US" sz="850" dirty="0"/>
          </a:p>
        </p:txBody>
      </p:sp>
      <p:sp>
        <p:nvSpPr>
          <p:cNvPr id="65" name="Text 61"/>
          <p:cNvSpPr/>
          <p:nvPr/>
        </p:nvSpPr>
        <p:spPr>
          <a:xfrm>
            <a:off x="5239512" y="4498848"/>
            <a:ext cx="173736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Curicó</a:t>
            </a:r>
            <a:endParaRPr lang="en-US" sz="850" dirty="0"/>
          </a:p>
        </p:txBody>
      </p:sp>
      <p:sp>
        <p:nvSpPr>
          <p:cNvPr id="66" name="Shape 62"/>
          <p:cNvSpPr/>
          <p:nvPr/>
        </p:nvSpPr>
        <p:spPr>
          <a:xfrm>
            <a:off x="7068312" y="4553712"/>
            <a:ext cx="868680" cy="164592"/>
          </a:xfrm>
          <a:prstGeom prst="roundRect">
            <a:avLst>
              <a:gd name="adj" fmla="val 50000"/>
            </a:avLst>
          </a:prstGeom>
          <a:solidFill>
            <a:srgbClr val="DCEBF6"/>
          </a:solidFill>
          <a:ln w="12700">
            <a:solidFill>
              <a:srgbClr val="DCEBF6"/>
            </a:solidFill>
            <a:prstDash val="solid"/>
          </a:ln>
        </p:spPr>
        <p:txBody>
          <a:bodyPr/>
          <a:lstStyle/>
          <a:p>
            <a:endParaRPr lang="es-CL"/>
          </a:p>
        </p:txBody>
      </p:sp>
      <p:sp>
        <p:nvSpPr>
          <p:cNvPr id="67" name="Text 63"/>
          <p:cNvSpPr/>
          <p:nvPr/>
        </p:nvSpPr>
        <p:spPr>
          <a:xfrm>
            <a:off x="7068312" y="4553712"/>
            <a:ext cx="868680" cy="164592"/>
          </a:xfrm>
          <a:prstGeom prst="rect">
            <a:avLst/>
          </a:prstGeom>
          <a:noFill/>
          <a:ln/>
        </p:spPr>
        <p:txBody>
          <a:bodyPr wrap="square" lIns="0" tIns="0" rIns="0" bIns="0" rtlCol="0" anchor="ctr"/>
          <a:lstStyle/>
          <a:p>
            <a:pPr marL="0" indent="0" algn="ctr">
              <a:buNone/>
            </a:pPr>
            <a:r>
              <a:rPr lang="en-US" sz="700" b="1" dirty="0">
                <a:solidFill>
                  <a:srgbClr val="1B5B87"/>
                </a:solidFill>
                <a:latin typeface="Calibri" pitchFamily="34" charset="0"/>
                <a:ea typeface="Calibri" pitchFamily="34" charset="-122"/>
                <a:cs typeface="Calibri" pitchFamily="34" charset="-120"/>
              </a:rPr>
              <a:t>En ruta</a:t>
            </a:r>
            <a:endParaRPr lang="en-US" sz="700" dirty="0"/>
          </a:p>
        </p:txBody>
      </p:sp>
      <p:sp>
        <p:nvSpPr>
          <p:cNvPr id="68" name="Shape 64"/>
          <p:cNvSpPr/>
          <p:nvPr/>
        </p:nvSpPr>
        <p:spPr>
          <a:xfrm>
            <a:off x="2240280" y="4773168"/>
            <a:ext cx="5852160" cy="274320"/>
          </a:xfrm>
          <a:prstGeom prst="rect">
            <a:avLst/>
          </a:prstGeom>
          <a:solidFill>
            <a:srgbClr val="FFFFFF"/>
          </a:solidFill>
          <a:ln w="9525">
            <a:solidFill>
              <a:srgbClr val="D8E2E9"/>
            </a:solidFill>
            <a:prstDash val="solid"/>
          </a:ln>
        </p:spPr>
        <p:txBody>
          <a:bodyPr/>
          <a:lstStyle/>
          <a:p>
            <a:endParaRPr lang="es-CL"/>
          </a:p>
        </p:txBody>
      </p:sp>
      <p:sp>
        <p:nvSpPr>
          <p:cNvPr id="69" name="Text 65"/>
          <p:cNvSpPr/>
          <p:nvPr/>
        </p:nvSpPr>
        <p:spPr>
          <a:xfrm>
            <a:off x="2313432" y="4773168"/>
            <a:ext cx="100584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PD-1045</a:t>
            </a:r>
            <a:endParaRPr lang="en-US" sz="850" dirty="0"/>
          </a:p>
        </p:txBody>
      </p:sp>
      <p:sp>
        <p:nvSpPr>
          <p:cNvPr id="70" name="Text 66"/>
          <p:cNvSpPr/>
          <p:nvPr/>
        </p:nvSpPr>
        <p:spPr>
          <a:xfrm>
            <a:off x="3410712" y="4773168"/>
            <a:ext cx="173736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Agrícola Vásquez</a:t>
            </a:r>
            <a:endParaRPr lang="en-US" sz="850" dirty="0"/>
          </a:p>
        </p:txBody>
      </p:sp>
      <p:sp>
        <p:nvSpPr>
          <p:cNvPr id="71" name="Text 67"/>
          <p:cNvSpPr/>
          <p:nvPr/>
        </p:nvSpPr>
        <p:spPr>
          <a:xfrm>
            <a:off x="5239512" y="4773168"/>
            <a:ext cx="173736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Melipilla</a:t>
            </a:r>
            <a:endParaRPr lang="en-US" sz="850" dirty="0"/>
          </a:p>
        </p:txBody>
      </p:sp>
      <p:sp>
        <p:nvSpPr>
          <p:cNvPr id="72" name="Shape 68"/>
          <p:cNvSpPr/>
          <p:nvPr/>
        </p:nvSpPr>
        <p:spPr>
          <a:xfrm>
            <a:off x="7068312" y="4828032"/>
            <a:ext cx="868680" cy="164592"/>
          </a:xfrm>
          <a:prstGeom prst="roundRect">
            <a:avLst>
              <a:gd name="adj" fmla="val 50000"/>
            </a:avLst>
          </a:prstGeom>
          <a:solidFill>
            <a:srgbClr val="FBEFD6"/>
          </a:solidFill>
          <a:ln w="12700">
            <a:solidFill>
              <a:srgbClr val="FBEFD6"/>
            </a:solidFill>
            <a:prstDash val="solid"/>
          </a:ln>
        </p:spPr>
        <p:txBody>
          <a:bodyPr/>
          <a:lstStyle/>
          <a:p>
            <a:endParaRPr lang="es-CL"/>
          </a:p>
        </p:txBody>
      </p:sp>
      <p:sp>
        <p:nvSpPr>
          <p:cNvPr id="73" name="Text 69"/>
          <p:cNvSpPr/>
          <p:nvPr/>
        </p:nvSpPr>
        <p:spPr>
          <a:xfrm>
            <a:off x="7068312" y="4828032"/>
            <a:ext cx="868680" cy="164592"/>
          </a:xfrm>
          <a:prstGeom prst="rect">
            <a:avLst/>
          </a:prstGeom>
          <a:noFill/>
          <a:ln/>
        </p:spPr>
        <p:txBody>
          <a:bodyPr wrap="square" lIns="0" tIns="0" rIns="0" bIns="0" rtlCol="0" anchor="ctr"/>
          <a:lstStyle/>
          <a:p>
            <a:pPr marL="0" indent="0" algn="ctr">
              <a:buNone/>
            </a:pPr>
            <a:r>
              <a:rPr lang="en-US" sz="700" b="1" dirty="0">
                <a:solidFill>
                  <a:srgbClr val="8A5D0B"/>
                </a:solidFill>
                <a:latin typeface="Calibri" pitchFamily="34" charset="0"/>
                <a:ea typeface="Calibri" pitchFamily="34" charset="-122"/>
                <a:cs typeface="Calibri" pitchFamily="34" charset="-120"/>
              </a:rPr>
              <a:t>Pendiente</a:t>
            </a:r>
            <a:endParaRPr lang="en-US" sz="700" dirty="0"/>
          </a:p>
        </p:txBody>
      </p:sp>
      <p:sp>
        <p:nvSpPr>
          <p:cNvPr id="74" name="Shape 70"/>
          <p:cNvSpPr/>
          <p:nvPr/>
        </p:nvSpPr>
        <p:spPr>
          <a:xfrm>
            <a:off x="2240280" y="5047488"/>
            <a:ext cx="5852160" cy="274320"/>
          </a:xfrm>
          <a:prstGeom prst="rect">
            <a:avLst/>
          </a:prstGeom>
          <a:solidFill>
            <a:srgbClr val="FFFFFF"/>
          </a:solidFill>
          <a:ln w="9525">
            <a:solidFill>
              <a:srgbClr val="D8E2E9"/>
            </a:solidFill>
            <a:prstDash val="solid"/>
          </a:ln>
        </p:spPr>
        <p:txBody>
          <a:bodyPr/>
          <a:lstStyle/>
          <a:p>
            <a:endParaRPr lang="es-CL"/>
          </a:p>
        </p:txBody>
      </p:sp>
      <p:sp>
        <p:nvSpPr>
          <p:cNvPr id="75" name="Text 71"/>
          <p:cNvSpPr/>
          <p:nvPr/>
        </p:nvSpPr>
        <p:spPr>
          <a:xfrm>
            <a:off x="2313432" y="5047488"/>
            <a:ext cx="100584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PD-1046</a:t>
            </a:r>
            <a:endParaRPr lang="en-US" sz="850" dirty="0"/>
          </a:p>
        </p:txBody>
      </p:sp>
      <p:sp>
        <p:nvSpPr>
          <p:cNvPr id="76" name="Text 72"/>
          <p:cNvSpPr/>
          <p:nvPr/>
        </p:nvSpPr>
        <p:spPr>
          <a:xfrm>
            <a:off x="3410712" y="5047488"/>
            <a:ext cx="173736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Ferretería Norte</a:t>
            </a:r>
            <a:endParaRPr lang="en-US" sz="850" dirty="0"/>
          </a:p>
        </p:txBody>
      </p:sp>
      <p:sp>
        <p:nvSpPr>
          <p:cNvPr id="77" name="Text 73"/>
          <p:cNvSpPr/>
          <p:nvPr/>
        </p:nvSpPr>
        <p:spPr>
          <a:xfrm>
            <a:off x="5239512" y="5047488"/>
            <a:ext cx="173736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La Serena</a:t>
            </a:r>
            <a:endParaRPr lang="en-US" sz="850" dirty="0"/>
          </a:p>
        </p:txBody>
      </p:sp>
      <p:sp>
        <p:nvSpPr>
          <p:cNvPr id="78" name="Shape 74"/>
          <p:cNvSpPr/>
          <p:nvPr/>
        </p:nvSpPr>
        <p:spPr>
          <a:xfrm>
            <a:off x="7068312" y="5102352"/>
            <a:ext cx="868680" cy="164592"/>
          </a:xfrm>
          <a:prstGeom prst="roundRect">
            <a:avLst>
              <a:gd name="adj" fmla="val 50000"/>
            </a:avLst>
          </a:prstGeom>
          <a:solidFill>
            <a:srgbClr val="FBEFD6"/>
          </a:solidFill>
          <a:ln w="12700">
            <a:solidFill>
              <a:srgbClr val="FBEFD6"/>
            </a:solidFill>
            <a:prstDash val="solid"/>
          </a:ln>
        </p:spPr>
        <p:txBody>
          <a:bodyPr/>
          <a:lstStyle/>
          <a:p>
            <a:endParaRPr lang="es-CL"/>
          </a:p>
        </p:txBody>
      </p:sp>
      <p:sp>
        <p:nvSpPr>
          <p:cNvPr id="79" name="Text 75"/>
          <p:cNvSpPr/>
          <p:nvPr/>
        </p:nvSpPr>
        <p:spPr>
          <a:xfrm>
            <a:off x="7068312" y="5102352"/>
            <a:ext cx="868680" cy="164592"/>
          </a:xfrm>
          <a:prstGeom prst="rect">
            <a:avLst/>
          </a:prstGeom>
          <a:noFill/>
          <a:ln/>
        </p:spPr>
        <p:txBody>
          <a:bodyPr wrap="square" lIns="0" tIns="0" rIns="0" bIns="0" rtlCol="0" anchor="ctr"/>
          <a:lstStyle/>
          <a:p>
            <a:pPr marL="0" indent="0" algn="ctr">
              <a:buNone/>
            </a:pPr>
            <a:r>
              <a:rPr lang="en-US" sz="700" b="1" dirty="0">
                <a:solidFill>
                  <a:srgbClr val="8A5D0B"/>
                </a:solidFill>
                <a:latin typeface="Calibri" pitchFamily="34" charset="0"/>
                <a:ea typeface="Calibri" pitchFamily="34" charset="-122"/>
                <a:cs typeface="Calibri" pitchFamily="34" charset="-120"/>
              </a:rPr>
              <a:t>Pendiente</a:t>
            </a:r>
            <a:endParaRPr lang="en-US" sz="700" dirty="0"/>
          </a:p>
        </p:txBody>
      </p:sp>
      <p:sp>
        <p:nvSpPr>
          <p:cNvPr id="80" name="Shape 76"/>
          <p:cNvSpPr/>
          <p:nvPr/>
        </p:nvSpPr>
        <p:spPr>
          <a:xfrm>
            <a:off x="2240280" y="5321808"/>
            <a:ext cx="5852160" cy="274320"/>
          </a:xfrm>
          <a:prstGeom prst="rect">
            <a:avLst/>
          </a:prstGeom>
          <a:solidFill>
            <a:srgbClr val="FFFFFF"/>
          </a:solidFill>
          <a:ln w="9525">
            <a:solidFill>
              <a:srgbClr val="D8E2E9"/>
            </a:solidFill>
            <a:prstDash val="solid"/>
          </a:ln>
        </p:spPr>
        <p:txBody>
          <a:bodyPr/>
          <a:lstStyle/>
          <a:p>
            <a:endParaRPr lang="es-CL"/>
          </a:p>
        </p:txBody>
      </p:sp>
      <p:sp>
        <p:nvSpPr>
          <p:cNvPr id="81" name="Text 77"/>
          <p:cNvSpPr/>
          <p:nvPr/>
        </p:nvSpPr>
        <p:spPr>
          <a:xfrm>
            <a:off x="2313432" y="5321808"/>
            <a:ext cx="100584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PD-1047</a:t>
            </a:r>
            <a:endParaRPr lang="en-US" sz="850" dirty="0"/>
          </a:p>
        </p:txBody>
      </p:sp>
      <p:sp>
        <p:nvSpPr>
          <p:cNvPr id="82" name="Text 78"/>
          <p:cNvSpPr/>
          <p:nvPr/>
        </p:nvSpPr>
        <p:spPr>
          <a:xfrm>
            <a:off x="3410712" y="5321808"/>
            <a:ext cx="173736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Const. El Roble</a:t>
            </a:r>
            <a:endParaRPr lang="en-US" sz="850" dirty="0"/>
          </a:p>
        </p:txBody>
      </p:sp>
      <p:sp>
        <p:nvSpPr>
          <p:cNvPr id="83" name="Text 79"/>
          <p:cNvSpPr/>
          <p:nvPr/>
        </p:nvSpPr>
        <p:spPr>
          <a:xfrm>
            <a:off x="5239512" y="5321808"/>
            <a:ext cx="173736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Buin</a:t>
            </a:r>
            <a:endParaRPr lang="en-US" sz="850" dirty="0"/>
          </a:p>
        </p:txBody>
      </p:sp>
      <p:sp>
        <p:nvSpPr>
          <p:cNvPr id="84" name="Shape 80"/>
          <p:cNvSpPr/>
          <p:nvPr/>
        </p:nvSpPr>
        <p:spPr>
          <a:xfrm>
            <a:off x="7068312" y="5376672"/>
            <a:ext cx="868680" cy="164592"/>
          </a:xfrm>
          <a:prstGeom prst="roundRect">
            <a:avLst>
              <a:gd name="adj" fmla="val 50000"/>
            </a:avLst>
          </a:prstGeom>
          <a:solidFill>
            <a:srgbClr val="DFF3EC"/>
          </a:solidFill>
          <a:ln w="12700">
            <a:solidFill>
              <a:srgbClr val="DFF3EC"/>
            </a:solidFill>
            <a:prstDash val="solid"/>
          </a:ln>
        </p:spPr>
        <p:txBody>
          <a:bodyPr/>
          <a:lstStyle/>
          <a:p>
            <a:endParaRPr lang="es-CL"/>
          </a:p>
        </p:txBody>
      </p:sp>
      <p:sp>
        <p:nvSpPr>
          <p:cNvPr id="85" name="Text 81"/>
          <p:cNvSpPr/>
          <p:nvPr/>
        </p:nvSpPr>
        <p:spPr>
          <a:xfrm>
            <a:off x="7068312" y="5376672"/>
            <a:ext cx="868680" cy="164592"/>
          </a:xfrm>
          <a:prstGeom prst="rect">
            <a:avLst/>
          </a:prstGeom>
          <a:noFill/>
          <a:ln/>
        </p:spPr>
        <p:txBody>
          <a:bodyPr wrap="square" lIns="0" tIns="0" rIns="0" bIns="0" rtlCol="0" anchor="ctr"/>
          <a:lstStyle/>
          <a:p>
            <a:pPr marL="0" indent="0" algn="ctr">
              <a:buNone/>
            </a:pPr>
            <a:r>
              <a:rPr lang="en-US" sz="700" b="1" dirty="0">
                <a:solidFill>
                  <a:srgbClr val="0E6B5E"/>
                </a:solidFill>
                <a:latin typeface="Calibri" pitchFamily="34" charset="0"/>
                <a:ea typeface="Calibri" pitchFamily="34" charset="-122"/>
                <a:cs typeface="Calibri" pitchFamily="34" charset="-120"/>
              </a:rPr>
              <a:t>Entregado</a:t>
            </a:r>
            <a:endParaRPr lang="en-US" sz="700" dirty="0"/>
          </a:p>
        </p:txBody>
      </p:sp>
      <p:sp>
        <p:nvSpPr>
          <p:cNvPr id="86" name="Shape 82"/>
          <p:cNvSpPr/>
          <p:nvPr/>
        </p:nvSpPr>
        <p:spPr>
          <a:xfrm>
            <a:off x="2240280" y="5596128"/>
            <a:ext cx="5852160" cy="274320"/>
          </a:xfrm>
          <a:prstGeom prst="rect">
            <a:avLst/>
          </a:prstGeom>
          <a:solidFill>
            <a:srgbClr val="FFFFFF"/>
          </a:solidFill>
          <a:ln w="9525">
            <a:solidFill>
              <a:srgbClr val="D8E2E9"/>
            </a:solidFill>
            <a:prstDash val="solid"/>
          </a:ln>
        </p:spPr>
        <p:txBody>
          <a:bodyPr/>
          <a:lstStyle/>
          <a:p>
            <a:endParaRPr lang="es-CL"/>
          </a:p>
        </p:txBody>
      </p:sp>
      <p:sp>
        <p:nvSpPr>
          <p:cNvPr id="87" name="Text 83"/>
          <p:cNvSpPr/>
          <p:nvPr/>
        </p:nvSpPr>
        <p:spPr>
          <a:xfrm>
            <a:off x="2313432" y="5596128"/>
            <a:ext cx="100584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PD-1048</a:t>
            </a:r>
            <a:endParaRPr lang="en-US" sz="850" dirty="0"/>
          </a:p>
        </p:txBody>
      </p:sp>
      <p:sp>
        <p:nvSpPr>
          <p:cNvPr id="88" name="Text 84"/>
          <p:cNvSpPr/>
          <p:nvPr/>
        </p:nvSpPr>
        <p:spPr>
          <a:xfrm>
            <a:off x="3410712" y="5596128"/>
            <a:ext cx="173736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Vidrios Centro</a:t>
            </a:r>
            <a:endParaRPr lang="en-US" sz="850" dirty="0"/>
          </a:p>
        </p:txBody>
      </p:sp>
      <p:sp>
        <p:nvSpPr>
          <p:cNvPr id="89" name="Text 85"/>
          <p:cNvSpPr/>
          <p:nvPr/>
        </p:nvSpPr>
        <p:spPr>
          <a:xfrm>
            <a:off x="5239512" y="5596128"/>
            <a:ext cx="173736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Quilicura</a:t>
            </a:r>
            <a:endParaRPr lang="en-US" sz="850" dirty="0"/>
          </a:p>
        </p:txBody>
      </p:sp>
      <p:sp>
        <p:nvSpPr>
          <p:cNvPr id="90" name="Shape 86"/>
          <p:cNvSpPr/>
          <p:nvPr/>
        </p:nvSpPr>
        <p:spPr>
          <a:xfrm>
            <a:off x="7068312" y="5650992"/>
            <a:ext cx="868680" cy="164592"/>
          </a:xfrm>
          <a:prstGeom prst="roundRect">
            <a:avLst>
              <a:gd name="adj" fmla="val 50000"/>
            </a:avLst>
          </a:prstGeom>
          <a:solidFill>
            <a:srgbClr val="DCEBF6"/>
          </a:solidFill>
          <a:ln w="12700">
            <a:solidFill>
              <a:srgbClr val="DCEBF6"/>
            </a:solidFill>
            <a:prstDash val="solid"/>
          </a:ln>
        </p:spPr>
        <p:txBody>
          <a:bodyPr/>
          <a:lstStyle/>
          <a:p>
            <a:endParaRPr lang="es-CL"/>
          </a:p>
        </p:txBody>
      </p:sp>
      <p:sp>
        <p:nvSpPr>
          <p:cNvPr id="91" name="Text 87"/>
          <p:cNvSpPr/>
          <p:nvPr/>
        </p:nvSpPr>
        <p:spPr>
          <a:xfrm>
            <a:off x="7068312" y="5650992"/>
            <a:ext cx="868680" cy="164592"/>
          </a:xfrm>
          <a:prstGeom prst="rect">
            <a:avLst/>
          </a:prstGeom>
          <a:noFill/>
          <a:ln/>
        </p:spPr>
        <p:txBody>
          <a:bodyPr wrap="square" lIns="0" tIns="0" rIns="0" bIns="0" rtlCol="0" anchor="ctr"/>
          <a:lstStyle/>
          <a:p>
            <a:pPr marL="0" indent="0" algn="ctr">
              <a:buNone/>
            </a:pPr>
            <a:r>
              <a:rPr lang="en-US" sz="700" b="1" dirty="0">
                <a:solidFill>
                  <a:srgbClr val="1B5B87"/>
                </a:solidFill>
                <a:latin typeface="Calibri" pitchFamily="34" charset="0"/>
                <a:ea typeface="Calibri" pitchFamily="34" charset="-122"/>
                <a:cs typeface="Calibri" pitchFamily="34" charset="-120"/>
              </a:rPr>
              <a:t>En ruta</a:t>
            </a:r>
            <a:endParaRPr lang="en-US" sz="700" dirty="0"/>
          </a:p>
        </p:txBody>
      </p:sp>
      <p:sp>
        <p:nvSpPr>
          <p:cNvPr id="92" name="Shape 88"/>
          <p:cNvSpPr/>
          <p:nvPr/>
        </p:nvSpPr>
        <p:spPr>
          <a:xfrm>
            <a:off x="8366760" y="3383280"/>
            <a:ext cx="2788920" cy="2514600"/>
          </a:xfrm>
          <a:prstGeom prst="roundRect">
            <a:avLst>
              <a:gd name="adj" fmla="val 2182"/>
            </a:avLst>
          </a:prstGeom>
          <a:solidFill>
            <a:srgbClr val="F2F6F9"/>
          </a:solidFill>
          <a:ln w="9525">
            <a:solidFill>
              <a:srgbClr val="D8E2E9"/>
            </a:solidFill>
            <a:prstDash val="solid"/>
          </a:ln>
        </p:spPr>
        <p:txBody>
          <a:bodyPr/>
          <a:lstStyle/>
          <a:p>
            <a:endParaRPr lang="es-CL"/>
          </a:p>
        </p:txBody>
      </p:sp>
      <p:sp>
        <p:nvSpPr>
          <p:cNvPr id="93" name="Text 89"/>
          <p:cNvSpPr/>
          <p:nvPr/>
        </p:nvSpPr>
        <p:spPr>
          <a:xfrm>
            <a:off x="8503920" y="3493008"/>
            <a:ext cx="2560320" cy="237744"/>
          </a:xfrm>
          <a:prstGeom prst="rect">
            <a:avLst/>
          </a:prstGeom>
          <a:noFill/>
          <a:ln/>
        </p:spPr>
        <p:txBody>
          <a:bodyPr wrap="square" lIns="0" tIns="0" rIns="0" bIns="0" rtlCol="0" anchor="ctr"/>
          <a:lstStyle/>
          <a:p>
            <a:pPr marL="0" indent="0">
              <a:buNone/>
            </a:pPr>
            <a:r>
              <a:rPr lang="en-US" sz="1100" b="1" dirty="0">
                <a:solidFill>
                  <a:srgbClr val="0F2E42"/>
                </a:solidFill>
                <a:latin typeface="Calibri" pitchFamily="34" charset="0"/>
                <a:ea typeface="Calibri" pitchFamily="34" charset="-122"/>
                <a:cs typeface="Calibri" pitchFamily="34" charset="-120"/>
              </a:rPr>
              <a:t>Alertas de flota</a:t>
            </a:r>
            <a:endParaRPr lang="en-US" sz="1100" dirty="0"/>
          </a:p>
        </p:txBody>
      </p:sp>
      <p:sp>
        <p:nvSpPr>
          <p:cNvPr id="94" name="Shape 90"/>
          <p:cNvSpPr/>
          <p:nvPr/>
        </p:nvSpPr>
        <p:spPr>
          <a:xfrm>
            <a:off x="8503920" y="3840480"/>
            <a:ext cx="2560320" cy="566928"/>
          </a:xfrm>
          <a:prstGeom prst="roundRect">
            <a:avLst>
              <a:gd name="adj" fmla="val 8065"/>
            </a:avLst>
          </a:prstGeom>
          <a:solidFill>
            <a:srgbClr val="FFFFFF"/>
          </a:solidFill>
          <a:ln w="9525">
            <a:solidFill>
              <a:srgbClr val="D8E2E9"/>
            </a:solidFill>
            <a:prstDash val="solid"/>
          </a:ln>
        </p:spPr>
        <p:txBody>
          <a:bodyPr/>
          <a:lstStyle/>
          <a:p>
            <a:endParaRPr lang="es-CL"/>
          </a:p>
        </p:txBody>
      </p:sp>
      <p:sp>
        <p:nvSpPr>
          <p:cNvPr id="95" name="Shape 91"/>
          <p:cNvSpPr/>
          <p:nvPr/>
        </p:nvSpPr>
        <p:spPr>
          <a:xfrm>
            <a:off x="8622792" y="4059936"/>
            <a:ext cx="128016" cy="128016"/>
          </a:xfrm>
          <a:prstGeom prst="ellipse">
            <a:avLst/>
          </a:prstGeom>
          <a:solidFill>
            <a:srgbClr val="C0504D"/>
          </a:solidFill>
          <a:ln w="12700">
            <a:solidFill>
              <a:srgbClr val="C0504D"/>
            </a:solidFill>
            <a:prstDash val="solid"/>
          </a:ln>
        </p:spPr>
        <p:txBody>
          <a:bodyPr/>
          <a:lstStyle/>
          <a:p>
            <a:endParaRPr lang="es-CL"/>
          </a:p>
        </p:txBody>
      </p:sp>
      <p:sp>
        <p:nvSpPr>
          <p:cNvPr id="96" name="Text 92"/>
          <p:cNvSpPr/>
          <p:nvPr/>
        </p:nvSpPr>
        <p:spPr>
          <a:xfrm>
            <a:off x="8823960" y="3895344"/>
            <a:ext cx="2103120" cy="201168"/>
          </a:xfrm>
          <a:prstGeom prst="rect">
            <a:avLst/>
          </a:prstGeom>
          <a:noFill/>
          <a:ln/>
        </p:spPr>
        <p:txBody>
          <a:bodyPr wrap="square" lIns="0" tIns="0" rIns="0" bIns="0" rtlCol="0" anchor="ctr"/>
          <a:lstStyle/>
          <a:p>
            <a:pPr marL="0" indent="0">
              <a:buNone/>
            </a:pPr>
            <a:r>
              <a:rPr lang="en-US" sz="900" b="1" dirty="0">
                <a:solidFill>
                  <a:srgbClr val="0F2E42"/>
                </a:solidFill>
                <a:latin typeface="Calibri" pitchFamily="34" charset="0"/>
                <a:ea typeface="Calibri" pitchFamily="34" charset="-122"/>
                <a:cs typeface="Calibri" pitchFamily="34" charset="-120"/>
              </a:rPr>
              <a:t>JKLM-45</a:t>
            </a:r>
            <a:endParaRPr lang="en-US" sz="900" dirty="0"/>
          </a:p>
        </p:txBody>
      </p:sp>
      <p:sp>
        <p:nvSpPr>
          <p:cNvPr id="97" name="Text 93"/>
          <p:cNvSpPr/>
          <p:nvPr/>
        </p:nvSpPr>
        <p:spPr>
          <a:xfrm>
            <a:off x="8823960" y="4096512"/>
            <a:ext cx="2148840" cy="256032"/>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Revisión técnica vence en 6 días</a:t>
            </a:r>
            <a:endParaRPr lang="en-US" sz="800" dirty="0"/>
          </a:p>
        </p:txBody>
      </p:sp>
      <p:sp>
        <p:nvSpPr>
          <p:cNvPr id="98" name="Shape 94"/>
          <p:cNvSpPr/>
          <p:nvPr/>
        </p:nvSpPr>
        <p:spPr>
          <a:xfrm>
            <a:off x="8503920" y="4498848"/>
            <a:ext cx="2560320" cy="566928"/>
          </a:xfrm>
          <a:prstGeom prst="roundRect">
            <a:avLst>
              <a:gd name="adj" fmla="val 8065"/>
            </a:avLst>
          </a:prstGeom>
          <a:solidFill>
            <a:srgbClr val="FFFFFF"/>
          </a:solidFill>
          <a:ln w="9525">
            <a:solidFill>
              <a:srgbClr val="D8E2E9"/>
            </a:solidFill>
            <a:prstDash val="solid"/>
          </a:ln>
        </p:spPr>
        <p:txBody>
          <a:bodyPr/>
          <a:lstStyle/>
          <a:p>
            <a:endParaRPr lang="es-CL"/>
          </a:p>
        </p:txBody>
      </p:sp>
      <p:sp>
        <p:nvSpPr>
          <p:cNvPr id="99" name="Shape 95"/>
          <p:cNvSpPr/>
          <p:nvPr/>
        </p:nvSpPr>
        <p:spPr>
          <a:xfrm>
            <a:off x="8622792" y="4718304"/>
            <a:ext cx="128016" cy="128016"/>
          </a:xfrm>
          <a:prstGeom prst="ellipse">
            <a:avLst/>
          </a:prstGeom>
          <a:solidFill>
            <a:srgbClr val="C0504D"/>
          </a:solidFill>
          <a:ln w="12700">
            <a:solidFill>
              <a:srgbClr val="C0504D"/>
            </a:solidFill>
            <a:prstDash val="solid"/>
          </a:ln>
        </p:spPr>
        <p:txBody>
          <a:bodyPr/>
          <a:lstStyle/>
          <a:p>
            <a:endParaRPr lang="es-CL"/>
          </a:p>
        </p:txBody>
      </p:sp>
      <p:sp>
        <p:nvSpPr>
          <p:cNvPr id="100" name="Text 96"/>
          <p:cNvSpPr/>
          <p:nvPr/>
        </p:nvSpPr>
        <p:spPr>
          <a:xfrm>
            <a:off x="8823960" y="4553712"/>
            <a:ext cx="2103120" cy="201168"/>
          </a:xfrm>
          <a:prstGeom prst="rect">
            <a:avLst/>
          </a:prstGeom>
          <a:noFill/>
          <a:ln/>
        </p:spPr>
        <p:txBody>
          <a:bodyPr wrap="square" lIns="0" tIns="0" rIns="0" bIns="0" rtlCol="0" anchor="ctr"/>
          <a:lstStyle/>
          <a:p>
            <a:pPr marL="0" indent="0">
              <a:buNone/>
            </a:pPr>
            <a:r>
              <a:rPr lang="en-US" sz="900" b="1" dirty="0">
                <a:solidFill>
                  <a:srgbClr val="0F2E42"/>
                </a:solidFill>
                <a:latin typeface="Calibri" pitchFamily="34" charset="0"/>
                <a:ea typeface="Calibri" pitchFamily="34" charset="-122"/>
                <a:cs typeface="Calibri" pitchFamily="34" charset="-120"/>
              </a:rPr>
              <a:t>BCDF-12</a:t>
            </a:r>
            <a:endParaRPr lang="en-US" sz="900" dirty="0"/>
          </a:p>
        </p:txBody>
      </p:sp>
      <p:sp>
        <p:nvSpPr>
          <p:cNvPr id="101" name="Text 97"/>
          <p:cNvSpPr/>
          <p:nvPr/>
        </p:nvSpPr>
        <p:spPr>
          <a:xfrm>
            <a:off x="8823960" y="4754880"/>
            <a:ext cx="2148840" cy="256032"/>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Mantención por kilometraje</a:t>
            </a:r>
            <a:endParaRPr lang="en-US" sz="800" dirty="0"/>
          </a:p>
        </p:txBody>
      </p:sp>
      <p:sp>
        <p:nvSpPr>
          <p:cNvPr id="102" name="Shape 98"/>
          <p:cNvSpPr/>
          <p:nvPr/>
        </p:nvSpPr>
        <p:spPr>
          <a:xfrm>
            <a:off x="8503920" y="5157216"/>
            <a:ext cx="2560320" cy="566928"/>
          </a:xfrm>
          <a:prstGeom prst="roundRect">
            <a:avLst>
              <a:gd name="adj" fmla="val 8065"/>
            </a:avLst>
          </a:prstGeom>
          <a:solidFill>
            <a:srgbClr val="FFFFFF"/>
          </a:solidFill>
          <a:ln w="9525">
            <a:solidFill>
              <a:srgbClr val="D8E2E9"/>
            </a:solidFill>
            <a:prstDash val="solid"/>
          </a:ln>
        </p:spPr>
        <p:txBody>
          <a:bodyPr/>
          <a:lstStyle/>
          <a:p>
            <a:endParaRPr lang="es-CL"/>
          </a:p>
        </p:txBody>
      </p:sp>
      <p:sp>
        <p:nvSpPr>
          <p:cNvPr id="103" name="Shape 99"/>
          <p:cNvSpPr/>
          <p:nvPr/>
        </p:nvSpPr>
        <p:spPr>
          <a:xfrm>
            <a:off x="8622792" y="5376672"/>
            <a:ext cx="128016" cy="128016"/>
          </a:xfrm>
          <a:prstGeom prst="ellipse">
            <a:avLst/>
          </a:prstGeom>
          <a:solidFill>
            <a:srgbClr val="C0504D"/>
          </a:solidFill>
          <a:ln w="12700">
            <a:solidFill>
              <a:srgbClr val="C0504D"/>
            </a:solidFill>
            <a:prstDash val="solid"/>
          </a:ln>
        </p:spPr>
        <p:txBody>
          <a:bodyPr/>
          <a:lstStyle/>
          <a:p>
            <a:endParaRPr lang="es-CL"/>
          </a:p>
        </p:txBody>
      </p:sp>
      <p:sp>
        <p:nvSpPr>
          <p:cNvPr id="104" name="Text 100"/>
          <p:cNvSpPr/>
          <p:nvPr/>
        </p:nvSpPr>
        <p:spPr>
          <a:xfrm>
            <a:off x="8823960" y="5212080"/>
            <a:ext cx="2103120" cy="201168"/>
          </a:xfrm>
          <a:prstGeom prst="rect">
            <a:avLst/>
          </a:prstGeom>
          <a:noFill/>
          <a:ln/>
        </p:spPr>
        <p:txBody>
          <a:bodyPr wrap="square" lIns="0" tIns="0" rIns="0" bIns="0" rtlCol="0" anchor="ctr"/>
          <a:lstStyle/>
          <a:p>
            <a:pPr marL="0" indent="0">
              <a:buNone/>
            </a:pPr>
            <a:r>
              <a:rPr lang="en-US" sz="900" b="1" dirty="0">
                <a:solidFill>
                  <a:srgbClr val="0F2E42"/>
                </a:solidFill>
                <a:latin typeface="Calibri" pitchFamily="34" charset="0"/>
                <a:ea typeface="Calibri" pitchFamily="34" charset="-122"/>
                <a:cs typeface="Calibri" pitchFamily="34" charset="-120"/>
              </a:rPr>
              <a:t>GHTR-88</a:t>
            </a:r>
            <a:endParaRPr lang="en-US" sz="900" dirty="0"/>
          </a:p>
        </p:txBody>
      </p:sp>
      <p:sp>
        <p:nvSpPr>
          <p:cNvPr id="105" name="Text 101"/>
          <p:cNvSpPr/>
          <p:nvPr/>
        </p:nvSpPr>
        <p:spPr>
          <a:xfrm>
            <a:off x="8823960" y="5413248"/>
            <a:ext cx="2148840" cy="256032"/>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Permiso de circulación vencido</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548640"/>
          </a:xfrm>
          <a:prstGeom prst="rect">
            <a:avLst/>
          </a:prstGeom>
          <a:noFill/>
          <a:ln/>
        </p:spPr>
        <p:txBody>
          <a:bodyPr wrap="square" lIns="0" tIns="0" rIns="0" bIns="0" rtlCol="0" anchor="ctr"/>
          <a:lstStyle/>
          <a:p>
            <a:pPr marL="0" indent="0">
              <a:buNone/>
            </a:pPr>
            <a:r>
              <a:rPr lang="en-US" sz="3000" b="1" dirty="0">
                <a:solidFill>
                  <a:srgbClr val="0F2E42"/>
                </a:solidFill>
                <a:latin typeface="Calibri" pitchFamily="34" charset="0"/>
                <a:ea typeface="Calibri" pitchFamily="34" charset="-122"/>
                <a:cs typeface="Calibri" pitchFamily="34" charset="-120"/>
              </a:rPr>
              <a:t>Mockup · Gestión de pedidos</a:t>
            </a:r>
            <a:endParaRPr lang="en-US" sz="3000" dirty="0"/>
          </a:p>
        </p:txBody>
      </p:sp>
      <p:sp>
        <p:nvSpPr>
          <p:cNvPr id="3" name="Text 1"/>
          <p:cNvSpPr/>
          <p:nvPr/>
        </p:nvSpPr>
        <p:spPr>
          <a:xfrm>
            <a:off x="640080" y="932688"/>
            <a:ext cx="10881360" cy="36576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Registro y seguimiento del ciclo de vida del pedido</a:t>
            </a:r>
            <a:endParaRPr lang="en-US" sz="1500" dirty="0"/>
          </a:p>
        </p:txBody>
      </p:sp>
      <p:pic>
        <p:nvPicPr>
          <p:cNvPr id="4" name="Image 0" descr="/mnt/user-data/outputs/logo/vialnex-isotipo-512.png"/>
          <p:cNvPicPr>
            <a:picLocks noChangeAspect="1"/>
          </p:cNvPicPr>
          <p:nvPr/>
        </p:nvPicPr>
        <p:blipFill>
          <a:blip r:embed="rId3"/>
          <a:stretch>
            <a:fillRect/>
          </a:stretch>
        </p:blipFill>
        <p:spPr>
          <a:xfrm>
            <a:off x="11475720" y="6172200"/>
            <a:ext cx="384048" cy="384048"/>
          </a:xfrm>
          <a:prstGeom prst="rect">
            <a:avLst/>
          </a:prstGeom>
        </p:spPr>
      </p:pic>
      <p:sp>
        <p:nvSpPr>
          <p:cNvPr id="5" name="Shape 2"/>
          <p:cNvSpPr/>
          <p:nvPr/>
        </p:nvSpPr>
        <p:spPr>
          <a:xfrm>
            <a:off x="640080" y="1508760"/>
            <a:ext cx="7589520" cy="4800600"/>
          </a:xfrm>
          <a:prstGeom prst="roundRect">
            <a:avLst>
              <a:gd name="adj" fmla="val 952"/>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6" name="Shape 3"/>
          <p:cNvSpPr/>
          <p:nvPr/>
        </p:nvSpPr>
        <p:spPr>
          <a:xfrm>
            <a:off x="649224" y="1517904"/>
            <a:ext cx="7571232" cy="292608"/>
          </a:xfrm>
          <a:prstGeom prst="rect">
            <a:avLst/>
          </a:prstGeom>
          <a:solidFill>
            <a:srgbClr val="F2F6F9"/>
          </a:solidFill>
          <a:ln w="12700">
            <a:solidFill>
              <a:srgbClr val="F2F6F9"/>
            </a:solidFill>
            <a:prstDash val="solid"/>
          </a:ln>
        </p:spPr>
        <p:txBody>
          <a:bodyPr/>
          <a:lstStyle/>
          <a:p>
            <a:endParaRPr lang="es-CL"/>
          </a:p>
        </p:txBody>
      </p:sp>
      <p:sp>
        <p:nvSpPr>
          <p:cNvPr id="7" name="Shape 4"/>
          <p:cNvSpPr/>
          <p:nvPr/>
        </p:nvSpPr>
        <p:spPr>
          <a:xfrm>
            <a:off x="786384" y="1609344"/>
            <a:ext cx="100584" cy="100584"/>
          </a:xfrm>
          <a:prstGeom prst="ellipse">
            <a:avLst/>
          </a:prstGeom>
          <a:solidFill>
            <a:srgbClr val="E06C5B"/>
          </a:solidFill>
          <a:ln w="12700">
            <a:solidFill>
              <a:srgbClr val="E06C5B"/>
            </a:solidFill>
            <a:prstDash val="solid"/>
          </a:ln>
        </p:spPr>
        <p:txBody>
          <a:bodyPr/>
          <a:lstStyle/>
          <a:p>
            <a:endParaRPr lang="es-CL"/>
          </a:p>
        </p:txBody>
      </p:sp>
      <p:sp>
        <p:nvSpPr>
          <p:cNvPr id="8" name="Shape 5"/>
          <p:cNvSpPr/>
          <p:nvPr/>
        </p:nvSpPr>
        <p:spPr>
          <a:xfrm>
            <a:off x="969264" y="1609344"/>
            <a:ext cx="100584" cy="100584"/>
          </a:xfrm>
          <a:prstGeom prst="ellipse">
            <a:avLst/>
          </a:prstGeom>
          <a:solidFill>
            <a:srgbClr val="E8B84B"/>
          </a:solidFill>
          <a:ln w="12700">
            <a:solidFill>
              <a:srgbClr val="E8B84B"/>
            </a:solidFill>
            <a:prstDash val="solid"/>
          </a:ln>
        </p:spPr>
        <p:txBody>
          <a:bodyPr/>
          <a:lstStyle/>
          <a:p>
            <a:endParaRPr lang="es-CL"/>
          </a:p>
        </p:txBody>
      </p:sp>
      <p:sp>
        <p:nvSpPr>
          <p:cNvPr id="9" name="Shape 6"/>
          <p:cNvSpPr/>
          <p:nvPr/>
        </p:nvSpPr>
        <p:spPr>
          <a:xfrm>
            <a:off x="1152144" y="1609344"/>
            <a:ext cx="100584" cy="100584"/>
          </a:xfrm>
          <a:prstGeom prst="ellipse">
            <a:avLst/>
          </a:prstGeom>
          <a:solidFill>
            <a:srgbClr val="5BB98C"/>
          </a:solidFill>
          <a:ln w="12700">
            <a:solidFill>
              <a:srgbClr val="5BB98C"/>
            </a:solidFill>
            <a:prstDash val="solid"/>
          </a:ln>
        </p:spPr>
        <p:txBody>
          <a:bodyPr/>
          <a:lstStyle/>
          <a:p>
            <a:endParaRPr lang="es-CL"/>
          </a:p>
        </p:txBody>
      </p:sp>
      <p:sp>
        <p:nvSpPr>
          <p:cNvPr id="10" name="Shape 7"/>
          <p:cNvSpPr/>
          <p:nvPr/>
        </p:nvSpPr>
        <p:spPr>
          <a:xfrm>
            <a:off x="1417320" y="1572768"/>
            <a:ext cx="6583680" cy="182880"/>
          </a:xfrm>
          <a:prstGeom prst="roundRect">
            <a:avLst>
              <a:gd name="adj" fmla="val 25000"/>
            </a:avLst>
          </a:prstGeom>
          <a:solidFill>
            <a:srgbClr val="FFFFFF"/>
          </a:solidFill>
          <a:ln w="9525">
            <a:solidFill>
              <a:srgbClr val="D8E2E9"/>
            </a:solidFill>
            <a:prstDash val="solid"/>
          </a:ln>
        </p:spPr>
        <p:txBody>
          <a:bodyPr/>
          <a:lstStyle/>
          <a:p>
            <a:endParaRPr lang="es-CL"/>
          </a:p>
        </p:txBody>
      </p:sp>
      <p:sp>
        <p:nvSpPr>
          <p:cNvPr id="11" name="Text 8"/>
          <p:cNvSpPr/>
          <p:nvPr/>
        </p:nvSpPr>
        <p:spPr>
          <a:xfrm>
            <a:off x="1508760" y="1572768"/>
            <a:ext cx="6400800" cy="18288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vialnex.cl/pedidos</a:t>
            </a:r>
            <a:endParaRPr lang="en-US" sz="800" dirty="0"/>
          </a:p>
        </p:txBody>
      </p:sp>
      <p:sp>
        <p:nvSpPr>
          <p:cNvPr id="12" name="Shape 9"/>
          <p:cNvSpPr/>
          <p:nvPr/>
        </p:nvSpPr>
        <p:spPr>
          <a:xfrm>
            <a:off x="649224" y="1810512"/>
            <a:ext cx="1417320" cy="4489704"/>
          </a:xfrm>
          <a:prstGeom prst="rect">
            <a:avLst/>
          </a:prstGeom>
          <a:solidFill>
            <a:srgbClr val="0F2E42"/>
          </a:solidFill>
          <a:ln w="12700">
            <a:solidFill>
              <a:srgbClr val="0F2E42"/>
            </a:solidFill>
            <a:prstDash val="solid"/>
          </a:ln>
        </p:spPr>
        <p:txBody>
          <a:bodyPr/>
          <a:lstStyle/>
          <a:p>
            <a:endParaRPr lang="es-CL"/>
          </a:p>
        </p:txBody>
      </p:sp>
      <p:pic>
        <p:nvPicPr>
          <p:cNvPr id="13" name="Image 1" descr="/mnt/user-data/outputs/logo/vialnex-logo-blanco-transp-1024.png"/>
          <p:cNvPicPr>
            <a:picLocks noChangeAspect="1"/>
          </p:cNvPicPr>
          <p:nvPr/>
        </p:nvPicPr>
        <p:blipFill>
          <a:blip r:embed="rId4"/>
          <a:stretch>
            <a:fillRect/>
          </a:stretch>
        </p:blipFill>
        <p:spPr>
          <a:xfrm>
            <a:off x="749808" y="1892808"/>
            <a:ext cx="960120" cy="283464"/>
          </a:xfrm>
          <a:prstGeom prst="rect">
            <a:avLst/>
          </a:prstGeom>
        </p:spPr>
      </p:pic>
      <p:sp>
        <p:nvSpPr>
          <p:cNvPr id="14" name="Shape 10"/>
          <p:cNvSpPr/>
          <p:nvPr/>
        </p:nvSpPr>
        <p:spPr>
          <a:xfrm>
            <a:off x="859536" y="2450592"/>
            <a:ext cx="82296" cy="82296"/>
          </a:xfrm>
          <a:prstGeom prst="ellipse">
            <a:avLst/>
          </a:prstGeom>
          <a:solidFill>
            <a:srgbClr val="2E7FB8"/>
          </a:solidFill>
          <a:ln w="12700">
            <a:solidFill>
              <a:srgbClr val="2E7FB8"/>
            </a:solidFill>
            <a:prstDash val="solid"/>
          </a:ln>
        </p:spPr>
        <p:txBody>
          <a:bodyPr/>
          <a:lstStyle/>
          <a:p>
            <a:endParaRPr lang="es-CL"/>
          </a:p>
        </p:txBody>
      </p:sp>
      <p:sp>
        <p:nvSpPr>
          <p:cNvPr id="15" name="Text 11"/>
          <p:cNvSpPr/>
          <p:nvPr/>
        </p:nvSpPr>
        <p:spPr>
          <a:xfrm>
            <a:off x="1024128" y="2377440"/>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Panel</a:t>
            </a:r>
            <a:endParaRPr lang="en-US" sz="950" dirty="0"/>
          </a:p>
        </p:txBody>
      </p:sp>
      <p:sp>
        <p:nvSpPr>
          <p:cNvPr id="16" name="Shape 12"/>
          <p:cNvSpPr/>
          <p:nvPr/>
        </p:nvSpPr>
        <p:spPr>
          <a:xfrm>
            <a:off x="731520" y="2670048"/>
            <a:ext cx="1252728" cy="292608"/>
          </a:xfrm>
          <a:prstGeom prst="roundRect">
            <a:avLst>
              <a:gd name="adj" fmla="val 15625"/>
            </a:avLst>
          </a:prstGeom>
          <a:solidFill>
            <a:srgbClr val="16A394"/>
          </a:solidFill>
          <a:ln w="12700">
            <a:solidFill>
              <a:srgbClr val="16A394"/>
            </a:solidFill>
            <a:prstDash val="solid"/>
          </a:ln>
        </p:spPr>
        <p:txBody>
          <a:bodyPr/>
          <a:lstStyle/>
          <a:p>
            <a:endParaRPr lang="es-CL"/>
          </a:p>
        </p:txBody>
      </p:sp>
      <p:sp>
        <p:nvSpPr>
          <p:cNvPr id="17" name="Shape 13"/>
          <p:cNvSpPr/>
          <p:nvPr/>
        </p:nvSpPr>
        <p:spPr>
          <a:xfrm>
            <a:off x="859536" y="2779776"/>
            <a:ext cx="82296" cy="82296"/>
          </a:xfrm>
          <a:prstGeom prst="ellipse">
            <a:avLst/>
          </a:prstGeom>
          <a:solidFill>
            <a:srgbClr val="FFFFFF"/>
          </a:solidFill>
          <a:ln w="12700">
            <a:solidFill>
              <a:srgbClr val="FFFFFF"/>
            </a:solidFill>
            <a:prstDash val="solid"/>
          </a:ln>
        </p:spPr>
        <p:txBody>
          <a:bodyPr/>
          <a:lstStyle/>
          <a:p>
            <a:endParaRPr lang="es-CL"/>
          </a:p>
        </p:txBody>
      </p:sp>
      <p:sp>
        <p:nvSpPr>
          <p:cNvPr id="18" name="Text 14"/>
          <p:cNvSpPr/>
          <p:nvPr/>
        </p:nvSpPr>
        <p:spPr>
          <a:xfrm>
            <a:off x="1024128" y="2706624"/>
            <a:ext cx="96012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Pedidos</a:t>
            </a:r>
            <a:endParaRPr lang="en-US" sz="950" dirty="0"/>
          </a:p>
        </p:txBody>
      </p:sp>
      <p:sp>
        <p:nvSpPr>
          <p:cNvPr id="19" name="Shape 15"/>
          <p:cNvSpPr/>
          <p:nvPr/>
        </p:nvSpPr>
        <p:spPr>
          <a:xfrm>
            <a:off x="859536" y="3108960"/>
            <a:ext cx="82296" cy="82296"/>
          </a:xfrm>
          <a:prstGeom prst="ellipse">
            <a:avLst/>
          </a:prstGeom>
          <a:solidFill>
            <a:srgbClr val="2E7FB8"/>
          </a:solidFill>
          <a:ln w="12700">
            <a:solidFill>
              <a:srgbClr val="2E7FB8"/>
            </a:solidFill>
            <a:prstDash val="solid"/>
          </a:ln>
        </p:spPr>
        <p:txBody>
          <a:bodyPr/>
          <a:lstStyle/>
          <a:p>
            <a:endParaRPr lang="es-CL"/>
          </a:p>
        </p:txBody>
      </p:sp>
      <p:sp>
        <p:nvSpPr>
          <p:cNvPr id="20" name="Text 16"/>
          <p:cNvSpPr/>
          <p:nvPr/>
        </p:nvSpPr>
        <p:spPr>
          <a:xfrm>
            <a:off x="1024128" y="3035808"/>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Rutas</a:t>
            </a:r>
            <a:endParaRPr lang="en-US" sz="950" dirty="0"/>
          </a:p>
        </p:txBody>
      </p:sp>
      <p:sp>
        <p:nvSpPr>
          <p:cNvPr id="21" name="Shape 17"/>
          <p:cNvSpPr/>
          <p:nvPr/>
        </p:nvSpPr>
        <p:spPr>
          <a:xfrm>
            <a:off x="859536" y="3438144"/>
            <a:ext cx="82296" cy="82296"/>
          </a:xfrm>
          <a:prstGeom prst="ellipse">
            <a:avLst/>
          </a:prstGeom>
          <a:solidFill>
            <a:srgbClr val="2E7FB8"/>
          </a:solidFill>
          <a:ln w="12700">
            <a:solidFill>
              <a:srgbClr val="2E7FB8"/>
            </a:solidFill>
            <a:prstDash val="solid"/>
          </a:ln>
        </p:spPr>
        <p:txBody>
          <a:bodyPr/>
          <a:lstStyle/>
          <a:p>
            <a:endParaRPr lang="es-CL"/>
          </a:p>
        </p:txBody>
      </p:sp>
      <p:sp>
        <p:nvSpPr>
          <p:cNvPr id="22" name="Text 18"/>
          <p:cNvSpPr/>
          <p:nvPr/>
        </p:nvSpPr>
        <p:spPr>
          <a:xfrm>
            <a:off x="1024128" y="3364992"/>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Flota</a:t>
            </a:r>
            <a:endParaRPr lang="en-US" sz="950" dirty="0"/>
          </a:p>
        </p:txBody>
      </p:sp>
      <p:sp>
        <p:nvSpPr>
          <p:cNvPr id="23" name="Shape 19"/>
          <p:cNvSpPr/>
          <p:nvPr/>
        </p:nvSpPr>
        <p:spPr>
          <a:xfrm>
            <a:off x="859536" y="3767328"/>
            <a:ext cx="82296" cy="82296"/>
          </a:xfrm>
          <a:prstGeom prst="ellipse">
            <a:avLst/>
          </a:prstGeom>
          <a:solidFill>
            <a:srgbClr val="2E7FB8"/>
          </a:solidFill>
          <a:ln w="12700">
            <a:solidFill>
              <a:srgbClr val="2E7FB8"/>
            </a:solidFill>
            <a:prstDash val="solid"/>
          </a:ln>
        </p:spPr>
        <p:txBody>
          <a:bodyPr/>
          <a:lstStyle/>
          <a:p>
            <a:endParaRPr lang="es-CL"/>
          </a:p>
        </p:txBody>
      </p:sp>
      <p:sp>
        <p:nvSpPr>
          <p:cNvPr id="24" name="Text 20"/>
          <p:cNvSpPr/>
          <p:nvPr/>
        </p:nvSpPr>
        <p:spPr>
          <a:xfrm>
            <a:off x="1024128" y="3694176"/>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Documentos</a:t>
            </a:r>
            <a:endParaRPr lang="en-US" sz="950" dirty="0"/>
          </a:p>
        </p:txBody>
      </p:sp>
      <p:sp>
        <p:nvSpPr>
          <p:cNvPr id="25" name="Shape 21"/>
          <p:cNvSpPr/>
          <p:nvPr/>
        </p:nvSpPr>
        <p:spPr>
          <a:xfrm>
            <a:off x="859536" y="4096512"/>
            <a:ext cx="82296" cy="82296"/>
          </a:xfrm>
          <a:prstGeom prst="ellipse">
            <a:avLst/>
          </a:prstGeom>
          <a:solidFill>
            <a:srgbClr val="2E7FB8"/>
          </a:solidFill>
          <a:ln w="12700">
            <a:solidFill>
              <a:srgbClr val="2E7FB8"/>
            </a:solidFill>
            <a:prstDash val="solid"/>
          </a:ln>
        </p:spPr>
        <p:txBody>
          <a:bodyPr/>
          <a:lstStyle/>
          <a:p>
            <a:endParaRPr lang="es-CL"/>
          </a:p>
        </p:txBody>
      </p:sp>
      <p:sp>
        <p:nvSpPr>
          <p:cNvPr id="26" name="Text 22"/>
          <p:cNvSpPr/>
          <p:nvPr/>
        </p:nvSpPr>
        <p:spPr>
          <a:xfrm>
            <a:off x="1024128" y="4023360"/>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Facturación</a:t>
            </a:r>
            <a:endParaRPr lang="en-US" sz="950" dirty="0"/>
          </a:p>
        </p:txBody>
      </p:sp>
      <p:sp>
        <p:nvSpPr>
          <p:cNvPr id="27" name="Text 23"/>
          <p:cNvSpPr/>
          <p:nvPr/>
        </p:nvSpPr>
        <p:spPr>
          <a:xfrm>
            <a:off x="2240280" y="1874520"/>
            <a:ext cx="2743200" cy="274320"/>
          </a:xfrm>
          <a:prstGeom prst="rect">
            <a:avLst/>
          </a:prstGeom>
          <a:noFill/>
          <a:ln/>
        </p:spPr>
        <p:txBody>
          <a:bodyPr wrap="square" lIns="0" tIns="0" rIns="0" bIns="0" rtlCol="0" anchor="ctr"/>
          <a:lstStyle/>
          <a:p>
            <a:pPr marL="0" indent="0">
              <a:buNone/>
            </a:pPr>
            <a:r>
              <a:rPr lang="en-US" sz="1500" b="1" dirty="0">
                <a:solidFill>
                  <a:srgbClr val="0F2E42"/>
                </a:solidFill>
                <a:latin typeface="Calibri" pitchFamily="34" charset="0"/>
                <a:ea typeface="Calibri" pitchFamily="34" charset="-122"/>
                <a:cs typeface="Calibri" pitchFamily="34" charset="-120"/>
              </a:rPr>
              <a:t>Pedidos</a:t>
            </a:r>
            <a:endParaRPr lang="en-US" sz="1500" dirty="0"/>
          </a:p>
        </p:txBody>
      </p:sp>
      <p:sp>
        <p:nvSpPr>
          <p:cNvPr id="28" name="Shape 24"/>
          <p:cNvSpPr/>
          <p:nvPr/>
        </p:nvSpPr>
        <p:spPr>
          <a:xfrm>
            <a:off x="6400800" y="1874520"/>
            <a:ext cx="1417320" cy="292608"/>
          </a:xfrm>
          <a:prstGeom prst="roundRect">
            <a:avLst>
              <a:gd name="adj" fmla="val 15625"/>
            </a:avLst>
          </a:prstGeom>
          <a:solidFill>
            <a:srgbClr val="16A394"/>
          </a:solidFill>
          <a:ln w="12700">
            <a:solidFill>
              <a:srgbClr val="16A394"/>
            </a:solidFill>
            <a:prstDash val="solid"/>
          </a:ln>
        </p:spPr>
        <p:txBody>
          <a:bodyPr/>
          <a:lstStyle/>
          <a:p>
            <a:endParaRPr lang="es-CL"/>
          </a:p>
        </p:txBody>
      </p:sp>
      <p:sp>
        <p:nvSpPr>
          <p:cNvPr id="29" name="Text 25"/>
          <p:cNvSpPr/>
          <p:nvPr/>
        </p:nvSpPr>
        <p:spPr>
          <a:xfrm>
            <a:off x="6400800" y="1874520"/>
            <a:ext cx="141732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Nuevo pedido</a:t>
            </a:r>
            <a:endParaRPr lang="en-US" sz="900" dirty="0"/>
          </a:p>
        </p:txBody>
      </p:sp>
      <p:sp>
        <p:nvSpPr>
          <p:cNvPr id="30" name="Shape 26"/>
          <p:cNvSpPr/>
          <p:nvPr/>
        </p:nvSpPr>
        <p:spPr>
          <a:xfrm>
            <a:off x="2240280" y="2286000"/>
            <a:ext cx="960120" cy="256032"/>
          </a:xfrm>
          <a:prstGeom prst="roundRect">
            <a:avLst>
              <a:gd name="adj" fmla="val 50000"/>
            </a:avLst>
          </a:prstGeom>
          <a:solidFill>
            <a:srgbClr val="0F2E42"/>
          </a:solidFill>
          <a:ln w="9525">
            <a:solidFill>
              <a:srgbClr val="0F2E42"/>
            </a:solidFill>
            <a:prstDash val="solid"/>
          </a:ln>
        </p:spPr>
        <p:txBody>
          <a:bodyPr/>
          <a:lstStyle/>
          <a:p>
            <a:endParaRPr lang="es-CL"/>
          </a:p>
        </p:txBody>
      </p:sp>
      <p:sp>
        <p:nvSpPr>
          <p:cNvPr id="31" name="Text 27"/>
          <p:cNvSpPr/>
          <p:nvPr/>
        </p:nvSpPr>
        <p:spPr>
          <a:xfrm>
            <a:off x="2240280" y="2286000"/>
            <a:ext cx="960120" cy="256032"/>
          </a:xfrm>
          <a:prstGeom prst="rect">
            <a:avLst/>
          </a:prstGeom>
          <a:noFill/>
          <a:ln/>
        </p:spPr>
        <p:txBody>
          <a:bodyPr wrap="square" lIns="0" tIns="0" rIns="0" bIns="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Todos</a:t>
            </a:r>
            <a:endParaRPr lang="en-US" sz="800" dirty="0"/>
          </a:p>
        </p:txBody>
      </p:sp>
      <p:sp>
        <p:nvSpPr>
          <p:cNvPr id="32" name="Shape 28"/>
          <p:cNvSpPr/>
          <p:nvPr/>
        </p:nvSpPr>
        <p:spPr>
          <a:xfrm>
            <a:off x="3291840" y="2286000"/>
            <a:ext cx="960120" cy="256032"/>
          </a:xfrm>
          <a:prstGeom prst="roundRect">
            <a:avLst>
              <a:gd name="adj" fmla="val 50000"/>
            </a:avLst>
          </a:prstGeom>
          <a:solidFill>
            <a:srgbClr val="F2F6F9"/>
          </a:solidFill>
          <a:ln w="9525">
            <a:solidFill>
              <a:srgbClr val="D8E2E9"/>
            </a:solidFill>
            <a:prstDash val="solid"/>
          </a:ln>
        </p:spPr>
        <p:txBody>
          <a:bodyPr/>
          <a:lstStyle/>
          <a:p>
            <a:endParaRPr lang="es-CL"/>
          </a:p>
        </p:txBody>
      </p:sp>
      <p:sp>
        <p:nvSpPr>
          <p:cNvPr id="33" name="Text 29"/>
          <p:cNvSpPr/>
          <p:nvPr/>
        </p:nvSpPr>
        <p:spPr>
          <a:xfrm>
            <a:off x="3291840" y="2286000"/>
            <a:ext cx="960120" cy="256032"/>
          </a:xfrm>
          <a:prstGeom prst="rect">
            <a:avLst/>
          </a:prstGeom>
          <a:noFill/>
          <a:ln/>
        </p:spPr>
        <p:txBody>
          <a:bodyPr wrap="square" lIns="0" tIns="0" rIns="0" bIns="0" rtlCol="0" anchor="ctr"/>
          <a:lstStyle/>
          <a:p>
            <a:pPr marL="0" indent="0" algn="ctr">
              <a:buNone/>
            </a:pPr>
            <a:r>
              <a:rPr lang="en-US" sz="800" dirty="0">
                <a:solidFill>
                  <a:srgbClr val="5A6B78"/>
                </a:solidFill>
                <a:latin typeface="Calibri" pitchFamily="34" charset="0"/>
                <a:ea typeface="Calibri" pitchFamily="34" charset="-122"/>
                <a:cs typeface="Calibri" pitchFamily="34" charset="-120"/>
              </a:rPr>
              <a:t>Pendientes</a:t>
            </a:r>
            <a:endParaRPr lang="en-US" sz="800" dirty="0"/>
          </a:p>
        </p:txBody>
      </p:sp>
      <p:sp>
        <p:nvSpPr>
          <p:cNvPr id="34" name="Shape 30"/>
          <p:cNvSpPr/>
          <p:nvPr/>
        </p:nvSpPr>
        <p:spPr>
          <a:xfrm>
            <a:off x="4343400" y="2286000"/>
            <a:ext cx="960120" cy="256032"/>
          </a:xfrm>
          <a:prstGeom prst="roundRect">
            <a:avLst>
              <a:gd name="adj" fmla="val 50000"/>
            </a:avLst>
          </a:prstGeom>
          <a:solidFill>
            <a:srgbClr val="F2F6F9"/>
          </a:solidFill>
          <a:ln w="9525">
            <a:solidFill>
              <a:srgbClr val="D8E2E9"/>
            </a:solidFill>
            <a:prstDash val="solid"/>
          </a:ln>
        </p:spPr>
        <p:txBody>
          <a:bodyPr/>
          <a:lstStyle/>
          <a:p>
            <a:endParaRPr lang="es-CL"/>
          </a:p>
        </p:txBody>
      </p:sp>
      <p:sp>
        <p:nvSpPr>
          <p:cNvPr id="35" name="Text 31"/>
          <p:cNvSpPr/>
          <p:nvPr/>
        </p:nvSpPr>
        <p:spPr>
          <a:xfrm>
            <a:off x="4343400" y="2286000"/>
            <a:ext cx="960120" cy="256032"/>
          </a:xfrm>
          <a:prstGeom prst="rect">
            <a:avLst/>
          </a:prstGeom>
          <a:noFill/>
          <a:ln/>
        </p:spPr>
        <p:txBody>
          <a:bodyPr wrap="square" lIns="0" tIns="0" rIns="0" bIns="0" rtlCol="0" anchor="ctr"/>
          <a:lstStyle/>
          <a:p>
            <a:pPr marL="0" indent="0" algn="ctr">
              <a:buNone/>
            </a:pPr>
            <a:r>
              <a:rPr lang="en-US" sz="800" dirty="0">
                <a:solidFill>
                  <a:srgbClr val="5A6B78"/>
                </a:solidFill>
                <a:latin typeface="Calibri" pitchFamily="34" charset="0"/>
                <a:ea typeface="Calibri" pitchFamily="34" charset="-122"/>
                <a:cs typeface="Calibri" pitchFamily="34" charset="-120"/>
              </a:rPr>
              <a:t>En ruta</a:t>
            </a:r>
            <a:endParaRPr lang="en-US" sz="800" dirty="0"/>
          </a:p>
        </p:txBody>
      </p:sp>
      <p:sp>
        <p:nvSpPr>
          <p:cNvPr id="36" name="Shape 32"/>
          <p:cNvSpPr/>
          <p:nvPr/>
        </p:nvSpPr>
        <p:spPr>
          <a:xfrm>
            <a:off x="5394960" y="2286000"/>
            <a:ext cx="960120" cy="256032"/>
          </a:xfrm>
          <a:prstGeom prst="roundRect">
            <a:avLst>
              <a:gd name="adj" fmla="val 50000"/>
            </a:avLst>
          </a:prstGeom>
          <a:solidFill>
            <a:srgbClr val="F2F6F9"/>
          </a:solidFill>
          <a:ln w="9525">
            <a:solidFill>
              <a:srgbClr val="D8E2E9"/>
            </a:solidFill>
            <a:prstDash val="solid"/>
          </a:ln>
        </p:spPr>
        <p:txBody>
          <a:bodyPr/>
          <a:lstStyle/>
          <a:p>
            <a:endParaRPr lang="es-CL"/>
          </a:p>
        </p:txBody>
      </p:sp>
      <p:sp>
        <p:nvSpPr>
          <p:cNvPr id="37" name="Text 33"/>
          <p:cNvSpPr/>
          <p:nvPr/>
        </p:nvSpPr>
        <p:spPr>
          <a:xfrm>
            <a:off x="5394960" y="2286000"/>
            <a:ext cx="960120" cy="256032"/>
          </a:xfrm>
          <a:prstGeom prst="rect">
            <a:avLst/>
          </a:prstGeom>
          <a:noFill/>
          <a:ln/>
        </p:spPr>
        <p:txBody>
          <a:bodyPr wrap="square" lIns="0" tIns="0" rIns="0" bIns="0" rtlCol="0" anchor="ctr"/>
          <a:lstStyle/>
          <a:p>
            <a:pPr marL="0" indent="0" algn="ctr">
              <a:buNone/>
            </a:pPr>
            <a:r>
              <a:rPr lang="en-US" sz="800" dirty="0">
                <a:solidFill>
                  <a:srgbClr val="5A6B78"/>
                </a:solidFill>
                <a:latin typeface="Calibri" pitchFamily="34" charset="0"/>
                <a:ea typeface="Calibri" pitchFamily="34" charset="-122"/>
                <a:cs typeface="Calibri" pitchFamily="34" charset="-120"/>
              </a:rPr>
              <a:t>Entregados</a:t>
            </a:r>
            <a:endParaRPr lang="en-US" sz="800" dirty="0"/>
          </a:p>
        </p:txBody>
      </p:sp>
      <p:sp>
        <p:nvSpPr>
          <p:cNvPr id="38" name="Shape 34"/>
          <p:cNvSpPr/>
          <p:nvPr/>
        </p:nvSpPr>
        <p:spPr>
          <a:xfrm>
            <a:off x="2240280" y="2697480"/>
            <a:ext cx="5577840" cy="274320"/>
          </a:xfrm>
          <a:prstGeom prst="rect">
            <a:avLst/>
          </a:prstGeom>
          <a:solidFill>
            <a:srgbClr val="F2F6F9"/>
          </a:solidFill>
          <a:ln w="9525">
            <a:solidFill>
              <a:srgbClr val="D8E2E9"/>
            </a:solidFill>
            <a:prstDash val="solid"/>
          </a:ln>
        </p:spPr>
        <p:txBody>
          <a:bodyPr/>
          <a:lstStyle/>
          <a:p>
            <a:endParaRPr lang="es-CL"/>
          </a:p>
        </p:txBody>
      </p:sp>
      <p:sp>
        <p:nvSpPr>
          <p:cNvPr id="39" name="Text 35"/>
          <p:cNvSpPr/>
          <p:nvPr/>
        </p:nvSpPr>
        <p:spPr>
          <a:xfrm>
            <a:off x="2313432" y="2697480"/>
            <a:ext cx="822960" cy="274320"/>
          </a:xfrm>
          <a:prstGeom prst="rect">
            <a:avLst/>
          </a:prstGeom>
          <a:noFill/>
          <a:ln/>
        </p:spPr>
        <p:txBody>
          <a:bodyPr wrap="square" lIns="0" tIns="0" rIns="0" bIns="0" rtlCol="0" anchor="ctr"/>
          <a:lstStyle/>
          <a:p>
            <a:pPr marL="0" indent="0">
              <a:buNone/>
            </a:pPr>
            <a:r>
              <a:rPr lang="en-US" sz="800" b="1" dirty="0">
                <a:solidFill>
                  <a:srgbClr val="0F2E42"/>
                </a:solidFill>
                <a:latin typeface="Calibri" pitchFamily="34" charset="0"/>
                <a:ea typeface="Calibri" pitchFamily="34" charset="-122"/>
                <a:cs typeface="Calibri" pitchFamily="34" charset="-120"/>
              </a:rPr>
              <a:t>Pedido</a:t>
            </a:r>
            <a:endParaRPr lang="en-US" sz="800" dirty="0"/>
          </a:p>
        </p:txBody>
      </p:sp>
      <p:sp>
        <p:nvSpPr>
          <p:cNvPr id="40" name="Text 36"/>
          <p:cNvSpPr/>
          <p:nvPr/>
        </p:nvSpPr>
        <p:spPr>
          <a:xfrm>
            <a:off x="3227832" y="2697480"/>
            <a:ext cx="1371600" cy="274320"/>
          </a:xfrm>
          <a:prstGeom prst="rect">
            <a:avLst/>
          </a:prstGeom>
          <a:noFill/>
          <a:ln/>
        </p:spPr>
        <p:txBody>
          <a:bodyPr wrap="square" lIns="0" tIns="0" rIns="0" bIns="0" rtlCol="0" anchor="ctr"/>
          <a:lstStyle/>
          <a:p>
            <a:pPr marL="0" indent="0">
              <a:buNone/>
            </a:pPr>
            <a:r>
              <a:rPr lang="en-US" sz="800" b="1" dirty="0">
                <a:solidFill>
                  <a:srgbClr val="0F2E42"/>
                </a:solidFill>
                <a:latin typeface="Calibri" pitchFamily="34" charset="0"/>
                <a:ea typeface="Calibri" pitchFamily="34" charset="-122"/>
                <a:cs typeface="Calibri" pitchFamily="34" charset="-120"/>
              </a:rPr>
              <a:t>Cliente</a:t>
            </a:r>
            <a:endParaRPr lang="en-US" sz="800" dirty="0"/>
          </a:p>
        </p:txBody>
      </p:sp>
      <p:sp>
        <p:nvSpPr>
          <p:cNvPr id="41" name="Text 37"/>
          <p:cNvSpPr/>
          <p:nvPr/>
        </p:nvSpPr>
        <p:spPr>
          <a:xfrm>
            <a:off x="4690872" y="2697480"/>
            <a:ext cx="1005840" cy="274320"/>
          </a:xfrm>
          <a:prstGeom prst="rect">
            <a:avLst/>
          </a:prstGeom>
          <a:noFill/>
          <a:ln/>
        </p:spPr>
        <p:txBody>
          <a:bodyPr wrap="square" lIns="0" tIns="0" rIns="0" bIns="0" rtlCol="0" anchor="ctr"/>
          <a:lstStyle/>
          <a:p>
            <a:pPr marL="0" indent="0">
              <a:buNone/>
            </a:pPr>
            <a:r>
              <a:rPr lang="en-US" sz="800" b="1" dirty="0">
                <a:solidFill>
                  <a:srgbClr val="0F2E42"/>
                </a:solidFill>
                <a:latin typeface="Calibri" pitchFamily="34" charset="0"/>
                <a:ea typeface="Calibri" pitchFamily="34" charset="-122"/>
                <a:cs typeface="Calibri" pitchFamily="34" charset="-120"/>
              </a:rPr>
              <a:t>Vehículo</a:t>
            </a:r>
            <a:endParaRPr lang="en-US" sz="800" dirty="0"/>
          </a:p>
        </p:txBody>
      </p:sp>
      <p:sp>
        <p:nvSpPr>
          <p:cNvPr id="42" name="Text 38"/>
          <p:cNvSpPr/>
          <p:nvPr/>
        </p:nvSpPr>
        <p:spPr>
          <a:xfrm>
            <a:off x="5788152" y="2697480"/>
            <a:ext cx="1097280" cy="274320"/>
          </a:xfrm>
          <a:prstGeom prst="rect">
            <a:avLst/>
          </a:prstGeom>
          <a:noFill/>
          <a:ln/>
        </p:spPr>
        <p:txBody>
          <a:bodyPr wrap="square" lIns="0" tIns="0" rIns="0" bIns="0" rtlCol="0" anchor="ctr"/>
          <a:lstStyle/>
          <a:p>
            <a:pPr marL="0" indent="0">
              <a:buNone/>
            </a:pPr>
            <a:r>
              <a:rPr lang="en-US" sz="800" b="1" dirty="0">
                <a:solidFill>
                  <a:srgbClr val="0F2E42"/>
                </a:solidFill>
                <a:latin typeface="Calibri" pitchFamily="34" charset="0"/>
                <a:ea typeface="Calibri" pitchFamily="34" charset="-122"/>
                <a:cs typeface="Calibri" pitchFamily="34" charset="-120"/>
              </a:rPr>
              <a:t>Conductor</a:t>
            </a:r>
            <a:endParaRPr lang="en-US" sz="800" dirty="0"/>
          </a:p>
        </p:txBody>
      </p:sp>
      <p:sp>
        <p:nvSpPr>
          <p:cNvPr id="43" name="Text 39"/>
          <p:cNvSpPr/>
          <p:nvPr/>
        </p:nvSpPr>
        <p:spPr>
          <a:xfrm>
            <a:off x="6976872" y="2697480"/>
            <a:ext cx="822960" cy="274320"/>
          </a:xfrm>
          <a:prstGeom prst="rect">
            <a:avLst/>
          </a:prstGeom>
          <a:noFill/>
          <a:ln/>
        </p:spPr>
        <p:txBody>
          <a:bodyPr wrap="square" lIns="0" tIns="0" rIns="0" bIns="0" rtlCol="0" anchor="ctr"/>
          <a:lstStyle/>
          <a:p>
            <a:pPr marL="0" indent="0">
              <a:buNone/>
            </a:pPr>
            <a:r>
              <a:rPr lang="en-US" sz="800" b="1" dirty="0">
                <a:solidFill>
                  <a:srgbClr val="0F2E42"/>
                </a:solidFill>
                <a:latin typeface="Calibri" pitchFamily="34" charset="0"/>
                <a:ea typeface="Calibri" pitchFamily="34" charset="-122"/>
                <a:cs typeface="Calibri" pitchFamily="34" charset="-120"/>
              </a:rPr>
              <a:t>Estado</a:t>
            </a:r>
            <a:endParaRPr lang="en-US" sz="800" dirty="0"/>
          </a:p>
        </p:txBody>
      </p:sp>
      <p:sp>
        <p:nvSpPr>
          <p:cNvPr id="44" name="Shape 40"/>
          <p:cNvSpPr/>
          <p:nvPr/>
        </p:nvSpPr>
        <p:spPr>
          <a:xfrm>
            <a:off x="2240280" y="2971800"/>
            <a:ext cx="5577840" cy="274320"/>
          </a:xfrm>
          <a:prstGeom prst="rect">
            <a:avLst/>
          </a:prstGeom>
          <a:solidFill>
            <a:srgbClr val="FFFFFF"/>
          </a:solidFill>
          <a:ln w="9525">
            <a:solidFill>
              <a:srgbClr val="D8E2E9"/>
            </a:solidFill>
            <a:prstDash val="solid"/>
          </a:ln>
        </p:spPr>
        <p:txBody>
          <a:bodyPr/>
          <a:lstStyle/>
          <a:p>
            <a:endParaRPr lang="es-CL"/>
          </a:p>
        </p:txBody>
      </p:sp>
      <p:sp>
        <p:nvSpPr>
          <p:cNvPr id="45" name="Text 41"/>
          <p:cNvSpPr/>
          <p:nvPr/>
        </p:nvSpPr>
        <p:spPr>
          <a:xfrm>
            <a:off x="2313432" y="2971800"/>
            <a:ext cx="82296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PD-1042</a:t>
            </a:r>
            <a:endParaRPr lang="en-US" sz="800" dirty="0"/>
          </a:p>
        </p:txBody>
      </p:sp>
      <p:sp>
        <p:nvSpPr>
          <p:cNvPr id="46" name="Text 42"/>
          <p:cNvSpPr/>
          <p:nvPr/>
        </p:nvSpPr>
        <p:spPr>
          <a:xfrm>
            <a:off x="3227832" y="2971800"/>
            <a:ext cx="137160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Comercial Andes</a:t>
            </a:r>
            <a:endParaRPr lang="en-US" sz="800" dirty="0"/>
          </a:p>
        </p:txBody>
      </p:sp>
      <p:sp>
        <p:nvSpPr>
          <p:cNvPr id="47" name="Text 43"/>
          <p:cNvSpPr/>
          <p:nvPr/>
        </p:nvSpPr>
        <p:spPr>
          <a:xfrm>
            <a:off x="4690872" y="2971800"/>
            <a:ext cx="100584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JKLM-45</a:t>
            </a:r>
            <a:endParaRPr lang="en-US" sz="800" dirty="0"/>
          </a:p>
        </p:txBody>
      </p:sp>
      <p:sp>
        <p:nvSpPr>
          <p:cNvPr id="48" name="Text 44"/>
          <p:cNvSpPr/>
          <p:nvPr/>
        </p:nvSpPr>
        <p:spPr>
          <a:xfrm>
            <a:off x="5788152" y="2971800"/>
            <a:ext cx="109728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R. Soto</a:t>
            </a:r>
            <a:endParaRPr lang="en-US" sz="800" dirty="0"/>
          </a:p>
        </p:txBody>
      </p:sp>
      <p:sp>
        <p:nvSpPr>
          <p:cNvPr id="49" name="Shape 45"/>
          <p:cNvSpPr/>
          <p:nvPr/>
        </p:nvSpPr>
        <p:spPr>
          <a:xfrm>
            <a:off x="6976872" y="3026664"/>
            <a:ext cx="731520" cy="164592"/>
          </a:xfrm>
          <a:prstGeom prst="roundRect">
            <a:avLst>
              <a:gd name="adj" fmla="val 50000"/>
            </a:avLst>
          </a:prstGeom>
          <a:solidFill>
            <a:srgbClr val="DFF3EC"/>
          </a:solidFill>
          <a:ln w="12700">
            <a:solidFill>
              <a:srgbClr val="DFF3EC"/>
            </a:solidFill>
            <a:prstDash val="solid"/>
          </a:ln>
        </p:spPr>
        <p:txBody>
          <a:bodyPr/>
          <a:lstStyle/>
          <a:p>
            <a:endParaRPr lang="es-CL"/>
          </a:p>
        </p:txBody>
      </p:sp>
      <p:sp>
        <p:nvSpPr>
          <p:cNvPr id="50" name="Text 46"/>
          <p:cNvSpPr/>
          <p:nvPr/>
        </p:nvSpPr>
        <p:spPr>
          <a:xfrm>
            <a:off x="6976872" y="3026664"/>
            <a:ext cx="731520" cy="164592"/>
          </a:xfrm>
          <a:prstGeom prst="rect">
            <a:avLst/>
          </a:prstGeom>
          <a:noFill/>
          <a:ln/>
        </p:spPr>
        <p:txBody>
          <a:bodyPr wrap="square" lIns="0" tIns="0" rIns="0" bIns="0" rtlCol="0" anchor="ctr"/>
          <a:lstStyle/>
          <a:p>
            <a:pPr marL="0" indent="0" algn="ctr">
              <a:buNone/>
            </a:pPr>
            <a:r>
              <a:rPr lang="en-US" sz="700" b="1" dirty="0">
                <a:solidFill>
                  <a:srgbClr val="0E6B5E"/>
                </a:solidFill>
                <a:latin typeface="Calibri" pitchFamily="34" charset="0"/>
                <a:ea typeface="Calibri" pitchFamily="34" charset="-122"/>
                <a:cs typeface="Calibri" pitchFamily="34" charset="-120"/>
              </a:rPr>
              <a:t>Entregado</a:t>
            </a:r>
            <a:endParaRPr lang="en-US" sz="700" dirty="0"/>
          </a:p>
        </p:txBody>
      </p:sp>
      <p:sp>
        <p:nvSpPr>
          <p:cNvPr id="51" name="Shape 47"/>
          <p:cNvSpPr/>
          <p:nvPr/>
        </p:nvSpPr>
        <p:spPr>
          <a:xfrm>
            <a:off x="2240280" y="3246120"/>
            <a:ext cx="5577840" cy="274320"/>
          </a:xfrm>
          <a:prstGeom prst="rect">
            <a:avLst/>
          </a:prstGeom>
          <a:solidFill>
            <a:srgbClr val="FFFFFF"/>
          </a:solidFill>
          <a:ln w="9525">
            <a:solidFill>
              <a:srgbClr val="D8E2E9"/>
            </a:solidFill>
            <a:prstDash val="solid"/>
          </a:ln>
        </p:spPr>
        <p:txBody>
          <a:bodyPr/>
          <a:lstStyle/>
          <a:p>
            <a:endParaRPr lang="es-CL"/>
          </a:p>
        </p:txBody>
      </p:sp>
      <p:sp>
        <p:nvSpPr>
          <p:cNvPr id="52" name="Text 48"/>
          <p:cNvSpPr/>
          <p:nvPr/>
        </p:nvSpPr>
        <p:spPr>
          <a:xfrm>
            <a:off x="2313432" y="3246120"/>
            <a:ext cx="82296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PD-1043</a:t>
            </a:r>
            <a:endParaRPr lang="en-US" sz="800" dirty="0"/>
          </a:p>
        </p:txBody>
      </p:sp>
      <p:sp>
        <p:nvSpPr>
          <p:cNvPr id="53" name="Text 49"/>
          <p:cNvSpPr/>
          <p:nvPr/>
        </p:nvSpPr>
        <p:spPr>
          <a:xfrm>
            <a:off x="3227832" y="3246120"/>
            <a:ext cx="137160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Distribuidora Sur</a:t>
            </a:r>
            <a:endParaRPr lang="en-US" sz="800" dirty="0"/>
          </a:p>
        </p:txBody>
      </p:sp>
      <p:sp>
        <p:nvSpPr>
          <p:cNvPr id="54" name="Text 50"/>
          <p:cNvSpPr/>
          <p:nvPr/>
        </p:nvSpPr>
        <p:spPr>
          <a:xfrm>
            <a:off x="4690872" y="3246120"/>
            <a:ext cx="100584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BCDF-12</a:t>
            </a:r>
            <a:endParaRPr lang="en-US" sz="800" dirty="0"/>
          </a:p>
        </p:txBody>
      </p:sp>
      <p:sp>
        <p:nvSpPr>
          <p:cNvPr id="55" name="Text 51"/>
          <p:cNvSpPr/>
          <p:nvPr/>
        </p:nvSpPr>
        <p:spPr>
          <a:xfrm>
            <a:off x="5788152" y="3246120"/>
            <a:ext cx="109728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M. Rojas</a:t>
            </a:r>
            <a:endParaRPr lang="en-US" sz="800" dirty="0"/>
          </a:p>
        </p:txBody>
      </p:sp>
      <p:sp>
        <p:nvSpPr>
          <p:cNvPr id="56" name="Shape 52"/>
          <p:cNvSpPr/>
          <p:nvPr/>
        </p:nvSpPr>
        <p:spPr>
          <a:xfrm>
            <a:off x="6976872" y="3300984"/>
            <a:ext cx="731520" cy="164592"/>
          </a:xfrm>
          <a:prstGeom prst="roundRect">
            <a:avLst>
              <a:gd name="adj" fmla="val 50000"/>
            </a:avLst>
          </a:prstGeom>
          <a:solidFill>
            <a:srgbClr val="DCEBF6"/>
          </a:solidFill>
          <a:ln w="12700">
            <a:solidFill>
              <a:srgbClr val="DCEBF6"/>
            </a:solidFill>
            <a:prstDash val="solid"/>
          </a:ln>
        </p:spPr>
        <p:txBody>
          <a:bodyPr/>
          <a:lstStyle/>
          <a:p>
            <a:endParaRPr lang="es-CL"/>
          </a:p>
        </p:txBody>
      </p:sp>
      <p:sp>
        <p:nvSpPr>
          <p:cNvPr id="57" name="Text 53"/>
          <p:cNvSpPr/>
          <p:nvPr/>
        </p:nvSpPr>
        <p:spPr>
          <a:xfrm>
            <a:off x="6976872" y="3300984"/>
            <a:ext cx="731520" cy="164592"/>
          </a:xfrm>
          <a:prstGeom prst="rect">
            <a:avLst/>
          </a:prstGeom>
          <a:noFill/>
          <a:ln/>
        </p:spPr>
        <p:txBody>
          <a:bodyPr wrap="square" lIns="0" tIns="0" rIns="0" bIns="0" rtlCol="0" anchor="ctr"/>
          <a:lstStyle/>
          <a:p>
            <a:pPr marL="0" indent="0" algn="ctr">
              <a:buNone/>
            </a:pPr>
            <a:r>
              <a:rPr lang="en-US" sz="700" b="1" dirty="0">
                <a:solidFill>
                  <a:srgbClr val="1B5B87"/>
                </a:solidFill>
                <a:latin typeface="Calibri" pitchFamily="34" charset="0"/>
                <a:ea typeface="Calibri" pitchFamily="34" charset="-122"/>
                <a:cs typeface="Calibri" pitchFamily="34" charset="-120"/>
              </a:rPr>
              <a:t>En ruta</a:t>
            </a:r>
            <a:endParaRPr lang="en-US" sz="700" dirty="0"/>
          </a:p>
        </p:txBody>
      </p:sp>
      <p:sp>
        <p:nvSpPr>
          <p:cNvPr id="58" name="Shape 54"/>
          <p:cNvSpPr/>
          <p:nvPr/>
        </p:nvSpPr>
        <p:spPr>
          <a:xfrm>
            <a:off x="2240280" y="3520440"/>
            <a:ext cx="5577840" cy="274320"/>
          </a:xfrm>
          <a:prstGeom prst="rect">
            <a:avLst/>
          </a:prstGeom>
          <a:solidFill>
            <a:srgbClr val="FFFFFF"/>
          </a:solidFill>
          <a:ln w="9525">
            <a:solidFill>
              <a:srgbClr val="D8E2E9"/>
            </a:solidFill>
            <a:prstDash val="solid"/>
          </a:ln>
        </p:spPr>
        <p:txBody>
          <a:bodyPr/>
          <a:lstStyle/>
          <a:p>
            <a:endParaRPr lang="es-CL"/>
          </a:p>
        </p:txBody>
      </p:sp>
      <p:sp>
        <p:nvSpPr>
          <p:cNvPr id="59" name="Text 55"/>
          <p:cNvSpPr/>
          <p:nvPr/>
        </p:nvSpPr>
        <p:spPr>
          <a:xfrm>
            <a:off x="2313432" y="3520440"/>
            <a:ext cx="82296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PD-1044</a:t>
            </a:r>
            <a:endParaRPr lang="en-US" sz="800" dirty="0"/>
          </a:p>
        </p:txBody>
      </p:sp>
      <p:sp>
        <p:nvSpPr>
          <p:cNvPr id="60" name="Text 56"/>
          <p:cNvSpPr/>
          <p:nvPr/>
        </p:nvSpPr>
        <p:spPr>
          <a:xfrm>
            <a:off x="3227832" y="3520440"/>
            <a:ext cx="137160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Áridos Maipo</a:t>
            </a:r>
            <a:endParaRPr lang="en-US" sz="800" dirty="0"/>
          </a:p>
        </p:txBody>
      </p:sp>
      <p:sp>
        <p:nvSpPr>
          <p:cNvPr id="61" name="Text 57"/>
          <p:cNvSpPr/>
          <p:nvPr/>
        </p:nvSpPr>
        <p:spPr>
          <a:xfrm>
            <a:off x="4690872" y="3520440"/>
            <a:ext cx="100584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GHTR-88</a:t>
            </a:r>
            <a:endParaRPr lang="en-US" sz="800" dirty="0"/>
          </a:p>
        </p:txBody>
      </p:sp>
      <p:sp>
        <p:nvSpPr>
          <p:cNvPr id="62" name="Text 58"/>
          <p:cNvSpPr/>
          <p:nvPr/>
        </p:nvSpPr>
        <p:spPr>
          <a:xfrm>
            <a:off x="5788152" y="3520440"/>
            <a:ext cx="109728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P. Núñez</a:t>
            </a:r>
            <a:endParaRPr lang="en-US" sz="800" dirty="0"/>
          </a:p>
        </p:txBody>
      </p:sp>
      <p:sp>
        <p:nvSpPr>
          <p:cNvPr id="63" name="Shape 59"/>
          <p:cNvSpPr/>
          <p:nvPr/>
        </p:nvSpPr>
        <p:spPr>
          <a:xfrm>
            <a:off x="6976872" y="3575304"/>
            <a:ext cx="731520" cy="164592"/>
          </a:xfrm>
          <a:prstGeom prst="roundRect">
            <a:avLst>
              <a:gd name="adj" fmla="val 50000"/>
            </a:avLst>
          </a:prstGeom>
          <a:solidFill>
            <a:srgbClr val="DCEBF6"/>
          </a:solidFill>
          <a:ln w="12700">
            <a:solidFill>
              <a:srgbClr val="DCEBF6"/>
            </a:solidFill>
            <a:prstDash val="solid"/>
          </a:ln>
        </p:spPr>
        <p:txBody>
          <a:bodyPr/>
          <a:lstStyle/>
          <a:p>
            <a:endParaRPr lang="es-CL"/>
          </a:p>
        </p:txBody>
      </p:sp>
      <p:sp>
        <p:nvSpPr>
          <p:cNvPr id="64" name="Text 60"/>
          <p:cNvSpPr/>
          <p:nvPr/>
        </p:nvSpPr>
        <p:spPr>
          <a:xfrm>
            <a:off x="6976872" y="3575304"/>
            <a:ext cx="731520" cy="164592"/>
          </a:xfrm>
          <a:prstGeom prst="rect">
            <a:avLst/>
          </a:prstGeom>
          <a:noFill/>
          <a:ln/>
        </p:spPr>
        <p:txBody>
          <a:bodyPr wrap="square" lIns="0" tIns="0" rIns="0" bIns="0" rtlCol="0" anchor="ctr"/>
          <a:lstStyle/>
          <a:p>
            <a:pPr marL="0" indent="0" algn="ctr">
              <a:buNone/>
            </a:pPr>
            <a:r>
              <a:rPr lang="en-US" sz="700" b="1" dirty="0">
                <a:solidFill>
                  <a:srgbClr val="1B5B87"/>
                </a:solidFill>
                <a:latin typeface="Calibri" pitchFamily="34" charset="0"/>
                <a:ea typeface="Calibri" pitchFamily="34" charset="-122"/>
                <a:cs typeface="Calibri" pitchFamily="34" charset="-120"/>
              </a:rPr>
              <a:t>En ruta</a:t>
            </a:r>
            <a:endParaRPr lang="en-US" sz="700" dirty="0"/>
          </a:p>
        </p:txBody>
      </p:sp>
      <p:sp>
        <p:nvSpPr>
          <p:cNvPr id="65" name="Shape 61"/>
          <p:cNvSpPr/>
          <p:nvPr/>
        </p:nvSpPr>
        <p:spPr>
          <a:xfrm>
            <a:off x="2240280" y="3794760"/>
            <a:ext cx="5577840" cy="274320"/>
          </a:xfrm>
          <a:prstGeom prst="rect">
            <a:avLst/>
          </a:prstGeom>
          <a:solidFill>
            <a:srgbClr val="FFFFFF"/>
          </a:solidFill>
          <a:ln w="9525">
            <a:solidFill>
              <a:srgbClr val="D8E2E9"/>
            </a:solidFill>
            <a:prstDash val="solid"/>
          </a:ln>
        </p:spPr>
        <p:txBody>
          <a:bodyPr/>
          <a:lstStyle/>
          <a:p>
            <a:endParaRPr lang="es-CL"/>
          </a:p>
        </p:txBody>
      </p:sp>
      <p:sp>
        <p:nvSpPr>
          <p:cNvPr id="66" name="Text 62"/>
          <p:cNvSpPr/>
          <p:nvPr/>
        </p:nvSpPr>
        <p:spPr>
          <a:xfrm>
            <a:off x="2313432" y="3794760"/>
            <a:ext cx="82296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PD-1045</a:t>
            </a:r>
            <a:endParaRPr lang="en-US" sz="800" dirty="0"/>
          </a:p>
        </p:txBody>
      </p:sp>
      <p:sp>
        <p:nvSpPr>
          <p:cNvPr id="67" name="Text 63"/>
          <p:cNvSpPr/>
          <p:nvPr/>
        </p:nvSpPr>
        <p:spPr>
          <a:xfrm>
            <a:off x="3227832" y="3794760"/>
            <a:ext cx="137160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Agrícola Vásquez</a:t>
            </a:r>
            <a:endParaRPr lang="en-US" sz="800" dirty="0"/>
          </a:p>
        </p:txBody>
      </p:sp>
      <p:sp>
        <p:nvSpPr>
          <p:cNvPr id="68" name="Text 64"/>
          <p:cNvSpPr/>
          <p:nvPr/>
        </p:nvSpPr>
        <p:spPr>
          <a:xfrm>
            <a:off x="4690872" y="3794760"/>
            <a:ext cx="100584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Sin asignar</a:t>
            </a:r>
            <a:endParaRPr lang="en-US" sz="800" dirty="0"/>
          </a:p>
        </p:txBody>
      </p:sp>
      <p:sp>
        <p:nvSpPr>
          <p:cNvPr id="69" name="Text 65"/>
          <p:cNvSpPr/>
          <p:nvPr/>
        </p:nvSpPr>
        <p:spPr>
          <a:xfrm>
            <a:off x="5788152" y="3794760"/>
            <a:ext cx="109728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Sin asignar</a:t>
            </a:r>
            <a:endParaRPr lang="en-US" sz="800" dirty="0"/>
          </a:p>
        </p:txBody>
      </p:sp>
      <p:sp>
        <p:nvSpPr>
          <p:cNvPr id="70" name="Shape 66"/>
          <p:cNvSpPr/>
          <p:nvPr/>
        </p:nvSpPr>
        <p:spPr>
          <a:xfrm>
            <a:off x="6976872" y="3849624"/>
            <a:ext cx="731520" cy="164592"/>
          </a:xfrm>
          <a:prstGeom prst="roundRect">
            <a:avLst>
              <a:gd name="adj" fmla="val 50000"/>
            </a:avLst>
          </a:prstGeom>
          <a:solidFill>
            <a:srgbClr val="FBEFD6"/>
          </a:solidFill>
          <a:ln w="12700">
            <a:solidFill>
              <a:srgbClr val="FBEFD6"/>
            </a:solidFill>
            <a:prstDash val="solid"/>
          </a:ln>
        </p:spPr>
        <p:txBody>
          <a:bodyPr/>
          <a:lstStyle/>
          <a:p>
            <a:endParaRPr lang="es-CL"/>
          </a:p>
        </p:txBody>
      </p:sp>
      <p:sp>
        <p:nvSpPr>
          <p:cNvPr id="71" name="Text 67"/>
          <p:cNvSpPr/>
          <p:nvPr/>
        </p:nvSpPr>
        <p:spPr>
          <a:xfrm>
            <a:off x="6976872" y="3849624"/>
            <a:ext cx="731520" cy="164592"/>
          </a:xfrm>
          <a:prstGeom prst="rect">
            <a:avLst/>
          </a:prstGeom>
          <a:noFill/>
          <a:ln/>
        </p:spPr>
        <p:txBody>
          <a:bodyPr wrap="square" lIns="0" tIns="0" rIns="0" bIns="0" rtlCol="0" anchor="ctr"/>
          <a:lstStyle/>
          <a:p>
            <a:pPr marL="0" indent="0" algn="ctr">
              <a:buNone/>
            </a:pPr>
            <a:r>
              <a:rPr lang="en-US" sz="700" b="1" dirty="0">
                <a:solidFill>
                  <a:srgbClr val="8A5D0B"/>
                </a:solidFill>
                <a:latin typeface="Calibri" pitchFamily="34" charset="0"/>
                <a:ea typeface="Calibri" pitchFamily="34" charset="-122"/>
                <a:cs typeface="Calibri" pitchFamily="34" charset="-120"/>
              </a:rPr>
              <a:t>Pendiente</a:t>
            </a:r>
            <a:endParaRPr lang="en-US" sz="700" dirty="0"/>
          </a:p>
        </p:txBody>
      </p:sp>
      <p:sp>
        <p:nvSpPr>
          <p:cNvPr id="72" name="Shape 68"/>
          <p:cNvSpPr/>
          <p:nvPr/>
        </p:nvSpPr>
        <p:spPr>
          <a:xfrm>
            <a:off x="2240280" y="4069080"/>
            <a:ext cx="5577840" cy="274320"/>
          </a:xfrm>
          <a:prstGeom prst="rect">
            <a:avLst/>
          </a:prstGeom>
          <a:solidFill>
            <a:srgbClr val="FFFFFF"/>
          </a:solidFill>
          <a:ln w="9525">
            <a:solidFill>
              <a:srgbClr val="D8E2E9"/>
            </a:solidFill>
            <a:prstDash val="solid"/>
          </a:ln>
        </p:spPr>
        <p:txBody>
          <a:bodyPr/>
          <a:lstStyle/>
          <a:p>
            <a:endParaRPr lang="es-CL"/>
          </a:p>
        </p:txBody>
      </p:sp>
      <p:sp>
        <p:nvSpPr>
          <p:cNvPr id="73" name="Text 69"/>
          <p:cNvSpPr/>
          <p:nvPr/>
        </p:nvSpPr>
        <p:spPr>
          <a:xfrm>
            <a:off x="2313432" y="4069080"/>
            <a:ext cx="82296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PD-1046</a:t>
            </a:r>
            <a:endParaRPr lang="en-US" sz="800" dirty="0"/>
          </a:p>
        </p:txBody>
      </p:sp>
      <p:sp>
        <p:nvSpPr>
          <p:cNvPr id="74" name="Text 70"/>
          <p:cNvSpPr/>
          <p:nvPr/>
        </p:nvSpPr>
        <p:spPr>
          <a:xfrm>
            <a:off x="3227832" y="4069080"/>
            <a:ext cx="137160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Ferretería Norte</a:t>
            </a:r>
            <a:endParaRPr lang="en-US" sz="800" dirty="0"/>
          </a:p>
        </p:txBody>
      </p:sp>
      <p:sp>
        <p:nvSpPr>
          <p:cNvPr id="75" name="Text 71"/>
          <p:cNvSpPr/>
          <p:nvPr/>
        </p:nvSpPr>
        <p:spPr>
          <a:xfrm>
            <a:off x="4690872" y="4069080"/>
            <a:ext cx="100584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Sin asignar</a:t>
            </a:r>
            <a:endParaRPr lang="en-US" sz="800" dirty="0"/>
          </a:p>
        </p:txBody>
      </p:sp>
      <p:sp>
        <p:nvSpPr>
          <p:cNvPr id="76" name="Text 72"/>
          <p:cNvSpPr/>
          <p:nvPr/>
        </p:nvSpPr>
        <p:spPr>
          <a:xfrm>
            <a:off x="5788152" y="4069080"/>
            <a:ext cx="109728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Sin asignar</a:t>
            </a:r>
            <a:endParaRPr lang="en-US" sz="800" dirty="0"/>
          </a:p>
        </p:txBody>
      </p:sp>
      <p:sp>
        <p:nvSpPr>
          <p:cNvPr id="77" name="Shape 73"/>
          <p:cNvSpPr/>
          <p:nvPr/>
        </p:nvSpPr>
        <p:spPr>
          <a:xfrm>
            <a:off x="6976872" y="4123944"/>
            <a:ext cx="731520" cy="164592"/>
          </a:xfrm>
          <a:prstGeom prst="roundRect">
            <a:avLst>
              <a:gd name="adj" fmla="val 50000"/>
            </a:avLst>
          </a:prstGeom>
          <a:solidFill>
            <a:srgbClr val="FBEFD6"/>
          </a:solidFill>
          <a:ln w="12700">
            <a:solidFill>
              <a:srgbClr val="FBEFD6"/>
            </a:solidFill>
            <a:prstDash val="solid"/>
          </a:ln>
        </p:spPr>
        <p:txBody>
          <a:bodyPr/>
          <a:lstStyle/>
          <a:p>
            <a:endParaRPr lang="es-CL"/>
          </a:p>
        </p:txBody>
      </p:sp>
      <p:sp>
        <p:nvSpPr>
          <p:cNvPr id="78" name="Text 74"/>
          <p:cNvSpPr/>
          <p:nvPr/>
        </p:nvSpPr>
        <p:spPr>
          <a:xfrm>
            <a:off x="6976872" y="4123944"/>
            <a:ext cx="731520" cy="164592"/>
          </a:xfrm>
          <a:prstGeom prst="rect">
            <a:avLst/>
          </a:prstGeom>
          <a:noFill/>
          <a:ln/>
        </p:spPr>
        <p:txBody>
          <a:bodyPr wrap="square" lIns="0" tIns="0" rIns="0" bIns="0" rtlCol="0" anchor="ctr"/>
          <a:lstStyle/>
          <a:p>
            <a:pPr marL="0" indent="0" algn="ctr">
              <a:buNone/>
            </a:pPr>
            <a:r>
              <a:rPr lang="en-US" sz="700" b="1" dirty="0">
                <a:solidFill>
                  <a:srgbClr val="8A5D0B"/>
                </a:solidFill>
                <a:latin typeface="Calibri" pitchFamily="34" charset="0"/>
                <a:ea typeface="Calibri" pitchFamily="34" charset="-122"/>
                <a:cs typeface="Calibri" pitchFamily="34" charset="-120"/>
              </a:rPr>
              <a:t>Pendiente</a:t>
            </a:r>
            <a:endParaRPr lang="en-US" sz="700" dirty="0"/>
          </a:p>
        </p:txBody>
      </p:sp>
      <p:sp>
        <p:nvSpPr>
          <p:cNvPr id="79" name="Shape 75"/>
          <p:cNvSpPr/>
          <p:nvPr/>
        </p:nvSpPr>
        <p:spPr>
          <a:xfrm>
            <a:off x="2240280" y="4343400"/>
            <a:ext cx="5577840" cy="274320"/>
          </a:xfrm>
          <a:prstGeom prst="rect">
            <a:avLst/>
          </a:prstGeom>
          <a:solidFill>
            <a:srgbClr val="FFFFFF"/>
          </a:solidFill>
          <a:ln w="9525">
            <a:solidFill>
              <a:srgbClr val="D8E2E9"/>
            </a:solidFill>
            <a:prstDash val="solid"/>
          </a:ln>
        </p:spPr>
        <p:txBody>
          <a:bodyPr/>
          <a:lstStyle/>
          <a:p>
            <a:endParaRPr lang="es-CL"/>
          </a:p>
        </p:txBody>
      </p:sp>
      <p:sp>
        <p:nvSpPr>
          <p:cNvPr id="80" name="Text 76"/>
          <p:cNvSpPr/>
          <p:nvPr/>
        </p:nvSpPr>
        <p:spPr>
          <a:xfrm>
            <a:off x="2313432" y="4343400"/>
            <a:ext cx="82296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PD-1047</a:t>
            </a:r>
            <a:endParaRPr lang="en-US" sz="800" dirty="0"/>
          </a:p>
        </p:txBody>
      </p:sp>
      <p:sp>
        <p:nvSpPr>
          <p:cNvPr id="81" name="Text 77"/>
          <p:cNvSpPr/>
          <p:nvPr/>
        </p:nvSpPr>
        <p:spPr>
          <a:xfrm>
            <a:off x="3227832" y="4343400"/>
            <a:ext cx="137160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Const. El Roble</a:t>
            </a:r>
            <a:endParaRPr lang="en-US" sz="800" dirty="0"/>
          </a:p>
        </p:txBody>
      </p:sp>
      <p:sp>
        <p:nvSpPr>
          <p:cNvPr id="82" name="Text 78"/>
          <p:cNvSpPr/>
          <p:nvPr/>
        </p:nvSpPr>
        <p:spPr>
          <a:xfrm>
            <a:off x="4690872" y="4343400"/>
            <a:ext cx="100584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KLMN-33</a:t>
            </a:r>
            <a:endParaRPr lang="en-US" sz="800" dirty="0"/>
          </a:p>
        </p:txBody>
      </p:sp>
      <p:sp>
        <p:nvSpPr>
          <p:cNvPr id="83" name="Text 79"/>
          <p:cNvSpPr/>
          <p:nvPr/>
        </p:nvSpPr>
        <p:spPr>
          <a:xfrm>
            <a:off x="5788152" y="4343400"/>
            <a:ext cx="109728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J. Díaz</a:t>
            </a:r>
            <a:endParaRPr lang="en-US" sz="800" dirty="0"/>
          </a:p>
        </p:txBody>
      </p:sp>
      <p:sp>
        <p:nvSpPr>
          <p:cNvPr id="84" name="Shape 80"/>
          <p:cNvSpPr/>
          <p:nvPr/>
        </p:nvSpPr>
        <p:spPr>
          <a:xfrm>
            <a:off x="6976872" y="4398264"/>
            <a:ext cx="731520" cy="164592"/>
          </a:xfrm>
          <a:prstGeom prst="roundRect">
            <a:avLst>
              <a:gd name="adj" fmla="val 50000"/>
            </a:avLst>
          </a:prstGeom>
          <a:solidFill>
            <a:srgbClr val="DFF3EC"/>
          </a:solidFill>
          <a:ln w="12700">
            <a:solidFill>
              <a:srgbClr val="DFF3EC"/>
            </a:solidFill>
            <a:prstDash val="solid"/>
          </a:ln>
        </p:spPr>
        <p:txBody>
          <a:bodyPr/>
          <a:lstStyle/>
          <a:p>
            <a:endParaRPr lang="es-CL"/>
          </a:p>
        </p:txBody>
      </p:sp>
      <p:sp>
        <p:nvSpPr>
          <p:cNvPr id="85" name="Text 81"/>
          <p:cNvSpPr/>
          <p:nvPr/>
        </p:nvSpPr>
        <p:spPr>
          <a:xfrm>
            <a:off x="6976872" y="4398264"/>
            <a:ext cx="731520" cy="164592"/>
          </a:xfrm>
          <a:prstGeom prst="rect">
            <a:avLst/>
          </a:prstGeom>
          <a:noFill/>
          <a:ln/>
        </p:spPr>
        <p:txBody>
          <a:bodyPr wrap="square" lIns="0" tIns="0" rIns="0" bIns="0" rtlCol="0" anchor="ctr"/>
          <a:lstStyle/>
          <a:p>
            <a:pPr marL="0" indent="0" algn="ctr">
              <a:buNone/>
            </a:pPr>
            <a:r>
              <a:rPr lang="en-US" sz="700" b="1" dirty="0">
                <a:solidFill>
                  <a:srgbClr val="0E6B5E"/>
                </a:solidFill>
                <a:latin typeface="Calibri" pitchFamily="34" charset="0"/>
                <a:ea typeface="Calibri" pitchFamily="34" charset="-122"/>
                <a:cs typeface="Calibri" pitchFamily="34" charset="-120"/>
              </a:rPr>
              <a:t>Entregado</a:t>
            </a:r>
            <a:endParaRPr lang="en-US" sz="700" dirty="0"/>
          </a:p>
        </p:txBody>
      </p:sp>
      <p:sp>
        <p:nvSpPr>
          <p:cNvPr id="86" name="Shape 82"/>
          <p:cNvSpPr/>
          <p:nvPr/>
        </p:nvSpPr>
        <p:spPr>
          <a:xfrm>
            <a:off x="2240280" y="4617720"/>
            <a:ext cx="5577840" cy="274320"/>
          </a:xfrm>
          <a:prstGeom prst="rect">
            <a:avLst/>
          </a:prstGeom>
          <a:solidFill>
            <a:srgbClr val="FFFFFF"/>
          </a:solidFill>
          <a:ln w="9525">
            <a:solidFill>
              <a:srgbClr val="D8E2E9"/>
            </a:solidFill>
            <a:prstDash val="solid"/>
          </a:ln>
        </p:spPr>
        <p:txBody>
          <a:bodyPr/>
          <a:lstStyle/>
          <a:p>
            <a:endParaRPr lang="es-CL"/>
          </a:p>
        </p:txBody>
      </p:sp>
      <p:sp>
        <p:nvSpPr>
          <p:cNvPr id="87" name="Text 83"/>
          <p:cNvSpPr/>
          <p:nvPr/>
        </p:nvSpPr>
        <p:spPr>
          <a:xfrm>
            <a:off x="2313432" y="4617720"/>
            <a:ext cx="82296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PD-1048</a:t>
            </a:r>
            <a:endParaRPr lang="en-US" sz="800" dirty="0"/>
          </a:p>
        </p:txBody>
      </p:sp>
      <p:sp>
        <p:nvSpPr>
          <p:cNvPr id="88" name="Text 84"/>
          <p:cNvSpPr/>
          <p:nvPr/>
        </p:nvSpPr>
        <p:spPr>
          <a:xfrm>
            <a:off x="3227832" y="4617720"/>
            <a:ext cx="137160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Vidrios Centro</a:t>
            </a:r>
            <a:endParaRPr lang="en-US" sz="800" dirty="0"/>
          </a:p>
        </p:txBody>
      </p:sp>
      <p:sp>
        <p:nvSpPr>
          <p:cNvPr id="89" name="Text 85"/>
          <p:cNvSpPr/>
          <p:nvPr/>
        </p:nvSpPr>
        <p:spPr>
          <a:xfrm>
            <a:off x="4690872" y="4617720"/>
            <a:ext cx="100584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PQRS-70</a:t>
            </a:r>
            <a:endParaRPr lang="en-US" sz="800" dirty="0"/>
          </a:p>
        </p:txBody>
      </p:sp>
      <p:sp>
        <p:nvSpPr>
          <p:cNvPr id="90" name="Text 86"/>
          <p:cNvSpPr/>
          <p:nvPr/>
        </p:nvSpPr>
        <p:spPr>
          <a:xfrm>
            <a:off x="5788152" y="4617720"/>
            <a:ext cx="109728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L. Vera</a:t>
            </a:r>
            <a:endParaRPr lang="en-US" sz="800" dirty="0"/>
          </a:p>
        </p:txBody>
      </p:sp>
      <p:sp>
        <p:nvSpPr>
          <p:cNvPr id="91" name="Shape 87"/>
          <p:cNvSpPr/>
          <p:nvPr/>
        </p:nvSpPr>
        <p:spPr>
          <a:xfrm>
            <a:off x="6976872" y="4672584"/>
            <a:ext cx="731520" cy="164592"/>
          </a:xfrm>
          <a:prstGeom prst="roundRect">
            <a:avLst>
              <a:gd name="adj" fmla="val 50000"/>
            </a:avLst>
          </a:prstGeom>
          <a:solidFill>
            <a:srgbClr val="DCEBF6"/>
          </a:solidFill>
          <a:ln w="12700">
            <a:solidFill>
              <a:srgbClr val="DCEBF6"/>
            </a:solidFill>
            <a:prstDash val="solid"/>
          </a:ln>
        </p:spPr>
        <p:txBody>
          <a:bodyPr/>
          <a:lstStyle/>
          <a:p>
            <a:endParaRPr lang="es-CL"/>
          </a:p>
        </p:txBody>
      </p:sp>
      <p:sp>
        <p:nvSpPr>
          <p:cNvPr id="92" name="Text 88"/>
          <p:cNvSpPr/>
          <p:nvPr/>
        </p:nvSpPr>
        <p:spPr>
          <a:xfrm>
            <a:off x="6976872" y="4672584"/>
            <a:ext cx="731520" cy="164592"/>
          </a:xfrm>
          <a:prstGeom prst="rect">
            <a:avLst/>
          </a:prstGeom>
          <a:noFill/>
          <a:ln/>
        </p:spPr>
        <p:txBody>
          <a:bodyPr wrap="square" lIns="0" tIns="0" rIns="0" bIns="0" rtlCol="0" anchor="ctr"/>
          <a:lstStyle/>
          <a:p>
            <a:pPr marL="0" indent="0" algn="ctr">
              <a:buNone/>
            </a:pPr>
            <a:r>
              <a:rPr lang="en-US" sz="700" b="1" dirty="0">
                <a:solidFill>
                  <a:srgbClr val="1B5B87"/>
                </a:solidFill>
                <a:latin typeface="Calibri" pitchFamily="34" charset="0"/>
                <a:ea typeface="Calibri" pitchFamily="34" charset="-122"/>
                <a:cs typeface="Calibri" pitchFamily="34" charset="-120"/>
              </a:rPr>
              <a:t>En ruta</a:t>
            </a:r>
            <a:endParaRPr lang="en-US" sz="700" dirty="0"/>
          </a:p>
        </p:txBody>
      </p:sp>
      <p:sp>
        <p:nvSpPr>
          <p:cNvPr id="93" name="Shape 89"/>
          <p:cNvSpPr/>
          <p:nvPr/>
        </p:nvSpPr>
        <p:spPr>
          <a:xfrm>
            <a:off x="8549640" y="1508760"/>
            <a:ext cx="2971800" cy="4800600"/>
          </a:xfrm>
          <a:prstGeom prst="roundRect">
            <a:avLst>
              <a:gd name="adj" fmla="val 2462"/>
            </a:avLst>
          </a:prstGeom>
          <a:solidFill>
            <a:srgbClr val="F2F6F9"/>
          </a:solidFill>
          <a:ln w="12700">
            <a:solidFill>
              <a:srgbClr val="D8E2E9"/>
            </a:solidFill>
            <a:prstDash val="solid"/>
          </a:ln>
        </p:spPr>
        <p:txBody>
          <a:bodyPr/>
          <a:lstStyle/>
          <a:p>
            <a:endParaRPr lang="es-CL"/>
          </a:p>
        </p:txBody>
      </p:sp>
      <p:sp>
        <p:nvSpPr>
          <p:cNvPr id="94" name="Text 90"/>
          <p:cNvSpPr/>
          <p:nvPr/>
        </p:nvSpPr>
        <p:spPr>
          <a:xfrm>
            <a:off x="8778240" y="1737360"/>
            <a:ext cx="2560320" cy="274320"/>
          </a:xfrm>
          <a:prstGeom prst="rect">
            <a:avLst/>
          </a:prstGeom>
          <a:noFill/>
          <a:ln/>
        </p:spPr>
        <p:txBody>
          <a:bodyPr wrap="square" lIns="0" tIns="0" rIns="0" bIns="0" rtlCol="0" anchor="ctr"/>
          <a:lstStyle/>
          <a:p>
            <a:pPr marL="0" indent="0">
              <a:buNone/>
            </a:pPr>
            <a:r>
              <a:rPr lang="en-US" sz="1400" b="1" dirty="0">
                <a:solidFill>
                  <a:srgbClr val="0F2E42"/>
                </a:solidFill>
                <a:latin typeface="Calibri" pitchFamily="34" charset="0"/>
                <a:ea typeface="Calibri" pitchFamily="34" charset="-122"/>
                <a:cs typeface="Calibri" pitchFamily="34" charset="-120"/>
              </a:rPr>
              <a:t>Qué resuelve</a:t>
            </a:r>
            <a:endParaRPr lang="en-US" sz="1400" dirty="0"/>
          </a:p>
        </p:txBody>
      </p:sp>
      <p:sp>
        <p:nvSpPr>
          <p:cNvPr id="95" name="Shape 91"/>
          <p:cNvSpPr/>
          <p:nvPr/>
        </p:nvSpPr>
        <p:spPr>
          <a:xfrm>
            <a:off x="8778240" y="2185416"/>
            <a:ext cx="146304" cy="146304"/>
          </a:xfrm>
          <a:prstGeom prst="ellipse">
            <a:avLst/>
          </a:prstGeom>
          <a:solidFill>
            <a:srgbClr val="2E7FB8"/>
          </a:solidFill>
          <a:ln w="12700">
            <a:solidFill>
              <a:srgbClr val="2E7FB8"/>
            </a:solidFill>
            <a:prstDash val="solid"/>
          </a:ln>
        </p:spPr>
        <p:txBody>
          <a:bodyPr/>
          <a:lstStyle/>
          <a:p>
            <a:endParaRPr lang="es-CL"/>
          </a:p>
        </p:txBody>
      </p:sp>
      <p:sp>
        <p:nvSpPr>
          <p:cNvPr id="96" name="Text 92"/>
          <p:cNvSpPr/>
          <p:nvPr/>
        </p:nvSpPr>
        <p:spPr>
          <a:xfrm>
            <a:off x="9025128" y="2148840"/>
            <a:ext cx="2286000" cy="228600"/>
          </a:xfrm>
          <a:prstGeom prst="rect">
            <a:avLst/>
          </a:prstGeom>
          <a:noFill/>
          <a:ln/>
        </p:spPr>
        <p:txBody>
          <a:bodyPr wrap="square" lIns="0" tIns="0" rIns="0" bIns="0" rtlCol="0" anchor="ctr"/>
          <a:lstStyle/>
          <a:p>
            <a:pPr marL="0" indent="0">
              <a:buNone/>
            </a:pPr>
            <a:r>
              <a:rPr lang="en-US" sz="1150" b="1" dirty="0">
                <a:solidFill>
                  <a:srgbClr val="0F2E42"/>
                </a:solidFill>
                <a:latin typeface="Calibri" pitchFamily="34" charset="0"/>
                <a:ea typeface="Calibri" pitchFamily="34" charset="-122"/>
                <a:cs typeface="Calibri" pitchFamily="34" charset="-120"/>
              </a:rPr>
              <a:t>Una sola fuente de verdad</a:t>
            </a:r>
            <a:endParaRPr lang="en-US" sz="1150" dirty="0"/>
          </a:p>
        </p:txBody>
      </p:sp>
      <p:sp>
        <p:nvSpPr>
          <p:cNvPr id="97" name="Text 93"/>
          <p:cNvSpPr/>
          <p:nvPr/>
        </p:nvSpPr>
        <p:spPr>
          <a:xfrm>
            <a:off x="8778240" y="2423160"/>
            <a:ext cx="2560320" cy="640080"/>
          </a:xfrm>
          <a:prstGeom prst="rect">
            <a:avLst/>
          </a:prstGeom>
          <a:noFill/>
          <a:ln/>
        </p:spPr>
        <p:txBody>
          <a:bodyPr wrap="square" lIns="0" tIns="0" rIns="0" bIns="0" rtlCol="0" anchor="ctr"/>
          <a:lstStyle/>
          <a:p>
            <a:pPr marL="0" indent="0">
              <a:lnSpc>
                <a:spcPct val="110000"/>
              </a:lnSpc>
              <a:buNone/>
            </a:pPr>
            <a:r>
              <a:rPr lang="en-US" sz="1000" dirty="0">
                <a:solidFill>
                  <a:srgbClr val="5A6B78"/>
                </a:solidFill>
                <a:latin typeface="Calibri" pitchFamily="34" charset="0"/>
                <a:ea typeface="Calibri" pitchFamily="34" charset="-122"/>
                <a:cs typeface="Calibri" pitchFamily="34" charset="-120"/>
              </a:rPr>
              <a:t>Todo pedido queda registrado con cliente, destino, vehículo, conductor y estado.</a:t>
            </a:r>
            <a:endParaRPr lang="en-US" sz="1000" dirty="0"/>
          </a:p>
        </p:txBody>
      </p:sp>
      <p:sp>
        <p:nvSpPr>
          <p:cNvPr id="98" name="Shape 94"/>
          <p:cNvSpPr/>
          <p:nvPr/>
        </p:nvSpPr>
        <p:spPr>
          <a:xfrm>
            <a:off x="8778240" y="3191256"/>
            <a:ext cx="146304" cy="146304"/>
          </a:xfrm>
          <a:prstGeom prst="ellipse">
            <a:avLst/>
          </a:prstGeom>
          <a:solidFill>
            <a:srgbClr val="16A394"/>
          </a:solidFill>
          <a:ln w="12700">
            <a:solidFill>
              <a:srgbClr val="16A394"/>
            </a:solidFill>
            <a:prstDash val="solid"/>
          </a:ln>
        </p:spPr>
        <p:txBody>
          <a:bodyPr/>
          <a:lstStyle/>
          <a:p>
            <a:endParaRPr lang="es-CL"/>
          </a:p>
        </p:txBody>
      </p:sp>
      <p:sp>
        <p:nvSpPr>
          <p:cNvPr id="99" name="Text 95"/>
          <p:cNvSpPr/>
          <p:nvPr/>
        </p:nvSpPr>
        <p:spPr>
          <a:xfrm>
            <a:off x="9025128" y="3154680"/>
            <a:ext cx="2286000" cy="228600"/>
          </a:xfrm>
          <a:prstGeom prst="rect">
            <a:avLst/>
          </a:prstGeom>
          <a:noFill/>
          <a:ln/>
        </p:spPr>
        <p:txBody>
          <a:bodyPr wrap="square" lIns="0" tIns="0" rIns="0" bIns="0" rtlCol="0" anchor="ctr"/>
          <a:lstStyle/>
          <a:p>
            <a:pPr marL="0" indent="0">
              <a:buNone/>
            </a:pPr>
            <a:r>
              <a:rPr lang="en-US" sz="1150" b="1" dirty="0">
                <a:solidFill>
                  <a:srgbClr val="0F2E42"/>
                </a:solidFill>
                <a:latin typeface="Calibri" pitchFamily="34" charset="0"/>
                <a:ea typeface="Calibri" pitchFamily="34" charset="-122"/>
                <a:cs typeface="Calibri" pitchFamily="34" charset="-120"/>
              </a:rPr>
              <a:t>Trazabilidad del estado</a:t>
            </a:r>
            <a:endParaRPr lang="en-US" sz="1150" dirty="0"/>
          </a:p>
        </p:txBody>
      </p:sp>
      <p:sp>
        <p:nvSpPr>
          <p:cNvPr id="100" name="Text 96"/>
          <p:cNvSpPr/>
          <p:nvPr/>
        </p:nvSpPr>
        <p:spPr>
          <a:xfrm>
            <a:off x="8778240" y="3429000"/>
            <a:ext cx="2560320" cy="640080"/>
          </a:xfrm>
          <a:prstGeom prst="rect">
            <a:avLst/>
          </a:prstGeom>
          <a:noFill/>
          <a:ln/>
        </p:spPr>
        <p:txBody>
          <a:bodyPr wrap="square" lIns="0" tIns="0" rIns="0" bIns="0" rtlCol="0" anchor="ctr"/>
          <a:lstStyle/>
          <a:p>
            <a:pPr marL="0" indent="0">
              <a:lnSpc>
                <a:spcPct val="110000"/>
              </a:lnSpc>
              <a:buNone/>
            </a:pPr>
            <a:r>
              <a:rPr lang="en-US" sz="1000" dirty="0">
                <a:solidFill>
                  <a:srgbClr val="5A6B78"/>
                </a:solidFill>
                <a:latin typeface="Calibri" pitchFamily="34" charset="0"/>
                <a:ea typeface="Calibri" pitchFamily="34" charset="-122"/>
                <a:cs typeface="Calibri" pitchFamily="34" charset="-120"/>
              </a:rPr>
              <a:t>El pedido avanza por estados verificables, no por mensajes sueltos.</a:t>
            </a:r>
            <a:endParaRPr lang="en-US" sz="1000" dirty="0"/>
          </a:p>
        </p:txBody>
      </p:sp>
      <p:sp>
        <p:nvSpPr>
          <p:cNvPr id="101" name="Shape 97"/>
          <p:cNvSpPr/>
          <p:nvPr/>
        </p:nvSpPr>
        <p:spPr>
          <a:xfrm>
            <a:off x="8778240" y="4197096"/>
            <a:ext cx="146304" cy="146304"/>
          </a:xfrm>
          <a:prstGeom prst="ellipse">
            <a:avLst/>
          </a:prstGeom>
          <a:solidFill>
            <a:srgbClr val="2E7FB8"/>
          </a:solidFill>
          <a:ln w="12700">
            <a:solidFill>
              <a:srgbClr val="2E7FB8"/>
            </a:solidFill>
            <a:prstDash val="solid"/>
          </a:ln>
        </p:spPr>
        <p:txBody>
          <a:bodyPr/>
          <a:lstStyle/>
          <a:p>
            <a:endParaRPr lang="es-CL"/>
          </a:p>
        </p:txBody>
      </p:sp>
      <p:sp>
        <p:nvSpPr>
          <p:cNvPr id="102" name="Text 98"/>
          <p:cNvSpPr/>
          <p:nvPr/>
        </p:nvSpPr>
        <p:spPr>
          <a:xfrm>
            <a:off x="9025128" y="4160520"/>
            <a:ext cx="2286000" cy="228600"/>
          </a:xfrm>
          <a:prstGeom prst="rect">
            <a:avLst/>
          </a:prstGeom>
          <a:noFill/>
          <a:ln/>
        </p:spPr>
        <p:txBody>
          <a:bodyPr wrap="square" lIns="0" tIns="0" rIns="0" bIns="0" rtlCol="0" anchor="ctr"/>
          <a:lstStyle/>
          <a:p>
            <a:pPr marL="0" indent="0">
              <a:buNone/>
            </a:pPr>
            <a:r>
              <a:rPr lang="en-US" sz="1150" b="1" dirty="0">
                <a:solidFill>
                  <a:srgbClr val="0F2E42"/>
                </a:solidFill>
                <a:latin typeface="Calibri" pitchFamily="34" charset="0"/>
                <a:ea typeface="Calibri" pitchFamily="34" charset="-122"/>
                <a:cs typeface="Calibri" pitchFamily="34" charset="-120"/>
              </a:rPr>
              <a:t>Asignación controlada</a:t>
            </a:r>
            <a:endParaRPr lang="en-US" sz="1150" dirty="0"/>
          </a:p>
        </p:txBody>
      </p:sp>
      <p:sp>
        <p:nvSpPr>
          <p:cNvPr id="103" name="Text 99"/>
          <p:cNvSpPr/>
          <p:nvPr/>
        </p:nvSpPr>
        <p:spPr>
          <a:xfrm>
            <a:off x="8778240" y="4434840"/>
            <a:ext cx="2560320" cy="640080"/>
          </a:xfrm>
          <a:prstGeom prst="rect">
            <a:avLst/>
          </a:prstGeom>
          <a:noFill/>
          <a:ln/>
        </p:spPr>
        <p:txBody>
          <a:bodyPr wrap="square" lIns="0" tIns="0" rIns="0" bIns="0" rtlCol="0" anchor="ctr"/>
          <a:lstStyle/>
          <a:p>
            <a:pPr marL="0" indent="0">
              <a:lnSpc>
                <a:spcPct val="110000"/>
              </a:lnSpc>
              <a:buNone/>
            </a:pPr>
            <a:r>
              <a:rPr lang="en-US" sz="1000" dirty="0">
                <a:solidFill>
                  <a:srgbClr val="5A6B78"/>
                </a:solidFill>
                <a:latin typeface="Calibri" pitchFamily="34" charset="0"/>
                <a:ea typeface="Calibri" pitchFamily="34" charset="-122"/>
                <a:cs typeface="Calibri" pitchFamily="34" charset="-120"/>
              </a:rPr>
              <a:t>No se asigna un vehículo que está en mantención o con documentación vencida.</a:t>
            </a:r>
            <a:endParaRPr lang="en-US" sz="1000" dirty="0"/>
          </a:p>
        </p:txBody>
      </p:sp>
      <p:sp>
        <p:nvSpPr>
          <p:cNvPr id="104" name="Shape 100"/>
          <p:cNvSpPr/>
          <p:nvPr/>
        </p:nvSpPr>
        <p:spPr>
          <a:xfrm>
            <a:off x="8778240" y="5202936"/>
            <a:ext cx="146304" cy="146304"/>
          </a:xfrm>
          <a:prstGeom prst="ellipse">
            <a:avLst/>
          </a:prstGeom>
          <a:solidFill>
            <a:srgbClr val="16A394"/>
          </a:solidFill>
          <a:ln w="12700">
            <a:solidFill>
              <a:srgbClr val="16A394"/>
            </a:solidFill>
            <a:prstDash val="solid"/>
          </a:ln>
        </p:spPr>
        <p:txBody>
          <a:bodyPr/>
          <a:lstStyle/>
          <a:p>
            <a:endParaRPr lang="es-CL"/>
          </a:p>
        </p:txBody>
      </p:sp>
      <p:sp>
        <p:nvSpPr>
          <p:cNvPr id="105" name="Text 101"/>
          <p:cNvSpPr/>
          <p:nvPr/>
        </p:nvSpPr>
        <p:spPr>
          <a:xfrm>
            <a:off x="9025128" y="5166360"/>
            <a:ext cx="2286000" cy="228600"/>
          </a:xfrm>
          <a:prstGeom prst="rect">
            <a:avLst/>
          </a:prstGeom>
          <a:noFill/>
          <a:ln/>
        </p:spPr>
        <p:txBody>
          <a:bodyPr wrap="square" lIns="0" tIns="0" rIns="0" bIns="0" rtlCol="0" anchor="ctr"/>
          <a:lstStyle/>
          <a:p>
            <a:pPr marL="0" indent="0">
              <a:buNone/>
            </a:pPr>
            <a:r>
              <a:rPr lang="en-US" sz="1150" b="1" dirty="0">
                <a:solidFill>
                  <a:srgbClr val="0F2E42"/>
                </a:solidFill>
                <a:latin typeface="Calibri" pitchFamily="34" charset="0"/>
                <a:ea typeface="Calibri" pitchFamily="34" charset="-122"/>
                <a:cs typeface="Calibri" pitchFamily="34" charset="-120"/>
              </a:rPr>
              <a:t>Base para la facturación</a:t>
            </a:r>
            <a:endParaRPr lang="en-US" sz="1150" dirty="0"/>
          </a:p>
        </p:txBody>
      </p:sp>
      <p:sp>
        <p:nvSpPr>
          <p:cNvPr id="106" name="Text 102"/>
          <p:cNvSpPr/>
          <p:nvPr/>
        </p:nvSpPr>
        <p:spPr>
          <a:xfrm>
            <a:off x="8778240" y="5440680"/>
            <a:ext cx="2560320" cy="640080"/>
          </a:xfrm>
          <a:prstGeom prst="rect">
            <a:avLst/>
          </a:prstGeom>
          <a:noFill/>
          <a:ln/>
        </p:spPr>
        <p:txBody>
          <a:bodyPr wrap="square" lIns="0" tIns="0" rIns="0" bIns="0" rtlCol="0" anchor="ctr"/>
          <a:lstStyle/>
          <a:p>
            <a:pPr marL="0" indent="0">
              <a:lnSpc>
                <a:spcPct val="110000"/>
              </a:lnSpc>
              <a:buNone/>
            </a:pPr>
            <a:r>
              <a:rPr lang="en-US" sz="1000" dirty="0">
                <a:solidFill>
                  <a:srgbClr val="5A6B78"/>
                </a:solidFill>
                <a:latin typeface="Calibri" pitchFamily="34" charset="0"/>
                <a:ea typeface="Calibri" pitchFamily="34" charset="-122"/>
                <a:cs typeface="Calibri" pitchFamily="34" charset="-120"/>
              </a:rPr>
              <a:t>Solo se factura lo que el sistema registra como entregado.</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548640"/>
          </a:xfrm>
          <a:prstGeom prst="rect">
            <a:avLst/>
          </a:prstGeom>
          <a:noFill/>
          <a:ln/>
        </p:spPr>
        <p:txBody>
          <a:bodyPr wrap="square" lIns="0" tIns="0" rIns="0" bIns="0" rtlCol="0" anchor="ctr"/>
          <a:lstStyle/>
          <a:p>
            <a:pPr marL="0" indent="0">
              <a:buNone/>
            </a:pPr>
            <a:r>
              <a:rPr lang="en-US" sz="3000" b="1" dirty="0">
                <a:solidFill>
                  <a:srgbClr val="0F2E42"/>
                </a:solidFill>
                <a:latin typeface="Calibri" pitchFamily="34" charset="0"/>
                <a:ea typeface="Calibri" pitchFamily="34" charset="-122"/>
                <a:cs typeface="Calibri" pitchFamily="34" charset="-120"/>
              </a:rPr>
              <a:t>Mockup · Gestión de rutas</a:t>
            </a:r>
            <a:endParaRPr lang="en-US" sz="3000" dirty="0"/>
          </a:p>
        </p:txBody>
      </p:sp>
      <p:sp>
        <p:nvSpPr>
          <p:cNvPr id="3" name="Text 1"/>
          <p:cNvSpPr/>
          <p:nvPr/>
        </p:nvSpPr>
        <p:spPr>
          <a:xfrm>
            <a:off x="640080" y="932688"/>
            <a:ext cx="10881360" cy="36576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Cada hito registrado deja evidencia de cuándo ocurrió cada etapa del viaje</a:t>
            </a:r>
            <a:endParaRPr lang="en-US" sz="1500" dirty="0"/>
          </a:p>
        </p:txBody>
      </p:sp>
      <p:pic>
        <p:nvPicPr>
          <p:cNvPr id="4" name="Image 0" descr="/mnt/user-data/outputs/logo/vialnex-isotipo-512.png"/>
          <p:cNvPicPr>
            <a:picLocks noChangeAspect="1"/>
          </p:cNvPicPr>
          <p:nvPr/>
        </p:nvPicPr>
        <p:blipFill>
          <a:blip r:embed="rId3"/>
          <a:stretch>
            <a:fillRect/>
          </a:stretch>
        </p:blipFill>
        <p:spPr>
          <a:xfrm>
            <a:off x="11475720" y="6172200"/>
            <a:ext cx="384048" cy="384048"/>
          </a:xfrm>
          <a:prstGeom prst="rect">
            <a:avLst/>
          </a:prstGeom>
        </p:spPr>
      </p:pic>
      <p:sp>
        <p:nvSpPr>
          <p:cNvPr id="5" name="Shape 2"/>
          <p:cNvSpPr/>
          <p:nvPr/>
        </p:nvSpPr>
        <p:spPr>
          <a:xfrm>
            <a:off x="640080" y="1508760"/>
            <a:ext cx="10881360" cy="4800600"/>
          </a:xfrm>
          <a:prstGeom prst="roundRect">
            <a:avLst>
              <a:gd name="adj" fmla="val 952"/>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6" name="Shape 3"/>
          <p:cNvSpPr/>
          <p:nvPr/>
        </p:nvSpPr>
        <p:spPr>
          <a:xfrm>
            <a:off x="649224" y="1517904"/>
            <a:ext cx="10863072" cy="292608"/>
          </a:xfrm>
          <a:prstGeom prst="rect">
            <a:avLst/>
          </a:prstGeom>
          <a:solidFill>
            <a:srgbClr val="F2F6F9"/>
          </a:solidFill>
          <a:ln w="12700">
            <a:solidFill>
              <a:srgbClr val="F2F6F9"/>
            </a:solidFill>
            <a:prstDash val="solid"/>
          </a:ln>
        </p:spPr>
        <p:txBody>
          <a:bodyPr/>
          <a:lstStyle/>
          <a:p>
            <a:endParaRPr lang="es-CL"/>
          </a:p>
        </p:txBody>
      </p:sp>
      <p:sp>
        <p:nvSpPr>
          <p:cNvPr id="7" name="Shape 4"/>
          <p:cNvSpPr/>
          <p:nvPr/>
        </p:nvSpPr>
        <p:spPr>
          <a:xfrm>
            <a:off x="786384" y="1609344"/>
            <a:ext cx="100584" cy="100584"/>
          </a:xfrm>
          <a:prstGeom prst="ellipse">
            <a:avLst/>
          </a:prstGeom>
          <a:solidFill>
            <a:srgbClr val="E06C5B"/>
          </a:solidFill>
          <a:ln w="12700">
            <a:solidFill>
              <a:srgbClr val="E06C5B"/>
            </a:solidFill>
            <a:prstDash val="solid"/>
          </a:ln>
        </p:spPr>
        <p:txBody>
          <a:bodyPr/>
          <a:lstStyle/>
          <a:p>
            <a:endParaRPr lang="es-CL"/>
          </a:p>
        </p:txBody>
      </p:sp>
      <p:sp>
        <p:nvSpPr>
          <p:cNvPr id="8" name="Shape 5"/>
          <p:cNvSpPr/>
          <p:nvPr/>
        </p:nvSpPr>
        <p:spPr>
          <a:xfrm>
            <a:off x="969264" y="1609344"/>
            <a:ext cx="100584" cy="100584"/>
          </a:xfrm>
          <a:prstGeom prst="ellipse">
            <a:avLst/>
          </a:prstGeom>
          <a:solidFill>
            <a:srgbClr val="E8B84B"/>
          </a:solidFill>
          <a:ln w="12700">
            <a:solidFill>
              <a:srgbClr val="E8B84B"/>
            </a:solidFill>
            <a:prstDash val="solid"/>
          </a:ln>
        </p:spPr>
        <p:txBody>
          <a:bodyPr/>
          <a:lstStyle/>
          <a:p>
            <a:endParaRPr lang="es-CL"/>
          </a:p>
        </p:txBody>
      </p:sp>
      <p:sp>
        <p:nvSpPr>
          <p:cNvPr id="9" name="Shape 6"/>
          <p:cNvSpPr/>
          <p:nvPr/>
        </p:nvSpPr>
        <p:spPr>
          <a:xfrm>
            <a:off x="1152144" y="1609344"/>
            <a:ext cx="100584" cy="100584"/>
          </a:xfrm>
          <a:prstGeom prst="ellipse">
            <a:avLst/>
          </a:prstGeom>
          <a:solidFill>
            <a:srgbClr val="5BB98C"/>
          </a:solidFill>
          <a:ln w="12700">
            <a:solidFill>
              <a:srgbClr val="5BB98C"/>
            </a:solidFill>
            <a:prstDash val="solid"/>
          </a:ln>
        </p:spPr>
        <p:txBody>
          <a:bodyPr/>
          <a:lstStyle/>
          <a:p>
            <a:endParaRPr lang="es-CL"/>
          </a:p>
        </p:txBody>
      </p:sp>
      <p:sp>
        <p:nvSpPr>
          <p:cNvPr id="10" name="Shape 7"/>
          <p:cNvSpPr/>
          <p:nvPr/>
        </p:nvSpPr>
        <p:spPr>
          <a:xfrm>
            <a:off x="1417320" y="1572768"/>
            <a:ext cx="9875520" cy="182880"/>
          </a:xfrm>
          <a:prstGeom prst="roundRect">
            <a:avLst>
              <a:gd name="adj" fmla="val 25000"/>
            </a:avLst>
          </a:prstGeom>
          <a:solidFill>
            <a:srgbClr val="FFFFFF"/>
          </a:solidFill>
          <a:ln w="9525">
            <a:solidFill>
              <a:srgbClr val="D8E2E9"/>
            </a:solidFill>
            <a:prstDash val="solid"/>
          </a:ln>
        </p:spPr>
        <p:txBody>
          <a:bodyPr/>
          <a:lstStyle/>
          <a:p>
            <a:endParaRPr lang="es-CL"/>
          </a:p>
        </p:txBody>
      </p:sp>
      <p:sp>
        <p:nvSpPr>
          <p:cNvPr id="11" name="Text 8"/>
          <p:cNvSpPr/>
          <p:nvPr/>
        </p:nvSpPr>
        <p:spPr>
          <a:xfrm>
            <a:off x="1508760" y="1572768"/>
            <a:ext cx="9692640" cy="18288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vialnex.cl/rutas/RT-318</a:t>
            </a:r>
            <a:endParaRPr lang="en-US" sz="800" dirty="0"/>
          </a:p>
        </p:txBody>
      </p:sp>
      <p:sp>
        <p:nvSpPr>
          <p:cNvPr id="12" name="Shape 9"/>
          <p:cNvSpPr/>
          <p:nvPr/>
        </p:nvSpPr>
        <p:spPr>
          <a:xfrm>
            <a:off x="649224" y="1810512"/>
            <a:ext cx="1417320" cy="4489704"/>
          </a:xfrm>
          <a:prstGeom prst="rect">
            <a:avLst/>
          </a:prstGeom>
          <a:solidFill>
            <a:srgbClr val="0F2E42"/>
          </a:solidFill>
          <a:ln w="12700">
            <a:solidFill>
              <a:srgbClr val="0F2E42"/>
            </a:solidFill>
            <a:prstDash val="solid"/>
          </a:ln>
        </p:spPr>
        <p:txBody>
          <a:bodyPr/>
          <a:lstStyle/>
          <a:p>
            <a:endParaRPr lang="es-CL"/>
          </a:p>
        </p:txBody>
      </p:sp>
      <p:pic>
        <p:nvPicPr>
          <p:cNvPr id="13" name="Image 1" descr="/mnt/user-data/outputs/logo/vialnex-logo-blanco-transp-1024.png"/>
          <p:cNvPicPr>
            <a:picLocks noChangeAspect="1"/>
          </p:cNvPicPr>
          <p:nvPr/>
        </p:nvPicPr>
        <p:blipFill>
          <a:blip r:embed="rId4"/>
          <a:stretch>
            <a:fillRect/>
          </a:stretch>
        </p:blipFill>
        <p:spPr>
          <a:xfrm>
            <a:off x="749808" y="1892808"/>
            <a:ext cx="960120" cy="283464"/>
          </a:xfrm>
          <a:prstGeom prst="rect">
            <a:avLst/>
          </a:prstGeom>
        </p:spPr>
      </p:pic>
      <p:sp>
        <p:nvSpPr>
          <p:cNvPr id="14" name="Shape 10"/>
          <p:cNvSpPr/>
          <p:nvPr/>
        </p:nvSpPr>
        <p:spPr>
          <a:xfrm>
            <a:off x="859536" y="2450592"/>
            <a:ext cx="82296" cy="82296"/>
          </a:xfrm>
          <a:prstGeom prst="ellipse">
            <a:avLst/>
          </a:prstGeom>
          <a:solidFill>
            <a:srgbClr val="2E7FB8"/>
          </a:solidFill>
          <a:ln w="12700">
            <a:solidFill>
              <a:srgbClr val="2E7FB8"/>
            </a:solidFill>
            <a:prstDash val="solid"/>
          </a:ln>
        </p:spPr>
        <p:txBody>
          <a:bodyPr/>
          <a:lstStyle/>
          <a:p>
            <a:endParaRPr lang="es-CL"/>
          </a:p>
        </p:txBody>
      </p:sp>
      <p:sp>
        <p:nvSpPr>
          <p:cNvPr id="15" name="Text 11"/>
          <p:cNvSpPr/>
          <p:nvPr/>
        </p:nvSpPr>
        <p:spPr>
          <a:xfrm>
            <a:off x="1024128" y="2377440"/>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Panel</a:t>
            </a:r>
            <a:endParaRPr lang="en-US" sz="950" dirty="0"/>
          </a:p>
        </p:txBody>
      </p:sp>
      <p:sp>
        <p:nvSpPr>
          <p:cNvPr id="16" name="Shape 12"/>
          <p:cNvSpPr/>
          <p:nvPr/>
        </p:nvSpPr>
        <p:spPr>
          <a:xfrm>
            <a:off x="859536" y="2779776"/>
            <a:ext cx="82296" cy="82296"/>
          </a:xfrm>
          <a:prstGeom prst="ellipse">
            <a:avLst/>
          </a:prstGeom>
          <a:solidFill>
            <a:srgbClr val="2E7FB8"/>
          </a:solidFill>
          <a:ln w="12700">
            <a:solidFill>
              <a:srgbClr val="2E7FB8"/>
            </a:solidFill>
            <a:prstDash val="solid"/>
          </a:ln>
        </p:spPr>
        <p:txBody>
          <a:bodyPr/>
          <a:lstStyle/>
          <a:p>
            <a:endParaRPr lang="es-CL"/>
          </a:p>
        </p:txBody>
      </p:sp>
      <p:sp>
        <p:nvSpPr>
          <p:cNvPr id="17" name="Text 13"/>
          <p:cNvSpPr/>
          <p:nvPr/>
        </p:nvSpPr>
        <p:spPr>
          <a:xfrm>
            <a:off x="1024128" y="2706624"/>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Pedidos</a:t>
            </a:r>
            <a:endParaRPr lang="en-US" sz="950" dirty="0"/>
          </a:p>
        </p:txBody>
      </p:sp>
      <p:sp>
        <p:nvSpPr>
          <p:cNvPr id="18" name="Shape 14"/>
          <p:cNvSpPr/>
          <p:nvPr/>
        </p:nvSpPr>
        <p:spPr>
          <a:xfrm>
            <a:off x="731520" y="2999232"/>
            <a:ext cx="1252728" cy="292608"/>
          </a:xfrm>
          <a:prstGeom prst="roundRect">
            <a:avLst>
              <a:gd name="adj" fmla="val 15625"/>
            </a:avLst>
          </a:prstGeom>
          <a:solidFill>
            <a:srgbClr val="16A394"/>
          </a:solidFill>
          <a:ln w="12700">
            <a:solidFill>
              <a:srgbClr val="16A394"/>
            </a:solidFill>
            <a:prstDash val="solid"/>
          </a:ln>
        </p:spPr>
        <p:txBody>
          <a:bodyPr/>
          <a:lstStyle/>
          <a:p>
            <a:endParaRPr lang="es-CL"/>
          </a:p>
        </p:txBody>
      </p:sp>
      <p:sp>
        <p:nvSpPr>
          <p:cNvPr id="19" name="Shape 15"/>
          <p:cNvSpPr/>
          <p:nvPr/>
        </p:nvSpPr>
        <p:spPr>
          <a:xfrm>
            <a:off x="859536" y="3108960"/>
            <a:ext cx="82296" cy="82296"/>
          </a:xfrm>
          <a:prstGeom prst="ellipse">
            <a:avLst/>
          </a:prstGeom>
          <a:solidFill>
            <a:srgbClr val="FFFFFF"/>
          </a:solidFill>
          <a:ln w="12700">
            <a:solidFill>
              <a:srgbClr val="FFFFFF"/>
            </a:solidFill>
            <a:prstDash val="solid"/>
          </a:ln>
        </p:spPr>
        <p:txBody>
          <a:bodyPr/>
          <a:lstStyle/>
          <a:p>
            <a:endParaRPr lang="es-CL"/>
          </a:p>
        </p:txBody>
      </p:sp>
      <p:sp>
        <p:nvSpPr>
          <p:cNvPr id="20" name="Text 16"/>
          <p:cNvSpPr/>
          <p:nvPr/>
        </p:nvSpPr>
        <p:spPr>
          <a:xfrm>
            <a:off x="1024128" y="3035808"/>
            <a:ext cx="96012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Rutas</a:t>
            </a:r>
            <a:endParaRPr lang="en-US" sz="950" dirty="0"/>
          </a:p>
        </p:txBody>
      </p:sp>
      <p:sp>
        <p:nvSpPr>
          <p:cNvPr id="21" name="Shape 17"/>
          <p:cNvSpPr/>
          <p:nvPr/>
        </p:nvSpPr>
        <p:spPr>
          <a:xfrm>
            <a:off x="859536" y="3438144"/>
            <a:ext cx="82296" cy="82296"/>
          </a:xfrm>
          <a:prstGeom prst="ellipse">
            <a:avLst/>
          </a:prstGeom>
          <a:solidFill>
            <a:srgbClr val="2E7FB8"/>
          </a:solidFill>
          <a:ln w="12700">
            <a:solidFill>
              <a:srgbClr val="2E7FB8"/>
            </a:solidFill>
            <a:prstDash val="solid"/>
          </a:ln>
        </p:spPr>
        <p:txBody>
          <a:bodyPr/>
          <a:lstStyle/>
          <a:p>
            <a:endParaRPr lang="es-CL"/>
          </a:p>
        </p:txBody>
      </p:sp>
      <p:sp>
        <p:nvSpPr>
          <p:cNvPr id="22" name="Text 18"/>
          <p:cNvSpPr/>
          <p:nvPr/>
        </p:nvSpPr>
        <p:spPr>
          <a:xfrm>
            <a:off x="1024128" y="3364992"/>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Flota</a:t>
            </a:r>
            <a:endParaRPr lang="en-US" sz="950" dirty="0"/>
          </a:p>
        </p:txBody>
      </p:sp>
      <p:sp>
        <p:nvSpPr>
          <p:cNvPr id="23" name="Shape 19"/>
          <p:cNvSpPr/>
          <p:nvPr/>
        </p:nvSpPr>
        <p:spPr>
          <a:xfrm>
            <a:off x="859536" y="3767328"/>
            <a:ext cx="82296" cy="82296"/>
          </a:xfrm>
          <a:prstGeom prst="ellipse">
            <a:avLst/>
          </a:prstGeom>
          <a:solidFill>
            <a:srgbClr val="2E7FB8"/>
          </a:solidFill>
          <a:ln w="12700">
            <a:solidFill>
              <a:srgbClr val="2E7FB8"/>
            </a:solidFill>
            <a:prstDash val="solid"/>
          </a:ln>
        </p:spPr>
        <p:txBody>
          <a:bodyPr/>
          <a:lstStyle/>
          <a:p>
            <a:endParaRPr lang="es-CL"/>
          </a:p>
        </p:txBody>
      </p:sp>
      <p:sp>
        <p:nvSpPr>
          <p:cNvPr id="24" name="Text 20"/>
          <p:cNvSpPr/>
          <p:nvPr/>
        </p:nvSpPr>
        <p:spPr>
          <a:xfrm>
            <a:off x="1024128" y="3694176"/>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Documentos</a:t>
            </a:r>
            <a:endParaRPr lang="en-US" sz="950" dirty="0"/>
          </a:p>
        </p:txBody>
      </p:sp>
      <p:sp>
        <p:nvSpPr>
          <p:cNvPr id="25" name="Shape 21"/>
          <p:cNvSpPr/>
          <p:nvPr/>
        </p:nvSpPr>
        <p:spPr>
          <a:xfrm>
            <a:off x="859536" y="4096512"/>
            <a:ext cx="82296" cy="82296"/>
          </a:xfrm>
          <a:prstGeom prst="ellipse">
            <a:avLst/>
          </a:prstGeom>
          <a:solidFill>
            <a:srgbClr val="2E7FB8"/>
          </a:solidFill>
          <a:ln w="12700">
            <a:solidFill>
              <a:srgbClr val="2E7FB8"/>
            </a:solidFill>
            <a:prstDash val="solid"/>
          </a:ln>
        </p:spPr>
        <p:txBody>
          <a:bodyPr/>
          <a:lstStyle/>
          <a:p>
            <a:endParaRPr lang="es-CL"/>
          </a:p>
        </p:txBody>
      </p:sp>
      <p:sp>
        <p:nvSpPr>
          <p:cNvPr id="26" name="Text 22"/>
          <p:cNvSpPr/>
          <p:nvPr/>
        </p:nvSpPr>
        <p:spPr>
          <a:xfrm>
            <a:off x="1024128" y="4023360"/>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Facturación</a:t>
            </a:r>
            <a:endParaRPr lang="en-US" sz="950" dirty="0"/>
          </a:p>
        </p:txBody>
      </p:sp>
      <p:sp>
        <p:nvSpPr>
          <p:cNvPr id="27" name="Text 23"/>
          <p:cNvSpPr/>
          <p:nvPr/>
        </p:nvSpPr>
        <p:spPr>
          <a:xfrm>
            <a:off x="2240280" y="1874520"/>
            <a:ext cx="4572000" cy="274320"/>
          </a:xfrm>
          <a:prstGeom prst="rect">
            <a:avLst/>
          </a:prstGeom>
          <a:noFill/>
          <a:ln/>
        </p:spPr>
        <p:txBody>
          <a:bodyPr wrap="square" lIns="0" tIns="0" rIns="0" bIns="0" rtlCol="0" anchor="ctr"/>
          <a:lstStyle/>
          <a:p>
            <a:pPr marL="0" indent="0">
              <a:buNone/>
            </a:pPr>
            <a:r>
              <a:rPr lang="en-US" sz="1500" b="1" dirty="0">
                <a:solidFill>
                  <a:srgbClr val="0F2E42"/>
                </a:solidFill>
                <a:latin typeface="Calibri" pitchFamily="34" charset="0"/>
                <a:ea typeface="Calibri" pitchFamily="34" charset="-122"/>
                <a:cs typeface="Calibri" pitchFamily="34" charset="-120"/>
              </a:rPr>
              <a:t>Ruta RT-318 · Santiago → Curicó</a:t>
            </a:r>
            <a:endParaRPr lang="en-US" sz="1500" dirty="0"/>
          </a:p>
        </p:txBody>
      </p:sp>
      <p:sp>
        <p:nvSpPr>
          <p:cNvPr id="28" name="Text 24"/>
          <p:cNvSpPr/>
          <p:nvPr/>
        </p:nvSpPr>
        <p:spPr>
          <a:xfrm>
            <a:off x="2240280" y="2157984"/>
            <a:ext cx="5029200" cy="228600"/>
          </a:xfrm>
          <a:prstGeom prst="rect">
            <a:avLst/>
          </a:prstGeom>
          <a:noFill/>
          <a:ln/>
        </p:spPr>
        <p:txBody>
          <a:bodyPr wrap="square" lIns="0" tIns="0" rIns="0" bIns="0" rtlCol="0" anchor="ctr"/>
          <a:lstStyle/>
          <a:p>
            <a:pPr marL="0" indent="0">
              <a:buNone/>
            </a:pPr>
            <a:r>
              <a:rPr lang="en-US" sz="950" dirty="0">
                <a:solidFill>
                  <a:srgbClr val="5A6B78"/>
                </a:solidFill>
                <a:latin typeface="Calibri" pitchFamily="34" charset="0"/>
                <a:ea typeface="Calibri" pitchFamily="34" charset="-122"/>
                <a:cs typeface="Calibri" pitchFamily="34" charset="-120"/>
              </a:rPr>
              <a:t>Vehículo GHTR-88 · Conductor P. Núñez · Salida 08:15</a:t>
            </a:r>
            <a:endParaRPr lang="en-US" sz="950" dirty="0"/>
          </a:p>
        </p:txBody>
      </p:sp>
      <p:sp>
        <p:nvSpPr>
          <p:cNvPr id="29" name="Shape 25"/>
          <p:cNvSpPr/>
          <p:nvPr/>
        </p:nvSpPr>
        <p:spPr>
          <a:xfrm>
            <a:off x="2468880" y="3017520"/>
            <a:ext cx="7498080" cy="0"/>
          </a:xfrm>
          <a:prstGeom prst="line">
            <a:avLst/>
          </a:prstGeom>
          <a:noFill/>
          <a:ln w="38100">
            <a:solidFill>
              <a:srgbClr val="D8E2E9"/>
            </a:solidFill>
            <a:prstDash val="solid"/>
          </a:ln>
        </p:spPr>
        <p:txBody>
          <a:bodyPr/>
          <a:lstStyle/>
          <a:p>
            <a:endParaRPr lang="es-CL"/>
          </a:p>
        </p:txBody>
      </p:sp>
      <p:sp>
        <p:nvSpPr>
          <p:cNvPr id="30" name="Shape 26"/>
          <p:cNvSpPr/>
          <p:nvPr/>
        </p:nvSpPr>
        <p:spPr>
          <a:xfrm>
            <a:off x="2468880" y="3017520"/>
            <a:ext cx="5623560" cy="0"/>
          </a:xfrm>
          <a:prstGeom prst="line">
            <a:avLst/>
          </a:prstGeom>
          <a:noFill/>
          <a:ln w="38100">
            <a:solidFill>
              <a:srgbClr val="16A394"/>
            </a:solidFill>
            <a:prstDash val="solid"/>
          </a:ln>
        </p:spPr>
        <p:txBody>
          <a:bodyPr/>
          <a:lstStyle/>
          <a:p>
            <a:endParaRPr lang="es-CL"/>
          </a:p>
        </p:txBody>
      </p:sp>
      <p:sp>
        <p:nvSpPr>
          <p:cNvPr id="31" name="Shape 27"/>
          <p:cNvSpPr/>
          <p:nvPr/>
        </p:nvSpPr>
        <p:spPr>
          <a:xfrm>
            <a:off x="2240280" y="2788920"/>
            <a:ext cx="457200" cy="457200"/>
          </a:xfrm>
          <a:prstGeom prst="ellipse">
            <a:avLst/>
          </a:prstGeom>
          <a:solidFill>
            <a:srgbClr val="16A394"/>
          </a:solidFill>
          <a:ln w="25400">
            <a:solidFill>
              <a:srgbClr val="16A394"/>
            </a:solidFill>
            <a:prstDash val="solid"/>
          </a:ln>
        </p:spPr>
        <p:txBody>
          <a:bodyPr/>
          <a:lstStyle/>
          <a:p>
            <a:endParaRPr lang="es-CL"/>
          </a:p>
        </p:txBody>
      </p:sp>
      <p:sp>
        <p:nvSpPr>
          <p:cNvPr id="32" name="Text 28"/>
          <p:cNvSpPr/>
          <p:nvPr/>
        </p:nvSpPr>
        <p:spPr>
          <a:xfrm>
            <a:off x="2240280" y="278892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3" name="Text 29"/>
          <p:cNvSpPr/>
          <p:nvPr/>
        </p:nvSpPr>
        <p:spPr>
          <a:xfrm>
            <a:off x="1828800" y="3319272"/>
            <a:ext cx="1280160" cy="219456"/>
          </a:xfrm>
          <a:prstGeom prst="rect">
            <a:avLst/>
          </a:prstGeom>
          <a:noFill/>
          <a:ln/>
        </p:spPr>
        <p:txBody>
          <a:bodyPr wrap="square" lIns="0" tIns="0" rIns="0" bIns="0" rtlCol="0" anchor="ctr"/>
          <a:lstStyle/>
          <a:p>
            <a:pPr marL="0" indent="0" algn="ctr">
              <a:buNone/>
            </a:pPr>
            <a:r>
              <a:rPr lang="en-US" sz="950" b="1" dirty="0">
                <a:solidFill>
                  <a:srgbClr val="0F2E42"/>
                </a:solidFill>
                <a:latin typeface="Calibri" pitchFamily="34" charset="0"/>
                <a:ea typeface="Calibri" pitchFamily="34" charset="-122"/>
                <a:cs typeface="Calibri" pitchFamily="34" charset="-120"/>
              </a:rPr>
              <a:t>Carga</a:t>
            </a:r>
            <a:endParaRPr lang="en-US" sz="950" dirty="0"/>
          </a:p>
        </p:txBody>
      </p:sp>
      <p:sp>
        <p:nvSpPr>
          <p:cNvPr id="34" name="Text 30"/>
          <p:cNvSpPr/>
          <p:nvPr/>
        </p:nvSpPr>
        <p:spPr>
          <a:xfrm>
            <a:off x="1828800" y="3520440"/>
            <a:ext cx="1280160" cy="201168"/>
          </a:xfrm>
          <a:prstGeom prst="rect">
            <a:avLst/>
          </a:prstGeom>
          <a:noFill/>
          <a:ln/>
        </p:spPr>
        <p:txBody>
          <a:bodyPr wrap="square" lIns="0" tIns="0" rIns="0" bIns="0" rtlCol="0" anchor="ctr"/>
          <a:lstStyle/>
          <a:p>
            <a:pPr marL="0" indent="0" algn="ctr">
              <a:buNone/>
            </a:pPr>
            <a:r>
              <a:rPr lang="en-US" sz="850" dirty="0">
                <a:solidFill>
                  <a:srgbClr val="5A6B78"/>
                </a:solidFill>
                <a:latin typeface="Calibri" pitchFamily="34" charset="0"/>
                <a:ea typeface="Calibri" pitchFamily="34" charset="-122"/>
                <a:cs typeface="Calibri" pitchFamily="34" charset="-120"/>
              </a:rPr>
              <a:t>08:15</a:t>
            </a:r>
            <a:endParaRPr lang="en-US" sz="850" dirty="0"/>
          </a:p>
        </p:txBody>
      </p:sp>
      <p:sp>
        <p:nvSpPr>
          <p:cNvPr id="35" name="Shape 31"/>
          <p:cNvSpPr/>
          <p:nvPr/>
        </p:nvSpPr>
        <p:spPr>
          <a:xfrm>
            <a:off x="4114800" y="2788920"/>
            <a:ext cx="457200" cy="457200"/>
          </a:xfrm>
          <a:prstGeom prst="ellipse">
            <a:avLst/>
          </a:prstGeom>
          <a:solidFill>
            <a:srgbClr val="16A394"/>
          </a:solidFill>
          <a:ln w="25400">
            <a:solidFill>
              <a:srgbClr val="16A394"/>
            </a:solidFill>
            <a:prstDash val="solid"/>
          </a:ln>
        </p:spPr>
        <p:txBody>
          <a:bodyPr/>
          <a:lstStyle/>
          <a:p>
            <a:endParaRPr lang="es-CL"/>
          </a:p>
        </p:txBody>
      </p:sp>
      <p:sp>
        <p:nvSpPr>
          <p:cNvPr id="36" name="Text 32"/>
          <p:cNvSpPr/>
          <p:nvPr/>
        </p:nvSpPr>
        <p:spPr>
          <a:xfrm>
            <a:off x="4114800" y="278892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7" name="Text 33"/>
          <p:cNvSpPr/>
          <p:nvPr/>
        </p:nvSpPr>
        <p:spPr>
          <a:xfrm>
            <a:off x="3703320" y="3319272"/>
            <a:ext cx="1280160" cy="219456"/>
          </a:xfrm>
          <a:prstGeom prst="rect">
            <a:avLst/>
          </a:prstGeom>
          <a:noFill/>
          <a:ln/>
        </p:spPr>
        <p:txBody>
          <a:bodyPr wrap="square" lIns="0" tIns="0" rIns="0" bIns="0" rtlCol="0" anchor="ctr"/>
          <a:lstStyle/>
          <a:p>
            <a:pPr marL="0" indent="0" algn="ctr">
              <a:buNone/>
            </a:pPr>
            <a:r>
              <a:rPr lang="en-US" sz="950" b="1" dirty="0">
                <a:solidFill>
                  <a:srgbClr val="0F2E42"/>
                </a:solidFill>
                <a:latin typeface="Calibri" pitchFamily="34" charset="0"/>
                <a:ea typeface="Calibri" pitchFamily="34" charset="-122"/>
                <a:cs typeface="Calibri" pitchFamily="34" charset="-120"/>
              </a:rPr>
              <a:t>Salida planta</a:t>
            </a:r>
            <a:endParaRPr lang="en-US" sz="950" dirty="0"/>
          </a:p>
        </p:txBody>
      </p:sp>
      <p:sp>
        <p:nvSpPr>
          <p:cNvPr id="38" name="Text 34"/>
          <p:cNvSpPr/>
          <p:nvPr/>
        </p:nvSpPr>
        <p:spPr>
          <a:xfrm>
            <a:off x="3703320" y="3520440"/>
            <a:ext cx="1280160" cy="201168"/>
          </a:xfrm>
          <a:prstGeom prst="rect">
            <a:avLst/>
          </a:prstGeom>
          <a:noFill/>
          <a:ln/>
        </p:spPr>
        <p:txBody>
          <a:bodyPr wrap="square" lIns="0" tIns="0" rIns="0" bIns="0" rtlCol="0" anchor="ctr"/>
          <a:lstStyle/>
          <a:p>
            <a:pPr marL="0" indent="0" algn="ctr">
              <a:buNone/>
            </a:pPr>
            <a:r>
              <a:rPr lang="en-US" sz="850" dirty="0">
                <a:solidFill>
                  <a:srgbClr val="5A6B78"/>
                </a:solidFill>
                <a:latin typeface="Calibri" pitchFamily="34" charset="0"/>
                <a:ea typeface="Calibri" pitchFamily="34" charset="-122"/>
                <a:cs typeface="Calibri" pitchFamily="34" charset="-120"/>
              </a:rPr>
              <a:t>08:40</a:t>
            </a:r>
            <a:endParaRPr lang="en-US" sz="850" dirty="0"/>
          </a:p>
        </p:txBody>
      </p:sp>
      <p:sp>
        <p:nvSpPr>
          <p:cNvPr id="39" name="Shape 35"/>
          <p:cNvSpPr/>
          <p:nvPr/>
        </p:nvSpPr>
        <p:spPr>
          <a:xfrm>
            <a:off x="5989320" y="2788920"/>
            <a:ext cx="457200" cy="457200"/>
          </a:xfrm>
          <a:prstGeom prst="ellipse">
            <a:avLst/>
          </a:prstGeom>
          <a:solidFill>
            <a:srgbClr val="16A394"/>
          </a:solidFill>
          <a:ln w="25400">
            <a:solidFill>
              <a:srgbClr val="16A394"/>
            </a:solidFill>
            <a:prstDash val="solid"/>
          </a:ln>
        </p:spPr>
        <p:txBody>
          <a:bodyPr/>
          <a:lstStyle/>
          <a:p>
            <a:endParaRPr lang="es-CL"/>
          </a:p>
        </p:txBody>
      </p:sp>
      <p:sp>
        <p:nvSpPr>
          <p:cNvPr id="40" name="Text 36"/>
          <p:cNvSpPr/>
          <p:nvPr/>
        </p:nvSpPr>
        <p:spPr>
          <a:xfrm>
            <a:off x="5989320" y="278892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1" name="Text 37"/>
          <p:cNvSpPr/>
          <p:nvPr/>
        </p:nvSpPr>
        <p:spPr>
          <a:xfrm>
            <a:off x="5577840" y="3319272"/>
            <a:ext cx="1280160" cy="219456"/>
          </a:xfrm>
          <a:prstGeom prst="rect">
            <a:avLst/>
          </a:prstGeom>
          <a:noFill/>
          <a:ln/>
        </p:spPr>
        <p:txBody>
          <a:bodyPr wrap="square" lIns="0" tIns="0" rIns="0" bIns="0" rtlCol="0" anchor="ctr"/>
          <a:lstStyle/>
          <a:p>
            <a:pPr marL="0" indent="0" algn="ctr">
              <a:buNone/>
            </a:pPr>
            <a:r>
              <a:rPr lang="en-US" sz="950" b="1" dirty="0">
                <a:solidFill>
                  <a:srgbClr val="0F2E42"/>
                </a:solidFill>
                <a:latin typeface="Calibri" pitchFamily="34" charset="0"/>
                <a:ea typeface="Calibri" pitchFamily="34" charset="-122"/>
                <a:cs typeface="Calibri" pitchFamily="34" charset="-120"/>
              </a:rPr>
              <a:t>Control Angostura</a:t>
            </a:r>
            <a:endParaRPr lang="en-US" sz="950" dirty="0"/>
          </a:p>
        </p:txBody>
      </p:sp>
      <p:sp>
        <p:nvSpPr>
          <p:cNvPr id="42" name="Text 38"/>
          <p:cNvSpPr/>
          <p:nvPr/>
        </p:nvSpPr>
        <p:spPr>
          <a:xfrm>
            <a:off x="5577840" y="3520440"/>
            <a:ext cx="1280160" cy="201168"/>
          </a:xfrm>
          <a:prstGeom prst="rect">
            <a:avLst/>
          </a:prstGeom>
          <a:noFill/>
          <a:ln/>
        </p:spPr>
        <p:txBody>
          <a:bodyPr wrap="square" lIns="0" tIns="0" rIns="0" bIns="0" rtlCol="0" anchor="ctr"/>
          <a:lstStyle/>
          <a:p>
            <a:pPr marL="0" indent="0" algn="ctr">
              <a:buNone/>
            </a:pPr>
            <a:r>
              <a:rPr lang="en-US" sz="850" dirty="0">
                <a:solidFill>
                  <a:srgbClr val="5A6B78"/>
                </a:solidFill>
                <a:latin typeface="Calibri" pitchFamily="34" charset="0"/>
                <a:ea typeface="Calibri" pitchFamily="34" charset="-122"/>
                <a:cs typeface="Calibri" pitchFamily="34" charset="-120"/>
              </a:rPr>
              <a:t>09:55</a:t>
            </a:r>
            <a:endParaRPr lang="en-US" sz="850" dirty="0"/>
          </a:p>
        </p:txBody>
      </p:sp>
      <p:sp>
        <p:nvSpPr>
          <p:cNvPr id="43" name="Shape 39"/>
          <p:cNvSpPr/>
          <p:nvPr/>
        </p:nvSpPr>
        <p:spPr>
          <a:xfrm>
            <a:off x="7863840" y="2788920"/>
            <a:ext cx="457200" cy="457200"/>
          </a:xfrm>
          <a:prstGeom prst="ellipse">
            <a:avLst/>
          </a:prstGeom>
          <a:solidFill>
            <a:srgbClr val="16A394"/>
          </a:solidFill>
          <a:ln w="25400">
            <a:solidFill>
              <a:srgbClr val="16A394"/>
            </a:solidFill>
            <a:prstDash val="solid"/>
          </a:ln>
        </p:spPr>
        <p:txBody>
          <a:bodyPr/>
          <a:lstStyle/>
          <a:p>
            <a:endParaRPr lang="es-CL"/>
          </a:p>
        </p:txBody>
      </p:sp>
      <p:sp>
        <p:nvSpPr>
          <p:cNvPr id="44" name="Text 40"/>
          <p:cNvSpPr/>
          <p:nvPr/>
        </p:nvSpPr>
        <p:spPr>
          <a:xfrm>
            <a:off x="7863840" y="278892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5" name="Text 41"/>
          <p:cNvSpPr/>
          <p:nvPr/>
        </p:nvSpPr>
        <p:spPr>
          <a:xfrm>
            <a:off x="7452360" y="3319272"/>
            <a:ext cx="1280160" cy="219456"/>
          </a:xfrm>
          <a:prstGeom prst="rect">
            <a:avLst/>
          </a:prstGeom>
          <a:noFill/>
          <a:ln/>
        </p:spPr>
        <p:txBody>
          <a:bodyPr wrap="square" lIns="0" tIns="0" rIns="0" bIns="0" rtlCol="0" anchor="ctr"/>
          <a:lstStyle/>
          <a:p>
            <a:pPr marL="0" indent="0" algn="ctr">
              <a:buNone/>
            </a:pPr>
            <a:r>
              <a:rPr lang="en-US" sz="950" b="1" dirty="0">
                <a:solidFill>
                  <a:srgbClr val="0F2E42"/>
                </a:solidFill>
                <a:latin typeface="Calibri" pitchFamily="34" charset="0"/>
                <a:ea typeface="Calibri" pitchFamily="34" charset="-122"/>
                <a:cs typeface="Calibri" pitchFamily="34" charset="-120"/>
              </a:rPr>
              <a:t>Entrega Rancagua</a:t>
            </a:r>
            <a:endParaRPr lang="en-US" sz="950" dirty="0"/>
          </a:p>
        </p:txBody>
      </p:sp>
      <p:sp>
        <p:nvSpPr>
          <p:cNvPr id="46" name="Text 42"/>
          <p:cNvSpPr/>
          <p:nvPr/>
        </p:nvSpPr>
        <p:spPr>
          <a:xfrm>
            <a:off x="7452360" y="3520440"/>
            <a:ext cx="1280160" cy="201168"/>
          </a:xfrm>
          <a:prstGeom prst="rect">
            <a:avLst/>
          </a:prstGeom>
          <a:noFill/>
          <a:ln/>
        </p:spPr>
        <p:txBody>
          <a:bodyPr wrap="square" lIns="0" tIns="0" rIns="0" bIns="0" rtlCol="0" anchor="ctr"/>
          <a:lstStyle/>
          <a:p>
            <a:pPr marL="0" indent="0" algn="ctr">
              <a:buNone/>
            </a:pPr>
            <a:r>
              <a:rPr lang="en-US" sz="850" dirty="0">
                <a:solidFill>
                  <a:srgbClr val="5A6B78"/>
                </a:solidFill>
                <a:latin typeface="Calibri" pitchFamily="34" charset="0"/>
                <a:ea typeface="Calibri" pitchFamily="34" charset="-122"/>
                <a:cs typeface="Calibri" pitchFamily="34" charset="-120"/>
              </a:rPr>
              <a:t>10:30</a:t>
            </a:r>
            <a:endParaRPr lang="en-US" sz="850" dirty="0"/>
          </a:p>
        </p:txBody>
      </p:sp>
      <p:sp>
        <p:nvSpPr>
          <p:cNvPr id="47" name="Shape 43"/>
          <p:cNvSpPr/>
          <p:nvPr/>
        </p:nvSpPr>
        <p:spPr>
          <a:xfrm>
            <a:off x="9738360" y="2788920"/>
            <a:ext cx="457200" cy="457200"/>
          </a:xfrm>
          <a:prstGeom prst="ellipse">
            <a:avLst/>
          </a:prstGeom>
          <a:solidFill>
            <a:srgbClr val="FFFFFF"/>
          </a:solidFill>
          <a:ln w="25400">
            <a:solidFill>
              <a:srgbClr val="D8E2E9"/>
            </a:solidFill>
            <a:prstDash val="solid"/>
          </a:ln>
        </p:spPr>
        <p:txBody>
          <a:bodyPr/>
          <a:lstStyle/>
          <a:p>
            <a:endParaRPr lang="es-CL"/>
          </a:p>
        </p:txBody>
      </p:sp>
      <p:sp>
        <p:nvSpPr>
          <p:cNvPr id="48" name="Text 44"/>
          <p:cNvSpPr/>
          <p:nvPr/>
        </p:nvSpPr>
        <p:spPr>
          <a:xfrm>
            <a:off x="9738360" y="2788920"/>
            <a:ext cx="457200" cy="457200"/>
          </a:xfrm>
          <a:prstGeom prst="rect">
            <a:avLst/>
          </a:prstGeom>
          <a:noFill/>
          <a:ln/>
        </p:spPr>
        <p:txBody>
          <a:bodyPr wrap="square" lIns="0" tIns="0" rIns="0" bIns="0" rtlCol="0" anchor="ctr"/>
          <a:lstStyle/>
          <a:p>
            <a:pPr marL="0" indent="0" algn="ctr">
              <a:buNone/>
            </a:pPr>
            <a:r>
              <a:rPr lang="en-US" sz="1100" b="1" dirty="0">
                <a:solidFill>
                  <a:srgbClr val="5A6B78"/>
                </a:solidFill>
                <a:latin typeface="Calibri" pitchFamily="34" charset="0"/>
                <a:ea typeface="Calibri" pitchFamily="34" charset="-122"/>
                <a:cs typeface="Calibri" pitchFamily="34" charset="-120"/>
              </a:rPr>
              <a:t>5</a:t>
            </a:r>
            <a:endParaRPr lang="en-US" sz="1100" dirty="0"/>
          </a:p>
        </p:txBody>
      </p:sp>
      <p:sp>
        <p:nvSpPr>
          <p:cNvPr id="49" name="Text 45"/>
          <p:cNvSpPr/>
          <p:nvPr/>
        </p:nvSpPr>
        <p:spPr>
          <a:xfrm>
            <a:off x="9326880" y="3319272"/>
            <a:ext cx="1280160" cy="219456"/>
          </a:xfrm>
          <a:prstGeom prst="rect">
            <a:avLst/>
          </a:prstGeom>
          <a:noFill/>
          <a:ln/>
        </p:spPr>
        <p:txBody>
          <a:bodyPr wrap="square" lIns="0" tIns="0" rIns="0" bIns="0" rtlCol="0" anchor="ctr"/>
          <a:lstStyle/>
          <a:p>
            <a:pPr marL="0" indent="0" algn="ctr">
              <a:buNone/>
            </a:pPr>
            <a:r>
              <a:rPr lang="en-US" sz="950" b="1" dirty="0">
                <a:solidFill>
                  <a:srgbClr val="0F2E42"/>
                </a:solidFill>
                <a:latin typeface="Calibri" pitchFamily="34" charset="0"/>
                <a:ea typeface="Calibri" pitchFamily="34" charset="-122"/>
                <a:cs typeface="Calibri" pitchFamily="34" charset="-120"/>
              </a:rPr>
              <a:t>Entrega Curicó</a:t>
            </a:r>
            <a:endParaRPr lang="en-US" sz="950" dirty="0"/>
          </a:p>
        </p:txBody>
      </p:sp>
      <p:sp>
        <p:nvSpPr>
          <p:cNvPr id="50" name="Text 46"/>
          <p:cNvSpPr/>
          <p:nvPr/>
        </p:nvSpPr>
        <p:spPr>
          <a:xfrm>
            <a:off x="9326880" y="3520440"/>
            <a:ext cx="1280160" cy="201168"/>
          </a:xfrm>
          <a:prstGeom prst="rect">
            <a:avLst/>
          </a:prstGeom>
          <a:noFill/>
          <a:ln/>
        </p:spPr>
        <p:txBody>
          <a:bodyPr wrap="square" lIns="0" tIns="0" rIns="0" bIns="0" rtlCol="0" anchor="ctr"/>
          <a:lstStyle/>
          <a:p>
            <a:pPr marL="0" indent="0" algn="ctr">
              <a:buNone/>
            </a:pPr>
            <a:r>
              <a:rPr lang="en-US" sz="850" dirty="0">
                <a:solidFill>
                  <a:srgbClr val="5A6B78"/>
                </a:solidFill>
                <a:latin typeface="Calibri" pitchFamily="34" charset="0"/>
                <a:ea typeface="Calibri" pitchFamily="34" charset="-122"/>
                <a:cs typeface="Calibri" pitchFamily="34" charset="-120"/>
              </a:rPr>
              <a:t>12:45</a:t>
            </a:r>
            <a:endParaRPr lang="en-US" sz="850" dirty="0"/>
          </a:p>
        </p:txBody>
      </p:sp>
      <p:sp>
        <p:nvSpPr>
          <p:cNvPr id="51" name="Text 47"/>
          <p:cNvSpPr/>
          <p:nvPr/>
        </p:nvSpPr>
        <p:spPr>
          <a:xfrm>
            <a:off x="2240280" y="3931920"/>
            <a:ext cx="3657600" cy="256032"/>
          </a:xfrm>
          <a:prstGeom prst="rect">
            <a:avLst/>
          </a:prstGeom>
          <a:noFill/>
          <a:ln/>
        </p:spPr>
        <p:txBody>
          <a:bodyPr wrap="square" lIns="0" tIns="0" rIns="0" bIns="0" rtlCol="0" anchor="ctr"/>
          <a:lstStyle/>
          <a:p>
            <a:pPr marL="0" indent="0">
              <a:buNone/>
            </a:pPr>
            <a:r>
              <a:rPr lang="en-US" sz="1200" b="1" dirty="0">
                <a:solidFill>
                  <a:srgbClr val="0F2E42"/>
                </a:solidFill>
                <a:latin typeface="Calibri" pitchFamily="34" charset="0"/>
                <a:ea typeface="Calibri" pitchFamily="34" charset="-122"/>
                <a:cs typeface="Calibri" pitchFamily="34" charset="-120"/>
              </a:rPr>
              <a:t>Rutas en curso</a:t>
            </a:r>
            <a:endParaRPr lang="en-US" sz="1200" dirty="0"/>
          </a:p>
        </p:txBody>
      </p:sp>
      <p:sp>
        <p:nvSpPr>
          <p:cNvPr id="52" name="Shape 48"/>
          <p:cNvSpPr/>
          <p:nvPr/>
        </p:nvSpPr>
        <p:spPr>
          <a:xfrm>
            <a:off x="2240280" y="4224528"/>
            <a:ext cx="5760720" cy="274320"/>
          </a:xfrm>
          <a:prstGeom prst="rect">
            <a:avLst/>
          </a:prstGeom>
          <a:solidFill>
            <a:srgbClr val="F2F6F9"/>
          </a:solidFill>
          <a:ln w="9525">
            <a:solidFill>
              <a:srgbClr val="D8E2E9"/>
            </a:solidFill>
            <a:prstDash val="solid"/>
          </a:ln>
        </p:spPr>
        <p:txBody>
          <a:bodyPr/>
          <a:lstStyle/>
          <a:p>
            <a:endParaRPr lang="es-CL"/>
          </a:p>
        </p:txBody>
      </p:sp>
      <p:sp>
        <p:nvSpPr>
          <p:cNvPr id="53" name="Text 49"/>
          <p:cNvSpPr/>
          <p:nvPr/>
        </p:nvSpPr>
        <p:spPr>
          <a:xfrm>
            <a:off x="2313432" y="4224528"/>
            <a:ext cx="1005840" cy="274320"/>
          </a:xfrm>
          <a:prstGeom prst="rect">
            <a:avLst/>
          </a:prstGeom>
          <a:noFill/>
          <a:ln/>
        </p:spPr>
        <p:txBody>
          <a:bodyPr wrap="square" lIns="0" tIns="0" rIns="0" bIns="0" rtlCol="0" anchor="ctr"/>
          <a:lstStyle/>
          <a:p>
            <a:pPr marL="0" indent="0">
              <a:buNone/>
            </a:pPr>
            <a:r>
              <a:rPr lang="en-US" sz="850" b="1" dirty="0">
                <a:solidFill>
                  <a:srgbClr val="0F2E42"/>
                </a:solidFill>
                <a:latin typeface="Calibri" pitchFamily="34" charset="0"/>
                <a:ea typeface="Calibri" pitchFamily="34" charset="-122"/>
                <a:cs typeface="Calibri" pitchFamily="34" charset="-120"/>
              </a:rPr>
              <a:t>Ruta</a:t>
            </a:r>
            <a:endParaRPr lang="en-US" sz="850" dirty="0"/>
          </a:p>
        </p:txBody>
      </p:sp>
      <p:sp>
        <p:nvSpPr>
          <p:cNvPr id="54" name="Text 50"/>
          <p:cNvSpPr/>
          <p:nvPr/>
        </p:nvSpPr>
        <p:spPr>
          <a:xfrm>
            <a:off x="3410712" y="4224528"/>
            <a:ext cx="1280160" cy="274320"/>
          </a:xfrm>
          <a:prstGeom prst="rect">
            <a:avLst/>
          </a:prstGeom>
          <a:noFill/>
          <a:ln/>
        </p:spPr>
        <p:txBody>
          <a:bodyPr wrap="square" lIns="0" tIns="0" rIns="0" bIns="0" rtlCol="0" anchor="ctr"/>
          <a:lstStyle/>
          <a:p>
            <a:pPr marL="0" indent="0">
              <a:buNone/>
            </a:pPr>
            <a:r>
              <a:rPr lang="en-US" sz="850" b="1" dirty="0">
                <a:solidFill>
                  <a:srgbClr val="0F2E42"/>
                </a:solidFill>
                <a:latin typeface="Calibri" pitchFamily="34" charset="0"/>
                <a:ea typeface="Calibri" pitchFamily="34" charset="-122"/>
                <a:cs typeface="Calibri" pitchFamily="34" charset="-120"/>
              </a:rPr>
              <a:t>Vehículo</a:t>
            </a:r>
            <a:endParaRPr lang="en-US" sz="850" dirty="0"/>
          </a:p>
        </p:txBody>
      </p:sp>
      <p:sp>
        <p:nvSpPr>
          <p:cNvPr id="55" name="Text 51"/>
          <p:cNvSpPr/>
          <p:nvPr/>
        </p:nvSpPr>
        <p:spPr>
          <a:xfrm>
            <a:off x="4782312" y="4224528"/>
            <a:ext cx="1737360" cy="274320"/>
          </a:xfrm>
          <a:prstGeom prst="rect">
            <a:avLst/>
          </a:prstGeom>
          <a:noFill/>
          <a:ln/>
        </p:spPr>
        <p:txBody>
          <a:bodyPr wrap="square" lIns="0" tIns="0" rIns="0" bIns="0" rtlCol="0" anchor="ctr"/>
          <a:lstStyle/>
          <a:p>
            <a:pPr marL="0" indent="0">
              <a:buNone/>
            </a:pPr>
            <a:r>
              <a:rPr lang="en-US" sz="850" b="1" dirty="0">
                <a:solidFill>
                  <a:srgbClr val="0F2E42"/>
                </a:solidFill>
                <a:latin typeface="Calibri" pitchFamily="34" charset="0"/>
                <a:ea typeface="Calibri" pitchFamily="34" charset="-122"/>
                <a:cs typeface="Calibri" pitchFamily="34" charset="-120"/>
              </a:rPr>
              <a:t>Destino</a:t>
            </a:r>
            <a:endParaRPr lang="en-US" sz="850" dirty="0"/>
          </a:p>
        </p:txBody>
      </p:sp>
      <p:sp>
        <p:nvSpPr>
          <p:cNvPr id="56" name="Text 52"/>
          <p:cNvSpPr/>
          <p:nvPr/>
        </p:nvSpPr>
        <p:spPr>
          <a:xfrm>
            <a:off x="6611112" y="4224528"/>
            <a:ext cx="1371600" cy="274320"/>
          </a:xfrm>
          <a:prstGeom prst="rect">
            <a:avLst/>
          </a:prstGeom>
          <a:noFill/>
          <a:ln/>
        </p:spPr>
        <p:txBody>
          <a:bodyPr wrap="square" lIns="0" tIns="0" rIns="0" bIns="0" rtlCol="0" anchor="ctr"/>
          <a:lstStyle/>
          <a:p>
            <a:pPr marL="0" indent="0">
              <a:buNone/>
            </a:pPr>
            <a:r>
              <a:rPr lang="en-US" sz="850" b="1" dirty="0">
                <a:solidFill>
                  <a:srgbClr val="0F2E42"/>
                </a:solidFill>
                <a:latin typeface="Calibri" pitchFamily="34" charset="0"/>
                <a:ea typeface="Calibri" pitchFamily="34" charset="-122"/>
                <a:cs typeface="Calibri" pitchFamily="34" charset="-120"/>
              </a:rPr>
              <a:t>Avance</a:t>
            </a:r>
            <a:endParaRPr lang="en-US" sz="850" dirty="0"/>
          </a:p>
        </p:txBody>
      </p:sp>
      <p:sp>
        <p:nvSpPr>
          <p:cNvPr id="57" name="Shape 53"/>
          <p:cNvSpPr/>
          <p:nvPr/>
        </p:nvSpPr>
        <p:spPr>
          <a:xfrm>
            <a:off x="2240280" y="4498848"/>
            <a:ext cx="5760720" cy="274320"/>
          </a:xfrm>
          <a:prstGeom prst="rect">
            <a:avLst/>
          </a:prstGeom>
          <a:solidFill>
            <a:srgbClr val="FFFFFF"/>
          </a:solidFill>
          <a:ln w="9525">
            <a:solidFill>
              <a:srgbClr val="D8E2E9"/>
            </a:solidFill>
            <a:prstDash val="solid"/>
          </a:ln>
        </p:spPr>
        <p:txBody>
          <a:bodyPr/>
          <a:lstStyle/>
          <a:p>
            <a:endParaRPr lang="es-CL"/>
          </a:p>
        </p:txBody>
      </p:sp>
      <p:sp>
        <p:nvSpPr>
          <p:cNvPr id="58" name="Text 54"/>
          <p:cNvSpPr/>
          <p:nvPr/>
        </p:nvSpPr>
        <p:spPr>
          <a:xfrm>
            <a:off x="2313432" y="4498848"/>
            <a:ext cx="100584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RT-318</a:t>
            </a:r>
            <a:endParaRPr lang="en-US" sz="850" dirty="0"/>
          </a:p>
        </p:txBody>
      </p:sp>
      <p:sp>
        <p:nvSpPr>
          <p:cNvPr id="59" name="Text 55"/>
          <p:cNvSpPr/>
          <p:nvPr/>
        </p:nvSpPr>
        <p:spPr>
          <a:xfrm>
            <a:off x="3410712" y="4498848"/>
            <a:ext cx="128016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GHTR-88</a:t>
            </a:r>
            <a:endParaRPr lang="en-US" sz="850" dirty="0"/>
          </a:p>
        </p:txBody>
      </p:sp>
      <p:sp>
        <p:nvSpPr>
          <p:cNvPr id="60" name="Text 56"/>
          <p:cNvSpPr/>
          <p:nvPr/>
        </p:nvSpPr>
        <p:spPr>
          <a:xfrm>
            <a:off x="4782312" y="4498848"/>
            <a:ext cx="173736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Curicó</a:t>
            </a:r>
            <a:endParaRPr lang="en-US" sz="850" dirty="0"/>
          </a:p>
        </p:txBody>
      </p:sp>
      <p:sp>
        <p:nvSpPr>
          <p:cNvPr id="61" name="Text 57"/>
          <p:cNvSpPr/>
          <p:nvPr/>
        </p:nvSpPr>
        <p:spPr>
          <a:xfrm>
            <a:off x="6611112" y="4498848"/>
            <a:ext cx="137160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4 de 5 hitos</a:t>
            </a:r>
            <a:endParaRPr lang="en-US" sz="850" dirty="0"/>
          </a:p>
        </p:txBody>
      </p:sp>
      <p:sp>
        <p:nvSpPr>
          <p:cNvPr id="62" name="Shape 58"/>
          <p:cNvSpPr/>
          <p:nvPr/>
        </p:nvSpPr>
        <p:spPr>
          <a:xfrm>
            <a:off x="2240280" y="4773168"/>
            <a:ext cx="5760720" cy="274320"/>
          </a:xfrm>
          <a:prstGeom prst="rect">
            <a:avLst/>
          </a:prstGeom>
          <a:solidFill>
            <a:srgbClr val="FFFFFF"/>
          </a:solidFill>
          <a:ln w="9525">
            <a:solidFill>
              <a:srgbClr val="D8E2E9"/>
            </a:solidFill>
            <a:prstDash val="solid"/>
          </a:ln>
        </p:spPr>
        <p:txBody>
          <a:bodyPr/>
          <a:lstStyle/>
          <a:p>
            <a:endParaRPr lang="es-CL"/>
          </a:p>
        </p:txBody>
      </p:sp>
      <p:sp>
        <p:nvSpPr>
          <p:cNvPr id="63" name="Text 59"/>
          <p:cNvSpPr/>
          <p:nvPr/>
        </p:nvSpPr>
        <p:spPr>
          <a:xfrm>
            <a:off x="2313432" y="4773168"/>
            <a:ext cx="100584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RT-319</a:t>
            </a:r>
            <a:endParaRPr lang="en-US" sz="850" dirty="0"/>
          </a:p>
        </p:txBody>
      </p:sp>
      <p:sp>
        <p:nvSpPr>
          <p:cNvPr id="64" name="Text 60"/>
          <p:cNvSpPr/>
          <p:nvPr/>
        </p:nvSpPr>
        <p:spPr>
          <a:xfrm>
            <a:off x="3410712" y="4773168"/>
            <a:ext cx="128016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BCDF-12</a:t>
            </a:r>
            <a:endParaRPr lang="en-US" sz="850" dirty="0"/>
          </a:p>
        </p:txBody>
      </p:sp>
      <p:sp>
        <p:nvSpPr>
          <p:cNvPr id="65" name="Text 61"/>
          <p:cNvSpPr/>
          <p:nvPr/>
        </p:nvSpPr>
        <p:spPr>
          <a:xfrm>
            <a:off x="4782312" y="4773168"/>
            <a:ext cx="173736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Rancagua</a:t>
            </a:r>
            <a:endParaRPr lang="en-US" sz="850" dirty="0"/>
          </a:p>
        </p:txBody>
      </p:sp>
      <p:sp>
        <p:nvSpPr>
          <p:cNvPr id="66" name="Text 62"/>
          <p:cNvSpPr/>
          <p:nvPr/>
        </p:nvSpPr>
        <p:spPr>
          <a:xfrm>
            <a:off x="6611112" y="4773168"/>
            <a:ext cx="137160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2 de 4 hitos</a:t>
            </a:r>
            <a:endParaRPr lang="en-US" sz="850" dirty="0"/>
          </a:p>
        </p:txBody>
      </p:sp>
      <p:sp>
        <p:nvSpPr>
          <p:cNvPr id="67" name="Shape 63"/>
          <p:cNvSpPr/>
          <p:nvPr/>
        </p:nvSpPr>
        <p:spPr>
          <a:xfrm>
            <a:off x="2240280" y="5047488"/>
            <a:ext cx="5760720" cy="274320"/>
          </a:xfrm>
          <a:prstGeom prst="rect">
            <a:avLst/>
          </a:prstGeom>
          <a:solidFill>
            <a:srgbClr val="FFFFFF"/>
          </a:solidFill>
          <a:ln w="9525">
            <a:solidFill>
              <a:srgbClr val="D8E2E9"/>
            </a:solidFill>
            <a:prstDash val="solid"/>
          </a:ln>
        </p:spPr>
        <p:txBody>
          <a:bodyPr/>
          <a:lstStyle/>
          <a:p>
            <a:endParaRPr lang="es-CL"/>
          </a:p>
        </p:txBody>
      </p:sp>
      <p:sp>
        <p:nvSpPr>
          <p:cNvPr id="68" name="Text 64"/>
          <p:cNvSpPr/>
          <p:nvPr/>
        </p:nvSpPr>
        <p:spPr>
          <a:xfrm>
            <a:off x="2313432" y="5047488"/>
            <a:ext cx="100584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RT-320</a:t>
            </a:r>
            <a:endParaRPr lang="en-US" sz="850" dirty="0"/>
          </a:p>
        </p:txBody>
      </p:sp>
      <p:sp>
        <p:nvSpPr>
          <p:cNvPr id="69" name="Text 65"/>
          <p:cNvSpPr/>
          <p:nvPr/>
        </p:nvSpPr>
        <p:spPr>
          <a:xfrm>
            <a:off x="3410712" y="5047488"/>
            <a:ext cx="128016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PQRS-70</a:t>
            </a:r>
            <a:endParaRPr lang="en-US" sz="850" dirty="0"/>
          </a:p>
        </p:txBody>
      </p:sp>
      <p:sp>
        <p:nvSpPr>
          <p:cNvPr id="70" name="Text 66"/>
          <p:cNvSpPr/>
          <p:nvPr/>
        </p:nvSpPr>
        <p:spPr>
          <a:xfrm>
            <a:off x="4782312" y="5047488"/>
            <a:ext cx="173736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San Antonio</a:t>
            </a:r>
            <a:endParaRPr lang="en-US" sz="850" dirty="0"/>
          </a:p>
        </p:txBody>
      </p:sp>
      <p:sp>
        <p:nvSpPr>
          <p:cNvPr id="71" name="Text 67"/>
          <p:cNvSpPr/>
          <p:nvPr/>
        </p:nvSpPr>
        <p:spPr>
          <a:xfrm>
            <a:off x="6611112" y="5047488"/>
            <a:ext cx="137160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1 de 3 hitos</a:t>
            </a:r>
            <a:endParaRPr lang="en-US" sz="850" dirty="0"/>
          </a:p>
        </p:txBody>
      </p:sp>
      <p:sp>
        <p:nvSpPr>
          <p:cNvPr id="72" name="Shape 68"/>
          <p:cNvSpPr/>
          <p:nvPr/>
        </p:nvSpPr>
        <p:spPr>
          <a:xfrm>
            <a:off x="2240280" y="5321808"/>
            <a:ext cx="5760720" cy="274320"/>
          </a:xfrm>
          <a:prstGeom prst="rect">
            <a:avLst/>
          </a:prstGeom>
          <a:solidFill>
            <a:srgbClr val="FFFFFF"/>
          </a:solidFill>
          <a:ln w="9525">
            <a:solidFill>
              <a:srgbClr val="D8E2E9"/>
            </a:solidFill>
            <a:prstDash val="solid"/>
          </a:ln>
        </p:spPr>
        <p:txBody>
          <a:bodyPr/>
          <a:lstStyle/>
          <a:p>
            <a:endParaRPr lang="es-CL"/>
          </a:p>
        </p:txBody>
      </p:sp>
      <p:sp>
        <p:nvSpPr>
          <p:cNvPr id="73" name="Text 69"/>
          <p:cNvSpPr/>
          <p:nvPr/>
        </p:nvSpPr>
        <p:spPr>
          <a:xfrm>
            <a:off x="2313432" y="5321808"/>
            <a:ext cx="100584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RT-321</a:t>
            </a:r>
            <a:endParaRPr lang="en-US" sz="850" dirty="0"/>
          </a:p>
        </p:txBody>
      </p:sp>
      <p:sp>
        <p:nvSpPr>
          <p:cNvPr id="74" name="Text 70"/>
          <p:cNvSpPr/>
          <p:nvPr/>
        </p:nvSpPr>
        <p:spPr>
          <a:xfrm>
            <a:off x="3410712" y="5321808"/>
            <a:ext cx="128016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KLMN-33</a:t>
            </a:r>
            <a:endParaRPr lang="en-US" sz="850" dirty="0"/>
          </a:p>
        </p:txBody>
      </p:sp>
      <p:sp>
        <p:nvSpPr>
          <p:cNvPr id="75" name="Text 71"/>
          <p:cNvSpPr/>
          <p:nvPr/>
        </p:nvSpPr>
        <p:spPr>
          <a:xfrm>
            <a:off x="4782312" y="5321808"/>
            <a:ext cx="173736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Melipilla</a:t>
            </a:r>
            <a:endParaRPr lang="en-US" sz="850" dirty="0"/>
          </a:p>
        </p:txBody>
      </p:sp>
      <p:sp>
        <p:nvSpPr>
          <p:cNvPr id="76" name="Text 72"/>
          <p:cNvSpPr/>
          <p:nvPr/>
        </p:nvSpPr>
        <p:spPr>
          <a:xfrm>
            <a:off x="6611112" y="5321808"/>
            <a:ext cx="1371600" cy="274320"/>
          </a:xfrm>
          <a:prstGeom prst="rect">
            <a:avLst/>
          </a:prstGeom>
          <a:noFill/>
          <a:ln/>
        </p:spPr>
        <p:txBody>
          <a:bodyPr wrap="square" lIns="0" tIns="0" rIns="0" bIns="0" rtlCol="0" anchor="ctr"/>
          <a:lstStyle/>
          <a:p>
            <a:pPr marL="0" indent="0">
              <a:buNone/>
            </a:pPr>
            <a:r>
              <a:rPr lang="en-US" sz="850" dirty="0">
                <a:solidFill>
                  <a:srgbClr val="5A6B78"/>
                </a:solidFill>
                <a:latin typeface="Calibri" pitchFamily="34" charset="0"/>
                <a:ea typeface="Calibri" pitchFamily="34" charset="-122"/>
                <a:cs typeface="Calibri" pitchFamily="34" charset="-120"/>
              </a:rPr>
              <a:t>3 de 3 hitos</a:t>
            </a:r>
            <a:endParaRPr lang="en-US" sz="850" dirty="0"/>
          </a:p>
        </p:txBody>
      </p:sp>
      <p:sp>
        <p:nvSpPr>
          <p:cNvPr id="77" name="Shape 73"/>
          <p:cNvSpPr/>
          <p:nvPr/>
        </p:nvSpPr>
        <p:spPr>
          <a:xfrm>
            <a:off x="8275320" y="3931920"/>
            <a:ext cx="2880360" cy="1965960"/>
          </a:xfrm>
          <a:prstGeom prst="roundRect">
            <a:avLst>
              <a:gd name="adj" fmla="val 2791"/>
            </a:avLst>
          </a:prstGeom>
          <a:solidFill>
            <a:srgbClr val="F2F6F9"/>
          </a:solidFill>
          <a:ln w="9525">
            <a:solidFill>
              <a:srgbClr val="D8E2E9"/>
            </a:solidFill>
            <a:prstDash val="solid"/>
          </a:ln>
        </p:spPr>
        <p:txBody>
          <a:bodyPr/>
          <a:lstStyle/>
          <a:p>
            <a:endParaRPr lang="es-CL"/>
          </a:p>
        </p:txBody>
      </p:sp>
      <p:sp>
        <p:nvSpPr>
          <p:cNvPr id="78" name="Text 74"/>
          <p:cNvSpPr/>
          <p:nvPr/>
        </p:nvSpPr>
        <p:spPr>
          <a:xfrm>
            <a:off x="8439912" y="4041648"/>
            <a:ext cx="2560320" cy="237744"/>
          </a:xfrm>
          <a:prstGeom prst="rect">
            <a:avLst/>
          </a:prstGeom>
          <a:noFill/>
          <a:ln/>
        </p:spPr>
        <p:txBody>
          <a:bodyPr wrap="square" lIns="0" tIns="0" rIns="0" bIns="0" rtlCol="0" anchor="ctr"/>
          <a:lstStyle/>
          <a:p>
            <a:pPr marL="0" indent="0">
              <a:buNone/>
            </a:pPr>
            <a:r>
              <a:rPr lang="en-US" sz="1100" b="1" dirty="0">
                <a:solidFill>
                  <a:srgbClr val="0F2E42"/>
                </a:solidFill>
                <a:latin typeface="Calibri" pitchFamily="34" charset="0"/>
                <a:ea typeface="Calibri" pitchFamily="34" charset="-122"/>
                <a:cs typeface="Calibri" pitchFamily="34" charset="-120"/>
              </a:rPr>
              <a:t>Documentos del viaje</a:t>
            </a:r>
            <a:endParaRPr lang="en-US" sz="1100" dirty="0"/>
          </a:p>
        </p:txBody>
      </p:sp>
      <p:sp>
        <p:nvSpPr>
          <p:cNvPr id="79" name="Shape 75"/>
          <p:cNvSpPr/>
          <p:nvPr/>
        </p:nvSpPr>
        <p:spPr>
          <a:xfrm>
            <a:off x="8439912" y="4370832"/>
            <a:ext cx="2560320" cy="420624"/>
          </a:xfrm>
          <a:prstGeom prst="roundRect">
            <a:avLst>
              <a:gd name="adj" fmla="val 10870"/>
            </a:avLst>
          </a:prstGeom>
          <a:solidFill>
            <a:srgbClr val="FFFFFF"/>
          </a:solidFill>
          <a:ln w="9525">
            <a:solidFill>
              <a:srgbClr val="D8E2E9"/>
            </a:solidFill>
            <a:prstDash val="solid"/>
          </a:ln>
        </p:spPr>
        <p:txBody>
          <a:bodyPr/>
          <a:lstStyle/>
          <a:p>
            <a:endParaRPr lang="es-CL"/>
          </a:p>
        </p:txBody>
      </p:sp>
      <p:sp>
        <p:nvSpPr>
          <p:cNvPr id="80" name="Shape 76"/>
          <p:cNvSpPr/>
          <p:nvPr/>
        </p:nvSpPr>
        <p:spPr>
          <a:xfrm>
            <a:off x="8567928" y="4517136"/>
            <a:ext cx="128016" cy="128016"/>
          </a:xfrm>
          <a:prstGeom prst="ellipse">
            <a:avLst/>
          </a:prstGeom>
          <a:solidFill>
            <a:srgbClr val="16A394"/>
          </a:solidFill>
          <a:ln w="12700">
            <a:solidFill>
              <a:srgbClr val="16A394"/>
            </a:solidFill>
            <a:prstDash val="solid"/>
          </a:ln>
        </p:spPr>
        <p:txBody>
          <a:bodyPr/>
          <a:lstStyle/>
          <a:p>
            <a:endParaRPr lang="es-CL"/>
          </a:p>
        </p:txBody>
      </p:sp>
      <p:sp>
        <p:nvSpPr>
          <p:cNvPr id="81" name="Text 77"/>
          <p:cNvSpPr/>
          <p:nvPr/>
        </p:nvSpPr>
        <p:spPr>
          <a:xfrm>
            <a:off x="8769096" y="4398264"/>
            <a:ext cx="2103120" cy="182880"/>
          </a:xfrm>
          <a:prstGeom prst="rect">
            <a:avLst/>
          </a:prstGeom>
          <a:noFill/>
          <a:ln/>
        </p:spPr>
        <p:txBody>
          <a:bodyPr wrap="square" lIns="0" tIns="0" rIns="0" bIns="0" rtlCol="0" anchor="ctr"/>
          <a:lstStyle/>
          <a:p>
            <a:pPr marL="0" indent="0">
              <a:buNone/>
            </a:pPr>
            <a:r>
              <a:rPr lang="en-US" sz="850" b="1" dirty="0">
                <a:solidFill>
                  <a:srgbClr val="0F2E42"/>
                </a:solidFill>
                <a:latin typeface="Calibri" pitchFamily="34" charset="0"/>
                <a:ea typeface="Calibri" pitchFamily="34" charset="-122"/>
                <a:cs typeface="Calibri" pitchFamily="34" charset="-120"/>
              </a:rPr>
              <a:t>GD-88412</a:t>
            </a:r>
            <a:endParaRPr lang="en-US" sz="850" dirty="0"/>
          </a:p>
        </p:txBody>
      </p:sp>
      <p:sp>
        <p:nvSpPr>
          <p:cNvPr id="82" name="Text 78"/>
          <p:cNvSpPr/>
          <p:nvPr/>
        </p:nvSpPr>
        <p:spPr>
          <a:xfrm>
            <a:off x="8769096" y="4572000"/>
            <a:ext cx="2148840" cy="182880"/>
          </a:xfrm>
          <a:prstGeom prst="rect">
            <a:avLst/>
          </a:prstGeom>
          <a:noFill/>
          <a:ln/>
        </p:spPr>
        <p:txBody>
          <a:bodyPr wrap="square" lIns="0" tIns="0" rIns="0" bIns="0" rtlCol="0" anchor="ctr"/>
          <a:lstStyle/>
          <a:p>
            <a:pPr marL="0" indent="0">
              <a:buNone/>
            </a:pPr>
            <a:r>
              <a:rPr lang="en-US" sz="750" dirty="0">
                <a:solidFill>
                  <a:srgbClr val="5A6B78"/>
                </a:solidFill>
                <a:latin typeface="Calibri" pitchFamily="34" charset="0"/>
                <a:ea typeface="Calibri" pitchFamily="34" charset="-122"/>
                <a:cs typeface="Calibri" pitchFamily="34" charset="-120"/>
              </a:rPr>
              <a:t>Guía de despacho · cargada</a:t>
            </a:r>
            <a:endParaRPr lang="en-US" sz="750" dirty="0"/>
          </a:p>
        </p:txBody>
      </p:sp>
      <p:sp>
        <p:nvSpPr>
          <p:cNvPr id="83" name="Shape 79"/>
          <p:cNvSpPr/>
          <p:nvPr/>
        </p:nvSpPr>
        <p:spPr>
          <a:xfrm>
            <a:off x="8439912" y="4873752"/>
            <a:ext cx="2560320" cy="420624"/>
          </a:xfrm>
          <a:prstGeom prst="roundRect">
            <a:avLst>
              <a:gd name="adj" fmla="val 10870"/>
            </a:avLst>
          </a:prstGeom>
          <a:solidFill>
            <a:srgbClr val="FFFFFF"/>
          </a:solidFill>
          <a:ln w="9525">
            <a:solidFill>
              <a:srgbClr val="D8E2E9"/>
            </a:solidFill>
            <a:prstDash val="solid"/>
          </a:ln>
        </p:spPr>
        <p:txBody>
          <a:bodyPr/>
          <a:lstStyle/>
          <a:p>
            <a:endParaRPr lang="es-CL"/>
          </a:p>
        </p:txBody>
      </p:sp>
      <p:sp>
        <p:nvSpPr>
          <p:cNvPr id="84" name="Shape 80"/>
          <p:cNvSpPr/>
          <p:nvPr/>
        </p:nvSpPr>
        <p:spPr>
          <a:xfrm>
            <a:off x="8567928" y="5020056"/>
            <a:ext cx="128016" cy="128016"/>
          </a:xfrm>
          <a:prstGeom prst="ellipse">
            <a:avLst/>
          </a:prstGeom>
          <a:solidFill>
            <a:srgbClr val="16A394"/>
          </a:solidFill>
          <a:ln w="12700">
            <a:solidFill>
              <a:srgbClr val="16A394"/>
            </a:solidFill>
            <a:prstDash val="solid"/>
          </a:ln>
        </p:spPr>
        <p:txBody>
          <a:bodyPr/>
          <a:lstStyle/>
          <a:p>
            <a:endParaRPr lang="es-CL"/>
          </a:p>
        </p:txBody>
      </p:sp>
      <p:sp>
        <p:nvSpPr>
          <p:cNvPr id="85" name="Text 81"/>
          <p:cNvSpPr/>
          <p:nvPr/>
        </p:nvSpPr>
        <p:spPr>
          <a:xfrm>
            <a:off x="8769096" y="4901184"/>
            <a:ext cx="2103120" cy="182880"/>
          </a:xfrm>
          <a:prstGeom prst="rect">
            <a:avLst/>
          </a:prstGeom>
          <a:noFill/>
          <a:ln/>
        </p:spPr>
        <p:txBody>
          <a:bodyPr wrap="square" lIns="0" tIns="0" rIns="0" bIns="0" rtlCol="0" anchor="ctr"/>
          <a:lstStyle/>
          <a:p>
            <a:pPr marL="0" indent="0">
              <a:buNone/>
            </a:pPr>
            <a:r>
              <a:rPr lang="en-US" sz="850" b="1" dirty="0">
                <a:solidFill>
                  <a:srgbClr val="0F2E42"/>
                </a:solidFill>
                <a:latin typeface="Calibri" pitchFamily="34" charset="0"/>
                <a:ea typeface="Calibri" pitchFamily="34" charset="-122"/>
                <a:cs typeface="Calibri" pitchFamily="34" charset="-120"/>
              </a:rPr>
              <a:t>FA-20391</a:t>
            </a:r>
            <a:endParaRPr lang="en-US" sz="850" dirty="0"/>
          </a:p>
        </p:txBody>
      </p:sp>
      <p:sp>
        <p:nvSpPr>
          <p:cNvPr id="86" name="Text 82"/>
          <p:cNvSpPr/>
          <p:nvPr/>
        </p:nvSpPr>
        <p:spPr>
          <a:xfrm>
            <a:off x="8769096" y="5074920"/>
            <a:ext cx="2148840" cy="182880"/>
          </a:xfrm>
          <a:prstGeom prst="rect">
            <a:avLst/>
          </a:prstGeom>
          <a:noFill/>
          <a:ln/>
        </p:spPr>
        <p:txBody>
          <a:bodyPr wrap="square" lIns="0" tIns="0" rIns="0" bIns="0" rtlCol="0" anchor="ctr"/>
          <a:lstStyle/>
          <a:p>
            <a:pPr marL="0" indent="0">
              <a:buNone/>
            </a:pPr>
            <a:r>
              <a:rPr lang="en-US" sz="750" dirty="0">
                <a:solidFill>
                  <a:srgbClr val="5A6B78"/>
                </a:solidFill>
                <a:latin typeface="Calibri" pitchFamily="34" charset="0"/>
                <a:ea typeface="Calibri" pitchFamily="34" charset="-122"/>
                <a:cs typeface="Calibri" pitchFamily="34" charset="-120"/>
              </a:rPr>
              <a:t>Factura · emitida</a:t>
            </a:r>
            <a:endParaRPr lang="en-US" sz="750" dirty="0"/>
          </a:p>
        </p:txBody>
      </p:sp>
      <p:sp>
        <p:nvSpPr>
          <p:cNvPr id="87" name="Shape 83"/>
          <p:cNvSpPr/>
          <p:nvPr/>
        </p:nvSpPr>
        <p:spPr>
          <a:xfrm>
            <a:off x="8439912" y="5376672"/>
            <a:ext cx="2560320" cy="420624"/>
          </a:xfrm>
          <a:prstGeom prst="roundRect">
            <a:avLst>
              <a:gd name="adj" fmla="val 10870"/>
            </a:avLst>
          </a:prstGeom>
          <a:solidFill>
            <a:srgbClr val="FFFFFF"/>
          </a:solidFill>
          <a:ln w="9525">
            <a:solidFill>
              <a:srgbClr val="D8E2E9"/>
            </a:solidFill>
            <a:prstDash val="solid"/>
          </a:ln>
        </p:spPr>
        <p:txBody>
          <a:bodyPr/>
          <a:lstStyle/>
          <a:p>
            <a:endParaRPr lang="es-CL"/>
          </a:p>
        </p:txBody>
      </p:sp>
      <p:sp>
        <p:nvSpPr>
          <p:cNvPr id="88" name="Shape 84"/>
          <p:cNvSpPr/>
          <p:nvPr/>
        </p:nvSpPr>
        <p:spPr>
          <a:xfrm>
            <a:off x="8567928" y="5522976"/>
            <a:ext cx="128016" cy="128016"/>
          </a:xfrm>
          <a:prstGeom prst="ellipse">
            <a:avLst/>
          </a:prstGeom>
          <a:solidFill>
            <a:srgbClr val="C87B2E"/>
          </a:solidFill>
          <a:ln w="12700">
            <a:solidFill>
              <a:srgbClr val="C87B2E"/>
            </a:solidFill>
            <a:prstDash val="solid"/>
          </a:ln>
        </p:spPr>
        <p:txBody>
          <a:bodyPr/>
          <a:lstStyle/>
          <a:p>
            <a:endParaRPr lang="es-CL"/>
          </a:p>
        </p:txBody>
      </p:sp>
      <p:sp>
        <p:nvSpPr>
          <p:cNvPr id="89" name="Text 85"/>
          <p:cNvSpPr/>
          <p:nvPr/>
        </p:nvSpPr>
        <p:spPr>
          <a:xfrm>
            <a:off x="8769096" y="5404104"/>
            <a:ext cx="2103120" cy="182880"/>
          </a:xfrm>
          <a:prstGeom prst="rect">
            <a:avLst/>
          </a:prstGeom>
          <a:noFill/>
          <a:ln/>
        </p:spPr>
        <p:txBody>
          <a:bodyPr wrap="square" lIns="0" tIns="0" rIns="0" bIns="0" rtlCol="0" anchor="ctr"/>
          <a:lstStyle/>
          <a:p>
            <a:pPr marL="0" indent="0">
              <a:buNone/>
            </a:pPr>
            <a:r>
              <a:rPr lang="en-US" sz="850" b="1" dirty="0">
                <a:solidFill>
                  <a:srgbClr val="0F2E42"/>
                </a:solidFill>
                <a:latin typeface="Calibri" pitchFamily="34" charset="0"/>
                <a:ea typeface="Calibri" pitchFamily="34" charset="-122"/>
                <a:cs typeface="Calibri" pitchFamily="34" charset="-120"/>
              </a:rPr>
              <a:t>EV-0774</a:t>
            </a:r>
            <a:endParaRPr lang="en-US" sz="850" dirty="0"/>
          </a:p>
        </p:txBody>
      </p:sp>
      <p:sp>
        <p:nvSpPr>
          <p:cNvPr id="90" name="Text 86"/>
          <p:cNvSpPr/>
          <p:nvPr/>
        </p:nvSpPr>
        <p:spPr>
          <a:xfrm>
            <a:off x="8769096" y="5577840"/>
            <a:ext cx="2148840" cy="182880"/>
          </a:xfrm>
          <a:prstGeom prst="rect">
            <a:avLst/>
          </a:prstGeom>
          <a:noFill/>
          <a:ln/>
        </p:spPr>
        <p:txBody>
          <a:bodyPr wrap="square" lIns="0" tIns="0" rIns="0" bIns="0" rtlCol="0" anchor="ctr"/>
          <a:lstStyle/>
          <a:p>
            <a:pPr marL="0" indent="0">
              <a:buNone/>
            </a:pPr>
            <a:r>
              <a:rPr lang="en-US" sz="750" dirty="0">
                <a:solidFill>
                  <a:srgbClr val="5A6B78"/>
                </a:solidFill>
                <a:latin typeface="Calibri" pitchFamily="34" charset="0"/>
                <a:ea typeface="Calibri" pitchFamily="34" charset="-122"/>
                <a:cs typeface="Calibri" pitchFamily="34" charset="-120"/>
              </a:rPr>
              <a:t>Evidencia de entrega · pendiente</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548640"/>
          </a:xfrm>
          <a:prstGeom prst="rect">
            <a:avLst/>
          </a:prstGeom>
          <a:noFill/>
          <a:ln/>
        </p:spPr>
        <p:txBody>
          <a:bodyPr wrap="square" lIns="0" tIns="0" rIns="0" bIns="0" rtlCol="0" anchor="ctr"/>
          <a:lstStyle/>
          <a:p>
            <a:pPr marL="0" indent="0">
              <a:buNone/>
            </a:pPr>
            <a:r>
              <a:rPr lang="en-US" sz="3000" b="1" dirty="0">
                <a:solidFill>
                  <a:srgbClr val="0F2E42"/>
                </a:solidFill>
                <a:latin typeface="Calibri" pitchFamily="34" charset="0"/>
                <a:ea typeface="Calibri" pitchFamily="34" charset="-122"/>
                <a:cs typeface="Calibri" pitchFamily="34" charset="-120"/>
              </a:rPr>
              <a:t>Mockup · Mantenimiento de flota</a:t>
            </a:r>
            <a:endParaRPr lang="en-US" sz="3000" dirty="0"/>
          </a:p>
        </p:txBody>
      </p:sp>
      <p:sp>
        <p:nvSpPr>
          <p:cNvPr id="3" name="Text 1"/>
          <p:cNvSpPr/>
          <p:nvPr/>
        </p:nvSpPr>
        <p:spPr>
          <a:xfrm>
            <a:off x="640080" y="932688"/>
            <a:ext cx="10881360" cy="36576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Control del activo más caro del negocio</a:t>
            </a:r>
            <a:endParaRPr lang="en-US" sz="1500" dirty="0"/>
          </a:p>
        </p:txBody>
      </p:sp>
      <p:pic>
        <p:nvPicPr>
          <p:cNvPr id="4" name="Image 0" descr="/mnt/user-data/outputs/logo/vialnex-isotipo-512.png"/>
          <p:cNvPicPr>
            <a:picLocks noChangeAspect="1"/>
          </p:cNvPicPr>
          <p:nvPr/>
        </p:nvPicPr>
        <p:blipFill>
          <a:blip r:embed="rId3"/>
          <a:stretch>
            <a:fillRect/>
          </a:stretch>
        </p:blipFill>
        <p:spPr>
          <a:xfrm>
            <a:off x="11475720" y="6172200"/>
            <a:ext cx="384048" cy="384048"/>
          </a:xfrm>
          <a:prstGeom prst="rect">
            <a:avLst/>
          </a:prstGeom>
        </p:spPr>
      </p:pic>
      <p:sp>
        <p:nvSpPr>
          <p:cNvPr id="5" name="Shape 2"/>
          <p:cNvSpPr/>
          <p:nvPr/>
        </p:nvSpPr>
        <p:spPr>
          <a:xfrm>
            <a:off x="640080" y="1508760"/>
            <a:ext cx="7589520" cy="4800600"/>
          </a:xfrm>
          <a:prstGeom prst="roundRect">
            <a:avLst>
              <a:gd name="adj" fmla="val 952"/>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6" name="Shape 3"/>
          <p:cNvSpPr/>
          <p:nvPr/>
        </p:nvSpPr>
        <p:spPr>
          <a:xfrm>
            <a:off x="649224" y="1517904"/>
            <a:ext cx="7571232" cy="292608"/>
          </a:xfrm>
          <a:prstGeom prst="rect">
            <a:avLst/>
          </a:prstGeom>
          <a:solidFill>
            <a:srgbClr val="F2F6F9"/>
          </a:solidFill>
          <a:ln w="12700">
            <a:solidFill>
              <a:srgbClr val="F2F6F9"/>
            </a:solidFill>
            <a:prstDash val="solid"/>
          </a:ln>
        </p:spPr>
        <p:txBody>
          <a:bodyPr/>
          <a:lstStyle/>
          <a:p>
            <a:endParaRPr lang="es-CL"/>
          </a:p>
        </p:txBody>
      </p:sp>
      <p:sp>
        <p:nvSpPr>
          <p:cNvPr id="7" name="Shape 4"/>
          <p:cNvSpPr/>
          <p:nvPr/>
        </p:nvSpPr>
        <p:spPr>
          <a:xfrm>
            <a:off x="786384" y="1609344"/>
            <a:ext cx="100584" cy="100584"/>
          </a:xfrm>
          <a:prstGeom prst="ellipse">
            <a:avLst/>
          </a:prstGeom>
          <a:solidFill>
            <a:srgbClr val="E06C5B"/>
          </a:solidFill>
          <a:ln w="12700">
            <a:solidFill>
              <a:srgbClr val="E06C5B"/>
            </a:solidFill>
            <a:prstDash val="solid"/>
          </a:ln>
        </p:spPr>
        <p:txBody>
          <a:bodyPr/>
          <a:lstStyle/>
          <a:p>
            <a:endParaRPr lang="es-CL"/>
          </a:p>
        </p:txBody>
      </p:sp>
      <p:sp>
        <p:nvSpPr>
          <p:cNvPr id="8" name="Shape 5"/>
          <p:cNvSpPr/>
          <p:nvPr/>
        </p:nvSpPr>
        <p:spPr>
          <a:xfrm>
            <a:off x="969264" y="1609344"/>
            <a:ext cx="100584" cy="100584"/>
          </a:xfrm>
          <a:prstGeom prst="ellipse">
            <a:avLst/>
          </a:prstGeom>
          <a:solidFill>
            <a:srgbClr val="E8B84B"/>
          </a:solidFill>
          <a:ln w="12700">
            <a:solidFill>
              <a:srgbClr val="E8B84B"/>
            </a:solidFill>
            <a:prstDash val="solid"/>
          </a:ln>
        </p:spPr>
        <p:txBody>
          <a:bodyPr/>
          <a:lstStyle/>
          <a:p>
            <a:endParaRPr lang="es-CL"/>
          </a:p>
        </p:txBody>
      </p:sp>
      <p:sp>
        <p:nvSpPr>
          <p:cNvPr id="9" name="Shape 6"/>
          <p:cNvSpPr/>
          <p:nvPr/>
        </p:nvSpPr>
        <p:spPr>
          <a:xfrm>
            <a:off x="1152144" y="1609344"/>
            <a:ext cx="100584" cy="100584"/>
          </a:xfrm>
          <a:prstGeom prst="ellipse">
            <a:avLst/>
          </a:prstGeom>
          <a:solidFill>
            <a:srgbClr val="5BB98C"/>
          </a:solidFill>
          <a:ln w="12700">
            <a:solidFill>
              <a:srgbClr val="5BB98C"/>
            </a:solidFill>
            <a:prstDash val="solid"/>
          </a:ln>
        </p:spPr>
        <p:txBody>
          <a:bodyPr/>
          <a:lstStyle/>
          <a:p>
            <a:endParaRPr lang="es-CL"/>
          </a:p>
        </p:txBody>
      </p:sp>
      <p:sp>
        <p:nvSpPr>
          <p:cNvPr id="10" name="Shape 7"/>
          <p:cNvSpPr/>
          <p:nvPr/>
        </p:nvSpPr>
        <p:spPr>
          <a:xfrm>
            <a:off x="1417320" y="1572768"/>
            <a:ext cx="6583680" cy="182880"/>
          </a:xfrm>
          <a:prstGeom prst="roundRect">
            <a:avLst>
              <a:gd name="adj" fmla="val 25000"/>
            </a:avLst>
          </a:prstGeom>
          <a:solidFill>
            <a:srgbClr val="FFFFFF"/>
          </a:solidFill>
          <a:ln w="9525">
            <a:solidFill>
              <a:srgbClr val="D8E2E9"/>
            </a:solidFill>
            <a:prstDash val="solid"/>
          </a:ln>
        </p:spPr>
        <p:txBody>
          <a:bodyPr/>
          <a:lstStyle/>
          <a:p>
            <a:endParaRPr lang="es-CL"/>
          </a:p>
        </p:txBody>
      </p:sp>
      <p:sp>
        <p:nvSpPr>
          <p:cNvPr id="11" name="Text 8"/>
          <p:cNvSpPr/>
          <p:nvPr/>
        </p:nvSpPr>
        <p:spPr>
          <a:xfrm>
            <a:off x="1508760" y="1572768"/>
            <a:ext cx="6400800" cy="18288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vialnex.cl/flota</a:t>
            </a:r>
            <a:endParaRPr lang="en-US" sz="800" dirty="0"/>
          </a:p>
        </p:txBody>
      </p:sp>
      <p:sp>
        <p:nvSpPr>
          <p:cNvPr id="12" name="Shape 9"/>
          <p:cNvSpPr/>
          <p:nvPr/>
        </p:nvSpPr>
        <p:spPr>
          <a:xfrm>
            <a:off x="649224" y="1810512"/>
            <a:ext cx="1417320" cy="4489704"/>
          </a:xfrm>
          <a:prstGeom prst="rect">
            <a:avLst/>
          </a:prstGeom>
          <a:solidFill>
            <a:srgbClr val="0F2E42"/>
          </a:solidFill>
          <a:ln w="12700">
            <a:solidFill>
              <a:srgbClr val="0F2E42"/>
            </a:solidFill>
            <a:prstDash val="solid"/>
          </a:ln>
        </p:spPr>
        <p:txBody>
          <a:bodyPr/>
          <a:lstStyle/>
          <a:p>
            <a:endParaRPr lang="es-CL"/>
          </a:p>
        </p:txBody>
      </p:sp>
      <p:pic>
        <p:nvPicPr>
          <p:cNvPr id="13" name="Image 1" descr="/mnt/user-data/outputs/logo/vialnex-logo-blanco-transp-1024.png"/>
          <p:cNvPicPr>
            <a:picLocks noChangeAspect="1"/>
          </p:cNvPicPr>
          <p:nvPr/>
        </p:nvPicPr>
        <p:blipFill>
          <a:blip r:embed="rId4"/>
          <a:stretch>
            <a:fillRect/>
          </a:stretch>
        </p:blipFill>
        <p:spPr>
          <a:xfrm>
            <a:off x="749808" y="1892808"/>
            <a:ext cx="960120" cy="283464"/>
          </a:xfrm>
          <a:prstGeom prst="rect">
            <a:avLst/>
          </a:prstGeom>
        </p:spPr>
      </p:pic>
      <p:sp>
        <p:nvSpPr>
          <p:cNvPr id="14" name="Shape 10"/>
          <p:cNvSpPr/>
          <p:nvPr/>
        </p:nvSpPr>
        <p:spPr>
          <a:xfrm>
            <a:off x="859536" y="2450592"/>
            <a:ext cx="82296" cy="82296"/>
          </a:xfrm>
          <a:prstGeom prst="ellipse">
            <a:avLst/>
          </a:prstGeom>
          <a:solidFill>
            <a:srgbClr val="2E7FB8"/>
          </a:solidFill>
          <a:ln w="12700">
            <a:solidFill>
              <a:srgbClr val="2E7FB8"/>
            </a:solidFill>
            <a:prstDash val="solid"/>
          </a:ln>
        </p:spPr>
        <p:txBody>
          <a:bodyPr/>
          <a:lstStyle/>
          <a:p>
            <a:endParaRPr lang="es-CL"/>
          </a:p>
        </p:txBody>
      </p:sp>
      <p:sp>
        <p:nvSpPr>
          <p:cNvPr id="15" name="Text 11"/>
          <p:cNvSpPr/>
          <p:nvPr/>
        </p:nvSpPr>
        <p:spPr>
          <a:xfrm>
            <a:off x="1024128" y="2377440"/>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Panel</a:t>
            </a:r>
            <a:endParaRPr lang="en-US" sz="950" dirty="0"/>
          </a:p>
        </p:txBody>
      </p:sp>
      <p:sp>
        <p:nvSpPr>
          <p:cNvPr id="16" name="Shape 12"/>
          <p:cNvSpPr/>
          <p:nvPr/>
        </p:nvSpPr>
        <p:spPr>
          <a:xfrm>
            <a:off x="859536" y="2779776"/>
            <a:ext cx="82296" cy="82296"/>
          </a:xfrm>
          <a:prstGeom prst="ellipse">
            <a:avLst/>
          </a:prstGeom>
          <a:solidFill>
            <a:srgbClr val="2E7FB8"/>
          </a:solidFill>
          <a:ln w="12700">
            <a:solidFill>
              <a:srgbClr val="2E7FB8"/>
            </a:solidFill>
            <a:prstDash val="solid"/>
          </a:ln>
        </p:spPr>
        <p:txBody>
          <a:bodyPr/>
          <a:lstStyle/>
          <a:p>
            <a:endParaRPr lang="es-CL"/>
          </a:p>
        </p:txBody>
      </p:sp>
      <p:sp>
        <p:nvSpPr>
          <p:cNvPr id="17" name="Text 13"/>
          <p:cNvSpPr/>
          <p:nvPr/>
        </p:nvSpPr>
        <p:spPr>
          <a:xfrm>
            <a:off x="1024128" y="2706624"/>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Pedidos</a:t>
            </a:r>
            <a:endParaRPr lang="en-US" sz="950" dirty="0"/>
          </a:p>
        </p:txBody>
      </p:sp>
      <p:sp>
        <p:nvSpPr>
          <p:cNvPr id="18" name="Shape 14"/>
          <p:cNvSpPr/>
          <p:nvPr/>
        </p:nvSpPr>
        <p:spPr>
          <a:xfrm>
            <a:off x="859536" y="3108960"/>
            <a:ext cx="82296" cy="82296"/>
          </a:xfrm>
          <a:prstGeom prst="ellipse">
            <a:avLst/>
          </a:prstGeom>
          <a:solidFill>
            <a:srgbClr val="2E7FB8"/>
          </a:solidFill>
          <a:ln w="12700">
            <a:solidFill>
              <a:srgbClr val="2E7FB8"/>
            </a:solidFill>
            <a:prstDash val="solid"/>
          </a:ln>
        </p:spPr>
        <p:txBody>
          <a:bodyPr/>
          <a:lstStyle/>
          <a:p>
            <a:endParaRPr lang="es-CL"/>
          </a:p>
        </p:txBody>
      </p:sp>
      <p:sp>
        <p:nvSpPr>
          <p:cNvPr id="19" name="Text 15"/>
          <p:cNvSpPr/>
          <p:nvPr/>
        </p:nvSpPr>
        <p:spPr>
          <a:xfrm>
            <a:off x="1024128" y="3035808"/>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Rutas</a:t>
            </a:r>
            <a:endParaRPr lang="en-US" sz="950" dirty="0"/>
          </a:p>
        </p:txBody>
      </p:sp>
      <p:sp>
        <p:nvSpPr>
          <p:cNvPr id="20" name="Shape 16"/>
          <p:cNvSpPr/>
          <p:nvPr/>
        </p:nvSpPr>
        <p:spPr>
          <a:xfrm>
            <a:off x="731520" y="3328416"/>
            <a:ext cx="1252728" cy="292608"/>
          </a:xfrm>
          <a:prstGeom prst="roundRect">
            <a:avLst>
              <a:gd name="adj" fmla="val 15625"/>
            </a:avLst>
          </a:prstGeom>
          <a:solidFill>
            <a:srgbClr val="16A394"/>
          </a:solidFill>
          <a:ln w="12700">
            <a:solidFill>
              <a:srgbClr val="16A394"/>
            </a:solidFill>
            <a:prstDash val="solid"/>
          </a:ln>
        </p:spPr>
        <p:txBody>
          <a:bodyPr/>
          <a:lstStyle/>
          <a:p>
            <a:endParaRPr lang="es-CL"/>
          </a:p>
        </p:txBody>
      </p:sp>
      <p:sp>
        <p:nvSpPr>
          <p:cNvPr id="21" name="Shape 17"/>
          <p:cNvSpPr/>
          <p:nvPr/>
        </p:nvSpPr>
        <p:spPr>
          <a:xfrm>
            <a:off x="859536" y="3438144"/>
            <a:ext cx="82296" cy="82296"/>
          </a:xfrm>
          <a:prstGeom prst="ellipse">
            <a:avLst/>
          </a:prstGeom>
          <a:solidFill>
            <a:srgbClr val="FFFFFF"/>
          </a:solidFill>
          <a:ln w="12700">
            <a:solidFill>
              <a:srgbClr val="FFFFFF"/>
            </a:solidFill>
            <a:prstDash val="solid"/>
          </a:ln>
        </p:spPr>
        <p:txBody>
          <a:bodyPr/>
          <a:lstStyle/>
          <a:p>
            <a:endParaRPr lang="es-CL"/>
          </a:p>
        </p:txBody>
      </p:sp>
      <p:sp>
        <p:nvSpPr>
          <p:cNvPr id="22" name="Text 18"/>
          <p:cNvSpPr/>
          <p:nvPr/>
        </p:nvSpPr>
        <p:spPr>
          <a:xfrm>
            <a:off x="1024128" y="3364992"/>
            <a:ext cx="96012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Flota</a:t>
            </a:r>
            <a:endParaRPr lang="en-US" sz="950" dirty="0"/>
          </a:p>
        </p:txBody>
      </p:sp>
      <p:sp>
        <p:nvSpPr>
          <p:cNvPr id="23" name="Shape 19"/>
          <p:cNvSpPr/>
          <p:nvPr/>
        </p:nvSpPr>
        <p:spPr>
          <a:xfrm>
            <a:off x="859536" y="3767328"/>
            <a:ext cx="82296" cy="82296"/>
          </a:xfrm>
          <a:prstGeom prst="ellipse">
            <a:avLst/>
          </a:prstGeom>
          <a:solidFill>
            <a:srgbClr val="2E7FB8"/>
          </a:solidFill>
          <a:ln w="12700">
            <a:solidFill>
              <a:srgbClr val="2E7FB8"/>
            </a:solidFill>
            <a:prstDash val="solid"/>
          </a:ln>
        </p:spPr>
        <p:txBody>
          <a:bodyPr/>
          <a:lstStyle/>
          <a:p>
            <a:endParaRPr lang="es-CL"/>
          </a:p>
        </p:txBody>
      </p:sp>
      <p:sp>
        <p:nvSpPr>
          <p:cNvPr id="24" name="Text 20"/>
          <p:cNvSpPr/>
          <p:nvPr/>
        </p:nvSpPr>
        <p:spPr>
          <a:xfrm>
            <a:off x="1024128" y="3694176"/>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Documentos</a:t>
            </a:r>
            <a:endParaRPr lang="en-US" sz="950" dirty="0"/>
          </a:p>
        </p:txBody>
      </p:sp>
      <p:sp>
        <p:nvSpPr>
          <p:cNvPr id="25" name="Shape 21"/>
          <p:cNvSpPr/>
          <p:nvPr/>
        </p:nvSpPr>
        <p:spPr>
          <a:xfrm>
            <a:off x="859536" y="4096512"/>
            <a:ext cx="82296" cy="82296"/>
          </a:xfrm>
          <a:prstGeom prst="ellipse">
            <a:avLst/>
          </a:prstGeom>
          <a:solidFill>
            <a:srgbClr val="2E7FB8"/>
          </a:solidFill>
          <a:ln w="12700">
            <a:solidFill>
              <a:srgbClr val="2E7FB8"/>
            </a:solidFill>
            <a:prstDash val="solid"/>
          </a:ln>
        </p:spPr>
        <p:txBody>
          <a:bodyPr/>
          <a:lstStyle/>
          <a:p>
            <a:endParaRPr lang="es-CL"/>
          </a:p>
        </p:txBody>
      </p:sp>
      <p:sp>
        <p:nvSpPr>
          <p:cNvPr id="26" name="Text 22"/>
          <p:cNvSpPr/>
          <p:nvPr/>
        </p:nvSpPr>
        <p:spPr>
          <a:xfrm>
            <a:off x="1024128" y="4023360"/>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Facturación</a:t>
            </a:r>
            <a:endParaRPr lang="en-US" sz="950" dirty="0"/>
          </a:p>
        </p:txBody>
      </p:sp>
      <p:sp>
        <p:nvSpPr>
          <p:cNvPr id="27" name="Text 23"/>
          <p:cNvSpPr/>
          <p:nvPr/>
        </p:nvSpPr>
        <p:spPr>
          <a:xfrm>
            <a:off x="2240280" y="1874520"/>
            <a:ext cx="2743200" cy="274320"/>
          </a:xfrm>
          <a:prstGeom prst="rect">
            <a:avLst/>
          </a:prstGeom>
          <a:noFill/>
          <a:ln/>
        </p:spPr>
        <p:txBody>
          <a:bodyPr wrap="square" lIns="0" tIns="0" rIns="0" bIns="0" rtlCol="0" anchor="ctr"/>
          <a:lstStyle/>
          <a:p>
            <a:pPr marL="0" indent="0">
              <a:buNone/>
            </a:pPr>
            <a:r>
              <a:rPr lang="en-US" sz="1500" b="1" dirty="0">
                <a:solidFill>
                  <a:srgbClr val="0F2E42"/>
                </a:solidFill>
                <a:latin typeface="Calibri" pitchFamily="34" charset="0"/>
                <a:ea typeface="Calibri" pitchFamily="34" charset="-122"/>
                <a:cs typeface="Calibri" pitchFamily="34" charset="-120"/>
              </a:rPr>
              <a:t>Flota</a:t>
            </a:r>
            <a:endParaRPr lang="en-US" sz="1500" dirty="0"/>
          </a:p>
        </p:txBody>
      </p:sp>
      <p:sp>
        <p:nvSpPr>
          <p:cNvPr id="28" name="Shape 24"/>
          <p:cNvSpPr/>
          <p:nvPr/>
        </p:nvSpPr>
        <p:spPr>
          <a:xfrm>
            <a:off x="2240280" y="2240280"/>
            <a:ext cx="1298448" cy="658368"/>
          </a:xfrm>
          <a:prstGeom prst="roundRect">
            <a:avLst>
              <a:gd name="adj" fmla="val 8333"/>
            </a:avLst>
          </a:prstGeom>
          <a:solidFill>
            <a:srgbClr val="F2F6F9"/>
          </a:solidFill>
          <a:ln w="9525">
            <a:solidFill>
              <a:srgbClr val="D8E2E9"/>
            </a:solidFill>
            <a:prstDash val="solid"/>
          </a:ln>
        </p:spPr>
        <p:txBody>
          <a:bodyPr/>
          <a:lstStyle/>
          <a:p>
            <a:endParaRPr lang="es-CL"/>
          </a:p>
        </p:txBody>
      </p:sp>
      <p:sp>
        <p:nvSpPr>
          <p:cNvPr id="29" name="Text 25"/>
          <p:cNvSpPr/>
          <p:nvPr/>
        </p:nvSpPr>
        <p:spPr>
          <a:xfrm>
            <a:off x="2350008" y="2313432"/>
            <a:ext cx="1078992" cy="18288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Vehículos</a:t>
            </a:r>
            <a:endParaRPr lang="en-US" sz="800" dirty="0"/>
          </a:p>
        </p:txBody>
      </p:sp>
      <p:sp>
        <p:nvSpPr>
          <p:cNvPr id="30" name="Text 26"/>
          <p:cNvSpPr/>
          <p:nvPr/>
        </p:nvSpPr>
        <p:spPr>
          <a:xfrm>
            <a:off x="2350008" y="2478024"/>
            <a:ext cx="1078992" cy="329184"/>
          </a:xfrm>
          <a:prstGeom prst="rect">
            <a:avLst/>
          </a:prstGeom>
          <a:noFill/>
          <a:ln/>
        </p:spPr>
        <p:txBody>
          <a:bodyPr wrap="square" lIns="0" tIns="0" rIns="0" bIns="0" rtlCol="0" anchor="ctr"/>
          <a:lstStyle/>
          <a:p>
            <a:pPr marL="0" indent="0">
              <a:buNone/>
            </a:pPr>
            <a:r>
              <a:rPr lang="en-US" sz="1800" b="1" dirty="0">
                <a:solidFill>
                  <a:srgbClr val="0F2E42"/>
                </a:solidFill>
                <a:latin typeface="Calibri" pitchFamily="34" charset="0"/>
                <a:ea typeface="Calibri" pitchFamily="34" charset="-122"/>
                <a:cs typeface="Calibri" pitchFamily="34" charset="-120"/>
              </a:rPr>
              <a:t>12</a:t>
            </a:r>
            <a:endParaRPr lang="en-US" sz="1800" dirty="0"/>
          </a:p>
        </p:txBody>
      </p:sp>
      <p:sp>
        <p:nvSpPr>
          <p:cNvPr id="31" name="Shape 27"/>
          <p:cNvSpPr/>
          <p:nvPr/>
        </p:nvSpPr>
        <p:spPr>
          <a:xfrm>
            <a:off x="3657600" y="2240280"/>
            <a:ext cx="1298448" cy="658368"/>
          </a:xfrm>
          <a:prstGeom prst="roundRect">
            <a:avLst>
              <a:gd name="adj" fmla="val 8333"/>
            </a:avLst>
          </a:prstGeom>
          <a:solidFill>
            <a:srgbClr val="F2F6F9"/>
          </a:solidFill>
          <a:ln w="9525">
            <a:solidFill>
              <a:srgbClr val="D8E2E9"/>
            </a:solidFill>
            <a:prstDash val="solid"/>
          </a:ln>
        </p:spPr>
        <p:txBody>
          <a:bodyPr/>
          <a:lstStyle/>
          <a:p>
            <a:endParaRPr lang="es-CL"/>
          </a:p>
        </p:txBody>
      </p:sp>
      <p:sp>
        <p:nvSpPr>
          <p:cNvPr id="32" name="Text 28"/>
          <p:cNvSpPr/>
          <p:nvPr/>
        </p:nvSpPr>
        <p:spPr>
          <a:xfrm>
            <a:off x="3767328" y="2313432"/>
            <a:ext cx="1078992" cy="18288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Operativos</a:t>
            </a:r>
            <a:endParaRPr lang="en-US" sz="800" dirty="0"/>
          </a:p>
        </p:txBody>
      </p:sp>
      <p:sp>
        <p:nvSpPr>
          <p:cNvPr id="33" name="Text 29"/>
          <p:cNvSpPr/>
          <p:nvPr/>
        </p:nvSpPr>
        <p:spPr>
          <a:xfrm>
            <a:off x="3767328" y="2478024"/>
            <a:ext cx="1078992" cy="329184"/>
          </a:xfrm>
          <a:prstGeom prst="rect">
            <a:avLst/>
          </a:prstGeom>
          <a:noFill/>
          <a:ln/>
        </p:spPr>
        <p:txBody>
          <a:bodyPr wrap="square" lIns="0" tIns="0" rIns="0" bIns="0" rtlCol="0" anchor="ctr"/>
          <a:lstStyle/>
          <a:p>
            <a:pPr marL="0" indent="0">
              <a:buNone/>
            </a:pPr>
            <a:r>
              <a:rPr lang="en-US" sz="1800" b="1" dirty="0">
                <a:solidFill>
                  <a:srgbClr val="16A394"/>
                </a:solidFill>
                <a:latin typeface="Calibri" pitchFamily="34" charset="0"/>
                <a:ea typeface="Calibri" pitchFamily="34" charset="-122"/>
                <a:cs typeface="Calibri" pitchFamily="34" charset="-120"/>
              </a:rPr>
              <a:t>9</a:t>
            </a:r>
            <a:endParaRPr lang="en-US" sz="1800" dirty="0"/>
          </a:p>
        </p:txBody>
      </p:sp>
      <p:sp>
        <p:nvSpPr>
          <p:cNvPr id="34" name="Shape 30"/>
          <p:cNvSpPr/>
          <p:nvPr/>
        </p:nvSpPr>
        <p:spPr>
          <a:xfrm>
            <a:off x="5074920" y="2240280"/>
            <a:ext cx="1298448" cy="658368"/>
          </a:xfrm>
          <a:prstGeom prst="roundRect">
            <a:avLst>
              <a:gd name="adj" fmla="val 8333"/>
            </a:avLst>
          </a:prstGeom>
          <a:solidFill>
            <a:srgbClr val="F2F6F9"/>
          </a:solidFill>
          <a:ln w="9525">
            <a:solidFill>
              <a:srgbClr val="D8E2E9"/>
            </a:solidFill>
            <a:prstDash val="solid"/>
          </a:ln>
        </p:spPr>
        <p:txBody>
          <a:bodyPr/>
          <a:lstStyle/>
          <a:p>
            <a:endParaRPr lang="es-CL"/>
          </a:p>
        </p:txBody>
      </p:sp>
      <p:sp>
        <p:nvSpPr>
          <p:cNvPr id="35" name="Text 31"/>
          <p:cNvSpPr/>
          <p:nvPr/>
        </p:nvSpPr>
        <p:spPr>
          <a:xfrm>
            <a:off x="5184648" y="2313432"/>
            <a:ext cx="1078992" cy="18288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En mantención</a:t>
            </a:r>
            <a:endParaRPr lang="en-US" sz="800" dirty="0"/>
          </a:p>
        </p:txBody>
      </p:sp>
      <p:sp>
        <p:nvSpPr>
          <p:cNvPr id="36" name="Text 32"/>
          <p:cNvSpPr/>
          <p:nvPr/>
        </p:nvSpPr>
        <p:spPr>
          <a:xfrm>
            <a:off x="5184648" y="2478024"/>
            <a:ext cx="1078992" cy="329184"/>
          </a:xfrm>
          <a:prstGeom prst="rect">
            <a:avLst/>
          </a:prstGeom>
          <a:noFill/>
          <a:ln/>
        </p:spPr>
        <p:txBody>
          <a:bodyPr wrap="square" lIns="0" tIns="0" rIns="0" bIns="0" rtlCol="0" anchor="ctr"/>
          <a:lstStyle/>
          <a:p>
            <a:pPr marL="0" indent="0">
              <a:buNone/>
            </a:pPr>
            <a:r>
              <a:rPr lang="en-US" sz="1800" b="1" dirty="0">
                <a:solidFill>
                  <a:srgbClr val="C87B2E"/>
                </a:solidFill>
                <a:latin typeface="Calibri" pitchFamily="34" charset="0"/>
                <a:ea typeface="Calibri" pitchFamily="34" charset="-122"/>
                <a:cs typeface="Calibri" pitchFamily="34" charset="-120"/>
              </a:rPr>
              <a:t>2</a:t>
            </a:r>
            <a:endParaRPr lang="en-US" sz="1800" dirty="0"/>
          </a:p>
        </p:txBody>
      </p:sp>
      <p:sp>
        <p:nvSpPr>
          <p:cNvPr id="37" name="Shape 33"/>
          <p:cNvSpPr/>
          <p:nvPr/>
        </p:nvSpPr>
        <p:spPr>
          <a:xfrm>
            <a:off x="6492240" y="2240280"/>
            <a:ext cx="1298448" cy="658368"/>
          </a:xfrm>
          <a:prstGeom prst="roundRect">
            <a:avLst>
              <a:gd name="adj" fmla="val 8333"/>
            </a:avLst>
          </a:prstGeom>
          <a:solidFill>
            <a:srgbClr val="F2F6F9"/>
          </a:solidFill>
          <a:ln w="9525">
            <a:solidFill>
              <a:srgbClr val="D8E2E9"/>
            </a:solidFill>
            <a:prstDash val="solid"/>
          </a:ln>
        </p:spPr>
        <p:txBody>
          <a:bodyPr/>
          <a:lstStyle/>
          <a:p>
            <a:endParaRPr lang="es-CL"/>
          </a:p>
        </p:txBody>
      </p:sp>
      <p:sp>
        <p:nvSpPr>
          <p:cNvPr id="38" name="Text 34"/>
          <p:cNvSpPr/>
          <p:nvPr/>
        </p:nvSpPr>
        <p:spPr>
          <a:xfrm>
            <a:off x="6601968" y="2313432"/>
            <a:ext cx="1078992" cy="18288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Con alerta</a:t>
            </a:r>
            <a:endParaRPr lang="en-US" sz="800" dirty="0"/>
          </a:p>
        </p:txBody>
      </p:sp>
      <p:sp>
        <p:nvSpPr>
          <p:cNvPr id="39" name="Text 35"/>
          <p:cNvSpPr/>
          <p:nvPr/>
        </p:nvSpPr>
        <p:spPr>
          <a:xfrm>
            <a:off x="6601968" y="2478024"/>
            <a:ext cx="1078992" cy="329184"/>
          </a:xfrm>
          <a:prstGeom prst="rect">
            <a:avLst/>
          </a:prstGeom>
          <a:noFill/>
          <a:ln/>
        </p:spPr>
        <p:txBody>
          <a:bodyPr wrap="square" lIns="0" tIns="0" rIns="0" bIns="0" rtlCol="0" anchor="ctr"/>
          <a:lstStyle/>
          <a:p>
            <a:pPr marL="0" indent="0">
              <a:buNone/>
            </a:pPr>
            <a:r>
              <a:rPr lang="en-US" sz="1800" b="1" dirty="0">
                <a:solidFill>
                  <a:srgbClr val="C0504D"/>
                </a:solidFill>
                <a:latin typeface="Calibri" pitchFamily="34" charset="0"/>
                <a:ea typeface="Calibri" pitchFamily="34" charset="-122"/>
                <a:cs typeface="Calibri" pitchFamily="34" charset="-120"/>
              </a:rPr>
              <a:t>3</a:t>
            </a:r>
            <a:endParaRPr lang="en-US" sz="1800" dirty="0"/>
          </a:p>
        </p:txBody>
      </p:sp>
      <p:sp>
        <p:nvSpPr>
          <p:cNvPr id="40" name="Shape 36"/>
          <p:cNvSpPr/>
          <p:nvPr/>
        </p:nvSpPr>
        <p:spPr>
          <a:xfrm>
            <a:off x="2240280" y="3108960"/>
            <a:ext cx="5577840" cy="274320"/>
          </a:xfrm>
          <a:prstGeom prst="rect">
            <a:avLst/>
          </a:prstGeom>
          <a:solidFill>
            <a:srgbClr val="F2F6F9"/>
          </a:solidFill>
          <a:ln w="9525">
            <a:solidFill>
              <a:srgbClr val="D8E2E9"/>
            </a:solidFill>
            <a:prstDash val="solid"/>
          </a:ln>
        </p:spPr>
        <p:txBody>
          <a:bodyPr/>
          <a:lstStyle/>
          <a:p>
            <a:endParaRPr lang="es-CL"/>
          </a:p>
        </p:txBody>
      </p:sp>
      <p:sp>
        <p:nvSpPr>
          <p:cNvPr id="41" name="Text 37"/>
          <p:cNvSpPr/>
          <p:nvPr/>
        </p:nvSpPr>
        <p:spPr>
          <a:xfrm>
            <a:off x="2313432" y="3108960"/>
            <a:ext cx="1005840" cy="274320"/>
          </a:xfrm>
          <a:prstGeom prst="rect">
            <a:avLst/>
          </a:prstGeom>
          <a:noFill/>
          <a:ln/>
        </p:spPr>
        <p:txBody>
          <a:bodyPr wrap="square" lIns="0" tIns="0" rIns="0" bIns="0" rtlCol="0" anchor="ctr"/>
          <a:lstStyle/>
          <a:p>
            <a:pPr marL="0" indent="0">
              <a:buNone/>
            </a:pPr>
            <a:r>
              <a:rPr lang="en-US" sz="800" b="1" dirty="0">
                <a:solidFill>
                  <a:srgbClr val="0F2E42"/>
                </a:solidFill>
                <a:latin typeface="Calibri" pitchFamily="34" charset="0"/>
                <a:ea typeface="Calibri" pitchFamily="34" charset="-122"/>
                <a:cs typeface="Calibri" pitchFamily="34" charset="-120"/>
              </a:rPr>
              <a:t>Patente</a:t>
            </a:r>
            <a:endParaRPr lang="en-US" sz="800" dirty="0"/>
          </a:p>
        </p:txBody>
      </p:sp>
      <p:sp>
        <p:nvSpPr>
          <p:cNvPr id="42" name="Text 38"/>
          <p:cNvSpPr/>
          <p:nvPr/>
        </p:nvSpPr>
        <p:spPr>
          <a:xfrm>
            <a:off x="3410712" y="3108960"/>
            <a:ext cx="1280160" cy="274320"/>
          </a:xfrm>
          <a:prstGeom prst="rect">
            <a:avLst/>
          </a:prstGeom>
          <a:noFill/>
          <a:ln/>
        </p:spPr>
        <p:txBody>
          <a:bodyPr wrap="square" lIns="0" tIns="0" rIns="0" bIns="0" rtlCol="0" anchor="ctr"/>
          <a:lstStyle/>
          <a:p>
            <a:pPr marL="0" indent="0">
              <a:buNone/>
            </a:pPr>
            <a:r>
              <a:rPr lang="en-US" sz="800" b="1" dirty="0">
                <a:solidFill>
                  <a:srgbClr val="0F2E42"/>
                </a:solidFill>
                <a:latin typeface="Calibri" pitchFamily="34" charset="0"/>
                <a:ea typeface="Calibri" pitchFamily="34" charset="-122"/>
                <a:cs typeface="Calibri" pitchFamily="34" charset="-120"/>
              </a:rPr>
              <a:t>Kilometraje</a:t>
            </a:r>
            <a:endParaRPr lang="en-US" sz="800" dirty="0"/>
          </a:p>
        </p:txBody>
      </p:sp>
      <p:sp>
        <p:nvSpPr>
          <p:cNvPr id="43" name="Text 39"/>
          <p:cNvSpPr/>
          <p:nvPr/>
        </p:nvSpPr>
        <p:spPr>
          <a:xfrm>
            <a:off x="4782312" y="3108960"/>
            <a:ext cx="1737360" cy="274320"/>
          </a:xfrm>
          <a:prstGeom prst="rect">
            <a:avLst/>
          </a:prstGeom>
          <a:noFill/>
          <a:ln/>
        </p:spPr>
        <p:txBody>
          <a:bodyPr wrap="square" lIns="0" tIns="0" rIns="0" bIns="0" rtlCol="0" anchor="ctr"/>
          <a:lstStyle/>
          <a:p>
            <a:pPr marL="0" indent="0">
              <a:buNone/>
            </a:pPr>
            <a:r>
              <a:rPr lang="en-US" sz="800" b="1" dirty="0">
                <a:solidFill>
                  <a:srgbClr val="0F2E42"/>
                </a:solidFill>
                <a:latin typeface="Calibri" pitchFamily="34" charset="0"/>
                <a:ea typeface="Calibri" pitchFamily="34" charset="-122"/>
                <a:cs typeface="Calibri" pitchFamily="34" charset="-120"/>
              </a:rPr>
              <a:t>Próxima mantención</a:t>
            </a:r>
            <a:endParaRPr lang="en-US" sz="800" dirty="0"/>
          </a:p>
        </p:txBody>
      </p:sp>
      <p:sp>
        <p:nvSpPr>
          <p:cNvPr id="44" name="Text 40"/>
          <p:cNvSpPr/>
          <p:nvPr/>
        </p:nvSpPr>
        <p:spPr>
          <a:xfrm>
            <a:off x="6611112" y="3108960"/>
            <a:ext cx="1188720" cy="274320"/>
          </a:xfrm>
          <a:prstGeom prst="rect">
            <a:avLst/>
          </a:prstGeom>
          <a:noFill/>
          <a:ln/>
        </p:spPr>
        <p:txBody>
          <a:bodyPr wrap="square" lIns="0" tIns="0" rIns="0" bIns="0" rtlCol="0" anchor="ctr"/>
          <a:lstStyle/>
          <a:p>
            <a:pPr marL="0" indent="0">
              <a:buNone/>
            </a:pPr>
            <a:r>
              <a:rPr lang="en-US" sz="800" b="1" dirty="0">
                <a:solidFill>
                  <a:srgbClr val="0F2E42"/>
                </a:solidFill>
                <a:latin typeface="Calibri" pitchFamily="34" charset="0"/>
                <a:ea typeface="Calibri" pitchFamily="34" charset="-122"/>
                <a:cs typeface="Calibri" pitchFamily="34" charset="-120"/>
              </a:rPr>
              <a:t>Rev. técnica</a:t>
            </a:r>
            <a:endParaRPr lang="en-US" sz="800" dirty="0"/>
          </a:p>
        </p:txBody>
      </p:sp>
      <p:sp>
        <p:nvSpPr>
          <p:cNvPr id="45" name="Shape 41"/>
          <p:cNvSpPr/>
          <p:nvPr/>
        </p:nvSpPr>
        <p:spPr>
          <a:xfrm>
            <a:off x="2240280" y="3383280"/>
            <a:ext cx="5577840" cy="274320"/>
          </a:xfrm>
          <a:prstGeom prst="rect">
            <a:avLst/>
          </a:prstGeom>
          <a:solidFill>
            <a:srgbClr val="FFFFFF"/>
          </a:solidFill>
          <a:ln w="9525">
            <a:solidFill>
              <a:srgbClr val="D8E2E9"/>
            </a:solidFill>
            <a:prstDash val="solid"/>
          </a:ln>
        </p:spPr>
        <p:txBody>
          <a:bodyPr/>
          <a:lstStyle/>
          <a:p>
            <a:endParaRPr lang="es-CL"/>
          </a:p>
        </p:txBody>
      </p:sp>
      <p:sp>
        <p:nvSpPr>
          <p:cNvPr id="46" name="Text 42"/>
          <p:cNvSpPr/>
          <p:nvPr/>
        </p:nvSpPr>
        <p:spPr>
          <a:xfrm>
            <a:off x="2313432" y="3383280"/>
            <a:ext cx="100584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JKLM-45</a:t>
            </a:r>
            <a:endParaRPr lang="en-US" sz="800" dirty="0"/>
          </a:p>
        </p:txBody>
      </p:sp>
      <p:sp>
        <p:nvSpPr>
          <p:cNvPr id="47" name="Text 43"/>
          <p:cNvSpPr/>
          <p:nvPr/>
        </p:nvSpPr>
        <p:spPr>
          <a:xfrm>
            <a:off x="3410712" y="3383280"/>
            <a:ext cx="128016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184.320 km</a:t>
            </a:r>
            <a:endParaRPr lang="en-US" sz="800" dirty="0"/>
          </a:p>
        </p:txBody>
      </p:sp>
      <p:sp>
        <p:nvSpPr>
          <p:cNvPr id="48" name="Text 44"/>
          <p:cNvSpPr/>
          <p:nvPr/>
        </p:nvSpPr>
        <p:spPr>
          <a:xfrm>
            <a:off x="4782312" y="3383280"/>
            <a:ext cx="173736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En 1.680 km</a:t>
            </a:r>
            <a:endParaRPr lang="en-US" sz="800" dirty="0"/>
          </a:p>
        </p:txBody>
      </p:sp>
      <p:sp>
        <p:nvSpPr>
          <p:cNvPr id="49" name="Text 45"/>
          <p:cNvSpPr/>
          <p:nvPr/>
        </p:nvSpPr>
        <p:spPr>
          <a:xfrm>
            <a:off x="6611112" y="3383280"/>
            <a:ext cx="118872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12-09-2026</a:t>
            </a:r>
            <a:endParaRPr lang="en-US" sz="800" dirty="0"/>
          </a:p>
        </p:txBody>
      </p:sp>
      <p:sp>
        <p:nvSpPr>
          <p:cNvPr id="50" name="Shape 46"/>
          <p:cNvSpPr/>
          <p:nvPr/>
        </p:nvSpPr>
        <p:spPr>
          <a:xfrm>
            <a:off x="2240280" y="3657600"/>
            <a:ext cx="5577840" cy="274320"/>
          </a:xfrm>
          <a:prstGeom prst="rect">
            <a:avLst/>
          </a:prstGeom>
          <a:solidFill>
            <a:srgbClr val="FFFFFF"/>
          </a:solidFill>
          <a:ln w="9525">
            <a:solidFill>
              <a:srgbClr val="D8E2E9"/>
            </a:solidFill>
            <a:prstDash val="solid"/>
          </a:ln>
        </p:spPr>
        <p:txBody>
          <a:bodyPr/>
          <a:lstStyle/>
          <a:p>
            <a:endParaRPr lang="es-CL"/>
          </a:p>
        </p:txBody>
      </p:sp>
      <p:sp>
        <p:nvSpPr>
          <p:cNvPr id="51" name="Text 47"/>
          <p:cNvSpPr/>
          <p:nvPr/>
        </p:nvSpPr>
        <p:spPr>
          <a:xfrm>
            <a:off x="2313432" y="3657600"/>
            <a:ext cx="100584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BCDF-12</a:t>
            </a:r>
            <a:endParaRPr lang="en-US" sz="800" dirty="0"/>
          </a:p>
        </p:txBody>
      </p:sp>
      <p:sp>
        <p:nvSpPr>
          <p:cNvPr id="52" name="Text 48"/>
          <p:cNvSpPr/>
          <p:nvPr/>
        </p:nvSpPr>
        <p:spPr>
          <a:xfrm>
            <a:off x="3410712" y="3657600"/>
            <a:ext cx="128016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212.940 km</a:t>
            </a:r>
            <a:endParaRPr lang="en-US" sz="800" dirty="0"/>
          </a:p>
        </p:txBody>
      </p:sp>
      <p:sp>
        <p:nvSpPr>
          <p:cNvPr id="53" name="Text 49"/>
          <p:cNvSpPr/>
          <p:nvPr/>
        </p:nvSpPr>
        <p:spPr>
          <a:xfrm>
            <a:off x="4782312" y="3657600"/>
            <a:ext cx="173736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Vencida</a:t>
            </a:r>
            <a:endParaRPr lang="en-US" sz="800" dirty="0"/>
          </a:p>
        </p:txBody>
      </p:sp>
      <p:sp>
        <p:nvSpPr>
          <p:cNvPr id="54" name="Text 50"/>
          <p:cNvSpPr/>
          <p:nvPr/>
        </p:nvSpPr>
        <p:spPr>
          <a:xfrm>
            <a:off x="6611112" y="3657600"/>
            <a:ext cx="118872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03-03-2027</a:t>
            </a:r>
            <a:endParaRPr lang="en-US" sz="800" dirty="0"/>
          </a:p>
        </p:txBody>
      </p:sp>
      <p:sp>
        <p:nvSpPr>
          <p:cNvPr id="55" name="Shape 51"/>
          <p:cNvSpPr/>
          <p:nvPr/>
        </p:nvSpPr>
        <p:spPr>
          <a:xfrm>
            <a:off x="2240280" y="3931920"/>
            <a:ext cx="5577840" cy="274320"/>
          </a:xfrm>
          <a:prstGeom prst="rect">
            <a:avLst/>
          </a:prstGeom>
          <a:solidFill>
            <a:srgbClr val="FFFFFF"/>
          </a:solidFill>
          <a:ln w="9525">
            <a:solidFill>
              <a:srgbClr val="D8E2E9"/>
            </a:solidFill>
            <a:prstDash val="solid"/>
          </a:ln>
        </p:spPr>
        <p:txBody>
          <a:bodyPr/>
          <a:lstStyle/>
          <a:p>
            <a:endParaRPr lang="es-CL"/>
          </a:p>
        </p:txBody>
      </p:sp>
      <p:sp>
        <p:nvSpPr>
          <p:cNvPr id="56" name="Text 52"/>
          <p:cNvSpPr/>
          <p:nvPr/>
        </p:nvSpPr>
        <p:spPr>
          <a:xfrm>
            <a:off x="2313432" y="3931920"/>
            <a:ext cx="100584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GHTR-88</a:t>
            </a:r>
            <a:endParaRPr lang="en-US" sz="800" dirty="0"/>
          </a:p>
        </p:txBody>
      </p:sp>
      <p:sp>
        <p:nvSpPr>
          <p:cNvPr id="57" name="Text 53"/>
          <p:cNvSpPr/>
          <p:nvPr/>
        </p:nvSpPr>
        <p:spPr>
          <a:xfrm>
            <a:off x="3410712" y="3931920"/>
            <a:ext cx="128016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97.510 km</a:t>
            </a:r>
            <a:endParaRPr lang="en-US" sz="800" dirty="0"/>
          </a:p>
        </p:txBody>
      </p:sp>
      <p:sp>
        <p:nvSpPr>
          <p:cNvPr id="58" name="Text 54"/>
          <p:cNvSpPr/>
          <p:nvPr/>
        </p:nvSpPr>
        <p:spPr>
          <a:xfrm>
            <a:off x="4782312" y="3931920"/>
            <a:ext cx="173736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En 12.490 km</a:t>
            </a:r>
            <a:endParaRPr lang="en-US" sz="800" dirty="0"/>
          </a:p>
        </p:txBody>
      </p:sp>
      <p:sp>
        <p:nvSpPr>
          <p:cNvPr id="59" name="Text 55"/>
          <p:cNvSpPr/>
          <p:nvPr/>
        </p:nvSpPr>
        <p:spPr>
          <a:xfrm>
            <a:off x="6611112" y="3931920"/>
            <a:ext cx="118872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Vencida</a:t>
            </a:r>
            <a:endParaRPr lang="en-US" sz="800" dirty="0"/>
          </a:p>
        </p:txBody>
      </p:sp>
      <p:sp>
        <p:nvSpPr>
          <p:cNvPr id="60" name="Shape 56"/>
          <p:cNvSpPr/>
          <p:nvPr/>
        </p:nvSpPr>
        <p:spPr>
          <a:xfrm>
            <a:off x="2240280" y="4206240"/>
            <a:ext cx="5577840" cy="274320"/>
          </a:xfrm>
          <a:prstGeom prst="rect">
            <a:avLst/>
          </a:prstGeom>
          <a:solidFill>
            <a:srgbClr val="FFFFFF"/>
          </a:solidFill>
          <a:ln w="9525">
            <a:solidFill>
              <a:srgbClr val="D8E2E9"/>
            </a:solidFill>
            <a:prstDash val="solid"/>
          </a:ln>
        </p:spPr>
        <p:txBody>
          <a:bodyPr/>
          <a:lstStyle/>
          <a:p>
            <a:endParaRPr lang="es-CL"/>
          </a:p>
        </p:txBody>
      </p:sp>
      <p:sp>
        <p:nvSpPr>
          <p:cNvPr id="61" name="Text 57"/>
          <p:cNvSpPr/>
          <p:nvPr/>
        </p:nvSpPr>
        <p:spPr>
          <a:xfrm>
            <a:off x="2313432" y="4206240"/>
            <a:ext cx="100584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KLMN-33</a:t>
            </a:r>
            <a:endParaRPr lang="en-US" sz="800" dirty="0"/>
          </a:p>
        </p:txBody>
      </p:sp>
      <p:sp>
        <p:nvSpPr>
          <p:cNvPr id="62" name="Text 58"/>
          <p:cNvSpPr/>
          <p:nvPr/>
        </p:nvSpPr>
        <p:spPr>
          <a:xfrm>
            <a:off x="3410712" y="4206240"/>
            <a:ext cx="128016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143.005 km</a:t>
            </a:r>
            <a:endParaRPr lang="en-US" sz="800" dirty="0"/>
          </a:p>
        </p:txBody>
      </p:sp>
      <p:sp>
        <p:nvSpPr>
          <p:cNvPr id="63" name="Text 59"/>
          <p:cNvSpPr/>
          <p:nvPr/>
        </p:nvSpPr>
        <p:spPr>
          <a:xfrm>
            <a:off x="4782312" y="4206240"/>
            <a:ext cx="173736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En 6.995 km</a:t>
            </a:r>
            <a:endParaRPr lang="en-US" sz="800" dirty="0"/>
          </a:p>
        </p:txBody>
      </p:sp>
      <p:sp>
        <p:nvSpPr>
          <p:cNvPr id="64" name="Text 60"/>
          <p:cNvSpPr/>
          <p:nvPr/>
        </p:nvSpPr>
        <p:spPr>
          <a:xfrm>
            <a:off x="6611112" y="4206240"/>
            <a:ext cx="118872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28-11-2026</a:t>
            </a:r>
            <a:endParaRPr lang="en-US" sz="800" dirty="0"/>
          </a:p>
        </p:txBody>
      </p:sp>
      <p:sp>
        <p:nvSpPr>
          <p:cNvPr id="65" name="Shape 61"/>
          <p:cNvSpPr/>
          <p:nvPr/>
        </p:nvSpPr>
        <p:spPr>
          <a:xfrm>
            <a:off x="2240280" y="4480560"/>
            <a:ext cx="5577840" cy="274320"/>
          </a:xfrm>
          <a:prstGeom prst="rect">
            <a:avLst/>
          </a:prstGeom>
          <a:solidFill>
            <a:srgbClr val="FFFFFF"/>
          </a:solidFill>
          <a:ln w="9525">
            <a:solidFill>
              <a:srgbClr val="D8E2E9"/>
            </a:solidFill>
            <a:prstDash val="solid"/>
          </a:ln>
        </p:spPr>
        <p:txBody>
          <a:bodyPr/>
          <a:lstStyle/>
          <a:p>
            <a:endParaRPr lang="es-CL"/>
          </a:p>
        </p:txBody>
      </p:sp>
      <p:sp>
        <p:nvSpPr>
          <p:cNvPr id="66" name="Text 62"/>
          <p:cNvSpPr/>
          <p:nvPr/>
        </p:nvSpPr>
        <p:spPr>
          <a:xfrm>
            <a:off x="2313432" y="4480560"/>
            <a:ext cx="100584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PQRS-70</a:t>
            </a:r>
            <a:endParaRPr lang="en-US" sz="800" dirty="0"/>
          </a:p>
        </p:txBody>
      </p:sp>
      <p:sp>
        <p:nvSpPr>
          <p:cNvPr id="67" name="Text 63"/>
          <p:cNvSpPr/>
          <p:nvPr/>
        </p:nvSpPr>
        <p:spPr>
          <a:xfrm>
            <a:off x="3410712" y="4480560"/>
            <a:ext cx="128016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76.880 km</a:t>
            </a:r>
            <a:endParaRPr lang="en-US" sz="800" dirty="0"/>
          </a:p>
        </p:txBody>
      </p:sp>
      <p:sp>
        <p:nvSpPr>
          <p:cNvPr id="68" name="Text 64"/>
          <p:cNvSpPr/>
          <p:nvPr/>
        </p:nvSpPr>
        <p:spPr>
          <a:xfrm>
            <a:off x="4782312" y="4480560"/>
            <a:ext cx="173736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En 23.120 km</a:t>
            </a:r>
            <a:endParaRPr lang="en-US" sz="800" dirty="0"/>
          </a:p>
        </p:txBody>
      </p:sp>
      <p:sp>
        <p:nvSpPr>
          <p:cNvPr id="69" name="Text 65"/>
          <p:cNvSpPr/>
          <p:nvPr/>
        </p:nvSpPr>
        <p:spPr>
          <a:xfrm>
            <a:off x="6611112" y="4480560"/>
            <a:ext cx="118872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14-01-2027</a:t>
            </a:r>
            <a:endParaRPr lang="en-US" sz="800" dirty="0"/>
          </a:p>
        </p:txBody>
      </p:sp>
      <p:sp>
        <p:nvSpPr>
          <p:cNvPr id="70" name="Shape 66"/>
          <p:cNvSpPr/>
          <p:nvPr/>
        </p:nvSpPr>
        <p:spPr>
          <a:xfrm>
            <a:off x="2240280" y="4754880"/>
            <a:ext cx="5577840" cy="274320"/>
          </a:xfrm>
          <a:prstGeom prst="rect">
            <a:avLst/>
          </a:prstGeom>
          <a:solidFill>
            <a:srgbClr val="FFFFFF"/>
          </a:solidFill>
          <a:ln w="9525">
            <a:solidFill>
              <a:srgbClr val="D8E2E9"/>
            </a:solidFill>
            <a:prstDash val="solid"/>
          </a:ln>
        </p:spPr>
        <p:txBody>
          <a:bodyPr/>
          <a:lstStyle/>
          <a:p>
            <a:endParaRPr lang="es-CL"/>
          </a:p>
        </p:txBody>
      </p:sp>
      <p:sp>
        <p:nvSpPr>
          <p:cNvPr id="71" name="Text 67"/>
          <p:cNvSpPr/>
          <p:nvPr/>
        </p:nvSpPr>
        <p:spPr>
          <a:xfrm>
            <a:off x="2313432" y="4754880"/>
            <a:ext cx="100584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TUVW-21</a:t>
            </a:r>
            <a:endParaRPr lang="en-US" sz="800" dirty="0"/>
          </a:p>
        </p:txBody>
      </p:sp>
      <p:sp>
        <p:nvSpPr>
          <p:cNvPr id="72" name="Text 68"/>
          <p:cNvSpPr/>
          <p:nvPr/>
        </p:nvSpPr>
        <p:spPr>
          <a:xfrm>
            <a:off x="3410712" y="4754880"/>
            <a:ext cx="128016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301.470 km</a:t>
            </a:r>
            <a:endParaRPr lang="en-US" sz="800" dirty="0"/>
          </a:p>
        </p:txBody>
      </p:sp>
      <p:sp>
        <p:nvSpPr>
          <p:cNvPr id="73" name="Text 69"/>
          <p:cNvSpPr/>
          <p:nvPr/>
        </p:nvSpPr>
        <p:spPr>
          <a:xfrm>
            <a:off x="4782312" y="4754880"/>
            <a:ext cx="173736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En 8.530 km</a:t>
            </a:r>
            <a:endParaRPr lang="en-US" sz="800" dirty="0"/>
          </a:p>
        </p:txBody>
      </p:sp>
      <p:sp>
        <p:nvSpPr>
          <p:cNvPr id="74" name="Text 70"/>
          <p:cNvSpPr/>
          <p:nvPr/>
        </p:nvSpPr>
        <p:spPr>
          <a:xfrm>
            <a:off x="6611112" y="4754880"/>
            <a:ext cx="118872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05-06-2027</a:t>
            </a:r>
            <a:endParaRPr lang="en-US" sz="800" dirty="0"/>
          </a:p>
        </p:txBody>
      </p:sp>
      <p:sp>
        <p:nvSpPr>
          <p:cNvPr id="75" name="Shape 71"/>
          <p:cNvSpPr/>
          <p:nvPr/>
        </p:nvSpPr>
        <p:spPr>
          <a:xfrm>
            <a:off x="8549640" y="1508760"/>
            <a:ext cx="2971800" cy="4800600"/>
          </a:xfrm>
          <a:prstGeom prst="roundRect">
            <a:avLst>
              <a:gd name="adj" fmla="val 2462"/>
            </a:avLst>
          </a:prstGeom>
          <a:solidFill>
            <a:srgbClr val="F2F6F9"/>
          </a:solidFill>
          <a:ln w="12700">
            <a:solidFill>
              <a:srgbClr val="D8E2E9"/>
            </a:solidFill>
            <a:prstDash val="solid"/>
          </a:ln>
        </p:spPr>
        <p:txBody>
          <a:bodyPr/>
          <a:lstStyle/>
          <a:p>
            <a:endParaRPr lang="es-CL"/>
          </a:p>
        </p:txBody>
      </p:sp>
      <p:sp>
        <p:nvSpPr>
          <p:cNvPr id="76" name="Text 72"/>
          <p:cNvSpPr/>
          <p:nvPr/>
        </p:nvSpPr>
        <p:spPr>
          <a:xfrm>
            <a:off x="8778240" y="1737360"/>
            <a:ext cx="2560320" cy="274320"/>
          </a:xfrm>
          <a:prstGeom prst="rect">
            <a:avLst/>
          </a:prstGeom>
          <a:noFill/>
          <a:ln/>
        </p:spPr>
        <p:txBody>
          <a:bodyPr wrap="square" lIns="0" tIns="0" rIns="0" bIns="0" rtlCol="0" anchor="ctr"/>
          <a:lstStyle/>
          <a:p>
            <a:pPr marL="0" indent="0">
              <a:buNone/>
            </a:pPr>
            <a:r>
              <a:rPr lang="en-US" sz="1400" b="1" dirty="0">
                <a:solidFill>
                  <a:srgbClr val="0F2E42"/>
                </a:solidFill>
                <a:latin typeface="Calibri" pitchFamily="34" charset="0"/>
                <a:ea typeface="Calibri" pitchFamily="34" charset="-122"/>
                <a:cs typeface="Calibri" pitchFamily="34" charset="-120"/>
              </a:rPr>
              <a:t>De reactivo a preventivo</a:t>
            </a:r>
            <a:endParaRPr lang="en-US" sz="1400" dirty="0"/>
          </a:p>
        </p:txBody>
      </p:sp>
      <p:sp>
        <p:nvSpPr>
          <p:cNvPr id="77" name="Text 73"/>
          <p:cNvSpPr/>
          <p:nvPr/>
        </p:nvSpPr>
        <p:spPr>
          <a:xfrm>
            <a:off x="8778240" y="2103120"/>
            <a:ext cx="2560320" cy="1188720"/>
          </a:xfrm>
          <a:prstGeom prst="rect">
            <a:avLst/>
          </a:prstGeom>
          <a:noFill/>
          <a:ln/>
        </p:spPr>
        <p:txBody>
          <a:bodyPr wrap="square" lIns="0" tIns="0" rIns="0" bIns="0" rtlCol="0" anchor="ctr"/>
          <a:lstStyle/>
          <a:p>
            <a:pPr marL="0" indent="0">
              <a:lnSpc>
                <a:spcPct val="120000"/>
              </a:lnSpc>
              <a:buNone/>
            </a:pPr>
            <a:r>
              <a:rPr lang="en-US" sz="1100" dirty="0">
                <a:solidFill>
                  <a:srgbClr val="5A6B78"/>
                </a:solidFill>
                <a:latin typeface="Calibri" pitchFamily="34" charset="0"/>
                <a:ea typeface="Calibri" pitchFamily="34" charset="-122"/>
                <a:cs typeface="Calibri" pitchFamily="34" charset="-120"/>
              </a:rPr>
              <a:t>Hoy el vehículo se repara cuando falla. Con el kilometraje registrado y los planes de mantención cargados, la plataforma avisa antes de que la falla ocurra.</a:t>
            </a:r>
            <a:endParaRPr lang="en-US" sz="1100" dirty="0"/>
          </a:p>
        </p:txBody>
      </p:sp>
      <p:sp>
        <p:nvSpPr>
          <p:cNvPr id="78" name="Shape 74"/>
          <p:cNvSpPr/>
          <p:nvPr/>
        </p:nvSpPr>
        <p:spPr>
          <a:xfrm>
            <a:off x="8778240" y="3383280"/>
            <a:ext cx="2560320" cy="1234440"/>
          </a:xfrm>
          <a:prstGeom prst="roundRect">
            <a:avLst>
              <a:gd name="adj" fmla="val 4444"/>
            </a:avLst>
          </a:prstGeom>
          <a:solidFill>
            <a:srgbClr val="0F2E42"/>
          </a:solidFill>
          <a:ln w="12700">
            <a:solidFill>
              <a:srgbClr val="0F2E42"/>
            </a:solidFill>
            <a:prstDash val="solid"/>
          </a:ln>
        </p:spPr>
        <p:txBody>
          <a:bodyPr/>
          <a:lstStyle/>
          <a:p>
            <a:endParaRPr lang="es-CL"/>
          </a:p>
        </p:txBody>
      </p:sp>
      <p:sp>
        <p:nvSpPr>
          <p:cNvPr id="79" name="Text 75"/>
          <p:cNvSpPr/>
          <p:nvPr/>
        </p:nvSpPr>
        <p:spPr>
          <a:xfrm>
            <a:off x="8942832" y="3566160"/>
            <a:ext cx="2240280" cy="914400"/>
          </a:xfrm>
          <a:prstGeom prst="rect">
            <a:avLst/>
          </a:prstGeom>
          <a:noFill/>
          <a:ln/>
        </p:spPr>
        <p:txBody>
          <a:bodyPr wrap="square" lIns="0" tIns="0" rIns="0" bIns="0" rtlCol="0" anchor="ctr"/>
          <a:lstStyle/>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Cada detención no programada es un servicio incumplido y un cliente que llama.</a:t>
            </a:r>
            <a:endParaRPr lang="en-US" sz="1150" dirty="0"/>
          </a:p>
        </p:txBody>
      </p:sp>
      <p:sp>
        <p:nvSpPr>
          <p:cNvPr id="80" name="Text 76"/>
          <p:cNvSpPr/>
          <p:nvPr/>
        </p:nvSpPr>
        <p:spPr>
          <a:xfrm>
            <a:off x="8778240" y="4754880"/>
            <a:ext cx="2560320" cy="1280160"/>
          </a:xfrm>
          <a:prstGeom prst="rect">
            <a:avLst/>
          </a:prstGeom>
          <a:noFill/>
          <a:ln/>
        </p:spPr>
        <p:txBody>
          <a:bodyPr wrap="square" lIns="0" tIns="0" rIns="0" bIns="0" rtlCol="0" anchor="ctr"/>
          <a:lstStyle/>
          <a:p>
            <a:pPr marL="0" indent="0">
              <a:lnSpc>
                <a:spcPct val="120000"/>
              </a:lnSpc>
              <a:buNone/>
            </a:pPr>
            <a:r>
              <a:rPr lang="en-US" sz="1050" dirty="0">
                <a:solidFill>
                  <a:srgbClr val="5A6B78"/>
                </a:solidFill>
                <a:latin typeface="Calibri" pitchFamily="34" charset="0"/>
                <a:ea typeface="Calibri" pitchFamily="34" charset="-122"/>
                <a:cs typeface="Calibri" pitchFamily="34" charset="-120"/>
              </a:rPr>
              <a:t>El módulo también concentra el historial de intervenciones y sus costos, que alimenta el indicador de costo por kilómetro del tablero de gestión.</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548640"/>
          </a:xfrm>
          <a:prstGeom prst="rect">
            <a:avLst/>
          </a:prstGeom>
          <a:noFill/>
          <a:ln/>
        </p:spPr>
        <p:txBody>
          <a:bodyPr wrap="square" lIns="0" tIns="0" rIns="0" bIns="0" rtlCol="0" anchor="ctr"/>
          <a:lstStyle/>
          <a:p>
            <a:pPr marL="0" indent="0">
              <a:buNone/>
            </a:pPr>
            <a:r>
              <a:rPr lang="en-US" sz="3000" b="1" dirty="0">
                <a:solidFill>
                  <a:srgbClr val="0F2E42"/>
                </a:solidFill>
                <a:latin typeface="Calibri" pitchFamily="34" charset="0"/>
                <a:ea typeface="Calibri" pitchFamily="34" charset="-122"/>
                <a:cs typeface="Calibri" pitchFamily="34" charset="-120"/>
              </a:rPr>
              <a:t>Mockup · Gestión documental</a:t>
            </a:r>
            <a:endParaRPr lang="en-US" sz="3000" dirty="0"/>
          </a:p>
        </p:txBody>
      </p:sp>
      <p:sp>
        <p:nvSpPr>
          <p:cNvPr id="3" name="Text 1"/>
          <p:cNvSpPr/>
          <p:nvPr/>
        </p:nvSpPr>
        <p:spPr>
          <a:xfrm>
            <a:off x="640080" y="932688"/>
            <a:ext cx="10881360" cy="36576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Respaldo disponible de inmediato ante una fiscalización o un reclamo</a:t>
            </a:r>
            <a:endParaRPr lang="en-US" sz="1500" dirty="0"/>
          </a:p>
        </p:txBody>
      </p:sp>
      <p:pic>
        <p:nvPicPr>
          <p:cNvPr id="4" name="Image 0" descr="/mnt/user-data/outputs/logo/vialnex-isotipo-512.png"/>
          <p:cNvPicPr>
            <a:picLocks noChangeAspect="1"/>
          </p:cNvPicPr>
          <p:nvPr/>
        </p:nvPicPr>
        <p:blipFill>
          <a:blip r:embed="rId3"/>
          <a:stretch>
            <a:fillRect/>
          </a:stretch>
        </p:blipFill>
        <p:spPr>
          <a:xfrm>
            <a:off x="11475720" y="6172200"/>
            <a:ext cx="384048" cy="384048"/>
          </a:xfrm>
          <a:prstGeom prst="rect">
            <a:avLst/>
          </a:prstGeom>
        </p:spPr>
      </p:pic>
      <p:sp>
        <p:nvSpPr>
          <p:cNvPr id="5" name="Shape 2"/>
          <p:cNvSpPr/>
          <p:nvPr/>
        </p:nvSpPr>
        <p:spPr>
          <a:xfrm>
            <a:off x="640080" y="1508760"/>
            <a:ext cx="7589520" cy="4800600"/>
          </a:xfrm>
          <a:prstGeom prst="roundRect">
            <a:avLst>
              <a:gd name="adj" fmla="val 952"/>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6" name="Shape 3"/>
          <p:cNvSpPr/>
          <p:nvPr/>
        </p:nvSpPr>
        <p:spPr>
          <a:xfrm>
            <a:off x="649224" y="1517904"/>
            <a:ext cx="7571232" cy="292608"/>
          </a:xfrm>
          <a:prstGeom prst="rect">
            <a:avLst/>
          </a:prstGeom>
          <a:solidFill>
            <a:srgbClr val="F2F6F9"/>
          </a:solidFill>
          <a:ln w="12700">
            <a:solidFill>
              <a:srgbClr val="F2F6F9"/>
            </a:solidFill>
            <a:prstDash val="solid"/>
          </a:ln>
        </p:spPr>
        <p:txBody>
          <a:bodyPr/>
          <a:lstStyle/>
          <a:p>
            <a:endParaRPr lang="es-CL"/>
          </a:p>
        </p:txBody>
      </p:sp>
      <p:sp>
        <p:nvSpPr>
          <p:cNvPr id="7" name="Shape 4"/>
          <p:cNvSpPr/>
          <p:nvPr/>
        </p:nvSpPr>
        <p:spPr>
          <a:xfrm>
            <a:off x="786384" y="1609344"/>
            <a:ext cx="100584" cy="100584"/>
          </a:xfrm>
          <a:prstGeom prst="ellipse">
            <a:avLst/>
          </a:prstGeom>
          <a:solidFill>
            <a:srgbClr val="E06C5B"/>
          </a:solidFill>
          <a:ln w="12700">
            <a:solidFill>
              <a:srgbClr val="E06C5B"/>
            </a:solidFill>
            <a:prstDash val="solid"/>
          </a:ln>
        </p:spPr>
        <p:txBody>
          <a:bodyPr/>
          <a:lstStyle/>
          <a:p>
            <a:endParaRPr lang="es-CL"/>
          </a:p>
        </p:txBody>
      </p:sp>
      <p:sp>
        <p:nvSpPr>
          <p:cNvPr id="8" name="Shape 5"/>
          <p:cNvSpPr/>
          <p:nvPr/>
        </p:nvSpPr>
        <p:spPr>
          <a:xfrm>
            <a:off x="969264" y="1609344"/>
            <a:ext cx="100584" cy="100584"/>
          </a:xfrm>
          <a:prstGeom prst="ellipse">
            <a:avLst/>
          </a:prstGeom>
          <a:solidFill>
            <a:srgbClr val="E8B84B"/>
          </a:solidFill>
          <a:ln w="12700">
            <a:solidFill>
              <a:srgbClr val="E8B84B"/>
            </a:solidFill>
            <a:prstDash val="solid"/>
          </a:ln>
        </p:spPr>
        <p:txBody>
          <a:bodyPr/>
          <a:lstStyle/>
          <a:p>
            <a:endParaRPr lang="es-CL"/>
          </a:p>
        </p:txBody>
      </p:sp>
      <p:sp>
        <p:nvSpPr>
          <p:cNvPr id="9" name="Shape 6"/>
          <p:cNvSpPr/>
          <p:nvPr/>
        </p:nvSpPr>
        <p:spPr>
          <a:xfrm>
            <a:off x="1152144" y="1609344"/>
            <a:ext cx="100584" cy="100584"/>
          </a:xfrm>
          <a:prstGeom prst="ellipse">
            <a:avLst/>
          </a:prstGeom>
          <a:solidFill>
            <a:srgbClr val="5BB98C"/>
          </a:solidFill>
          <a:ln w="12700">
            <a:solidFill>
              <a:srgbClr val="5BB98C"/>
            </a:solidFill>
            <a:prstDash val="solid"/>
          </a:ln>
        </p:spPr>
        <p:txBody>
          <a:bodyPr/>
          <a:lstStyle/>
          <a:p>
            <a:endParaRPr lang="es-CL"/>
          </a:p>
        </p:txBody>
      </p:sp>
      <p:sp>
        <p:nvSpPr>
          <p:cNvPr id="10" name="Shape 7"/>
          <p:cNvSpPr/>
          <p:nvPr/>
        </p:nvSpPr>
        <p:spPr>
          <a:xfrm>
            <a:off x="1417320" y="1572768"/>
            <a:ext cx="6583680" cy="182880"/>
          </a:xfrm>
          <a:prstGeom prst="roundRect">
            <a:avLst>
              <a:gd name="adj" fmla="val 25000"/>
            </a:avLst>
          </a:prstGeom>
          <a:solidFill>
            <a:srgbClr val="FFFFFF"/>
          </a:solidFill>
          <a:ln w="9525">
            <a:solidFill>
              <a:srgbClr val="D8E2E9"/>
            </a:solidFill>
            <a:prstDash val="solid"/>
          </a:ln>
        </p:spPr>
        <p:txBody>
          <a:bodyPr/>
          <a:lstStyle/>
          <a:p>
            <a:endParaRPr lang="es-CL"/>
          </a:p>
        </p:txBody>
      </p:sp>
      <p:sp>
        <p:nvSpPr>
          <p:cNvPr id="11" name="Text 8"/>
          <p:cNvSpPr/>
          <p:nvPr/>
        </p:nvSpPr>
        <p:spPr>
          <a:xfrm>
            <a:off x="1508760" y="1572768"/>
            <a:ext cx="6400800" cy="18288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vialnex.cl/documentos</a:t>
            </a:r>
            <a:endParaRPr lang="en-US" sz="800" dirty="0"/>
          </a:p>
        </p:txBody>
      </p:sp>
      <p:sp>
        <p:nvSpPr>
          <p:cNvPr id="12" name="Shape 9"/>
          <p:cNvSpPr/>
          <p:nvPr/>
        </p:nvSpPr>
        <p:spPr>
          <a:xfrm>
            <a:off x="649224" y="1810512"/>
            <a:ext cx="1417320" cy="4489704"/>
          </a:xfrm>
          <a:prstGeom prst="rect">
            <a:avLst/>
          </a:prstGeom>
          <a:solidFill>
            <a:srgbClr val="0F2E42"/>
          </a:solidFill>
          <a:ln w="12700">
            <a:solidFill>
              <a:srgbClr val="0F2E42"/>
            </a:solidFill>
            <a:prstDash val="solid"/>
          </a:ln>
        </p:spPr>
        <p:txBody>
          <a:bodyPr/>
          <a:lstStyle/>
          <a:p>
            <a:endParaRPr lang="es-CL"/>
          </a:p>
        </p:txBody>
      </p:sp>
      <p:pic>
        <p:nvPicPr>
          <p:cNvPr id="13" name="Image 1" descr="/mnt/user-data/outputs/logo/vialnex-logo-blanco-transp-1024.png"/>
          <p:cNvPicPr>
            <a:picLocks noChangeAspect="1"/>
          </p:cNvPicPr>
          <p:nvPr/>
        </p:nvPicPr>
        <p:blipFill>
          <a:blip r:embed="rId4"/>
          <a:stretch>
            <a:fillRect/>
          </a:stretch>
        </p:blipFill>
        <p:spPr>
          <a:xfrm>
            <a:off x="749808" y="1892808"/>
            <a:ext cx="960120" cy="283464"/>
          </a:xfrm>
          <a:prstGeom prst="rect">
            <a:avLst/>
          </a:prstGeom>
        </p:spPr>
      </p:pic>
      <p:sp>
        <p:nvSpPr>
          <p:cNvPr id="14" name="Shape 10"/>
          <p:cNvSpPr/>
          <p:nvPr/>
        </p:nvSpPr>
        <p:spPr>
          <a:xfrm>
            <a:off x="859536" y="2450592"/>
            <a:ext cx="82296" cy="82296"/>
          </a:xfrm>
          <a:prstGeom prst="ellipse">
            <a:avLst/>
          </a:prstGeom>
          <a:solidFill>
            <a:srgbClr val="2E7FB8"/>
          </a:solidFill>
          <a:ln w="12700">
            <a:solidFill>
              <a:srgbClr val="2E7FB8"/>
            </a:solidFill>
            <a:prstDash val="solid"/>
          </a:ln>
        </p:spPr>
        <p:txBody>
          <a:bodyPr/>
          <a:lstStyle/>
          <a:p>
            <a:endParaRPr lang="es-CL"/>
          </a:p>
        </p:txBody>
      </p:sp>
      <p:sp>
        <p:nvSpPr>
          <p:cNvPr id="15" name="Text 11"/>
          <p:cNvSpPr/>
          <p:nvPr/>
        </p:nvSpPr>
        <p:spPr>
          <a:xfrm>
            <a:off x="1024128" y="2377440"/>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Panel</a:t>
            </a:r>
            <a:endParaRPr lang="en-US" sz="950" dirty="0"/>
          </a:p>
        </p:txBody>
      </p:sp>
      <p:sp>
        <p:nvSpPr>
          <p:cNvPr id="16" name="Shape 12"/>
          <p:cNvSpPr/>
          <p:nvPr/>
        </p:nvSpPr>
        <p:spPr>
          <a:xfrm>
            <a:off x="859536" y="2779776"/>
            <a:ext cx="82296" cy="82296"/>
          </a:xfrm>
          <a:prstGeom prst="ellipse">
            <a:avLst/>
          </a:prstGeom>
          <a:solidFill>
            <a:srgbClr val="2E7FB8"/>
          </a:solidFill>
          <a:ln w="12700">
            <a:solidFill>
              <a:srgbClr val="2E7FB8"/>
            </a:solidFill>
            <a:prstDash val="solid"/>
          </a:ln>
        </p:spPr>
        <p:txBody>
          <a:bodyPr/>
          <a:lstStyle/>
          <a:p>
            <a:endParaRPr lang="es-CL"/>
          </a:p>
        </p:txBody>
      </p:sp>
      <p:sp>
        <p:nvSpPr>
          <p:cNvPr id="17" name="Text 13"/>
          <p:cNvSpPr/>
          <p:nvPr/>
        </p:nvSpPr>
        <p:spPr>
          <a:xfrm>
            <a:off x="1024128" y="2706624"/>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Pedidos</a:t>
            </a:r>
            <a:endParaRPr lang="en-US" sz="950" dirty="0"/>
          </a:p>
        </p:txBody>
      </p:sp>
      <p:sp>
        <p:nvSpPr>
          <p:cNvPr id="18" name="Shape 14"/>
          <p:cNvSpPr/>
          <p:nvPr/>
        </p:nvSpPr>
        <p:spPr>
          <a:xfrm>
            <a:off x="859536" y="3108960"/>
            <a:ext cx="82296" cy="82296"/>
          </a:xfrm>
          <a:prstGeom prst="ellipse">
            <a:avLst/>
          </a:prstGeom>
          <a:solidFill>
            <a:srgbClr val="2E7FB8"/>
          </a:solidFill>
          <a:ln w="12700">
            <a:solidFill>
              <a:srgbClr val="2E7FB8"/>
            </a:solidFill>
            <a:prstDash val="solid"/>
          </a:ln>
        </p:spPr>
        <p:txBody>
          <a:bodyPr/>
          <a:lstStyle/>
          <a:p>
            <a:endParaRPr lang="es-CL"/>
          </a:p>
        </p:txBody>
      </p:sp>
      <p:sp>
        <p:nvSpPr>
          <p:cNvPr id="19" name="Text 15"/>
          <p:cNvSpPr/>
          <p:nvPr/>
        </p:nvSpPr>
        <p:spPr>
          <a:xfrm>
            <a:off x="1024128" y="3035808"/>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Rutas</a:t>
            </a:r>
            <a:endParaRPr lang="en-US" sz="950" dirty="0"/>
          </a:p>
        </p:txBody>
      </p:sp>
      <p:sp>
        <p:nvSpPr>
          <p:cNvPr id="20" name="Shape 16"/>
          <p:cNvSpPr/>
          <p:nvPr/>
        </p:nvSpPr>
        <p:spPr>
          <a:xfrm>
            <a:off x="859536" y="3438144"/>
            <a:ext cx="82296" cy="82296"/>
          </a:xfrm>
          <a:prstGeom prst="ellipse">
            <a:avLst/>
          </a:prstGeom>
          <a:solidFill>
            <a:srgbClr val="2E7FB8"/>
          </a:solidFill>
          <a:ln w="12700">
            <a:solidFill>
              <a:srgbClr val="2E7FB8"/>
            </a:solidFill>
            <a:prstDash val="solid"/>
          </a:ln>
        </p:spPr>
        <p:txBody>
          <a:bodyPr/>
          <a:lstStyle/>
          <a:p>
            <a:endParaRPr lang="es-CL"/>
          </a:p>
        </p:txBody>
      </p:sp>
      <p:sp>
        <p:nvSpPr>
          <p:cNvPr id="21" name="Text 17"/>
          <p:cNvSpPr/>
          <p:nvPr/>
        </p:nvSpPr>
        <p:spPr>
          <a:xfrm>
            <a:off x="1024128" y="3364992"/>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Flota</a:t>
            </a:r>
            <a:endParaRPr lang="en-US" sz="950" dirty="0"/>
          </a:p>
        </p:txBody>
      </p:sp>
      <p:sp>
        <p:nvSpPr>
          <p:cNvPr id="22" name="Shape 18"/>
          <p:cNvSpPr/>
          <p:nvPr/>
        </p:nvSpPr>
        <p:spPr>
          <a:xfrm>
            <a:off x="731520" y="3657600"/>
            <a:ext cx="1252728" cy="292608"/>
          </a:xfrm>
          <a:prstGeom prst="roundRect">
            <a:avLst>
              <a:gd name="adj" fmla="val 15625"/>
            </a:avLst>
          </a:prstGeom>
          <a:solidFill>
            <a:srgbClr val="16A394"/>
          </a:solidFill>
          <a:ln w="12700">
            <a:solidFill>
              <a:srgbClr val="16A394"/>
            </a:solidFill>
            <a:prstDash val="solid"/>
          </a:ln>
        </p:spPr>
        <p:txBody>
          <a:bodyPr/>
          <a:lstStyle/>
          <a:p>
            <a:endParaRPr lang="es-CL"/>
          </a:p>
        </p:txBody>
      </p:sp>
      <p:sp>
        <p:nvSpPr>
          <p:cNvPr id="23" name="Shape 19"/>
          <p:cNvSpPr/>
          <p:nvPr/>
        </p:nvSpPr>
        <p:spPr>
          <a:xfrm>
            <a:off x="859536" y="3767328"/>
            <a:ext cx="82296" cy="82296"/>
          </a:xfrm>
          <a:prstGeom prst="ellipse">
            <a:avLst/>
          </a:prstGeom>
          <a:solidFill>
            <a:srgbClr val="FFFFFF"/>
          </a:solidFill>
          <a:ln w="12700">
            <a:solidFill>
              <a:srgbClr val="FFFFFF"/>
            </a:solidFill>
            <a:prstDash val="solid"/>
          </a:ln>
        </p:spPr>
        <p:txBody>
          <a:bodyPr/>
          <a:lstStyle/>
          <a:p>
            <a:endParaRPr lang="es-CL"/>
          </a:p>
        </p:txBody>
      </p:sp>
      <p:sp>
        <p:nvSpPr>
          <p:cNvPr id="24" name="Text 20"/>
          <p:cNvSpPr/>
          <p:nvPr/>
        </p:nvSpPr>
        <p:spPr>
          <a:xfrm>
            <a:off x="1024128" y="3694176"/>
            <a:ext cx="96012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Documentos</a:t>
            </a:r>
            <a:endParaRPr lang="en-US" sz="950" dirty="0"/>
          </a:p>
        </p:txBody>
      </p:sp>
      <p:sp>
        <p:nvSpPr>
          <p:cNvPr id="25" name="Shape 21"/>
          <p:cNvSpPr/>
          <p:nvPr/>
        </p:nvSpPr>
        <p:spPr>
          <a:xfrm>
            <a:off x="859536" y="4096512"/>
            <a:ext cx="82296" cy="82296"/>
          </a:xfrm>
          <a:prstGeom prst="ellipse">
            <a:avLst/>
          </a:prstGeom>
          <a:solidFill>
            <a:srgbClr val="2E7FB8"/>
          </a:solidFill>
          <a:ln w="12700">
            <a:solidFill>
              <a:srgbClr val="2E7FB8"/>
            </a:solidFill>
            <a:prstDash val="solid"/>
          </a:ln>
        </p:spPr>
        <p:txBody>
          <a:bodyPr/>
          <a:lstStyle/>
          <a:p>
            <a:endParaRPr lang="es-CL"/>
          </a:p>
        </p:txBody>
      </p:sp>
      <p:sp>
        <p:nvSpPr>
          <p:cNvPr id="26" name="Text 22"/>
          <p:cNvSpPr/>
          <p:nvPr/>
        </p:nvSpPr>
        <p:spPr>
          <a:xfrm>
            <a:off x="1024128" y="4023360"/>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Facturación</a:t>
            </a:r>
            <a:endParaRPr lang="en-US" sz="950" dirty="0"/>
          </a:p>
        </p:txBody>
      </p:sp>
      <p:sp>
        <p:nvSpPr>
          <p:cNvPr id="27" name="Text 23"/>
          <p:cNvSpPr/>
          <p:nvPr/>
        </p:nvSpPr>
        <p:spPr>
          <a:xfrm>
            <a:off x="2240280" y="1874520"/>
            <a:ext cx="2743200" cy="274320"/>
          </a:xfrm>
          <a:prstGeom prst="rect">
            <a:avLst/>
          </a:prstGeom>
          <a:noFill/>
          <a:ln/>
        </p:spPr>
        <p:txBody>
          <a:bodyPr wrap="square" lIns="0" tIns="0" rIns="0" bIns="0" rtlCol="0" anchor="ctr"/>
          <a:lstStyle/>
          <a:p>
            <a:pPr marL="0" indent="0">
              <a:buNone/>
            </a:pPr>
            <a:r>
              <a:rPr lang="en-US" sz="1500" b="1" dirty="0">
                <a:solidFill>
                  <a:srgbClr val="0F2E42"/>
                </a:solidFill>
                <a:latin typeface="Calibri" pitchFamily="34" charset="0"/>
                <a:ea typeface="Calibri" pitchFamily="34" charset="-122"/>
                <a:cs typeface="Calibri" pitchFamily="34" charset="-120"/>
              </a:rPr>
              <a:t>Documentos</a:t>
            </a:r>
            <a:endParaRPr lang="en-US" sz="1500" dirty="0"/>
          </a:p>
        </p:txBody>
      </p:sp>
      <p:sp>
        <p:nvSpPr>
          <p:cNvPr id="28" name="Shape 24"/>
          <p:cNvSpPr/>
          <p:nvPr/>
        </p:nvSpPr>
        <p:spPr>
          <a:xfrm>
            <a:off x="6400800" y="1874520"/>
            <a:ext cx="1417320" cy="292608"/>
          </a:xfrm>
          <a:prstGeom prst="roundRect">
            <a:avLst>
              <a:gd name="adj" fmla="val 15625"/>
            </a:avLst>
          </a:prstGeom>
          <a:solidFill>
            <a:srgbClr val="2E7FB8"/>
          </a:solidFill>
          <a:ln w="12700">
            <a:solidFill>
              <a:srgbClr val="2E7FB8"/>
            </a:solidFill>
            <a:prstDash val="solid"/>
          </a:ln>
        </p:spPr>
        <p:txBody>
          <a:bodyPr/>
          <a:lstStyle/>
          <a:p>
            <a:endParaRPr lang="es-CL"/>
          </a:p>
        </p:txBody>
      </p:sp>
      <p:sp>
        <p:nvSpPr>
          <p:cNvPr id="29" name="Text 25"/>
          <p:cNvSpPr/>
          <p:nvPr/>
        </p:nvSpPr>
        <p:spPr>
          <a:xfrm>
            <a:off x="6400800" y="1874520"/>
            <a:ext cx="141732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Cargar</a:t>
            </a:r>
            <a:endParaRPr lang="en-US" sz="900" dirty="0"/>
          </a:p>
        </p:txBody>
      </p:sp>
      <p:sp>
        <p:nvSpPr>
          <p:cNvPr id="30" name="Shape 26"/>
          <p:cNvSpPr/>
          <p:nvPr/>
        </p:nvSpPr>
        <p:spPr>
          <a:xfrm>
            <a:off x="2240280" y="2331720"/>
            <a:ext cx="5577840" cy="274320"/>
          </a:xfrm>
          <a:prstGeom prst="rect">
            <a:avLst/>
          </a:prstGeom>
          <a:solidFill>
            <a:srgbClr val="F2F6F9"/>
          </a:solidFill>
          <a:ln w="9525">
            <a:solidFill>
              <a:srgbClr val="D8E2E9"/>
            </a:solidFill>
            <a:prstDash val="solid"/>
          </a:ln>
        </p:spPr>
        <p:txBody>
          <a:bodyPr/>
          <a:lstStyle/>
          <a:p>
            <a:endParaRPr lang="es-CL"/>
          </a:p>
        </p:txBody>
      </p:sp>
      <p:sp>
        <p:nvSpPr>
          <p:cNvPr id="31" name="Text 27"/>
          <p:cNvSpPr/>
          <p:nvPr/>
        </p:nvSpPr>
        <p:spPr>
          <a:xfrm>
            <a:off x="2313432" y="2331720"/>
            <a:ext cx="1463040" cy="274320"/>
          </a:xfrm>
          <a:prstGeom prst="rect">
            <a:avLst/>
          </a:prstGeom>
          <a:noFill/>
          <a:ln/>
        </p:spPr>
        <p:txBody>
          <a:bodyPr wrap="square" lIns="0" tIns="0" rIns="0" bIns="0" rtlCol="0" anchor="ctr"/>
          <a:lstStyle/>
          <a:p>
            <a:pPr marL="0" indent="0">
              <a:buNone/>
            </a:pPr>
            <a:r>
              <a:rPr lang="en-US" sz="800" b="1" dirty="0">
                <a:solidFill>
                  <a:srgbClr val="0F2E42"/>
                </a:solidFill>
                <a:latin typeface="Calibri" pitchFamily="34" charset="0"/>
                <a:ea typeface="Calibri" pitchFamily="34" charset="-122"/>
                <a:cs typeface="Calibri" pitchFamily="34" charset="-120"/>
              </a:rPr>
              <a:t>Documento</a:t>
            </a:r>
            <a:endParaRPr lang="en-US" sz="800" dirty="0"/>
          </a:p>
        </p:txBody>
      </p:sp>
      <p:sp>
        <p:nvSpPr>
          <p:cNvPr id="32" name="Text 28"/>
          <p:cNvSpPr/>
          <p:nvPr/>
        </p:nvSpPr>
        <p:spPr>
          <a:xfrm>
            <a:off x="3867912" y="2331720"/>
            <a:ext cx="1188720" cy="274320"/>
          </a:xfrm>
          <a:prstGeom prst="rect">
            <a:avLst/>
          </a:prstGeom>
          <a:noFill/>
          <a:ln/>
        </p:spPr>
        <p:txBody>
          <a:bodyPr wrap="square" lIns="0" tIns="0" rIns="0" bIns="0" rtlCol="0" anchor="ctr"/>
          <a:lstStyle/>
          <a:p>
            <a:pPr marL="0" indent="0">
              <a:buNone/>
            </a:pPr>
            <a:r>
              <a:rPr lang="en-US" sz="800" b="1" dirty="0">
                <a:solidFill>
                  <a:srgbClr val="0F2E42"/>
                </a:solidFill>
                <a:latin typeface="Calibri" pitchFamily="34" charset="0"/>
                <a:ea typeface="Calibri" pitchFamily="34" charset="-122"/>
                <a:cs typeface="Calibri" pitchFamily="34" charset="-120"/>
              </a:rPr>
              <a:t>Tipo</a:t>
            </a:r>
            <a:endParaRPr lang="en-US" sz="800" dirty="0"/>
          </a:p>
        </p:txBody>
      </p:sp>
      <p:sp>
        <p:nvSpPr>
          <p:cNvPr id="33" name="Text 29"/>
          <p:cNvSpPr/>
          <p:nvPr/>
        </p:nvSpPr>
        <p:spPr>
          <a:xfrm>
            <a:off x="5148072" y="2331720"/>
            <a:ext cx="1371600" cy="274320"/>
          </a:xfrm>
          <a:prstGeom prst="rect">
            <a:avLst/>
          </a:prstGeom>
          <a:noFill/>
          <a:ln/>
        </p:spPr>
        <p:txBody>
          <a:bodyPr wrap="square" lIns="0" tIns="0" rIns="0" bIns="0" rtlCol="0" anchor="ctr"/>
          <a:lstStyle/>
          <a:p>
            <a:pPr marL="0" indent="0">
              <a:buNone/>
            </a:pPr>
            <a:r>
              <a:rPr lang="en-US" sz="800" b="1" dirty="0">
                <a:solidFill>
                  <a:srgbClr val="0F2E42"/>
                </a:solidFill>
                <a:latin typeface="Calibri" pitchFamily="34" charset="0"/>
                <a:ea typeface="Calibri" pitchFamily="34" charset="-122"/>
                <a:cs typeface="Calibri" pitchFamily="34" charset="-120"/>
              </a:rPr>
              <a:t>Asociado a</a:t>
            </a:r>
            <a:endParaRPr lang="en-US" sz="800" dirty="0"/>
          </a:p>
        </p:txBody>
      </p:sp>
      <p:sp>
        <p:nvSpPr>
          <p:cNvPr id="34" name="Text 30"/>
          <p:cNvSpPr/>
          <p:nvPr/>
        </p:nvSpPr>
        <p:spPr>
          <a:xfrm>
            <a:off x="6611112" y="2331720"/>
            <a:ext cx="1188720" cy="274320"/>
          </a:xfrm>
          <a:prstGeom prst="rect">
            <a:avLst/>
          </a:prstGeom>
          <a:noFill/>
          <a:ln/>
        </p:spPr>
        <p:txBody>
          <a:bodyPr wrap="square" lIns="0" tIns="0" rIns="0" bIns="0" rtlCol="0" anchor="ctr"/>
          <a:lstStyle/>
          <a:p>
            <a:pPr marL="0" indent="0">
              <a:buNone/>
            </a:pPr>
            <a:r>
              <a:rPr lang="en-US" sz="800" b="1" dirty="0">
                <a:solidFill>
                  <a:srgbClr val="0F2E42"/>
                </a:solidFill>
                <a:latin typeface="Calibri" pitchFamily="34" charset="0"/>
                <a:ea typeface="Calibri" pitchFamily="34" charset="-122"/>
                <a:cs typeface="Calibri" pitchFamily="34" charset="-120"/>
              </a:rPr>
              <a:t>Vencimiento</a:t>
            </a:r>
            <a:endParaRPr lang="en-US" sz="800" dirty="0"/>
          </a:p>
        </p:txBody>
      </p:sp>
      <p:sp>
        <p:nvSpPr>
          <p:cNvPr id="35" name="Shape 31"/>
          <p:cNvSpPr/>
          <p:nvPr/>
        </p:nvSpPr>
        <p:spPr>
          <a:xfrm>
            <a:off x="2240280" y="2606040"/>
            <a:ext cx="5577840" cy="274320"/>
          </a:xfrm>
          <a:prstGeom prst="rect">
            <a:avLst/>
          </a:prstGeom>
          <a:solidFill>
            <a:srgbClr val="FFFFFF"/>
          </a:solidFill>
          <a:ln w="9525">
            <a:solidFill>
              <a:srgbClr val="D8E2E9"/>
            </a:solidFill>
            <a:prstDash val="solid"/>
          </a:ln>
        </p:spPr>
        <p:txBody>
          <a:bodyPr/>
          <a:lstStyle/>
          <a:p>
            <a:endParaRPr lang="es-CL"/>
          </a:p>
        </p:txBody>
      </p:sp>
      <p:sp>
        <p:nvSpPr>
          <p:cNvPr id="36" name="Text 32"/>
          <p:cNvSpPr/>
          <p:nvPr/>
        </p:nvSpPr>
        <p:spPr>
          <a:xfrm>
            <a:off x="2313432" y="2606040"/>
            <a:ext cx="146304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GD-88412</a:t>
            </a:r>
            <a:endParaRPr lang="en-US" sz="800" dirty="0"/>
          </a:p>
        </p:txBody>
      </p:sp>
      <p:sp>
        <p:nvSpPr>
          <p:cNvPr id="37" name="Text 33"/>
          <p:cNvSpPr/>
          <p:nvPr/>
        </p:nvSpPr>
        <p:spPr>
          <a:xfrm>
            <a:off x="3867912" y="2606040"/>
            <a:ext cx="118872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Guía de despacho</a:t>
            </a:r>
            <a:endParaRPr lang="en-US" sz="800" dirty="0"/>
          </a:p>
        </p:txBody>
      </p:sp>
      <p:sp>
        <p:nvSpPr>
          <p:cNvPr id="38" name="Text 34"/>
          <p:cNvSpPr/>
          <p:nvPr/>
        </p:nvSpPr>
        <p:spPr>
          <a:xfrm>
            <a:off x="5148072" y="2606040"/>
            <a:ext cx="137160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PD-1042</a:t>
            </a:r>
            <a:endParaRPr lang="en-US" sz="800" dirty="0"/>
          </a:p>
        </p:txBody>
      </p:sp>
      <p:sp>
        <p:nvSpPr>
          <p:cNvPr id="39" name="Text 35"/>
          <p:cNvSpPr/>
          <p:nvPr/>
        </p:nvSpPr>
        <p:spPr>
          <a:xfrm>
            <a:off x="6611112" y="2606040"/>
            <a:ext cx="118872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a:t>
            </a:r>
            <a:endParaRPr lang="en-US" sz="800" dirty="0"/>
          </a:p>
        </p:txBody>
      </p:sp>
      <p:sp>
        <p:nvSpPr>
          <p:cNvPr id="40" name="Shape 36"/>
          <p:cNvSpPr/>
          <p:nvPr/>
        </p:nvSpPr>
        <p:spPr>
          <a:xfrm>
            <a:off x="2240280" y="2880360"/>
            <a:ext cx="5577840" cy="274320"/>
          </a:xfrm>
          <a:prstGeom prst="rect">
            <a:avLst/>
          </a:prstGeom>
          <a:solidFill>
            <a:srgbClr val="FFFFFF"/>
          </a:solidFill>
          <a:ln w="9525">
            <a:solidFill>
              <a:srgbClr val="D8E2E9"/>
            </a:solidFill>
            <a:prstDash val="solid"/>
          </a:ln>
        </p:spPr>
        <p:txBody>
          <a:bodyPr/>
          <a:lstStyle/>
          <a:p>
            <a:endParaRPr lang="es-CL"/>
          </a:p>
        </p:txBody>
      </p:sp>
      <p:sp>
        <p:nvSpPr>
          <p:cNvPr id="41" name="Text 37"/>
          <p:cNvSpPr/>
          <p:nvPr/>
        </p:nvSpPr>
        <p:spPr>
          <a:xfrm>
            <a:off x="2313432" y="2880360"/>
            <a:ext cx="146304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FA-20391</a:t>
            </a:r>
            <a:endParaRPr lang="en-US" sz="800" dirty="0"/>
          </a:p>
        </p:txBody>
      </p:sp>
      <p:sp>
        <p:nvSpPr>
          <p:cNvPr id="42" name="Text 38"/>
          <p:cNvSpPr/>
          <p:nvPr/>
        </p:nvSpPr>
        <p:spPr>
          <a:xfrm>
            <a:off x="3867912" y="2880360"/>
            <a:ext cx="118872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Factura</a:t>
            </a:r>
            <a:endParaRPr lang="en-US" sz="800" dirty="0"/>
          </a:p>
        </p:txBody>
      </p:sp>
      <p:sp>
        <p:nvSpPr>
          <p:cNvPr id="43" name="Text 39"/>
          <p:cNvSpPr/>
          <p:nvPr/>
        </p:nvSpPr>
        <p:spPr>
          <a:xfrm>
            <a:off x="5148072" y="2880360"/>
            <a:ext cx="137160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PD-1042</a:t>
            </a:r>
            <a:endParaRPr lang="en-US" sz="800" dirty="0"/>
          </a:p>
        </p:txBody>
      </p:sp>
      <p:sp>
        <p:nvSpPr>
          <p:cNvPr id="44" name="Text 40"/>
          <p:cNvSpPr/>
          <p:nvPr/>
        </p:nvSpPr>
        <p:spPr>
          <a:xfrm>
            <a:off x="6611112" y="2880360"/>
            <a:ext cx="118872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a:t>
            </a:r>
            <a:endParaRPr lang="en-US" sz="800" dirty="0"/>
          </a:p>
        </p:txBody>
      </p:sp>
      <p:sp>
        <p:nvSpPr>
          <p:cNvPr id="45" name="Shape 41"/>
          <p:cNvSpPr/>
          <p:nvPr/>
        </p:nvSpPr>
        <p:spPr>
          <a:xfrm>
            <a:off x="2240280" y="3154680"/>
            <a:ext cx="5577840" cy="274320"/>
          </a:xfrm>
          <a:prstGeom prst="rect">
            <a:avLst/>
          </a:prstGeom>
          <a:solidFill>
            <a:srgbClr val="FFFFFF"/>
          </a:solidFill>
          <a:ln w="9525">
            <a:solidFill>
              <a:srgbClr val="D8E2E9"/>
            </a:solidFill>
            <a:prstDash val="solid"/>
          </a:ln>
        </p:spPr>
        <p:txBody>
          <a:bodyPr/>
          <a:lstStyle/>
          <a:p>
            <a:endParaRPr lang="es-CL"/>
          </a:p>
        </p:txBody>
      </p:sp>
      <p:sp>
        <p:nvSpPr>
          <p:cNvPr id="46" name="Text 42"/>
          <p:cNvSpPr/>
          <p:nvPr/>
        </p:nvSpPr>
        <p:spPr>
          <a:xfrm>
            <a:off x="2313432" y="3154680"/>
            <a:ext cx="146304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Rev. técnica</a:t>
            </a:r>
            <a:endParaRPr lang="en-US" sz="800" dirty="0"/>
          </a:p>
        </p:txBody>
      </p:sp>
      <p:sp>
        <p:nvSpPr>
          <p:cNvPr id="47" name="Text 43"/>
          <p:cNvSpPr/>
          <p:nvPr/>
        </p:nvSpPr>
        <p:spPr>
          <a:xfrm>
            <a:off x="3867912" y="3154680"/>
            <a:ext cx="118872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Certificado</a:t>
            </a:r>
            <a:endParaRPr lang="en-US" sz="800" dirty="0"/>
          </a:p>
        </p:txBody>
      </p:sp>
      <p:sp>
        <p:nvSpPr>
          <p:cNvPr id="48" name="Text 44"/>
          <p:cNvSpPr/>
          <p:nvPr/>
        </p:nvSpPr>
        <p:spPr>
          <a:xfrm>
            <a:off x="5148072" y="3154680"/>
            <a:ext cx="137160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GHTR-88</a:t>
            </a:r>
            <a:endParaRPr lang="en-US" sz="800" dirty="0"/>
          </a:p>
        </p:txBody>
      </p:sp>
      <p:sp>
        <p:nvSpPr>
          <p:cNvPr id="49" name="Text 45"/>
          <p:cNvSpPr/>
          <p:nvPr/>
        </p:nvSpPr>
        <p:spPr>
          <a:xfrm>
            <a:off x="6611112" y="3154680"/>
            <a:ext cx="118872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Vencida</a:t>
            </a:r>
            <a:endParaRPr lang="en-US" sz="800" dirty="0"/>
          </a:p>
        </p:txBody>
      </p:sp>
      <p:sp>
        <p:nvSpPr>
          <p:cNvPr id="50" name="Shape 46"/>
          <p:cNvSpPr/>
          <p:nvPr/>
        </p:nvSpPr>
        <p:spPr>
          <a:xfrm>
            <a:off x="2240280" y="3429000"/>
            <a:ext cx="5577840" cy="274320"/>
          </a:xfrm>
          <a:prstGeom prst="rect">
            <a:avLst/>
          </a:prstGeom>
          <a:solidFill>
            <a:srgbClr val="FFFFFF"/>
          </a:solidFill>
          <a:ln w="9525">
            <a:solidFill>
              <a:srgbClr val="D8E2E9"/>
            </a:solidFill>
            <a:prstDash val="solid"/>
          </a:ln>
        </p:spPr>
        <p:txBody>
          <a:bodyPr/>
          <a:lstStyle/>
          <a:p>
            <a:endParaRPr lang="es-CL"/>
          </a:p>
        </p:txBody>
      </p:sp>
      <p:sp>
        <p:nvSpPr>
          <p:cNvPr id="51" name="Text 47"/>
          <p:cNvSpPr/>
          <p:nvPr/>
        </p:nvSpPr>
        <p:spPr>
          <a:xfrm>
            <a:off x="2313432" y="3429000"/>
            <a:ext cx="146304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Permiso circ.</a:t>
            </a:r>
            <a:endParaRPr lang="en-US" sz="800" dirty="0"/>
          </a:p>
        </p:txBody>
      </p:sp>
      <p:sp>
        <p:nvSpPr>
          <p:cNvPr id="52" name="Text 48"/>
          <p:cNvSpPr/>
          <p:nvPr/>
        </p:nvSpPr>
        <p:spPr>
          <a:xfrm>
            <a:off x="3867912" y="3429000"/>
            <a:ext cx="118872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Permiso</a:t>
            </a:r>
            <a:endParaRPr lang="en-US" sz="800" dirty="0"/>
          </a:p>
        </p:txBody>
      </p:sp>
      <p:sp>
        <p:nvSpPr>
          <p:cNvPr id="53" name="Text 49"/>
          <p:cNvSpPr/>
          <p:nvPr/>
        </p:nvSpPr>
        <p:spPr>
          <a:xfrm>
            <a:off x="5148072" y="3429000"/>
            <a:ext cx="137160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BCDF-12</a:t>
            </a:r>
            <a:endParaRPr lang="en-US" sz="800" dirty="0"/>
          </a:p>
        </p:txBody>
      </p:sp>
      <p:sp>
        <p:nvSpPr>
          <p:cNvPr id="54" name="Text 50"/>
          <p:cNvSpPr/>
          <p:nvPr/>
        </p:nvSpPr>
        <p:spPr>
          <a:xfrm>
            <a:off x="6611112" y="3429000"/>
            <a:ext cx="118872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31-03-2027</a:t>
            </a:r>
            <a:endParaRPr lang="en-US" sz="800" dirty="0"/>
          </a:p>
        </p:txBody>
      </p:sp>
      <p:sp>
        <p:nvSpPr>
          <p:cNvPr id="55" name="Shape 51"/>
          <p:cNvSpPr/>
          <p:nvPr/>
        </p:nvSpPr>
        <p:spPr>
          <a:xfrm>
            <a:off x="2240280" y="3703320"/>
            <a:ext cx="5577840" cy="274320"/>
          </a:xfrm>
          <a:prstGeom prst="rect">
            <a:avLst/>
          </a:prstGeom>
          <a:solidFill>
            <a:srgbClr val="FFFFFF"/>
          </a:solidFill>
          <a:ln w="9525">
            <a:solidFill>
              <a:srgbClr val="D8E2E9"/>
            </a:solidFill>
            <a:prstDash val="solid"/>
          </a:ln>
        </p:spPr>
        <p:txBody>
          <a:bodyPr/>
          <a:lstStyle/>
          <a:p>
            <a:endParaRPr lang="es-CL"/>
          </a:p>
        </p:txBody>
      </p:sp>
      <p:sp>
        <p:nvSpPr>
          <p:cNvPr id="56" name="Text 52"/>
          <p:cNvSpPr/>
          <p:nvPr/>
        </p:nvSpPr>
        <p:spPr>
          <a:xfrm>
            <a:off x="2313432" y="3703320"/>
            <a:ext cx="146304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Licencia A5</a:t>
            </a:r>
            <a:endParaRPr lang="en-US" sz="800" dirty="0"/>
          </a:p>
        </p:txBody>
      </p:sp>
      <p:sp>
        <p:nvSpPr>
          <p:cNvPr id="57" name="Text 53"/>
          <p:cNvSpPr/>
          <p:nvPr/>
        </p:nvSpPr>
        <p:spPr>
          <a:xfrm>
            <a:off x="3867912" y="3703320"/>
            <a:ext cx="118872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Licencia</a:t>
            </a:r>
            <a:endParaRPr lang="en-US" sz="800" dirty="0"/>
          </a:p>
        </p:txBody>
      </p:sp>
      <p:sp>
        <p:nvSpPr>
          <p:cNvPr id="58" name="Text 54"/>
          <p:cNvSpPr/>
          <p:nvPr/>
        </p:nvSpPr>
        <p:spPr>
          <a:xfrm>
            <a:off x="5148072" y="3703320"/>
            <a:ext cx="137160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P. Núñez</a:t>
            </a:r>
            <a:endParaRPr lang="en-US" sz="800" dirty="0"/>
          </a:p>
        </p:txBody>
      </p:sp>
      <p:sp>
        <p:nvSpPr>
          <p:cNvPr id="59" name="Text 55"/>
          <p:cNvSpPr/>
          <p:nvPr/>
        </p:nvSpPr>
        <p:spPr>
          <a:xfrm>
            <a:off x="6611112" y="3703320"/>
            <a:ext cx="118872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En 22 días</a:t>
            </a:r>
            <a:endParaRPr lang="en-US" sz="800" dirty="0"/>
          </a:p>
        </p:txBody>
      </p:sp>
      <p:sp>
        <p:nvSpPr>
          <p:cNvPr id="60" name="Shape 56"/>
          <p:cNvSpPr/>
          <p:nvPr/>
        </p:nvSpPr>
        <p:spPr>
          <a:xfrm>
            <a:off x="2240280" y="3977640"/>
            <a:ext cx="5577840" cy="274320"/>
          </a:xfrm>
          <a:prstGeom prst="rect">
            <a:avLst/>
          </a:prstGeom>
          <a:solidFill>
            <a:srgbClr val="FFFFFF"/>
          </a:solidFill>
          <a:ln w="9525">
            <a:solidFill>
              <a:srgbClr val="D8E2E9"/>
            </a:solidFill>
            <a:prstDash val="solid"/>
          </a:ln>
        </p:spPr>
        <p:txBody>
          <a:bodyPr/>
          <a:lstStyle/>
          <a:p>
            <a:endParaRPr lang="es-CL"/>
          </a:p>
        </p:txBody>
      </p:sp>
      <p:sp>
        <p:nvSpPr>
          <p:cNvPr id="61" name="Text 57"/>
          <p:cNvSpPr/>
          <p:nvPr/>
        </p:nvSpPr>
        <p:spPr>
          <a:xfrm>
            <a:off x="2313432" y="3977640"/>
            <a:ext cx="146304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Seguro carga</a:t>
            </a:r>
            <a:endParaRPr lang="en-US" sz="800" dirty="0"/>
          </a:p>
        </p:txBody>
      </p:sp>
      <p:sp>
        <p:nvSpPr>
          <p:cNvPr id="62" name="Text 58"/>
          <p:cNvSpPr/>
          <p:nvPr/>
        </p:nvSpPr>
        <p:spPr>
          <a:xfrm>
            <a:off x="3867912" y="3977640"/>
            <a:ext cx="118872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Póliza</a:t>
            </a:r>
            <a:endParaRPr lang="en-US" sz="800" dirty="0"/>
          </a:p>
        </p:txBody>
      </p:sp>
      <p:sp>
        <p:nvSpPr>
          <p:cNvPr id="63" name="Text 59"/>
          <p:cNvSpPr/>
          <p:nvPr/>
        </p:nvSpPr>
        <p:spPr>
          <a:xfrm>
            <a:off x="5148072" y="3977640"/>
            <a:ext cx="137160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Flota</a:t>
            </a:r>
            <a:endParaRPr lang="en-US" sz="800" dirty="0"/>
          </a:p>
        </p:txBody>
      </p:sp>
      <p:sp>
        <p:nvSpPr>
          <p:cNvPr id="64" name="Text 60"/>
          <p:cNvSpPr/>
          <p:nvPr/>
        </p:nvSpPr>
        <p:spPr>
          <a:xfrm>
            <a:off x="6611112" y="3977640"/>
            <a:ext cx="118872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18-12-2026</a:t>
            </a:r>
            <a:endParaRPr lang="en-US" sz="800" dirty="0"/>
          </a:p>
        </p:txBody>
      </p:sp>
      <p:sp>
        <p:nvSpPr>
          <p:cNvPr id="65" name="Shape 61"/>
          <p:cNvSpPr/>
          <p:nvPr/>
        </p:nvSpPr>
        <p:spPr>
          <a:xfrm>
            <a:off x="2240280" y="4251960"/>
            <a:ext cx="5577840" cy="274320"/>
          </a:xfrm>
          <a:prstGeom prst="rect">
            <a:avLst/>
          </a:prstGeom>
          <a:solidFill>
            <a:srgbClr val="FFFFFF"/>
          </a:solidFill>
          <a:ln w="9525">
            <a:solidFill>
              <a:srgbClr val="D8E2E9"/>
            </a:solidFill>
            <a:prstDash val="solid"/>
          </a:ln>
        </p:spPr>
        <p:txBody>
          <a:bodyPr/>
          <a:lstStyle/>
          <a:p>
            <a:endParaRPr lang="es-CL"/>
          </a:p>
        </p:txBody>
      </p:sp>
      <p:sp>
        <p:nvSpPr>
          <p:cNvPr id="66" name="Text 62"/>
          <p:cNvSpPr/>
          <p:nvPr/>
        </p:nvSpPr>
        <p:spPr>
          <a:xfrm>
            <a:off x="2313432" y="4251960"/>
            <a:ext cx="146304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GD-88413</a:t>
            </a:r>
            <a:endParaRPr lang="en-US" sz="800" dirty="0"/>
          </a:p>
        </p:txBody>
      </p:sp>
      <p:sp>
        <p:nvSpPr>
          <p:cNvPr id="67" name="Text 63"/>
          <p:cNvSpPr/>
          <p:nvPr/>
        </p:nvSpPr>
        <p:spPr>
          <a:xfrm>
            <a:off x="3867912" y="4251960"/>
            <a:ext cx="118872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Guía de despacho</a:t>
            </a:r>
            <a:endParaRPr lang="en-US" sz="800" dirty="0"/>
          </a:p>
        </p:txBody>
      </p:sp>
      <p:sp>
        <p:nvSpPr>
          <p:cNvPr id="68" name="Text 64"/>
          <p:cNvSpPr/>
          <p:nvPr/>
        </p:nvSpPr>
        <p:spPr>
          <a:xfrm>
            <a:off x="5148072" y="4251960"/>
            <a:ext cx="137160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PD-1043</a:t>
            </a:r>
            <a:endParaRPr lang="en-US" sz="800" dirty="0"/>
          </a:p>
        </p:txBody>
      </p:sp>
      <p:sp>
        <p:nvSpPr>
          <p:cNvPr id="69" name="Text 65"/>
          <p:cNvSpPr/>
          <p:nvPr/>
        </p:nvSpPr>
        <p:spPr>
          <a:xfrm>
            <a:off x="6611112" y="4251960"/>
            <a:ext cx="1188720" cy="27432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a:t>
            </a:r>
            <a:endParaRPr lang="en-US" sz="800" dirty="0"/>
          </a:p>
        </p:txBody>
      </p:sp>
      <p:sp>
        <p:nvSpPr>
          <p:cNvPr id="70" name="Shape 66"/>
          <p:cNvSpPr/>
          <p:nvPr/>
        </p:nvSpPr>
        <p:spPr>
          <a:xfrm>
            <a:off x="8549640" y="1508760"/>
            <a:ext cx="2971800" cy="4800600"/>
          </a:xfrm>
          <a:prstGeom prst="roundRect">
            <a:avLst>
              <a:gd name="adj" fmla="val 2462"/>
            </a:avLst>
          </a:prstGeom>
          <a:solidFill>
            <a:srgbClr val="F2F6F9"/>
          </a:solidFill>
          <a:ln w="12700">
            <a:solidFill>
              <a:srgbClr val="D8E2E9"/>
            </a:solidFill>
            <a:prstDash val="solid"/>
          </a:ln>
        </p:spPr>
        <p:txBody>
          <a:bodyPr/>
          <a:lstStyle/>
          <a:p>
            <a:endParaRPr lang="es-CL"/>
          </a:p>
        </p:txBody>
      </p:sp>
      <p:sp>
        <p:nvSpPr>
          <p:cNvPr id="71" name="Text 67"/>
          <p:cNvSpPr/>
          <p:nvPr/>
        </p:nvSpPr>
        <p:spPr>
          <a:xfrm>
            <a:off x="8778240" y="1737360"/>
            <a:ext cx="2560320" cy="274320"/>
          </a:xfrm>
          <a:prstGeom prst="rect">
            <a:avLst/>
          </a:prstGeom>
          <a:noFill/>
          <a:ln/>
        </p:spPr>
        <p:txBody>
          <a:bodyPr wrap="square" lIns="0" tIns="0" rIns="0" bIns="0" rtlCol="0" anchor="ctr"/>
          <a:lstStyle/>
          <a:p>
            <a:pPr marL="0" indent="0">
              <a:buNone/>
            </a:pPr>
            <a:r>
              <a:rPr lang="en-US" sz="1400" b="1" dirty="0">
                <a:solidFill>
                  <a:srgbClr val="0F2E42"/>
                </a:solidFill>
                <a:latin typeface="Calibri" pitchFamily="34" charset="0"/>
                <a:ea typeface="Calibri" pitchFamily="34" charset="-122"/>
                <a:cs typeface="Calibri" pitchFamily="34" charset="-120"/>
              </a:rPr>
              <a:t>Dos funciones en una</a:t>
            </a:r>
            <a:endParaRPr lang="en-US" sz="1400" dirty="0"/>
          </a:p>
        </p:txBody>
      </p:sp>
      <p:sp>
        <p:nvSpPr>
          <p:cNvPr id="72" name="Shape 68"/>
          <p:cNvSpPr/>
          <p:nvPr/>
        </p:nvSpPr>
        <p:spPr>
          <a:xfrm>
            <a:off x="8778240" y="2185416"/>
            <a:ext cx="146304" cy="146304"/>
          </a:xfrm>
          <a:prstGeom prst="ellipse">
            <a:avLst/>
          </a:prstGeom>
          <a:solidFill>
            <a:srgbClr val="2E7FB8"/>
          </a:solidFill>
          <a:ln w="12700">
            <a:solidFill>
              <a:srgbClr val="2E7FB8"/>
            </a:solidFill>
            <a:prstDash val="solid"/>
          </a:ln>
        </p:spPr>
        <p:txBody>
          <a:bodyPr/>
          <a:lstStyle/>
          <a:p>
            <a:endParaRPr lang="es-CL"/>
          </a:p>
        </p:txBody>
      </p:sp>
      <p:sp>
        <p:nvSpPr>
          <p:cNvPr id="73" name="Text 69"/>
          <p:cNvSpPr/>
          <p:nvPr/>
        </p:nvSpPr>
        <p:spPr>
          <a:xfrm>
            <a:off x="9025128" y="2148840"/>
            <a:ext cx="2286000" cy="457200"/>
          </a:xfrm>
          <a:prstGeom prst="rect">
            <a:avLst/>
          </a:prstGeom>
          <a:noFill/>
          <a:ln/>
        </p:spPr>
        <p:txBody>
          <a:bodyPr wrap="square" lIns="0" tIns="0" rIns="0" bIns="0" rtlCol="0" anchor="ctr"/>
          <a:lstStyle/>
          <a:p>
            <a:pPr marL="0" indent="0">
              <a:lnSpc>
                <a:spcPct val="105000"/>
              </a:lnSpc>
              <a:buNone/>
            </a:pPr>
            <a:r>
              <a:rPr lang="en-US" sz="1150" b="1" dirty="0">
                <a:solidFill>
                  <a:srgbClr val="0F2E42"/>
                </a:solidFill>
                <a:latin typeface="Calibri" pitchFamily="34" charset="0"/>
                <a:ea typeface="Calibri" pitchFamily="34" charset="-122"/>
                <a:cs typeface="Calibri" pitchFamily="34" charset="-120"/>
              </a:rPr>
              <a:t>Repositorio asociado al pedido</a:t>
            </a:r>
            <a:endParaRPr lang="en-US" sz="1150" dirty="0"/>
          </a:p>
        </p:txBody>
      </p:sp>
      <p:sp>
        <p:nvSpPr>
          <p:cNvPr id="74" name="Text 70"/>
          <p:cNvSpPr/>
          <p:nvPr/>
        </p:nvSpPr>
        <p:spPr>
          <a:xfrm>
            <a:off x="8778240" y="2651760"/>
            <a:ext cx="2560320" cy="777240"/>
          </a:xfrm>
          <a:prstGeom prst="rect">
            <a:avLst/>
          </a:prstGeom>
          <a:noFill/>
          <a:ln/>
        </p:spPr>
        <p:txBody>
          <a:bodyPr wrap="square" lIns="0" tIns="0" rIns="0" bIns="0" rtlCol="0" anchor="ctr"/>
          <a:lstStyle/>
          <a:p>
            <a:pPr marL="0" indent="0">
              <a:lnSpc>
                <a:spcPct val="115000"/>
              </a:lnSpc>
              <a:buNone/>
            </a:pPr>
            <a:r>
              <a:rPr lang="en-US" sz="1000" dirty="0">
                <a:solidFill>
                  <a:srgbClr val="5A6B78"/>
                </a:solidFill>
                <a:latin typeface="Calibri" pitchFamily="34" charset="0"/>
                <a:ea typeface="Calibri" pitchFamily="34" charset="-122"/>
                <a:cs typeface="Calibri" pitchFamily="34" charset="-120"/>
              </a:rPr>
              <a:t>Cada guía y factura queda vinculada al servicio que la originó, no a una carpeta suelta.</a:t>
            </a:r>
            <a:endParaRPr lang="en-US" sz="1000" dirty="0"/>
          </a:p>
        </p:txBody>
      </p:sp>
      <p:sp>
        <p:nvSpPr>
          <p:cNvPr id="75" name="Shape 71"/>
          <p:cNvSpPr/>
          <p:nvPr/>
        </p:nvSpPr>
        <p:spPr>
          <a:xfrm>
            <a:off x="8778240" y="3557016"/>
            <a:ext cx="146304" cy="146304"/>
          </a:xfrm>
          <a:prstGeom prst="ellipse">
            <a:avLst/>
          </a:prstGeom>
          <a:solidFill>
            <a:srgbClr val="16A394"/>
          </a:solidFill>
          <a:ln w="12700">
            <a:solidFill>
              <a:srgbClr val="16A394"/>
            </a:solidFill>
            <a:prstDash val="solid"/>
          </a:ln>
        </p:spPr>
        <p:txBody>
          <a:bodyPr/>
          <a:lstStyle/>
          <a:p>
            <a:endParaRPr lang="es-CL"/>
          </a:p>
        </p:txBody>
      </p:sp>
      <p:sp>
        <p:nvSpPr>
          <p:cNvPr id="76" name="Text 72"/>
          <p:cNvSpPr/>
          <p:nvPr/>
        </p:nvSpPr>
        <p:spPr>
          <a:xfrm>
            <a:off x="9025128" y="3520440"/>
            <a:ext cx="2286000" cy="457200"/>
          </a:xfrm>
          <a:prstGeom prst="rect">
            <a:avLst/>
          </a:prstGeom>
          <a:noFill/>
          <a:ln/>
        </p:spPr>
        <p:txBody>
          <a:bodyPr wrap="square" lIns="0" tIns="0" rIns="0" bIns="0" rtlCol="0" anchor="ctr"/>
          <a:lstStyle/>
          <a:p>
            <a:pPr marL="0" indent="0">
              <a:lnSpc>
                <a:spcPct val="105000"/>
              </a:lnSpc>
              <a:buNone/>
            </a:pPr>
            <a:r>
              <a:rPr lang="en-US" sz="1150" b="1" dirty="0">
                <a:solidFill>
                  <a:srgbClr val="0F2E42"/>
                </a:solidFill>
                <a:latin typeface="Calibri" pitchFamily="34" charset="0"/>
                <a:ea typeface="Calibri" pitchFamily="34" charset="-122"/>
                <a:cs typeface="Calibri" pitchFamily="34" charset="-120"/>
              </a:rPr>
              <a:t>Control de vencimientos</a:t>
            </a:r>
            <a:endParaRPr lang="en-US" sz="1150" dirty="0"/>
          </a:p>
        </p:txBody>
      </p:sp>
      <p:sp>
        <p:nvSpPr>
          <p:cNvPr id="77" name="Text 73"/>
          <p:cNvSpPr/>
          <p:nvPr/>
        </p:nvSpPr>
        <p:spPr>
          <a:xfrm>
            <a:off x="8778240" y="4023360"/>
            <a:ext cx="2560320" cy="777240"/>
          </a:xfrm>
          <a:prstGeom prst="rect">
            <a:avLst/>
          </a:prstGeom>
          <a:noFill/>
          <a:ln/>
        </p:spPr>
        <p:txBody>
          <a:bodyPr wrap="square" lIns="0" tIns="0" rIns="0" bIns="0" rtlCol="0" anchor="ctr"/>
          <a:lstStyle/>
          <a:p>
            <a:pPr marL="0" indent="0">
              <a:lnSpc>
                <a:spcPct val="115000"/>
              </a:lnSpc>
              <a:buNone/>
            </a:pPr>
            <a:r>
              <a:rPr lang="en-US" sz="1000" dirty="0">
                <a:solidFill>
                  <a:srgbClr val="5A6B78"/>
                </a:solidFill>
                <a:latin typeface="Calibri" pitchFamily="34" charset="0"/>
                <a:ea typeface="Calibri" pitchFamily="34" charset="-122"/>
                <a:cs typeface="Calibri" pitchFamily="34" charset="-120"/>
              </a:rPr>
              <a:t>Revisiones técnicas, permisos, licencias y pólizas avisan antes de vencer, no después.</a:t>
            </a:r>
            <a:endParaRPr lang="en-US" sz="1000" dirty="0"/>
          </a:p>
        </p:txBody>
      </p:sp>
      <p:sp>
        <p:nvSpPr>
          <p:cNvPr id="78" name="Shape 74"/>
          <p:cNvSpPr/>
          <p:nvPr/>
        </p:nvSpPr>
        <p:spPr>
          <a:xfrm>
            <a:off x="8778240" y="4937760"/>
            <a:ext cx="2560320" cy="1051560"/>
          </a:xfrm>
          <a:prstGeom prst="roundRect">
            <a:avLst>
              <a:gd name="adj" fmla="val 5217"/>
            </a:avLst>
          </a:prstGeom>
          <a:solidFill>
            <a:srgbClr val="0F2E42"/>
          </a:solidFill>
          <a:ln w="12700">
            <a:solidFill>
              <a:srgbClr val="0F2E42"/>
            </a:solidFill>
            <a:prstDash val="solid"/>
          </a:ln>
        </p:spPr>
        <p:txBody>
          <a:bodyPr/>
          <a:lstStyle/>
          <a:p>
            <a:endParaRPr lang="es-CL"/>
          </a:p>
        </p:txBody>
      </p:sp>
      <p:sp>
        <p:nvSpPr>
          <p:cNvPr id="79" name="Text 75"/>
          <p:cNvSpPr/>
          <p:nvPr/>
        </p:nvSpPr>
        <p:spPr>
          <a:xfrm>
            <a:off x="8942832" y="5102352"/>
            <a:ext cx="2240280" cy="777240"/>
          </a:xfrm>
          <a:prstGeom prst="rect">
            <a:avLst/>
          </a:prstGeom>
          <a:noFill/>
          <a:ln/>
        </p:spPr>
        <p:txBody>
          <a:bodyPr wrap="square" lIns="0" tIns="0" rIns="0" bIns="0" rtlCol="0" anchor="ctr"/>
          <a:lstStyle/>
          <a:p>
            <a:pPr marL="0" indent="0">
              <a:lnSpc>
                <a:spcPct val="115000"/>
              </a:lnSpc>
              <a:buNone/>
            </a:pPr>
            <a:r>
              <a:rPr lang="en-US" sz="1100" dirty="0">
                <a:solidFill>
                  <a:srgbClr val="FFFFFF"/>
                </a:solidFill>
                <a:latin typeface="Calibri" pitchFamily="34" charset="0"/>
                <a:ea typeface="Calibri" pitchFamily="34" charset="-122"/>
                <a:cs typeface="Calibri" pitchFamily="34" charset="-120"/>
              </a:rPr>
              <a:t>Responder una fiscalización deja de tomar horas y pasa a tomar una búsqueda.</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548640"/>
          </a:xfrm>
          <a:prstGeom prst="rect">
            <a:avLst/>
          </a:prstGeom>
          <a:noFill/>
          <a:ln/>
        </p:spPr>
        <p:txBody>
          <a:bodyPr wrap="square" lIns="0" tIns="0" rIns="0" bIns="0" rtlCol="0" anchor="ctr"/>
          <a:lstStyle/>
          <a:p>
            <a:pPr marL="0" indent="0">
              <a:buNone/>
            </a:pPr>
            <a:r>
              <a:rPr lang="en-US" sz="3000" b="1" dirty="0">
                <a:solidFill>
                  <a:srgbClr val="0F2E42"/>
                </a:solidFill>
                <a:latin typeface="Calibri" pitchFamily="34" charset="0"/>
                <a:ea typeface="Calibri" pitchFamily="34" charset="-122"/>
                <a:cs typeface="Calibri" pitchFamily="34" charset="-120"/>
              </a:rPr>
              <a:t>Componente de innovación</a:t>
            </a:r>
            <a:endParaRPr lang="en-US" sz="3000" dirty="0"/>
          </a:p>
        </p:txBody>
      </p:sp>
      <p:sp>
        <p:nvSpPr>
          <p:cNvPr id="3" name="Text 1"/>
          <p:cNvSpPr/>
          <p:nvPr/>
        </p:nvSpPr>
        <p:spPr>
          <a:xfrm>
            <a:off x="640080" y="932688"/>
            <a:ext cx="10881360" cy="36576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Tablero de indicadores de gestión: el elemento diferenciador del proyecto</a:t>
            </a:r>
            <a:endParaRPr lang="en-US" sz="1500" dirty="0"/>
          </a:p>
        </p:txBody>
      </p:sp>
      <p:pic>
        <p:nvPicPr>
          <p:cNvPr id="4" name="Image 0" descr="/mnt/user-data/outputs/logo/vialnex-isotipo-512.png"/>
          <p:cNvPicPr>
            <a:picLocks noChangeAspect="1"/>
          </p:cNvPicPr>
          <p:nvPr/>
        </p:nvPicPr>
        <p:blipFill>
          <a:blip r:embed="rId3"/>
          <a:stretch>
            <a:fillRect/>
          </a:stretch>
        </p:blipFill>
        <p:spPr>
          <a:xfrm>
            <a:off x="11475720" y="6172200"/>
            <a:ext cx="384048" cy="384048"/>
          </a:xfrm>
          <a:prstGeom prst="rect">
            <a:avLst/>
          </a:prstGeom>
        </p:spPr>
      </p:pic>
      <p:sp>
        <p:nvSpPr>
          <p:cNvPr id="5" name="Shape 2"/>
          <p:cNvSpPr/>
          <p:nvPr/>
        </p:nvSpPr>
        <p:spPr>
          <a:xfrm>
            <a:off x="640080" y="1508760"/>
            <a:ext cx="6949440" cy="4800600"/>
          </a:xfrm>
          <a:prstGeom prst="roundRect">
            <a:avLst>
              <a:gd name="adj" fmla="val 952"/>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6" name="Shape 3"/>
          <p:cNvSpPr/>
          <p:nvPr/>
        </p:nvSpPr>
        <p:spPr>
          <a:xfrm>
            <a:off x="649224" y="1517904"/>
            <a:ext cx="6931152" cy="292608"/>
          </a:xfrm>
          <a:prstGeom prst="rect">
            <a:avLst/>
          </a:prstGeom>
          <a:solidFill>
            <a:srgbClr val="F2F6F9"/>
          </a:solidFill>
          <a:ln w="12700">
            <a:solidFill>
              <a:srgbClr val="F2F6F9"/>
            </a:solidFill>
            <a:prstDash val="solid"/>
          </a:ln>
        </p:spPr>
        <p:txBody>
          <a:bodyPr/>
          <a:lstStyle/>
          <a:p>
            <a:endParaRPr lang="es-CL"/>
          </a:p>
        </p:txBody>
      </p:sp>
      <p:sp>
        <p:nvSpPr>
          <p:cNvPr id="7" name="Shape 4"/>
          <p:cNvSpPr/>
          <p:nvPr/>
        </p:nvSpPr>
        <p:spPr>
          <a:xfrm>
            <a:off x="786384" y="1609344"/>
            <a:ext cx="100584" cy="100584"/>
          </a:xfrm>
          <a:prstGeom prst="ellipse">
            <a:avLst/>
          </a:prstGeom>
          <a:solidFill>
            <a:srgbClr val="E06C5B"/>
          </a:solidFill>
          <a:ln w="12700">
            <a:solidFill>
              <a:srgbClr val="E06C5B"/>
            </a:solidFill>
            <a:prstDash val="solid"/>
          </a:ln>
        </p:spPr>
        <p:txBody>
          <a:bodyPr/>
          <a:lstStyle/>
          <a:p>
            <a:endParaRPr lang="es-CL"/>
          </a:p>
        </p:txBody>
      </p:sp>
      <p:sp>
        <p:nvSpPr>
          <p:cNvPr id="8" name="Shape 5"/>
          <p:cNvSpPr/>
          <p:nvPr/>
        </p:nvSpPr>
        <p:spPr>
          <a:xfrm>
            <a:off x="969264" y="1609344"/>
            <a:ext cx="100584" cy="100584"/>
          </a:xfrm>
          <a:prstGeom prst="ellipse">
            <a:avLst/>
          </a:prstGeom>
          <a:solidFill>
            <a:srgbClr val="E8B84B"/>
          </a:solidFill>
          <a:ln w="12700">
            <a:solidFill>
              <a:srgbClr val="E8B84B"/>
            </a:solidFill>
            <a:prstDash val="solid"/>
          </a:ln>
        </p:spPr>
        <p:txBody>
          <a:bodyPr/>
          <a:lstStyle/>
          <a:p>
            <a:endParaRPr lang="es-CL"/>
          </a:p>
        </p:txBody>
      </p:sp>
      <p:sp>
        <p:nvSpPr>
          <p:cNvPr id="9" name="Shape 6"/>
          <p:cNvSpPr/>
          <p:nvPr/>
        </p:nvSpPr>
        <p:spPr>
          <a:xfrm>
            <a:off x="1152144" y="1609344"/>
            <a:ext cx="100584" cy="100584"/>
          </a:xfrm>
          <a:prstGeom prst="ellipse">
            <a:avLst/>
          </a:prstGeom>
          <a:solidFill>
            <a:srgbClr val="5BB98C"/>
          </a:solidFill>
          <a:ln w="12700">
            <a:solidFill>
              <a:srgbClr val="5BB98C"/>
            </a:solidFill>
            <a:prstDash val="solid"/>
          </a:ln>
        </p:spPr>
        <p:txBody>
          <a:bodyPr/>
          <a:lstStyle/>
          <a:p>
            <a:endParaRPr lang="es-CL"/>
          </a:p>
        </p:txBody>
      </p:sp>
      <p:sp>
        <p:nvSpPr>
          <p:cNvPr id="10" name="Shape 7"/>
          <p:cNvSpPr/>
          <p:nvPr/>
        </p:nvSpPr>
        <p:spPr>
          <a:xfrm>
            <a:off x="1417320" y="1572768"/>
            <a:ext cx="5943600" cy="182880"/>
          </a:xfrm>
          <a:prstGeom prst="roundRect">
            <a:avLst>
              <a:gd name="adj" fmla="val 25000"/>
            </a:avLst>
          </a:prstGeom>
          <a:solidFill>
            <a:srgbClr val="FFFFFF"/>
          </a:solidFill>
          <a:ln w="9525">
            <a:solidFill>
              <a:srgbClr val="D8E2E9"/>
            </a:solidFill>
            <a:prstDash val="solid"/>
          </a:ln>
        </p:spPr>
        <p:txBody>
          <a:bodyPr/>
          <a:lstStyle/>
          <a:p>
            <a:endParaRPr lang="es-CL"/>
          </a:p>
        </p:txBody>
      </p:sp>
      <p:sp>
        <p:nvSpPr>
          <p:cNvPr id="11" name="Text 8"/>
          <p:cNvSpPr/>
          <p:nvPr/>
        </p:nvSpPr>
        <p:spPr>
          <a:xfrm>
            <a:off x="1508760" y="1572768"/>
            <a:ext cx="5760720" cy="18288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vialnex.cl/indicadores</a:t>
            </a:r>
            <a:endParaRPr lang="en-US" sz="800" dirty="0"/>
          </a:p>
        </p:txBody>
      </p:sp>
      <p:sp>
        <p:nvSpPr>
          <p:cNvPr id="12" name="Shape 9"/>
          <p:cNvSpPr/>
          <p:nvPr/>
        </p:nvSpPr>
        <p:spPr>
          <a:xfrm>
            <a:off x="649224" y="1810512"/>
            <a:ext cx="1417320" cy="4489704"/>
          </a:xfrm>
          <a:prstGeom prst="rect">
            <a:avLst/>
          </a:prstGeom>
          <a:solidFill>
            <a:srgbClr val="0F2E42"/>
          </a:solidFill>
          <a:ln w="12700">
            <a:solidFill>
              <a:srgbClr val="0F2E42"/>
            </a:solidFill>
            <a:prstDash val="solid"/>
          </a:ln>
        </p:spPr>
        <p:txBody>
          <a:bodyPr/>
          <a:lstStyle/>
          <a:p>
            <a:endParaRPr lang="es-CL"/>
          </a:p>
        </p:txBody>
      </p:sp>
      <p:pic>
        <p:nvPicPr>
          <p:cNvPr id="13" name="Image 1" descr="/mnt/user-data/outputs/logo/vialnex-logo-blanco-transp-1024.png"/>
          <p:cNvPicPr>
            <a:picLocks noChangeAspect="1"/>
          </p:cNvPicPr>
          <p:nvPr/>
        </p:nvPicPr>
        <p:blipFill>
          <a:blip r:embed="rId4"/>
          <a:stretch>
            <a:fillRect/>
          </a:stretch>
        </p:blipFill>
        <p:spPr>
          <a:xfrm>
            <a:off x="749808" y="1892808"/>
            <a:ext cx="960120" cy="283464"/>
          </a:xfrm>
          <a:prstGeom prst="rect">
            <a:avLst/>
          </a:prstGeom>
        </p:spPr>
      </p:pic>
      <p:sp>
        <p:nvSpPr>
          <p:cNvPr id="14" name="Shape 10"/>
          <p:cNvSpPr/>
          <p:nvPr/>
        </p:nvSpPr>
        <p:spPr>
          <a:xfrm>
            <a:off x="731520" y="2340864"/>
            <a:ext cx="1252728" cy="292608"/>
          </a:xfrm>
          <a:prstGeom prst="roundRect">
            <a:avLst>
              <a:gd name="adj" fmla="val 15625"/>
            </a:avLst>
          </a:prstGeom>
          <a:solidFill>
            <a:srgbClr val="16A394"/>
          </a:solidFill>
          <a:ln w="12700">
            <a:solidFill>
              <a:srgbClr val="16A394"/>
            </a:solidFill>
            <a:prstDash val="solid"/>
          </a:ln>
        </p:spPr>
        <p:txBody>
          <a:bodyPr/>
          <a:lstStyle/>
          <a:p>
            <a:endParaRPr lang="es-CL"/>
          </a:p>
        </p:txBody>
      </p:sp>
      <p:sp>
        <p:nvSpPr>
          <p:cNvPr id="15" name="Shape 11"/>
          <p:cNvSpPr/>
          <p:nvPr/>
        </p:nvSpPr>
        <p:spPr>
          <a:xfrm>
            <a:off x="859536" y="2450592"/>
            <a:ext cx="82296" cy="82296"/>
          </a:xfrm>
          <a:prstGeom prst="ellipse">
            <a:avLst/>
          </a:prstGeom>
          <a:solidFill>
            <a:srgbClr val="FFFFFF"/>
          </a:solidFill>
          <a:ln w="12700">
            <a:solidFill>
              <a:srgbClr val="FFFFFF"/>
            </a:solidFill>
            <a:prstDash val="solid"/>
          </a:ln>
        </p:spPr>
        <p:txBody>
          <a:bodyPr/>
          <a:lstStyle/>
          <a:p>
            <a:endParaRPr lang="es-CL"/>
          </a:p>
        </p:txBody>
      </p:sp>
      <p:sp>
        <p:nvSpPr>
          <p:cNvPr id="16" name="Text 12"/>
          <p:cNvSpPr/>
          <p:nvPr/>
        </p:nvSpPr>
        <p:spPr>
          <a:xfrm>
            <a:off x="1024128" y="2377440"/>
            <a:ext cx="96012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Panel</a:t>
            </a:r>
            <a:endParaRPr lang="en-US" sz="950" dirty="0"/>
          </a:p>
        </p:txBody>
      </p:sp>
      <p:sp>
        <p:nvSpPr>
          <p:cNvPr id="17" name="Shape 13"/>
          <p:cNvSpPr/>
          <p:nvPr/>
        </p:nvSpPr>
        <p:spPr>
          <a:xfrm>
            <a:off x="859536" y="2779776"/>
            <a:ext cx="82296" cy="82296"/>
          </a:xfrm>
          <a:prstGeom prst="ellipse">
            <a:avLst/>
          </a:prstGeom>
          <a:solidFill>
            <a:srgbClr val="2E7FB8"/>
          </a:solidFill>
          <a:ln w="12700">
            <a:solidFill>
              <a:srgbClr val="2E7FB8"/>
            </a:solidFill>
            <a:prstDash val="solid"/>
          </a:ln>
        </p:spPr>
        <p:txBody>
          <a:bodyPr/>
          <a:lstStyle/>
          <a:p>
            <a:endParaRPr lang="es-CL"/>
          </a:p>
        </p:txBody>
      </p:sp>
      <p:sp>
        <p:nvSpPr>
          <p:cNvPr id="18" name="Text 14"/>
          <p:cNvSpPr/>
          <p:nvPr/>
        </p:nvSpPr>
        <p:spPr>
          <a:xfrm>
            <a:off x="1024128" y="2706624"/>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Pedidos</a:t>
            </a:r>
            <a:endParaRPr lang="en-US" sz="950" dirty="0"/>
          </a:p>
        </p:txBody>
      </p:sp>
      <p:sp>
        <p:nvSpPr>
          <p:cNvPr id="19" name="Shape 15"/>
          <p:cNvSpPr/>
          <p:nvPr/>
        </p:nvSpPr>
        <p:spPr>
          <a:xfrm>
            <a:off x="859536" y="3108960"/>
            <a:ext cx="82296" cy="82296"/>
          </a:xfrm>
          <a:prstGeom prst="ellipse">
            <a:avLst/>
          </a:prstGeom>
          <a:solidFill>
            <a:srgbClr val="2E7FB8"/>
          </a:solidFill>
          <a:ln w="12700">
            <a:solidFill>
              <a:srgbClr val="2E7FB8"/>
            </a:solidFill>
            <a:prstDash val="solid"/>
          </a:ln>
        </p:spPr>
        <p:txBody>
          <a:bodyPr/>
          <a:lstStyle/>
          <a:p>
            <a:endParaRPr lang="es-CL"/>
          </a:p>
        </p:txBody>
      </p:sp>
      <p:sp>
        <p:nvSpPr>
          <p:cNvPr id="20" name="Text 16"/>
          <p:cNvSpPr/>
          <p:nvPr/>
        </p:nvSpPr>
        <p:spPr>
          <a:xfrm>
            <a:off x="1024128" y="3035808"/>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Rutas</a:t>
            </a:r>
            <a:endParaRPr lang="en-US" sz="950" dirty="0"/>
          </a:p>
        </p:txBody>
      </p:sp>
      <p:sp>
        <p:nvSpPr>
          <p:cNvPr id="21" name="Shape 17"/>
          <p:cNvSpPr/>
          <p:nvPr/>
        </p:nvSpPr>
        <p:spPr>
          <a:xfrm>
            <a:off x="859536" y="3438144"/>
            <a:ext cx="82296" cy="82296"/>
          </a:xfrm>
          <a:prstGeom prst="ellipse">
            <a:avLst/>
          </a:prstGeom>
          <a:solidFill>
            <a:srgbClr val="2E7FB8"/>
          </a:solidFill>
          <a:ln w="12700">
            <a:solidFill>
              <a:srgbClr val="2E7FB8"/>
            </a:solidFill>
            <a:prstDash val="solid"/>
          </a:ln>
        </p:spPr>
        <p:txBody>
          <a:bodyPr/>
          <a:lstStyle/>
          <a:p>
            <a:endParaRPr lang="es-CL"/>
          </a:p>
        </p:txBody>
      </p:sp>
      <p:sp>
        <p:nvSpPr>
          <p:cNvPr id="22" name="Text 18"/>
          <p:cNvSpPr/>
          <p:nvPr/>
        </p:nvSpPr>
        <p:spPr>
          <a:xfrm>
            <a:off x="1024128" y="3364992"/>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Flota</a:t>
            </a:r>
            <a:endParaRPr lang="en-US" sz="950" dirty="0"/>
          </a:p>
        </p:txBody>
      </p:sp>
      <p:sp>
        <p:nvSpPr>
          <p:cNvPr id="23" name="Shape 19"/>
          <p:cNvSpPr/>
          <p:nvPr/>
        </p:nvSpPr>
        <p:spPr>
          <a:xfrm>
            <a:off x="859536" y="3767328"/>
            <a:ext cx="82296" cy="82296"/>
          </a:xfrm>
          <a:prstGeom prst="ellipse">
            <a:avLst/>
          </a:prstGeom>
          <a:solidFill>
            <a:srgbClr val="2E7FB8"/>
          </a:solidFill>
          <a:ln w="12700">
            <a:solidFill>
              <a:srgbClr val="2E7FB8"/>
            </a:solidFill>
            <a:prstDash val="solid"/>
          </a:ln>
        </p:spPr>
        <p:txBody>
          <a:bodyPr/>
          <a:lstStyle/>
          <a:p>
            <a:endParaRPr lang="es-CL"/>
          </a:p>
        </p:txBody>
      </p:sp>
      <p:sp>
        <p:nvSpPr>
          <p:cNvPr id="24" name="Text 20"/>
          <p:cNvSpPr/>
          <p:nvPr/>
        </p:nvSpPr>
        <p:spPr>
          <a:xfrm>
            <a:off x="1024128" y="3694176"/>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Documentos</a:t>
            </a:r>
            <a:endParaRPr lang="en-US" sz="950" dirty="0"/>
          </a:p>
        </p:txBody>
      </p:sp>
      <p:sp>
        <p:nvSpPr>
          <p:cNvPr id="25" name="Shape 21"/>
          <p:cNvSpPr/>
          <p:nvPr/>
        </p:nvSpPr>
        <p:spPr>
          <a:xfrm>
            <a:off x="859536" y="4096512"/>
            <a:ext cx="82296" cy="82296"/>
          </a:xfrm>
          <a:prstGeom prst="ellipse">
            <a:avLst/>
          </a:prstGeom>
          <a:solidFill>
            <a:srgbClr val="2E7FB8"/>
          </a:solidFill>
          <a:ln w="12700">
            <a:solidFill>
              <a:srgbClr val="2E7FB8"/>
            </a:solidFill>
            <a:prstDash val="solid"/>
          </a:ln>
        </p:spPr>
        <p:txBody>
          <a:bodyPr/>
          <a:lstStyle/>
          <a:p>
            <a:endParaRPr lang="es-CL"/>
          </a:p>
        </p:txBody>
      </p:sp>
      <p:sp>
        <p:nvSpPr>
          <p:cNvPr id="26" name="Text 22"/>
          <p:cNvSpPr/>
          <p:nvPr/>
        </p:nvSpPr>
        <p:spPr>
          <a:xfrm>
            <a:off x="1024128" y="4023360"/>
            <a:ext cx="960120" cy="21945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Facturación</a:t>
            </a:r>
            <a:endParaRPr lang="en-US" sz="950" dirty="0"/>
          </a:p>
        </p:txBody>
      </p:sp>
      <p:sp>
        <p:nvSpPr>
          <p:cNvPr id="27" name="Text 23"/>
          <p:cNvSpPr/>
          <p:nvPr/>
        </p:nvSpPr>
        <p:spPr>
          <a:xfrm>
            <a:off x="2240280" y="1847088"/>
            <a:ext cx="3657600" cy="274320"/>
          </a:xfrm>
          <a:prstGeom prst="rect">
            <a:avLst/>
          </a:prstGeom>
          <a:noFill/>
          <a:ln/>
        </p:spPr>
        <p:txBody>
          <a:bodyPr wrap="square" lIns="0" tIns="0" rIns="0" bIns="0" rtlCol="0" anchor="ctr"/>
          <a:lstStyle/>
          <a:p>
            <a:pPr marL="0" indent="0">
              <a:buNone/>
            </a:pPr>
            <a:r>
              <a:rPr lang="en-US" sz="1400" b="1" dirty="0">
                <a:solidFill>
                  <a:srgbClr val="0F2E42"/>
                </a:solidFill>
                <a:latin typeface="Calibri" pitchFamily="34" charset="0"/>
                <a:ea typeface="Calibri" pitchFamily="34" charset="-122"/>
                <a:cs typeface="Calibri" pitchFamily="34" charset="-120"/>
              </a:rPr>
              <a:t>Indicadores de gestión</a:t>
            </a:r>
            <a:endParaRPr lang="en-US" sz="1400" dirty="0"/>
          </a:p>
        </p:txBody>
      </p:sp>
      <p:sp>
        <p:nvSpPr>
          <p:cNvPr id="28" name="Shape 24"/>
          <p:cNvSpPr/>
          <p:nvPr/>
        </p:nvSpPr>
        <p:spPr>
          <a:xfrm>
            <a:off x="2240280" y="2194560"/>
            <a:ext cx="1554480" cy="658368"/>
          </a:xfrm>
          <a:prstGeom prst="roundRect">
            <a:avLst>
              <a:gd name="adj" fmla="val 8333"/>
            </a:avLst>
          </a:prstGeom>
          <a:solidFill>
            <a:srgbClr val="F2F6F9"/>
          </a:solidFill>
          <a:ln w="9525">
            <a:solidFill>
              <a:srgbClr val="D8E2E9"/>
            </a:solidFill>
            <a:prstDash val="solid"/>
          </a:ln>
        </p:spPr>
        <p:txBody>
          <a:bodyPr/>
          <a:lstStyle/>
          <a:p>
            <a:endParaRPr lang="es-CL"/>
          </a:p>
        </p:txBody>
      </p:sp>
      <p:sp>
        <p:nvSpPr>
          <p:cNvPr id="29" name="Text 25"/>
          <p:cNvSpPr/>
          <p:nvPr/>
        </p:nvSpPr>
        <p:spPr>
          <a:xfrm>
            <a:off x="2350008" y="2267712"/>
            <a:ext cx="1335024" cy="18288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Costo por km</a:t>
            </a:r>
            <a:endParaRPr lang="en-US" sz="800" dirty="0"/>
          </a:p>
        </p:txBody>
      </p:sp>
      <p:sp>
        <p:nvSpPr>
          <p:cNvPr id="30" name="Text 26"/>
          <p:cNvSpPr/>
          <p:nvPr/>
        </p:nvSpPr>
        <p:spPr>
          <a:xfrm>
            <a:off x="2350008" y="2432304"/>
            <a:ext cx="1335024" cy="329184"/>
          </a:xfrm>
          <a:prstGeom prst="rect">
            <a:avLst/>
          </a:prstGeom>
          <a:noFill/>
          <a:ln/>
        </p:spPr>
        <p:txBody>
          <a:bodyPr wrap="square" lIns="0" tIns="0" rIns="0" bIns="0" rtlCol="0" anchor="ctr"/>
          <a:lstStyle/>
          <a:p>
            <a:pPr marL="0" indent="0">
              <a:buNone/>
            </a:pPr>
            <a:r>
              <a:rPr lang="en-US" sz="1800" b="1" dirty="0">
                <a:solidFill>
                  <a:srgbClr val="0F2E42"/>
                </a:solidFill>
                <a:latin typeface="Calibri" pitchFamily="34" charset="0"/>
                <a:ea typeface="Calibri" pitchFamily="34" charset="-122"/>
                <a:cs typeface="Calibri" pitchFamily="34" charset="-120"/>
              </a:rPr>
              <a:t>$742</a:t>
            </a:r>
            <a:endParaRPr lang="en-US" sz="1800" dirty="0"/>
          </a:p>
        </p:txBody>
      </p:sp>
      <p:sp>
        <p:nvSpPr>
          <p:cNvPr id="31" name="Shape 27"/>
          <p:cNvSpPr/>
          <p:nvPr/>
        </p:nvSpPr>
        <p:spPr>
          <a:xfrm>
            <a:off x="3913632" y="2194560"/>
            <a:ext cx="1554480" cy="658368"/>
          </a:xfrm>
          <a:prstGeom prst="roundRect">
            <a:avLst>
              <a:gd name="adj" fmla="val 8333"/>
            </a:avLst>
          </a:prstGeom>
          <a:solidFill>
            <a:srgbClr val="F2F6F9"/>
          </a:solidFill>
          <a:ln w="9525">
            <a:solidFill>
              <a:srgbClr val="D8E2E9"/>
            </a:solidFill>
            <a:prstDash val="solid"/>
          </a:ln>
        </p:spPr>
        <p:txBody>
          <a:bodyPr/>
          <a:lstStyle/>
          <a:p>
            <a:endParaRPr lang="es-CL"/>
          </a:p>
        </p:txBody>
      </p:sp>
      <p:sp>
        <p:nvSpPr>
          <p:cNvPr id="32" name="Text 28"/>
          <p:cNvSpPr/>
          <p:nvPr/>
        </p:nvSpPr>
        <p:spPr>
          <a:xfrm>
            <a:off x="4023360" y="2267712"/>
            <a:ext cx="1335024" cy="18288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Utilización flota</a:t>
            </a:r>
            <a:endParaRPr lang="en-US" sz="800" dirty="0"/>
          </a:p>
        </p:txBody>
      </p:sp>
      <p:sp>
        <p:nvSpPr>
          <p:cNvPr id="33" name="Text 29"/>
          <p:cNvSpPr/>
          <p:nvPr/>
        </p:nvSpPr>
        <p:spPr>
          <a:xfrm>
            <a:off x="4023360" y="2432304"/>
            <a:ext cx="1335024" cy="329184"/>
          </a:xfrm>
          <a:prstGeom prst="rect">
            <a:avLst/>
          </a:prstGeom>
          <a:noFill/>
          <a:ln/>
        </p:spPr>
        <p:txBody>
          <a:bodyPr wrap="square" lIns="0" tIns="0" rIns="0" bIns="0" rtlCol="0" anchor="ctr"/>
          <a:lstStyle/>
          <a:p>
            <a:pPr marL="0" indent="0">
              <a:buNone/>
            </a:pPr>
            <a:r>
              <a:rPr lang="en-US" sz="1800" b="1" dirty="0">
                <a:solidFill>
                  <a:srgbClr val="16A394"/>
                </a:solidFill>
                <a:latin typeface="Calibri" pitchFamily="34" charset="0"/>
                <a:ea typeface="Calibri" pitchFamily="34" charset="-122"/>
                <a:cs typeface="Calibri" pitchFamily="34" charset="-120"/>
              </a:rPr>
              <a:t>78%</a:t>
            </a:r>
            <a:endParaRPr lang="en-US" sz="1800" dirty="0"/>
          </a:p>
        </p:txBody>
      </p:sp>
      <p:sp>
        <p:nvSpPr>
          <p:cNvPr id="34" name="Shape 30"/>
          <p:cNvSpPr/>
          <p:nvPr/>
        </p:nvSpPr>
        <p:spPr>
          <a:xfrm>
            <a:off x="5586984" y="2194560"/>
            <a:ext cx="1554480" cy="658368"/>
          </a:xfrm>
          <a:prstGeom prst="roundRect">
            <a:avLst>
              <a:gd name="adj" fmla="val 8333"/>
            </a:avLst>
          </a:prstGeom>
          <a:solidFill>
            <a:srgbClr val="F2F6F9"/>
          </a:solidFill>
          <a:ln w="9525">
            <a:solidFill>
              <a:srgbClr val="D8E2E9"/>
            </a:solidFill>
            <a:prstDash val="solid"/>
          </a:ln>
        </p:spPr>
        <p:txBody>
          <a:bodyPr/>
          <a:lstStyle/>
          <a:p>
            <a:endParaRPr lang="es-CL"/>
          </a:p>
        </p:txBody>
      </p:sp>
      <p:sp>
        <p:nvSpPr>
          <p:cNvPr id="35" name="Text 31"/>
          <p:cNvSpPr/>
          <p:nvPr/>
        </p:nvSpPr>
        <p:spPr>
          <a:xfrm>
            <a:off x="5696712" y="2267712"/>
            <a:ext cx="1335024" cy="182880"/>
          </a:xfrm>
          <a:prstGeom prst="rect">
            <a:avLst/>
          </a:prstGeom>
          <a:noFill/>
          <a:ln/>
        </p:spPr>
        <p:txBody>
          <a:bodyPr wrap="square" lIns="0" tIns="0" rIns="0" bIns="0" rtlCol="0" anchor="ctr"/>
          <a:lstStyle/>
          <a:p>
            <a:pPr marL="0" indent="0">
              <a:buNone/>
            </a:pPr>
            <a:r>
              <a:rPr lang="en-US" sz="800" dirty="0">
                <a:solidFill>
                  <a:srgbClr val="5A6B78"/>
                </a:solidFill>
                <a:latin typeface="Calibri" pitchFamily="34" charset="0"/>
                <a:ea typeface="Calibri" pitchFamily="34" charset="-122"/>
                <a:cs typeface="Calibri" pitchFamily="34" charset="-120"/>
              </a:rPr>
              <a:t>Cumplimiento</a:t>
            </a:r>
            <a:endParaRPr lang="en-US" sz="800" dirty="0"/>
          </a:p>
        </p:txBody>
      </p:sp>
      <p:sp>
        <p:nvSpPr>
          <p:cNvPr id="36" name="Text 32"/>
          <p:cNvSpPr/>
          <p:nvPr/>
        </p:nvSpPr>
        <p:spPr>
          <a:xfrm>
            <a:off x="5696712" y="2432304"/>
            <a:ext cx="1335024" cy="329184"/>
          </a:xfrm>
          <a:prstGeom prst="rect">
            <a:avLst/>
          </a:prstGeom>
          <a:noFill/>
          <a:ln/>
        </p:spPr>
        <p:txBody>
          <a:bodyPr wrap="square" lIns="0" tIns="0" rIns="0" bIns="0" rtlCol="0" anchor="ctr"/>
          <a:lstStyle/>
          <a:p>
            <a:pPr marL="0" indent="0">
              <a:buNone/>
            </a:pPr>
            <a:r>
              <a:rPr lang="en-US" sz="1800" b="1" dirty="0">
                <a:solidFill>
                  <a:srgbClr val="16A394"/>
                </a:solidFill>
                <a:latin typeface="Calibri" pitchFamily="34" charset="0"/>
                <a:ea typeface="Calibri" pitchFamily="34" charset="-122"/>
                <a:cs typeface="Calibri" pitchFamily="34" charset="-120"/>
              </a:rPr>
              <a:t>94%</a:t>
            </a:r>
            <a:endParaRPr lang="en-US" sz="1800" dirty="0"/>
          </a:p>
        </p:txBody>
      </p:sp>
      <p:graphicFrame>
        <p:nvGraphicFramePr>
          <p:cNvPr id="37" name="Chart 0"/>
          <p:cNvGraphicFramePr/>
          <p:nvPr/>
        </p:nvGraphicFramePr>
        <p:xfrm>
          <a:off x="2194560" y="3017520"/>
          <a:ext cx="5120640" cy="1874520"/>
        </p:xfrm>
        <a:graphic>
          <a:graphicData uri="http://schemas.openxmlformats.org/drawingml/2006/chart">
            <c:chart xmlns:c="http://schemas.openxmlformats.org/drawingml/2006/chart" xmlns:r="http://schemas.openxmlformats.org/officeDocument/2006/relationships" r:id="rId5"/>
          </a:graphicData>
        </a:graphic>
      </p:graphicFrame>
      <p:sp>
        <p:nvSpPr>
          <p:cNvPr id="38" name="Text 33"/>
          <p:cNvSpPr/>
          <p:nvPr/>
        </p:nvSpPr>
        <p:spPr>
          <a:xfrm>
            <a:off x="2240280" y="4937760"/>
            <a:ext cx="5029200" cy="228600"/>
          </a:xfrm>
          <a:prstGeom prst="rect">
            <a:avLst/>
          </a:prstGeom>
          <a:noFill/>
          <a:ln/>
        </p:spPr>
        <p:txBody>
          <a:bodyPr wrap="square" lIns="0" tIns="0" rIns="0" bIns="0" rtlCol="0" anchor="ctr"/>
          <a:lstStyle/>
          <a:p>
            <a:pPr marL="0" indent="0">
              <a:buNone/>
            </a:pPr>
            <a:r>
              <a:rPr lang="en-US" sz="850" i="1" dirty="0">
                <a:solidFill>
                  <a:srgbClr val="5A6B78"/>
                </a:solidFill>
                <a:latin typeface="Calibri" pitchFamily="34" charset="0"/>
                <a:ea typeface="Calibri" pitchFamily="34" charset="-122"/>
                <a:cs typeface="Calibri" pitchFamily="34" charset="-120"/>
              </a:rPr>
              <a:t>Evolución del costo por kilómetro (últimos seis meses)</a:t>
            </a:r>
            <a:endParaRPr lang="en-US" sz="850" dirty="0"/>
          </a:p>
        </p:txBody>
      </p:sp>
      <p:sp>
        <p:nvSpPr>
          <p:cNvPr id="39" name="Text 34"/>
          <p:cNvSpPr/>
          <p:nvPr/>
        </p:nvSpPr>
        <p:spPr>
          <a:xfrm>
            <a:off x="7909560" y="1572768"/>
            <a:ext cx="3657600" cy="292608"/>
          </a:xfrm>
          <a:prstGeom prst="rect">
            <a:avLst/>
          </a:prstGeom>
          <a:noFill/>
          <a:ln/>
        </p:spPr>
        <p:txBody>
          <a:bodyPr wrap="square" lIns="0" tIns="0" rIns="0" bIns="0" rtlCol="0" anchor="ctr"/>
          <a:lstStyle/>
          <a:p>
            <a:pPr marL="0" indent="0">
              <a:buNone/>
            </a:pPr>
            <a:r>
              <a:rPr lang="en-US" sz="1500" b="1" dirty="0">
                <a:solidFill>
                  <a:srgbClr val="0F2E42"/>
                </a:solidFill>
                <a:latin typeface="Calibri" pitchFamily="34" charset="0"/>
                <a:ea typeface="Calibri" pitchFamily="34" charset="-122"/>
                <a:cs typeface="Calibri" pitchFamily="34" charset="-120"/>
              </a:rPr>
              <a:t>Alternativas evaluadas</a:t>
            </a:r>
            <a:endParaRPr lang="en-US" sz="1500" dirty="0"/>
          </a:p>
        </p:txBody>
      </p:sp>
      <p:sp>
        <p:nvSpPr>
          <p:cNvPr id="40" name="Shape 35"/>
          <p:cNvSpPr/>
          <p:nvPr/>
        </p:nvSpPr>
        <p:spPr>
          <a:xfrm>
            <a:off x="7909560" y="2011680"/>
            <a:ext cx="3611880" cy="1298448"/>
          </a:xfrm>
          <a:prstGeom prst="roundRect">
            <a:avLst>
              <a:gd name="adj" fmla="val 5634"/>
            </a:avLst>
          </a:prstGeom>
          <a:solidFill>
            <a:srgbClr val="FFFFFF"/>
          </a:solidFill>
          <a:ln w="22225">
            <a:solidFill>
              <a:srgbClr val="16A394"/>
            </a:solidFill>
            <a:prstDash val="solid"/>
          </a:ln>
        </p:spPr>
        <p:txBody>
          <a:bodyPr/>
          <a:lstStyle/>
          <a:p>
            <a:endParaRPr lang="es-CL"/>
          </a:p>
        </p:txBody>
      </p:sp>
      <p:sp>
        <p:nvSpPr>
          <p:cNvPr id="41" name="Text 36"/>
          <p:cNvSpPr/>
          <p:nvPr/>
        </p:nvSpPr>
        <p:spPr>
          <a:xfrm>
            <a:off x="8119872" y="2139696"/>
            <a:ext cx="2286000" cy="256032"/>
          </a:xfrm>
          <a:prstGeom prst="rect">
            <a:avLst/>
          </a:prstGeom>
          <a:noFill/>
          <a:ln/>
        </p:spPr>
        <p:txBody>
          <a:bodyPr wrap="square" lIns="0" tIns="0" rIns="0" bIns="0" rtlCol="0" anchor="ctr"/>
          <a:lstStyle/>
          <a:p>
            <a:pPr marL="0" indent="0">
              <a:buNone/>
            </a:pPr>
            <a:r>
              <a:rPr lang="en-US" sz="1200" b="1" dirty="0">
                <a:solidFill>
                  <a:srgbClr val="0F2E42"/>
                </a:solidFill>
                <a:latin typeface="Calibri" pitchFamily="34" charset="0"/>
                <a:ea typeface="Calibri" pitchFamily="34" charset="-122"/>
                <a:cs typeface="Calibri" pitchFamily="34" charset="-120"/>
              </a:rPr>
              <a:t>Tablero de indicadores</a:t>
            </a:r>
            <a:endParaRPr lang="en-US" sz="1200" dirty="0"/>
          </a:p>
        </p:txBody>
      </p:sp>
      <p:sp>
        <p:nvSpPr>
          <p:cNvPr id="42" name="Shape 37"/>
          <p:cNvSpPr/>
          <p:nvPr/>
        </p:nvSpPr>
        <p:spPr>
          <a:xfrm>
            <a:off x="10378440" y="2148840"/>
            <a:ext cx="960120" cy="228600"/>
          </a:xfrm>
          <a:prstGeom prst="roundRect">
            <a:avLst>
              <a:gd name="adj" fmla="val 48000"/>
            </a:avLst>
          </a:prstGeom>
          <a:solidFill>
            <a:srgbClr val="16A394"/>
          </a:solidFill>
          <a:ln w="12700">
            <a:solidFill>
              <a:srgbClr val="16A394"/>
            </a:solidFill>
            <a:prstDash val="solid"/>
          </a:ln>
        </p:spPr>
        <p:txBody>
          <a:bodyPr/>
          <a:lstStyle/>
          <a:p>
            <a:endParaRPr lang="es-CL"/>
          </a:p>
        </p:txBody>
      </p:sp>
      <p:sp>
        <p:nvSpPr>
          <p:cNvPr id="43" name="Text 38"/>
          <p:cNvSpPr/>
          <p:nvPr/>
        </p:nvSpPr>
        <p:spPr>
          <a:xfrm>
            <a:off x="10378440" y="2148840"/>
            <a:ext cx="960120" cy="22860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Seleccionada</a:t>
            </a:r>
            <a:endParaRPr lang="en-US" sz="750" dirty="0"/>
          </a:p>
        </p:txBody>
      </p:sp>
      <p:sp>
        <p:nvSpPr>
          <p:cNvPr id="44" name="Text 39"/>
          <p:cNvSpPr/>
          <p:nvPr/>
        </p:nvSpPr>
        <p:spPr>
          <a:xfrm>
            <a:off x="8119872" y="2450592"/>
            <a:ext cx="3200400" cy="777240"/>
          </a:xfrm>
          <a:prstGeom prst="rect">
            <a:avLst/>
          </a:prstGeom>
          <a:noFill/>
          <a:ln/>
        </p:spPr>
        <p:txBody>
          <a:bodyPr wrap="square" lIns="0" tIns="0" rIns="0" bIns="0" rtlCol="0" anchor="ctr"/>
          <a:lstStyle/>
          <a:p>
            <a:pPr marL="0" indent="0">
              <a:lnSpc>
                <a:spcPct val="115000"/>
              </a:lnSpc>
              <a:buNone/>
            </a:pPr>
            <a:r>
              <a:rPr lang="en-US" sz="950" dirty="0">
                <a:solidFill>
                  <a:srgbClr val="5A6B78"/>
                </a:solidFill>
                <a:latin typeface="Calibri" pitchFamily="34" charset="0"/>
                <a:ea typeface="Calibri" pitchFamily="34" charset="-122"/>
                <a:cs typeface="Calibri" pitchFamily="34" charset="-120"/>
              </a:rPr>
              <a:t>Costo por kilómetro, utilización de flota y cumplimiento de entregas en una sola vista. Se apoya en datos que ya generan los módulos previos.</a:t>
            </a:r>
            <a:endParaRPr lang="en-US" sz="950" dirty="0"/>
          </a:p>
        </p:txBody>
      </p:sp>
      <p:sp>
        <p:nvSpPr>
          <p:cNvPr id="45" name="Shape 40"/>
          <p:cNvSpPr/>
          <p:nvPr/>
        </p:nvSpPr>
        <p:spPr>
          <a:xfrm>
            <a:off x="7909560" y="3474720"/>
            <a:ext cx="3611880" cy="1298448"/>
          </a:xfrm>
          <a:prstGeom prst="roundRect">
            <a:avLst>
              <a:gd name="adj" fmla="val 5634"/>
            </a:avLst>
          </a:prstGeom>
          <a:solidFill>
            <a:srgbClr val="F2F6F9"/>
          </a:solidFill>
          <a:ln w="12700">
            <a:solidFill>
              <a:srgbClr val="D8E2E9"/>
            </a:solidFill>
            <a:prstDash val="solid"/>
          </a:ln>
        </p:spPr>
        <p:txBody>
          <a:bodyPr/>
          <a:lstStyle/>
          <a:p>
            <a:endParaRPr lang="es-CL"/>
          </a:p>
        </p:txBody>
      </p:sp>
      <p:sp>
        <p:nvSpPr>
          <p:cNvPr id="46" name="Text 41"/>
          <p:cNvSpPr/>
          <p:nvPr/>
        </p:nvSpPr>
        <p:spPr>
          <a:xfrm>
            <a:off x="8119872" y="3602736"/>
            <a:ext cx="2286000" cy="256032"/>
          </a:xfrm>
          <a:prstGeom prst="rect">
            <a:avLst/>
          </a:prstGeom>
          <a:noFill/>
          <a:ln/>
        </p:spPr>
        <p:txBody>
          <a:bodyPr wrap="square" lIns="0" tIns="0" rIns="0" bIns="0" rtlCol="0" anchor="ctr"/>
          <a:lstStyle/>
          <a:p>
            <a:pPr marL="0" indent="0">
              <a:buNone/>
            </a:pPr>
            <a:r>
              <a:rPr lang="en-US" sz="1200" b="1" dirty="0">
                <a:solidFill>
                  <a:srgbClr val="0F2E42"/>
                </a:solidFill>
                <a:latin typeface="Calibri" pitchFamily="34" charset="0"/>
                <a:ea typeface="Calibri" pitchFamily="34" charset="-122"/>
                <a:cs typeface="Calibri" pitchFamily="34" charset="-120"/>
              </a:rPr>
              <a:t>Digitalización con OCR</a:t>
            </a:r>
            <a:endParaRPr lang="en-US" sz="1200" dirty="0"/>
          </a:p>
        </p:txBody>
      </p:sp>
      <p:sp>
        <p:nvSpPr>
          <p:cNvPr id="47" name="Shape 42"/>
          <p:cNvSpPr/>
          <p:nvPr/>
        </p:nvSpPr>
        <p:spPr>
          <a:xfrm>
            <a:off x="10378440" y="3611880"/>
            <a:ext cx="960120" cy="228600"/>
          </a:xfrm>
          <a:prstGeom prst="roundRect">
            <a:avLst>
              <a:gd name="adj" fmla="val 48000"/>
            </a:avLst>
          </a:prstGeom>
          <a:solidFill>
            <a:srgbClr val="E3E9ED"/>
          </a:solidFill>
          <a:ln w="12700">
            <a:solidFill>
              <a:srgbClr val="E3E9ED"/>
            </a:solidFill>
            <a:prstDash val="solid"/>
          </a:ln>
        </p:spPr>
        <p:txBody>
          <a:bodyPr/>
          <a:lstStyle/>
          <a:p>
            <a:endParaRPr lang="es-CL"/>
          </a:p>
        </p:txBody>
      </p:sp>
      <p:sp>
        <p:nvSpPr>
          <p:cNvPr id="48" name="Text 43"/>
          <p:cNvSpPr/>
          <p:nvPr/>
        </p:nvSpPr>
        <p:spPr>
          <a:xfrm>
            <a:off x="10378440" y="3611880"/>
            <a:ext cx="960120" cy="228600"/>
          </a:xfrm>
          <a:prstGeom prst="rect">
            <a:avLst/>
          </a:prstGeom>
          <a:noFill/>
          <a:ln/>
        </p:spPr>
        <p:txBody>
          <a:bodyPr wrap="square" lIns="0" tIns="0" rIns="0" bIns="0" rtlCol="0" anchor="ctr"/>
          <a:lstStyle/>
          <a:p>
            <a:pPr marL="0" indent="0" algn="ctr">
              <a:buNone/>
            </a:pPr>
            <a:r>
              <a:rPr lang="en-US" sz="750" b="1" dirty="0">
                <a:solidFill>
                  <a:srgbClr val="5A6B78"/>
                </a:solidFill>
                <a:latin typeface="Calibri" pitchFamily="34" charset="0"/>
                <a:ea typeface="Calibri" pitchFamily="34" charset="-122"/>
                <a:cs typeface="Calibri" pitchFamily="34" charset="-120"/>
              </a:rPr>
              <a:t>Descartada</a:t>
            </a:r>
            <a:endParaRPr lang="en-US" sz="750" dirty="0"/>
          </a:p>
        </p:txBody>
      </p:sp>
      <p:sp>
        <p:nvSpPr>
          <p:cNvPr id="49" name="Text 44"/>
          <p:cNvSpPr/>
          <p:nvPr/>
        </p:nvSpPr>
        <p:spPr>
          <a:xfrm>
            <a:off x="8119872" y="3913632"/>
            <a:ext cx="3200400" cy="777240"/>
          </a:xfrm>
          <a:prstGeom prst="rect">
            <a:avLst/>
          </a:prstGeom>
          <a:noFill/>
          <a:ln/>
        </p:spPr>
        <p:txBody>
          <a:bodyPr wrap="square" lIns="0" tIns="0" rIns="0" bIns="0" rtlCol="0" anchor="ctr"/>
          <a:lstStyle/>
          <a:p>
            <a:pPr marL="0" indent="0">
              <a:lnSpc>
                <a:spcPct val="115000"/>
              </a:lnSpc>
              <a:buNone/>
            </a:pPr>
            <a:r>
              <a:rPr lang="en-US" sz="950" dirty="0">
                <a:solidFill>
                  <a:srgbClr val="5A6B78"/>
                </a:solidFill>
                <a:latin typeface="Calibri" pitchFamily="34" charset="0"/>
                <a:ea typeface="Calibri" pitchFamily="34" charset="-122"/>
                <a:cs typeface="Calibri" pitchFamily="34" charset="-120"/>
              </a:rPr>
              <a:t>Captura automática de datos desde fotografías de guías. Alto valor, pero dependiente de una precisión difícil de asegurar en un semestre.</a:t>
            </a:r>
            <a:endParaRPr lang="en-US" sz="950" dirty="0"/>
          </a:p>
        </p:txBody>
      </p:sp>
      <p:sp>
        <p:nvSpPr>
          <p:cNvPr id="50" name="Shape 45"/>
          <p:cNvSpPr/>
          <p:nvPr/>
        </p:nvSpPr>
        <p:spPr>
          <a:xfrm>
            <a:off x="7909560" y="4937760"/>
            <a:ext cx="3611880" cy="1298448"/>
          </a:xfrm>
          <a:prstGeom prst="roundRect">
            <a:avLst>
              <a:gd name="adj" fmla="val 5634"/>
            </a:avLst>
          </a:prstGeom>
          <a:solidFill>
            <a:srgbClr val="F2F6F9"/>
          </a:solidFill>
          <a:ln w="12700">
            <a:solidFill>
              <a:srgbClr val="D8E2E9"/>
            </a:solidFill>
            <a:prstDash val="solid"/>
          </a:ln>
        </p:spPr>
        <p:txBody>
          <a:bodyPr/>
          <a:lstStyle/>
          <a:p>
            <a:endParaRPr lang="es-CL"/>
          </a:p>
        </p:txBody>
      </p:sp>
      <p:sp>
        <p:nvSpPr>
          <p:cNvPr id="51" name="Text 46"/>
          <p:cNvSpPr/>
          <p:nvPr/>
        </p:nvSpPr>
        <p:spPr>
          <a:xfrm>
            <a:off x="8119872" y="5065776"/>
            <a:ext cx="2286000" cy="256032"/>
          </a:xfrm>
          <a:prstGeom prst="rect">
            <a:avLst/>
          </a:prstGeom>
          <a:noFill/>
          <a:ln/>
        </p:spPr>
        <p:txBody>
          <a:bodyPr wrap="square" lIns="0" tIns="0" rIns="0" bIns="0" rtlCol="0" anchor="ctr"/>
          <a:lstStyle/>
          <a:p>
            <a:pPr marL="0" indent="0">
              <a:buNone/>
            </a:pPr>
            <a:r>
              <a:rPr lang="en-US" sz="1200" b="1" dirty="0">
                <a:solidFill>
                  <a:srgbClr val="0F2E42"/>
                </a:solidFill>
                <a:latin typeface="Calibri" pitchFamily="34" charset="0"/>
                <a:ea typeface="Calibri" pitchFamily="34" charset="-122"/>
                <a:cs typeface="Calibri" pitchFamily="34" charset="-120"/>
              </a:rPr>
              <a:t>Mantenimiento predictivo</a:t>
            </a:r>
            <a:endParaRPr lang="en-US" sz="1200" dirty="0"/>
          </a:p>
        </p:txBody>
      </p:sp>
      <p:sp>
        <p:nvSpPr>
          <p:cNvPr id="52" name="Shape 47"/>
          <p:cNvSpPr/>
          <p:nvPr/>
        </p:nvSpPr>
        <p:spPr>
          <a:xfrm>
            <a:off x="10378440" y="5074920"/>
            <a:ext cx="960120" cy="228600"/>
          </a:xfrm>
          <a:prstGeom prst="roundRect">
            <a:avLst>
              <a:gd name="adj" fmla="val 48000"/>
            </a:avLst>
          </a:prstGeom>
          <a:solidFill>
            <a:srgbClr val="E3E9ED"/>
          </a:solidFill>
          <a:ln w="12700">
            <a:solidFill>
              <a:srgbClr val="E3E9ED"/>
            </a:solidFill>
            <a:prstDash val="solid"/>
          </a:ln>
        </p:spPr>
        <p:txBody>
          <a:bodyPr/>
          <a:lstStyle/>
          <a:p>
            <a:endParaRPr lang="es-CL"/>
          </a:p>
        </p:txBody>
      </p:sp>
      <p:sp>
        <p:nvSpPr>
          <p:cNvPr id="53" name="Text 48"/>
          <p:cNvSpPr/>
          <p:nvPr/>
        </p:nvSpPr>
        <p:spPr>
          <a:xfrm>
            <a:off x="10378440" y="5074920"/>
            <a:ext cx="960120" cy="228600"/>
          </a:xfrm>
          <a:prstGeom prst="rect">
            <a:avLst/>
          </a:prstGeom>
          <a:noFill/>
          <a:ln/>
        </p:spPr>
        <p:txBody>
          <a:bodyPr wrap="square" lIns="0" tIns="0" rIns="0" bIns="0" rtlCol="0" anchor="ctr"/>
          <a:lstStyle/>
          <a:p>
            <a:pPr marL="0" indent="0" algn="ctr">
              <a:buNone/>
            </a:pPr>
            <a:r>
              <a:rPr lang="en-US" sz="750" b="1" dirty="0">
                <a:solidFill>
                  <a:srgbClr val="5A6B78"/>
                </a:solidFill>
                <a:latin typeface="Calibri" pitchFamily="34" charset="0"/>
                <a:ea typeface="Calibri" pitchFamily="34" charset="-122"/>
                <a:cs typeface="Calibri" pitchFamily="34" charset="-120"/>
              </a:rPr>
              <a:t>Descartada</a:t>
            </a:r>
            <a:endParaRPr lang="en-US" sz="750" dirty="0"/>
          </a:p>
        </p:txBody>
      </p:sp>
      <p:sp>
        <p:nvSpPr>
          <p:cNvPr id="54" name="Text 49"/>
          <p:cNvSpPr/>
          <p:nvPr/>
        </p:nvSpPr>
        <p:spPr>
          <a:xfrm>
            <a:off x="8119872" y="5376672"/>
            <a:ext cx="3200400" cy="777240"/>
          </a:xfrm>
          <a:prstGeom prst="rect">
            <a:avLst/>
          </a:prstGeom>
          <a:noFill/>
          <a:ln/>
        </p:spPr>
        <p:txBody>
          <a:bodyPr wrap="square" lIns="0" tIns="0" rIns="0" bIns="0" rtlCol="0" anchor="ctr"/>
          <a:lstStyle/>
          <a:p>
            <a:pPr marL="0" indent="0">
              <a:lnSpc>
                <a:spcPct val="115000"/>
              </a:lnSpc>
              <a:buNone/>
            </a:pPr>
            <a:r>
              <a:rPr lang="en-US" sz="950" dirty="0">
                <a:solidFill>
                  <a:srgbClr val="5A6B78"/>
                </a:solidFill>
                <a:latin typeface="Calibri" pitchFamily="34" charset="0"/>
                <a:ea typeface="Calibri" pitchFamily="34" charset="-122"/>
                <a:cs typeface="Calibri" pitchFamily="34" charset="-120"/>
              </a:rPr>
              <a:t>Anticipar fallas desde el historial de cada vehículo. Requiere volumen de datos históricos con el que el proyecto no cuenta.</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548640"/>
          </a:xfrm>
          <a:prstGeom prst="rect">
            <a:avLst/>
          </a:prstGeom>
          <a:noFill/>
          <a:ln/>
        </p:spPr>
        <p:txBody>
          <a:bodyPr wrap="square" lIns="0" tIns="0" rIns="0" bIns="0" rtlCol="0" anchor="ctr"/>
          <a:lstStyle/>
          <a:p>
            <a:pPr marL="0" indent="0">
              <a:buNone/>
            </a:pPr>
            <a:r>
              <a:rPr lang="en-US" sz="3000" b="1" dirty="0">
                <a:solidFill>
                  <a:srgbClr val="0F2E42"/>
                </a:solidFill>
                <a:latin typeface="Calibri" pitchFamily="34" charset="0"/>
                <a:ea typeface="Calibri" pitchFamily="34" charset="-122"/>
                <a:cs typeface="Calibri" pitchFamily="34" charset="-120"/>
              </a:rPr>
              <a:t>Competencias del perfil de egreso</a:t>
            </a:r>
            <a:endParaRPr lang="en-US" sz="3000" dirty="0"/>
          </a:p>
        </p:txBody>
      </p:sp>
      <p:sp>
        <p:nvSpPr>
          <p:cNvPr id="3" name="Text 1"/>
          <p:cNvSpPr/>
          <p:nvPr/>
        </p:nvSpPr>
        <p:spPr>
          <a:xfrm>
            <a:off x="640080" y="932688"/>
            <a:ext cx="10881360" cy="36576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El proyecto moviliza cuatro competencias de especialidad; el mínimo exigido es tres</a:t>
            </a:r>
            <a:endParaRPr lang="en-US" sz="1500" dirty="0"/>
          </a:p>
        </p:txBody>
      </p:sp>
      <p:pic>
        <p:nvPicPr>
          <p:cNvPr id="4" name="Image 0" descr="/mnt/user-data/outputs/logo/vialnex-isotipo-512.png"/>
          <p:cNvPicPr>
            <a:picLocks noChangeAspect="1"/>
          </p:cNvPicPr>
          <p:nvPr/>
        </p:nvPicPr>
        <p:blipFill>
          <a:blip r:embed="rId3"/>
          <a:stretch>
            <a:fillRect/>
          </a:stretch>
        </p:blipFill>
        <p:spPr>
          <a:xfrm>
            <a:off x="11475720" y="6172200"/>
            <a:ext cx="384048" cy="384048"/>
          </a:xfrm>
          <a:prstGeom prst="rect">
            <a:avLst/>
          </a:prstGeom>
        </p:spPr>
      </p:pic>
      <p:sp>
        <p:nvSpPr>
          <p:cNvPr id="5" name="Shape 2"/>
          <p:cNvSpPr/>
          <p:nvPr/>
        </p:nvSpPr>
        <p:spPr>
          <a:xfrm>
            <a:off x="640080" y="1600200"/>
            <a:ext cx="7589520" cy="960120"/>
          </a:xfrm>
          <a:prstGeom prst="roundRect">
            <a:avLst>
              <a:gd name="adj" fmla="val 7619"/>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6" name="Shape 3"/>
          <p:cNvSpPr/>
          <p:nvPr/>
        </p:nvSpPr>
        <p:spPr>
          <a:xfrm>
            <a:off x="868680" y="1901952"/>
            <a:ext cx="365760" cy="365760"/>
          </a:xfrm>
          <a:prstGeom prst="ellipse">
            <a:avLst/>
          </a:prstGeom>
          <a:solidFill>
            <a:srgbClr val="2E7FB8"/>
          </a:solidFill>
          <a:ln w="12700">
            <a:solidFill>
              <a:srgbClr val="2E7FB8"/>
            </a:solidFill>
            <a:prstDash val="solid"/>
          </a:ln>
        </p:spPr>
        <p:txBody>
          <a:bodyPr/>
          <a:lstStyle/>
          <a:p>
            <a:endParaRPr lang="es-CL"/>
          </a:p>
        </p:txBody>
      </p:sp>
      <p:sp>
        <p:nvSpPr>
          <p:cNvPr id="7" name="Text 4"/>
          <p:cNvSpPr/>
          <p:nvPr/>
        </p:nvSpPr>
        <p:spPr>
          <a:xfrm>
            <a:off x="868680" y="190195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1417320" y="1746504"/>
            <a:ext cx="6583680" cy="274320"/>
          </a:xfrm>
          <a:prstGeom prst="rect">
            <a:avLst/>
          </a:prstGeom>
          <a:noFill/>
          <a:ln/>
        </p:spPr>
        <p:txBody>
          <a:bodyPr wrap="square" lIns="0" tIns="0" rIns="0" bIns="0" rtlCol="0" anchor="ctr"/>
          <a:lstStyle/>
          <a:p>
            <a:pPr marL="0" indent="0">
              <a:buNone/>
            </a:pPr>
            <a:r>
              <a:rPr lang="en-US" sz="1400" b="1" dirty="0">
                <a:solidFill>
                  <a:srgbClr val="0F2E42"/>
                </a:solidFill>
                <a:latin typeface="Calibri" pitchFamily="34" charset="0"/>
                <a:ea typeface="Calibri" pitchFamily="34" charset="-122"/>
                <a:cs typeface="Calibri" pitchFamily="34" charset="-120"/>
              </a:rPr>
              <a:t>Desarrollar una solución de software</a:t>
            </a:r>
            <a:endParaRPr lang="en-US" sz="1400" dirty="0"/>
          </a:p>
        </p:txBody>
      </p:sp>
      <p:sp>
        <p:nvSpPr>
          <p:cNvPr id="9" name="Text 6"/>
          <p:cNvSpPr/>
          <p:nvPr/>
        </p:nvSpPr>
        <p:spPr>
          <a:xfrm>
            <a:off x="1417320" y="2039112"/>
            <a:ext cx="6583680" cy="457200"/>
          </a:xfrm>
          <a:prstGeom prst="rect">
            <a:avLst/>
          </a:prstGeom>
          <a:noFill/>
          <a:ln/>
        </p:spPr>
        <p:txBody>
          <a:bodyPr wrap="square" lIns="0" tIns="0" rIns="0" bIns="0" rtlCol="0" anchor="ctr"/>
          <a:lstStyle/>
          <a:p>
            <a:pPr marL="0" indent="0">
              <a:lnSpc>
                <a:spcPct val="110000"/>
              </a:lnSpc>
              <a:buNone/>
            </a:pPr>
            <a:r>
              <a:rPr lang="en-US" sz="1100" dirty="0">
                <a:solidFill>
                  <a:srgbClr val="5A6B78"/>
                </a:solidFill>
                <a:latin typeface="Calibri" pitchFamily="34" charset="0"/>
                <a:ea typeface="Calibri" pitchFamily="34" charset="-122"/>
                <a:cs typeface="Calibri" pitchFamily="34" charset="-120"/>
              </a:rPr>
              <a:t>Construcción de los seis módulos, su integración bajo un mismo modelo y su implantación en un ambiente de operación.</a:t>
            </a:r>
            <a:endParaRPr lang="en-US" sz="1100" dirty="0"/>
          </a:p>
        </p:txBody>
      </p:sp>
      <p:sp>
        <p:nvSpPr>
          <p:cNvPr id="10" name="Shape 7"/>
          <p:cNvSpPr/>
          <p:nvPr/>
        </p:nvSpPr>
        <p:spPr>
          <a:xfrm>
            <a:off x="640080" y="2697480"/>
            <a:ext cx="7589520" cy="960120"/>
          </a:xfrm>
          <a:prstGeom prst="roundRect">
            <a:avLst>
              <a:gd name="adj" fmla="val 7619"/>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11" name="Shape 8"/>
          <p:cNvSpPr/>
          <p:nvPr/>
        </p:nvSpPr>
        <p:spPr>
          <a:xfrm>
            <a:off x="868680" y="2999232"/>
            <a:ext cx="365760" cy="365760"/>
          </a:xfrm>
          <a:prstGeom prst="ellipse">
            <a:avLst/>
          </a:prstGeom>
          <a:solidFill>
            <a:srgbClr val="16A394"/>
          </a:solidFill>
          <a:ln w="12700">
            <a:solidFill>
              <a:srgbClr val="16A394"/>
            </a:solidFill>
            <a:prstDash val="solid"/>
          </a:ln>
        </p:spPr>
        <p:txBody>
          <a:bodyPr/>
          <a:lstStyle/>
          <a:p>
            <a:endParaRPr lang="es-CL"/>
          </a:p>
        </p:txBody>
      </p:sp>
      <p:sp>
        <p:nvSpPr>
          <p:cNvPr id="12" name="Text 9"/>
          <p:cNvSpPr/>
          <p:nvPr/>
        </p:nvSpPr>
        <p:spPr>
          <a:xfrm>
            <a:off x="868680" y="29992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417320" y="2843784"/>
            <a:ext cx="6583680" cy="274320"/>
          </a:xfrm>
          <a:prstGeom prst="rect">
            <a:avLst/>
          </a:prstGeom>
          <a:noFill/>
          <a:ln/>
        </p:spPr>
        <p:txBody>
          <a:bodyPr wrap="square" lIns="0" tIns="0" rIns="0" bIns="0" rtlCol="0" anchor="ctr"/>
          <a:lstStyle/>
          <a:p>
            <a:pPr marL="0" indent="0">
              <a:buNone/>
            </a:pPr>
            <a:r>
              <a:rPr lang="en-US" sz="1400" b="1" dirty="0">
                <a:solidFill>
                  <a:srgbClr val="0F2E42"/>
                </a:solidFill>
                <a:latin typeface="Calibri" pitchFamily="34" charset="0"/>
                <a:ea typeface="Calibri" pitchFamily="34" charset="-122"/>
                <a:cs typeface="Calibri" pitchFamily="34" charset="-120"/>
              </a:rPr>
              <a:t>Construir modelos de datos</a:t>
            </a:r>
            <a:endParaRPr lang="en-US" sz="1400" dirty="0"/>
          </a:p>
        </p:txBody>
      </p:sp>
      <p:sp>
        <p:nvSpPr>
          <p:cNvPr id="14" name="Text 11"/>
          <p:cNvSpPr/>
          <p:nvPr/>
        </p:nvSpPr>
        <p:spPr>
          <a:xfrm>
            <a:off x="1417320" y="3136392"/>
            <a:ext cx="6583680" cy="457200"/>
          </a:xfrm>
          <a:prstGeom prst="rect">
            <a:avLst/>
          </a:prstGeom>
          <a:noFill/>
          <a:ln/>
        </p:spPr>
        <p:txBody>
          <a:bodyPr wrap="square" lIns="0" tIns="0" rIns="0" bIns="0" rtlCol="0" anchor="ctr"/>
          <a:lstStyle/>
          <a:p>
            <a:pPr marL="0" indent="0">
              <a:lnSpc>
                <a:spcPct val="110000"/>
              </a:lnSpc>
              <a:buNone/>
            </a:pPr>
            <a:r>
              <a:rPr lang="en-US" sz="1100" dirty="0">
                <a:solidFill>
                  <a:srgbClr val="5A6B78"/>
                </a:solidFill>
                <a:latin typeface="Calibri" pitchFamily="34" charset="0"/>
                <a:ea typeface="Calibri" pitchFamily="34" charset="-122"/>
                <a:cs typeface="Calibri" pitchFamily="34" charset="-120"/>
              </a:rPr>
              <a:t>Diseño e implementación del modelo relacional que vincula pedidos, rutas, flota, documentos y facturación.</a:t>
            </a:r>
            <a:endParaRPr lang="en-US" sz="1100" dirty="0"/>
          </a:p>
        </p:txBody>
      </p:sp>
      <p:sp>
        <p:nvSpPr>
          <p:cNvPr id="15" name="Shape 12"/>
          <p:cNvSpPr/>
          <p:nvPr/>
        </p:nvSpPr>
        <p:spPr>
          <a:xfrm>
            <a:off x="640080" y="3794760"/>
            <a:ext cx="7589520" cy="960120"/>
          </a:xfrm>
          <a:prstGeom prst="roundRect">
            <a:avLst>
              <a:gd name="adj" fmla="val 7619"/>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16" name="Shape 13"/>
          <p:cNvSpPr/>
          <p:nvPr/>
        </p:nvSpPr>
        <p:spPr>
          <a:xfrm>
            <a:off x="868680" y="4096512"/>
            <a:ext cx="365760" cy="365760"/>
          </a:xfrm>
          <a:prstGeom prst="ellipse">
            <a:avLst/>
          </a:prstGeom>
          <a:solidFill>
            <a:srgbClr val="2E7FB8"/>
          </a:solidFill>
          <a:ln w="12700">
            <a:solidFill>
              <a:srgbClr val="2E7FB8"/>
            </a:solidFill>
            <a:prstDash val="solid"/>
          </a:ln>
        </p:spPr>
        <p:txBody>
          <a:bodyPr/>
          <a:lstStyle/>
          <a:p>
            <a:endParaRPr lang="es-CL"/>
          </a:p>
        </p:txBody>
      </p:sp>
      <p:sp>
        <p:nvSpPr>
          <p:cNvPr id="17" name="Text 14"/>
          <p:cNvSpPr/>
          <p:nvPr/>
        </p:nvSpPr>
        <p:spPr>
          <a:xfrm>
            <a:off x="868680" y="409651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5"/>
          <p:cNvSpPr/>
          <p:nvPr/>
        </p:nvSpPr>
        <p:spPr>
          <a:xfrm>
            <a:off x="1417320" y="3941064"/>
            <a:ext cx="6583680" cy="274320"/>
          </a:xfrm>
          <a:prstGeom prst="rect">
            <a:avLst/>
          </a:prstGeom>
          <a:noFill/>
          <a:ln/>
        </p:spPr>
        <p:txBody>
          <a:bodyPr wrap="square" lIns="0" tIns="0" rIns="0" bIns="0" rtlCol="0" anchor="ctr"/>
          <a:lstStyle/>
          <a:p>
            <a:pPr marL="0" indent="0">
              <a:buNone/>
            </a:pPr>
            <a:r>
              <a:rPr lang="en-US" sz="1400" b="1" dirty="0">
                <a:solidFill>
                  <a:srgbClr val="0F2E42"/>
                </a:solidFill>
                <a:latin typeface="Calibri" pitchFamily="34" charset="0"/>
                <a:ea typeface="Calibri" pitchFamily="34" charset="-122"/>
                <a:cs typeface="Calibri" pitchFamily="34" charset="-120"/>
              </a:rPr>
              <a:t>Gestionar proyectos informáticos</a:t>
            </a:r>
            <a:endParaRPr lang="en-US" sz="1400" dirty="0"/>
          </a:p>
        </p:txBody>
      </p:sp>
      <p:sp>
        <p:nvSpPr>
          <p:cNvPr id="19" name="Text 16"/>
          <p:cNvSpPr/>
          <p:nvPr/>
        </p:nvSpPr>
        <p:spPr>
          <a:xfrm>
            <a:off x="1417320" y="4233672"/>
            <a:ext cx="6583680" cy="457200"/>
          </a:xfrm>
          <a:prstGeom prst="rect">
            <a:avLst/>
          </a:prstGeom>
          <a:noFill/>
          <a:ln/>
        </p:spPr>
        <p:txBody>
          <a:bodyPr wrap="square" lIns="0" tIns="0" rIns="0" bIns="0" rtlCol="0" anchor="ctr"/>
          <a:lstStyle/>
          <a:p>
            <a:pPr marL="0" indent="0">
              <a:lnSpc>
                <a:spcPct val="110000"/>
              </a:lnSpc>
              <a:buNone/>
            </a:pPr>
            <a:r>
              <a:rPr lang="en-US" sz="1100" dirty="0">
                <a:solidFill>
                  <a:srgbClr val="5A6B78"/>
                </a:solidFill>
                <a:latin typeface="Calibri" pitchFamily="34" charset="0"/>
                <a:ea typeface="Calibri" pitchFamily="34" charset="-122"/>
                <a:cs typeface="Calibri" pitchFamily="34" charset="-120"/>
              </a:rPr>
              <a:t>Planificación del alcance, distribución de responsabilidades y control de avance mediante hitos verificables.</a:t>
            </a:r>
            <a:endParaRPr lang="en-US" sz="1100" dirty="0"/>
          </a:p>
        </p:txBody>
      </p:sp>
      <p:sp>
        <p:nvSpPr>
          <p:cNvPr id="20" name="Shape 17"/>
          <p:cNvSpPr/>
          <p:nvPr/>
        </p:nvSpPr>
        <p:spPr>
          <a:xfrm>
            <a:off x="640080" y="4892040"/>
            <a:ext cx="7589520" cy="960120"/>
          </a:xfrm>
          <a:prstGeom prst="roundRect">
            <a:avLst>
              <a:gd name="adj" fmla="val 7619"/>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21" name="Shape 18"/>
          <p:cNvSpPr/>
          <p:nvPr/>
        </p:nvSpPr>
        <p:spPr>
          <a:xfrm>
            <a:off x="868680" y="5193792"/>
            <a:ext cx="365760" cy="365760"/>
          </a:xfrm>
          <a:prstGeom prst="ellipse">
            <a:avLst/>
          </a:prstGeom>
          <a:solidFill>
            <a:srgbClr val="16A394"/>
          </a:solidFill>
          <a:ln w="12700">
            <a:solidFill>
              <a:srgbClr val="16A394"/>
            </a:solidFill>
            <a:prstDash val="solid"/>
          </a:ln>
        </p:spPr>
        <p:txBody>
          <a:bodyPr/>
          <a:lstStyle/>
          <a:p>
            <a:endParaRPr lang="es-CL"/>
          </a:p>
        </p:txBody>
      </p:sp>
      <p:sp>
        <p:nvSpPr>
          <p:cNvPr id="22" name="Text 19"/>
          <p:cNvSpPr/>
          <p:nvPr/>
        </p:nvSpPr>
        <p:spPr>
          <a:xfrm>
            <a:off x="868680" y="519379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0"/>
          <p:cNvSpPr/>
          <p:nvPr/>
        </p:nvSpPr>
        <p:spPr>
          <a:xfrm>
            <a:off x="1417320" y="5038344"/>
            <a:ext cx="6583680" cy="274320"/>
          </a:xfrm>
          <a:prstGeom prst="rect">
            <a:avLst/>
          </a:prstGeom>
          <a:noFill/>
          <a:ln/>
        </p:spPr>
        <p:txBody>
          <a:bodyPr wrap="square" lIns="0" tIns="0" rIns="0" bIns="0" rtlCol="0" anchor="ctr"/>
          <a:lstStyle/>
          <a:p>
            <a:pPr marL="0" indent="0">
              <a:buNone/>
            </a:pPr>
            <a:r>
              <a:rPr lang="en-US" sz="1400" b="1" dirty="0">
                <a:solidFill>
                  <a:srgbClr val="0F2E42"/>
                </a:solidFill>
                <a:latin typeface="Calibri" pitchFamily="34" charset="0"/>
                <a:ea typeface="Calibri" pitchFamily="34" charset="-122"/>
                <a:cs typeface="Calibri" pitchFamily="34" charset="-120"/>
              </a:rPr>
              <a:t>Realizar pruebas de certificación</a:t>
            </a:r>
            <a:endParaRPr lang="en-US" sz="1400" dirty="0"/>
          </a:p>
        </p:txBody>
      </p:sp>
      <p:sp>
        <p:nvSpPr>
          <p:cNvPr id="24" name="Text 21"/>
          <p:cNvSpPr/>
          <p:nvPr/>
        </p:nvSpPr>
        <p:spPr>
          <a:xfrm>
            <a:off x="1417320" y="5330952"/>
            <a:ext cx="6583680" cy="457200"/>
          </a:xfrm>
          <a:prstGeom prst="rect">
            <a:avLst/>
          </a:prstGeom>
          <a:noFill/>
          <a:ln/>
        </p:spPr>
        <p:txBody>
          <a:bodyPr wrap="square" lIns="0" tIns="0" rIns="0" bIns="0" rtlCol="0" anchor="ctr"/>
          <a:lstStyle/>
          <a:p>
            <a:pPr marL="0" indent="0">
              <a:lnSpc>
                <a:spcPct val="110000"/>
              </a:lnSpc>
              <a:buNone/>
            </a:pPr>
            <a:r>
              <a:rPr lang="en-US" sz="1100" dirty="0">
                <a:solidFill>
                  <a:srgbClr val="5A6B78"/>
                </a:solidFill>
                <a:latin typeface="Calibri" pitchFamily="34" charset="0"/>
                <a:ea typeface="Calibri" pitchFamily="34" charset="-122"/>
                <a:cs typeface="Calibri" pitchFamily="34" charset="-120"/>
              </a:rPr>
              <a:t>Diseño y aplicación del plan de pruebas funcionales y de integración, con mejoras derivadas de sus resultados.</a:t>
            </a:r>
            <a:endParaRPr lang="en-US" sz="1100" dirty="0"/>
          </a:p>
        </p:txBody>
      </p:sp>
      <p:sp>
        <p:nvSpPr>
          <p:cNvPr id="25" name="Shape 22"/>
          <p:cNvSpPr/>
          <p:nvPr/>
        </p:nvSpPr>
        <p:spPr>
          <a:xfrm>
            <a:off x="8549640" y="1600200"/>
            <a:ext cx="2971800" cy="4434840"/>
          </a:xfrm>
          <a:prstGeom prst="roundRect">
            <a:avLst>
              <a:gd name="adj" fmla="val 2462"/>
            </a:avLst>
          </a:prstGeom>
          <a:solidFill>
            <a:srgbClr val="0F2E42"/>
          </a:solidFill>
          <a:ln w="12700">
            <a:solidFill>
              <a:srgbClr val="0F2E42"/>
            </a:solidFill>
            <a:prstDash val="solid"/>
          </a:ln>
        </p:spPr>
        <p:txBody>
          <a:bodyPr/>
          <a:lstStyle/>
          <a:p>
            <a:endParaRPr lang="es-CL"/>
          </a:p>
        </p:txBody>
      </p:sp>
      <p:sp>
        <p:nvSpPr>
          <p:cNvPr id="26" name="Text 23"/>
          <p:cNvSpPr/>
          <p:nvPr/>
        </p:nvSpPr>
        <p:spPr>
          <a:xfrm>
            <a:off x="8778240" y="1828800"/>
            <a:ext cx="2560320" cy="914400"/>
          </a:xfrm>
          <a:prstGeom prst="rect">
            <a:avLst/>
          </a:prstGeom>
          <a:noFill/>
          <a:ln/>
        </p:spPr>
        <p:txBody>
          <a:bodyPr wrap="square" lIns="0" tIns="0" rIns="0" bIns="0" rtlCol="0" anchor="ctr"/>
          <a:lstStyle/>
          <a:p>
            <a:pPr marL="0" indent="0">
              <a:buNone/>
            </a:pPr>
            <a:r>
              <a:rPr lang="en-US" sz="6200" b="1" dirty="0">
                <a:solidFill>
                  <a:srgbClr val="16A394"/>
                </a:solidFill>
                <a:latin typeface="Calibri" pitchFamily="34" charset="0"/>
                <a:ea typeface="Calibri" pitchFamily="34" charset="-122"/>
                <a:cs typeface="Calibri" pitchFamily="34" charset="-120"/>
              </a:rPr>
              <a:t>4</a:t>
            </a:r>
            <a:endParaRPr lang="en-US" sz="6200" dirty="0"/>
          </a:p>
        </p:txBody>
      </p:sp>
      <p:sp>
        <p:nvSpPr>
          <p:cNvPr id="27" name="Text 24"/>
          <p:cNvSpPr/>
          <p:nvPr/>
        </p:nvSpPr>
        <p:spPr>
          <a:xfrm>
            <a:off x="8778240" y="2743200"/>
            <a:ext cx="2560320" cy="548640"/>
          </a:xfrm>
          <a:prstGeom prst="rect">
            <a:avLst/>
          </a:prstGeom>
          <a:noFill/>
          <a:ln/>
        </p:spPr>
        <p:txBody>
          <a:bodyPr wrap="square" lIns="0" tIns="0" rIns="0" bIns="0" rtlCol="0" anchor="ctr"/>
          <a:lstStyle/>
          <a:p>
            <a:pPr marL="0" indent="0">
              <a:lnSpc>
                <a:spcPct val="110000"/>
              </a:lnSpc>
              <a:buNone/>
            </a:pPr>
            <a:r>
              <a:rPr lang="en-US" sz="1300" b="1" dirty="0">
                <a:solidFill>
                  <a:srgbClr val="FFFFFF"/>
                </a:solidFill>
                <a:latin typeface="Calibri" pitchFamily="34" charset="0"/>
                <a:ea typeface="Calibri" pitchFamily="34" charset="-122"/>
                <a:cs typeface="Calibri" pitchFamily="34" charset="-120"/>
              </a:rPr>
              <a:t>competencias de especialidad movilizadas</a:t>
            </a:r>
            <a:endParaRPr lang="en-US" sz="1300" dirty="0"/>
          </a:p>
        </p:txBody>
      </p:sp>
      <p:sp>
        <p:nvSpPr>
          <p:cNvPr id="28" name="Text 25"/>
          <p:cNvSpPr/>
          <p:nvPr/>
        </p:nvSpPr>
        <p:spPr>
          <a:xfrm>
            <a:off x="8778240" y="3429000"/>
            <a:ext cx="2560320" cy="2377440"/>
          </a:xfrm>
          <a:prstGeom prst="rect">
            <a:avLst/>
          </a:prstGeom>
          <a:noFill/>
          <a:ln/>
        </p:spPr>
        <p:txBody>
          <a:bodyPr wrap="square" lIns="0" tIns="0" rIns="0" bIns="0" rtlCol="0" anchor="ctr"/>
          <a:lstStyle/>
          <a:p>
            <a:pPr marL="0" indent="0">
              <a:lnSpc>
                <a:spcPct val="120000"/>
              </a:lnSpc>
              <a:buNone/>
            </a:pPr>
            <a:r>
              <a:rPr lang="en-US" sz="1100" dirty="0">
                <a:solidFill>
                  <a:srgbClr val="BBCEDA"/>
                </a:solidFill>
                <a:latin typeface="Calibri" pitchFamily="34" charset="0"/>
                <a:ea typeface="Calibri" pitchFamily="34" charset="-122"/>
                <a:cs typeface="Calibri" pitchFamily="34" charset="-120"/>
              </a:rPr>
              <a:t>Los criterios del Proyecto APT exigen integrar al menos tres competencias del perfil de egreso.</a:t>
            </a:r>
            <a:endParaRPr lang="en-US" sz="1100" dirty="0"/>
          </a:p>
          <a:p>
            <a:pPr marL="0" indent="0">
              <a:lnSpc>
                <a:spcPct val="120000"/>
              </a:lnSpc>
              <a:buNone/>
            </a:pPr>
            <a:endParaRPr lang="en-US" sz="1100" dirty="0"/>
          </a:p>
          <a:p>
            <a:pPr marL="0" indent="0">
              <a:lnSpc>
                <a:spcPct val="120000"/>
              </a:lnSpc>
              <a:buNone/>
            </a:pPr>
            <a:r>
              <a:rPr lang="en-US" sz="1100" dirty="0">
                <a:solidFill>
                  <a:srgbClr val="BBCEDA"/>
                </a:solidFill>
                <a:latin typeface="Calibri" pitchFamily="34" charset="0"/>
                <a:ea typeface="Calibri" pitchFamily="34" charset="-122"/>
                <a:cs typeface="Calibri" pitchFamily="34" charset="-120"/>
              </a:rPr>
              <a:t>vialNex las cubre todas porque recorre el ciclo completo de una solución informática: levantamiento, modelamiento, construcción, pruebas e implantación.</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548640"/>
          </a:xfrm>
          <a:prstGeom prst="rect">
            <a:avLst/>
          </a:prstGeom>
          <a:noFill/>
          <a:ln/>
        </p:spPr>
        <p:txBody>
          <a:bodyPr wrap="square" lIns="0" tIns="0" rIns="0" bIns="0" rtlCol="0" anchor="ctr"/>
          <a:lstStyle/>
          <a:p>
            <a:pPr marL="0" indent="0">
              <a:buNone/>
            </a:pPr>
            <a:r>
              <a:rPr lang="en-US" sz="3000" b="1" dirty="0">
                <a:solidFill>
                  <a:srgbClr val="0F2E42"/>
                </a:solidFill>
                <a:latin typeface="Calibri" pitchFamily="34" charset="0"/>
                <a:ea typeface="Calibri" pitchFamily="34" charset="-122"/>
                <a:cs typeface="Calibri" pitchFamily="34" charset="-120"/>
              </a:rPr>
              <a:t>Metodología y equipo</a:t>
            </a:r>
            <a:endParaRPr lang="en-US" sz="3000" dirty="0"/>
          </a:p>
        </p:txBody>
      </p:sp>
      <p:sp>
        <p:nvSpPr>
          <p:cNvPr id="3" name="Text 1"/>
          <p:cNvSpPr/>
          <p:nvPr/>
        </p:nvSpPr>
        <p:spPr>
          <a:xfrm>
            <a:off x="640080" y="932688"/>
            <a:ext cx="10881360" cy="36576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Desarrollo incremental basado en Scrum, con sprints de dos semanas</a:t>
            </a:r>
            <a:endParaRPr lang="en-US" sz="1500" dirty="0"/>
          </a:p>
        </p:txBody>
      </p:sp>
      <p:pic>
        <p:nvPicPr>
          <p:cNvPr id="4" name="Image 0" descr="/mnt/user-data/outputs/logo/vialnex-isotipo-512.png"/>
          <p:cNvPicPr>
            <a:picLocks noChangeAspect="1"/>
          </p:cNvPicPr>
          <p:nvPr/>
        </p:nvPicPr>
        <p:blipFill>
          <a:blip r:embed="rId3"/>
          <a:stretch>
            <a:fillRect/>
          </a:stretch>
        </p:blipFill>
        <p:spPr>
          <a:xfrm>
            <a:off x="11475720" y="6172200"/>
            <a:ext cx="384048" cy="384048"/>
          </a:xfrm>
          <a:prstGeom prst="rect">
            <a:avLst/>
          </a:prstGeom>
        </p:spPr>
      </p:pic>
      <p:sp>
        <p:nvSpPr>
          <p:cNvPr id="5" name="Shape 2"/>
          <p:cNvSpPr/>
          <p:nvPr/>
        </p:nvSpPr>
        <p:spPr>
          <a:xfrm>
            <a:off x="640080" y="1600200"/>
            <a:ext cx="2011680" cy="1417320"/>
          </a:xfrm>
          <a:prstGeom prst="roundRect">
            <a:avLst>
              <a:gd name="adj" fmla="val 5161"/>
            </a:avLst>
          </a:prstGeom>
          <a:solidFill>
            <a:srgbClr val="FFFFFF"/>
          </a:solidFill>
          <a:ln w="19050">
            <a:solidFill>
              <a:srgbClr val="2E7FB8"/>
            </a:solidFill>
            <a:prstDash val="solid"/>
          </a:ln>
        </p:spPr>
        <p:txBody>
          <a:bodyPr/>
          <a:lstStyle/>
          <a:p>
            <a:endParaRPr lang="es-CL"/>
          </a:p>
        </p:txBody>
      </p:sp>
      <p:sp>
        <p:nvSpPr>
          <p:cNvPr id="6" name="Shape 3"/>
          <p:cNvSpPr/>
          <p:nvPr/>
        </p:nvSpPr>
        <p:spPr>
          <a:xfrm>
            <a:off x="777240" y="1737360"/>
            <a:ext cx="329184" cy="329184"/>
          </a:xfrm>
          <a:prstGeom prst="ellipse">
            <a:avLst/>
          </a:prstGeom>
          <a:solidFill>
            <a:srgbClr val="2E7FB8"/>
          </a:solidFill>
          <a:ln w="12700">
            <a:solidFill>
              <a:srgbClr val="2E7FB8"/>
            </a:solidFill>
            <a:prstDash val="solid"/>
          </a:ln>
        </p:spPr>
        <p:txBody>
          <a:bodyPr/>
          <a:lstStyle/>
          <a:p>
            <a:endParaRPr lang="es-CL"/>
          </a:p>
        </p:txBody>
      </p:sp>
      <p:sp>
        <p:nvSpPr>
          <p:cNvPr id="7" name="Text 4"/>
          <p:cNvSpPr/>
          <p:nvPr/>
        </p:nvSpPr>
        <p:spPr>
          <a:xfrm>
            <a:off x="777240" y="17373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5"/>
          <p:cNvSpPr/>
          <p:nvPr/>
        </p:nvSpPr>
        <p:spPr>
          <a:xfrm>
            <a:off x="777240" y="2157984"/>
            <a:ext cx="1737360" cy="274320"/>
          </a:xfrm>
          <a:prstGeom prst="rect">
            <a:avLst/>
          </a:prstGeom>
          <a:noFill/>
          <a:ln/>
        </p:spPr>
        <p:txBody>
          <a:bodyPr wrap="square" lIns="0" tIns="0" rIns="0" bIns="0" rtlCol="0" anchor="ctr"/>
          <a:lstStyle/>
          <a:p>
            <a:pPr marL="0" indent="0">
              <a:buNone/>
            </a:pPr>
            <a:r>
              <a:rPr lang="en-US" sz="1250" b="1" dirty="0">
                <a:solidFill>
                  <a:srgbClr val="0F2E42"/>
                </a:solidFill>
                <a:latin typeface="Calibri" pitchFamily="34" charset="0"/>
                <a:ea typeface="Calibri" pitchFamily="34" charset="-122"/>
                <a:cs typeface="Calibri" pitchFamily="34" charset="-120"/>
              </a:rPr>
              <a:t>Levantamiento</a:t>
            </a:r>
            <a:endParaRPr lang="en-US" sz="1250" dirty="0"/>
          </a:p>
        </p:txBody>
      </p:sp>
      <p:sp>
        <p:nvSpPr>
          <p:cNvPr id="9" name="Text 6"/>
          <p:cNvSpPr/>
          <p:nvPr/>
        </p:nvSpPr>
        <p:spPr>
          <a:xfrm>
            <a:off x="777240" y="2432304"/>
            <a:ext cx="1755648" cy="502920"/>
          </a:xfrm>
          <a:prstGeom prst="rect">
            <a:avLst/>
          </a:prstGeom>
          <a:noFill/>
          <a:ln/>
        </p:spPr>
        <p:txBody>
          <a:bodyPr wrap="square" lIns="0" tIns="0" rIns="0" bIns="0" rtlCol="0" anchor="ctr"/>
          <a:lstStyle/>
          <a:p>
            <a:pPr marL="0" indent="0">
              <a:lnSpc>
                <a:spcPct val="110000"/>
              </a:lnSpc>
              <a:buNone/>
            </a:pPr>
            <a:r>
              <a:rPr lang="en-US" sz="950" dirty="0">
                <a:solidFill>
                  <a:srgbClr val="5A6B78"/>
                </a:solidFill>
                <a:latin typeface="Calibri" pitchFamily="34" charset="0"/>
                <a:ea typeface="Calibri" pitchFamily="34" charset="-122"/>
                <a:cs typeface="Calibri" pitchFamily="34" charset="-120"/>
              </a:rPr>
              <a:t>Procesos, historias de usuario y definición de alcance</a:t>
            </a:r>
            <a:endParaRPr lang="en-US" sz="950" dirty="0"/>
          </a:p>
        </p:txBody>
      </p:sp>
      <p:sp>
        <p:nvSpPr>
          <p:cNvPr id="10" name="Shape 7"/>
          <p:cNvSpPr/>
          <p:nvPr/>
        </p:nvSpPr>
        <p:spPr>
          <a:xfrm>
            <a:off x="2670048" y="2304288"/>
            <a:ext cx="182880" cy="0"/>
          </a:xfrm>
          <a:prstGeom prst="line">
            <a:avLst/>
          </a:prstGeom>
          <a:noFill/>
          <a:ln w="25400">
            <a:solidFill>
              <a:srgbClr val="D8E2E9"/>
            </a:solidFill>
            <a:prstDash val="solid"/>
            <a:tailEnd type="triangle"/>
          </a:ln>
        </p:spPr>
        <p:txBody>
          <a:bodyPr/>
          <a:lstStyle/>
          <a:p>
            <a:endParaRPr lang="es-CL"/>
          </a:p>
        </p:txBody>
      </p:sp>
      <p:sp>
        <p:nvSpPr>
          <p:cNvPr id="11" name="Shape 8"/>
          <p:cNvSpPr/>
          <p:nvPr/>
        </p:nvSpPr>
        <p:spPr>
          <a:xfrm>
            <a:off x="2871216" y="1600200"/>
            <a:ext cx="2011680" cy="1417320"/>
          </a:xfrm>
          <a:prstGeom prst="roundRect">
            <a:avLst>
              <a:gd name="adj" fmla="val 5161"/>
            </a:avLst>
          </a:prstGeom>
          <a:solidFill>
            <a:srgbClr val="FFFFFF"/>
          </a:solidFill>
          <a:ln w="19050">
            <a:solidFill>
              <a:srgbClr val="2E7FB8"/>
            </a:solidFill>
            <a:prstDash val="solid"/>
          </a:ln>
        </p:spPr>
        <p:txBody>
          <a:bodyPr/>
          <a:lstStyle/>
          <a:p>
            <a:endParaRPr lang="es-CL"/>
          </a:p>
        </p:txBody>
      </p:sp>
      <p:sp>
        <p:nvSpPr>
          <p:cNvPr id="12" name="Shape 9"/>
          <p:cNvSpPr/>
          <p:nvPr/>
        </p:nvSpPr>
        <p:spPr>
          <a:xfrm>
            <a:off x="3008376" y="1737360"/>
            <a:ext cx="329184" cy="329184"/>
          </a:xfrm>
          <a:prstGeom prst="ellipse">
            <a:avLst/>
          </a:prstGeom>
          <a:solidFill>
            <a:srgbClr val="2E7FB8"/>
          </a:solidFill>
          <a:ln w="12700">
            <a:solidFill>
              <a:srgbClr val="2E7FB8"/>
            </a:solidFill>
            <a:prstDash val="solid"/>
          </a:ln>
        </p:spPr>
        <p:txBody>
          <a:bodyPr/>
          <a:lstStyle/>
          <a:p>
            <a:endParaRPr lang="es-CL"/>
          </a:p>
        </p:txBody>
      </p:sp>
      <p:sp>
        <p:nvSpPr>
          <p:cNvPr id="13" name="Text 10"/>
          <p:cNvSpPr/>
          <p:nvPr/>
        </p:nvSpPr>
        <p:spPr>
          <a:xfrm>
            <a:off x="3008376" y="17373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1"/>
          <p:cNvSpPr/>
          <p:nvPr/>
        </p:nvSpPr>
        <p:spPr>
          <a:xfrm>
            <a:off x="3008376" y="2157984"/>
            <a:ext cx="1737360" cy="274320"/>
          </a:xfrm>
          <a:prstGeom prst="rect">
            <a:avLst/>
          </a:prstGeom>
          <a:noFill/>
          <a:ln/>
        </p:spPr>
        <p:txBody>
          <a:bodyPr wrap="square" lIns="0" tIns="0" rIns="0" bIns="0" rtlCol="0" anchor="ctr"/>
          <a:lstStyle/>
          <a:p>
            <a:pPr marL="0" indent="0">
              <a:buNone/>
            </a:pPr>
            <a:r>
              <a:rPr lang="en-US" sz="1250" b="1" dirty="0">
                <a:solidFill>
                  <a:srgbClr val="0F2E42"/>
                </a:solidFill>
                <a:latin typeface="Calibri" pitchFamily="34" charset="0"/>
                <a:ea typeface="Calibri" pitchFamily="34" charset="-122"/>
                <a:cs typeface="Calibri" pitchFamily="34" charset="-120"/>
              </a:rPr>
              <a:t>Diseño</a:t>
            </a:r>
            <a:endParaRPr lang="en-US" sz="1250" dirty="0"/>
          </a:p>
        </p:txBody>
      </p:sp>
      <p:sp>
        <p:nvSpPr>
          <p:cNvPr id="15" name="Text 12"/>
          <p:cNvSpPr/>
          <p:nvPr/>
        </p:nvSpPr>
        <p:spPr>
          <a:xfrm>
            <a:off x="3008376" y="2432304"/>
            <a:ext cx="1755648" cy="502920"/>
          </a:xfrm>
          <a:prstGeom prst="rect">
            <a:avLst/>
          </a:prstGeom>
          <a:noFill/>
          <a:ln/>
        </p:spPr>
        <p:txBody>
          <a:bodyPr wrap="square" lIns="0" tIns="0" rIns="0" bIns="0" rtlCol="0" anchor="ctr"/>
          <a:lstStyle/>
          <a:p>
            <a:pPr marL="0" indent="0">
              <a:lnSpc>
                <a:spcPct val="110000"/>
              </a:lnSpc>
              <a:buNone/>
            </a:pPr>
            <a:r>
              <a:rPr lang="en-US" sz="950" dirty="0">
                <a:solidFill>
                  <a:srgbClr val="5A6B78"/>
                </a:solidFill>
                <a:latin typeface="Calibri" pitchFamily="34" charset="0"/>
                <a:ea typeface="Calibri" pitchFamily="34" charset="-122"/>
                <a:cs typeface="Calibri" pitchFamily="34" charset="-120"/>
              </a:rPr>
              <a:t>Modelo de datos, arquitectura y prototipos de interfaz</a:t>
            </a:r>
            <a:endParaRPr lang="en-US" sz="950" dirty="0"/>
          </a:p>
        </p:txBody>
      </p:sp>
      <p:sp>
        <p:nvSpPr>
          <p:cNvPr id="16" name="Shape 13"/>
          <p:cNvSpPr/>
          <p:nvPr/>
        </p:nvSpPr>
        <p:spPr>
          <a:xfrm>
            <a:off x="4901184" y="2304288"/>
            <a:ext cx="182880" cy="0"/>
          </a:xfrm>
          <a:prstGeom prst="line">
            <a:avLst/>
          </a:prstGeom>
          <a:noFill/>
          <a:ln w="25400">
            <a:solidFill>
              <a:srgbClr val="D8E2E9"/>
            </a:solidFill>
            <a:prstDash val="solid"/>
            <a:tailEnd type="triangle"/>
          </a:ln>
        </p:spPr>
        <p:txBody>
          <a:bodyPr/>
          <a:lstStyle/>
          <a:p>
            <a:endParaRPr lang="es-CL"/>
          </a:p>
        </p:txBody>
      </p:sp>
      <p:sp>
        <p:nvSpPr>
          <p:cNvPr id="17" name="Shape 14"/>
          <p:cNvSpPr/>
          <p:nvPr/>
        </p:nvSpPr>
        <p:spPr>
          <a:xfrm>
            <a:off x="5102352" y="1600200"/>
            <a:ext cx="2011680" cy="1417320"/>
          </a:xfrm>
          <a:prstGeom prst="roundRect">
            <a:avLst>
              <a:gd name="adj" fmla="val 5161"/>
            </a:avLst>
          </a:prstGeom>
          <a:solidFill>
            <a:srgbClr val="FFFFFF"/>
          </a:solidFill>
          <a:ln w="19050">
            <a:solidFill>
              <a:srgbClr val="2E7FB8"/>
            </a:solidFill>
            <a:prstDash val="solid"/>
          </a:ln>
        </p:spPr>
        <p:txBody>
          <a:bodyPr/>
          <a:lstStyle/>
          <a:p>
            <a:endParaRPr lang="es-CL"/>
          </a:p>
        </p:txBody>
      </p:sp>
      <p:sp>
        <p:nvSpPr>
          <p:cNvPr id="18" name="Shape 15"/>
          <p:cNvSpPr/>
          <p:nvPr/>
        </p:nvSpPr>
        <p:spPr>
          <a:xfrm>
            <a:off x="5239512" y="1737360"/>
            <a:ext cx="329184" cy="329184"/>
          </a:xfrm>
          <a:prstGeom prst="ellipse">
            <a:avLst/>
          </a:prstGeom>
          <a:solidFill>
            <a:srgbClr val="2E7FB8"/>
          </a:solidFill>
          <a:ln w="12700">
            <a:solidFill>
              <a:srgbClr val="2E7FB8"/>
            </a:solidFill>
            <a:prstDash val="solid"/>
          </a:ln>
        </p:spPr>
        <p:txBody>
          <a:bodyPr/>
          <a:lstStyle/>
          <a:p>
            <a:endParaRPr lang="es-CL"/>
          </a:p>
        </p:txBody>
      </p:sp>
      <p:sp>
        <p:nvSpPr>
          <p:cNvPr id="19" name="Text 16"/>
          <p:cNvSpPr/>
          <p:nvPr/>
        </p:nvSpPr>
        <p:spPr>
          <a:xfrm>
            <a:off x="5239512" y="17373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7"/>
          <p:cNvSpPr/>
          <p:nvPr/>
        </p:nvSpPr>
        <p:spPr>
          <a:xfrm>
            <a:off x="5239512" y="2157984"/>
            <a:ext cx="1737360" cy="274320"/>
          </a:xfrm>
          <a:prstGeom prst="rect">
            <a:avLst/>
          </a:prstGeom>
          <a:noFill/>
          <a:ln/>
        </p:spPr>
        <p:txBody>
          <a:bodyPr wrap="square" lIns="0" tIns="0" rIns="0" bIns="0" rtlCol="0" anchor="ctr"/>
          <a:lstStyle/>
          <a:p>
            <a:pPr marL="0" indent="0">
              <a:buNone/>
            </a:pPr>
            <a:r>
              <a:rPr lang="en-US" sz="1250" b="1" dirty="0">
                <a:solidFill>
                  <a:srgbClr val="0F2E42"/>
                </a:solidFill>
                <a:latin typeface="Calibri" pitchFamily="34" charset="0"/>
                <a:ea typeface="Calibri" pitchFamily="34" charset="-122"/>
                <a:cs typeface="Calibri" pitchFamily="34" charset="-120"/>
              </a:rPr>
              <a:t>Construcción</a:t>
            </a:r>
            <a:endParaRPr lang="en-US" sz="1250" dirty="0"/>
          </a:p>
        </p:txBody>
      </p:sp>
      <p:sp>
        <p:nvSpPr>
          <p:cNvPr id="21" name="Text 18"/>
          <p:cNvSpPr/>
          <p:nvPr/>
        </p:nvSpPr>
        <p:spPr>
          <a:xfrm>
            <a:off x="5239512" y="2432304"/>
            <a:ext cx="1755648" cy="502920"/>
          </a:xfrm>
          <a:prstGeom prst="rect">
            <a:avLst/>
          </a:prstGeom>
          <a:noFill/>
          <a:ln/>
        </p:spPr>
        <p:txBody>
          <a:bodyPr wrap="square" lIns="0" tIns="0" rIns="0" bIns="0" rtlCol="0" anchor="ctr"/>
          <a:lstStyle/>
          <a:p>
            <a:pPr marL="0" indent="0">
              <a:lnSpc>
                <a:spcPct val="110000"/>
              </a:lnSpc>
              <a:buNone/>
            </a:pPr>
            <a:r>
              <a:rPr lang="en-US" sz="950" dirty="0">
                <a:solidFill>
                  <a:srgbClr val="5A6B78"/>
                </a:solidFill>
                <a:latin typeface="Calibri" pitchFamily="34" charset="0"/>
                <a:ea typeface="Calibri" pitchFamily="34" charset="-122"/>
                <a:cs typeface="Calibri" pitchFamily="34" charset="-120"/>
              </a:rPr>
              <a:t>Módulos por incrementos, partiendo por el núcleo</a:t>
            </a:r>
            <a:endParaRPr lang="en-US" sz="950" dirty="0"/>
          </a:p>
        </p:txBody>
      </p:sp>
      <p:sp>
        <p:nvSpPr>
          <p:cNvPr id="22" name="Shape 19"/>
          <p:cNvSpPr/>
          <p:nvPr/>
        </p:nvSpPr>
        <p:spPr>
          <a:xfrm>
            <a:off x="7132320" y="2304288"/>
            <a:ext cx="182880" cy="0"/>
          </a:xfrm>
          <a:prstGeom prst="line">
            <a:avLst/>
          </a:prstGeom>
          <a:noFill/>
          <a:ln w="25400">
            <a:solidFill>
              <a:srgbClr val="D8E2E9"/>
            </a:solidFill>
            <a:prstDash val="solid"/>
            <a:tailEnd type="triangle"/>
          </a:ln>
        </p:spPr>
        <p:txBody>
          <a:bodyPr/>
          <a:lstStyle/>
          <a:p>
            <a:endParaRPr lang="es-CL"/>
          </a:p>
        </p:txBody>
      </p:sp>
      <p:sp>
        <p:nvSpPr>
          <p:cNvPr id="23" name="Shape 20"/>
          <p:cNvSpPr/>
          <p:nvPr/>
        </p:nvSpPr>
        <p:spPr>
          <a:xfrm>
            <a:off x="7333488" y="1600200"/>
            <a:ext cx="2011680" cy="1417320"/>
          </a:xfrm>
          <a:prstGeom prst="roundRect">
            <a:avLst>
              <a:gd name="adj" fmla="val 5161"/>
            </a:avLst>
          </a:prstGeom>
          <a:solidFill>
            <a:srgbClr val="F2F6F9"/>
          </a:solidFill>
          <a:ln w="12700">
            <a:solidFill>
              <a:srgbClr val="D8E2E9"/>
            </a:solidFill>
            <a:prstDash val="solid"/>
          </a:ln>
        </p:spPr>
        <p:txBody>
          <a:bodyPr/>
          <a:lstStyle/>
          <a:p>
            <a:endParaRPr lang="es-CL"/>
          </a:p>
        </p:txBody>
      </p:sp>
      <p:sp>
        <p:nvSpPr>
          <p:cNvPr id="24" name="Shape 21"/>
          <p:cNvSpPr/>
          <p:nvPr/>
        </p:nvSpPr>
        <p:spPr>
          <a:xfrm>
            <a:off x="7470648" y="1737360"/>
            <a:ext cx="329184" cy="329184"/>
          </a:xfrm>
          <a:prstGeom prst="ellipse">
            <a:avLst/>
          </a:prstGeom>
          <a:solidFill>
            <a:srgbClr val="16A394"/>
          </a:solidFill>
          <a:ln w="12700">
            <a:solidFill>
              <a:srgbClr val="16A394"/>
            </a:solidFill>
            <a:prstDash val="solid"/>
          </a:ln>
        </p:spPr>
        <p:txBody>
          <a:bodyPr/>
          <a:lstStyle/>
          <a:p>
            <a:endParaRPr lang="es-CL"/>
          </a:p>
        </p:txBody>
      </p:sp>
      <p:sp>
        <p:nvSpPr>
          <p:cNvPr id="25" name="Text 22"/>
          <p:cNvSpPr/>
          <p:nvPr/>
        </p:nvSpPr>
        <p:spPr>
          <a:xfrm>
            <a:off x="7470648" y="17373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3"/>
          <p:cNvSpPr/>
          <p:nvPr/>
        </p:nvSpPr>
        <p:spPr>
          <a:xfrm>
            <a:off x="7470648" y="2157984"/>
            <a:ext cx="1737360" cy="274320"/>
          </a:xfrm>
          <a:prstGeom prst="rect">
            <a:avLst/>
          </a:prstGeom>
          <a:noFill/>
          <a:ln/>
        </p:spPr>
        <p:txBody>
          <a:bodyPr wrap="square" lIns="0" tIns="0" rIns="0" bIns="0" rtlCol="0" anchor="ctr"/>
          <a:lstStyle/>
          <a:p>
            <a:pPr marL="0" indent="0">
              <a:buNone/>
            </a:pPr>
            <a:r>
              <a:rPr lang="en-US" sz="1250" b="1" dirty="0">
                <a:solidFill>
                  <a:srgbClr val="0F2E42"/>
                </a:solidFill>
                <a:latin typeface="Calibri" pitchFamily="34" charset="0"/>
                <a:ea typeface="Calibri" pitchFamily="34" charset="-122"/>
                <a:cs typeface="Calibri" pitchFamily="34" charset="-120"/>
              </a:rPr>
              <a:t>Pruebas</a:t>
            </a:r>
            <a:endParaRPr lang="en-US" sz="1250" dirty="0"/>
          </a:p>
        </p:txBody>
      </p:sp>
      <p:sp>
        <p:nvSpPr>
          <p:cNvPr id="27" name="Text 24"/>
          <p:cNvSpPr/>
          <p:nvPr/>
        </p:nvSpPr>
        <p:spPr>
          <a:xfrm>
            <a:off x="7470648" y="2432304"/>
            <a:ext cx="1755648" cy="502920"/>
          </a:xfrm>
          <a:prstGeom prst="rect">
            <a:avLst/>
          </a:prstGeom>
          <a:noFill/>
          <a:ln/>
        </p:spPr>
        <p:txBody>
          <a:bodyPr wrap="square" lIns="0" tIns="0" rIns="0" bIns="0" rtlCol="0" anchor="ctr"/>
          <a:lstStyle/>
          <a:p>
            <a:pPr marL="0" indent="0">
              <a:lnSpc>
                <a:spcPct val="110000"/>
              </a:lnSpc>
              <a:buNone/>
            </a:pPr>
            <a:r>
              <a:rPr lang="en-US" sz="950" dirty="0">
                <a:solidFill>
                  <a:srgbClr val="5A6B78"/>
                </a:solidFill>
                <a:latin typeface="Calibri" pitchFamily="34" charset="0"/>
                <a:ea typeface="Calibri" pitchFamily="34" charset="-122"/>
                <a:cs typeface="Calibri" pitchFamily="34" charset="-120"/>
              </a:rPr>
              <a:t>Plan de pruebas, hallazgos y mejoras</a:t>
            </a:r>
            <a:endParaRPr lang="en-US" sz="950" dirty="0"/>
          </a:p>
        </p:txBody>
      </p:sp>
      <p:sp>
        <p:nvSpPr>
          <p:cNvPr id="28" name="Shape 25"/>
          <p:cNvSpPr/>
          <p:nvPr/>
        </p:nvSpPr>
        <p:spPr>
          <a:xfrm>
            <a:off x="9363456" y="2304288"/>
            <a:ext cx="182880" cy="0"/>
          </a:xfrm>
          <a:prstGeom prst="line">
            <a:avLst/>
          </a:prstGeom>
          <a:noFill/>
          <a:ln w="25400">
            <a:solidFill>
              <a:srgbClr val="D8E2E9"/>
            </a:solidFill>
            <a:prstDash val="solid"/>
            <a:tailEnd type="triangle"/>
          </a:ln>
        </p:spPr>
        <p:txBody>
          <a:bodyPr/>
          <a:lstStyle/>
          <a:p>
            <a:endParaRPr lang="es-CL"/>
          </a:p>
        </p:txBody>
      </p:sp>
      <p:sp>
        <p:nvSpPr>
          <p:cNvPr id="29" name="Shape 26"/>
          <p:cNvSpPr/>
          <p:nvPr/>
        </p:nvSpPr>
        <p:spPr>
          <a:xfrm>
            <a:off x="9564624" y="1600200"/>
            <a:ext cx="2011680" cy="1417320"/>
          </a:xfrm>
          <a:prstGeom prst="roundRect">
            <a:avLst>
              <a:gd name="adj" fmla="val 5161"/>
            </a:avLst>
          </a:prstGeom>
          <a:solidFill>
            <a:srgbClr val="F2F6F9"/>
          </a:solidFill>
          <a:ln w="12700">
            <a:solidFill>
              <a:srgbClr val="D8E2E9"/>
            </a:solidFill>
            <a:prstDash val="solid"/>
          </a:ln>
        </p:spPr>
        <p:txBody>
          <a:bodyPr/>
          <a:lstStyle/>
          <a:p>
            <a:endParaRPr lang="es-CL"/>
          </a:p>
        </p:txBody>
      </p:sp>
      <p:sp>
        <p:nvSpPr>
          <p:cNvPr id="30" name="Shape 27"/>
          <p:cNvSpPr/>
          <p:nvPr/>
        </p:nvSpPr>
        <p:spPr>
          <a:xfrm>
            <a:off x="9701784" y="1737360"/>
            <a:ext cx="329184" cy="329184"/>
          </a:xfrm>
          <a:prstGeom prst="ellipse">
            <a:avLst/>
          </a:prstGeom>
          <a:solidFill>
            <a:srgbClr val="16A394"/>
          </a:solidFill>
          <a:ln w="12700">
            <a:solidFill>
              <a:srgbClr val="16A394"/>
            </a:solidFill>
            <a:prstDash val="solid"/>
          </a:ln>
        </p:spPr>
        <p:txBody>
          <a:bodyPr/>
          <a:lstStyle/>
          <a:p>
            <a:endParaRPr lang="es-CL"/>
          </a:p>
        </p:txBody>
      </p:sp>
      <p:sp>
        <p:nvSpPr>
          <p:cNvPr id="31" name="Text 28"/>
          <p:cNvSpPr/>
          <p:nvPr/>
        </p:nvSpPr>
        <p:spPr>
          <a:xfrm>
            <a:off x="9701784" y="17373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2" name="Text 29"/>
          <p:cNvSpPr/>
          <p:nvPr/>
        </p:nvSpPr>
        <p:spPr>
          <a:xfrm>
            <a:off x="9701784" y="2157984"/>
            <a:ext cx="1737360" cy="274320"/>
          </a:xfrm>
          <a:prstGeom prst="rect">
            <a:avLst/>
          </a:prstGeom>
          <a:noFill/>
          <a:ln/>
        </p:spPr>
        <p:txBody>
          <a:bodyPr wrap="square" lIns="0" tIns="0" rIns="0" bIns="0" rtlCol="0" anchor="ctr"/>
          <a:lstStyle/>
          <a:p>
            <a:pPr marL="0" indent="0">
              <a:buNone/>
            </a:pPr>
            <a:r>
              <a:rPr lang="en-US" sz="1250" b="1" dirty="0">
                <a:solidFill>
                  <a:srgbClr val="0F2E42"/>
                </a:solidFill>
                <a:latin typeface="Calibri" pitchFamily="34" charset="0"/>
                <a:ea typeface="Calibri" pitchFamily="34" charset="-122"/>
                <a:cs typeface="Calibri" pitchFamily="34" charset="-120"/>
              </a:rPr>
              <a:t>Implantación</a:t>
            </a:r>
            <a:endParaRPr lang="en-US" sz="1250" dirty="0"/>
          </a:p>
        </p:txBody>
      </p:sp>
      <p:sp>
        <p:nvSpPr>
          <p:cNvPr id="33" name="Text 30"/>
          <p:cNvSpPr/>
          <p:nvPr/>
        </p:nvSpPr>
        <p:spPr>
          <a:xfrm>
            <a:off x="9701784" y="2432304"/>
            <a:ext cx="1755648" cy="502920"/>
          </a:xfrm>
          <a:prstGeom prst="rect">
            <a:avLst/>
          </a:prstGeom>
          <a:noFill/>
          <a:ln/>
        </p:spPr>
        <p:txBody>
          <a:bodyPr wrap="square" lIns="0" tIns="0" rIns="0" bIns="0" rtlCol="0" anchor="ctr"/>
          <a:lstStyle/>
          <a:p>
            <a:pPr marL="0" indent="0">
              <a:lnSpc>
                <a:spcPct val="110000"/>
              </a:lnSpc>
              <a:buNone/>
            </a:pPr>
            <a:r>
              <a:rPr lang="en-US" sz="950" dirty="0">
                <a:solidFill>
                  <a:srgbClr val="5A6B78"/>
                </a:solidFill>
                <a:latin typeface="Calibri" pitchFamily="34" charset="0"/>
                <a:ea typeface="Calibri" pitchFamily="34" charset="-122"/>
                <a:cs typeface="Calibri" pitchFamily="34" charset="-120"/>
              </a:rPr>
              <a:t>Despliegue, manuales y cierre</a:t>
            </a:r>
            <a:endParaRPr lang="en-US" sz="950" dirty="0"/>
          </a:p>
        </p:txBody>
      </p:sp>
      <p:sp>
        <p:nvSpPr>
          <p:cNvPr id="34" name="Text 31"/>
          <p:cNvSpPr/>
          <p:nvPr/>
        </p:nvSpPr>
        <p:spPr>
          <a:xfrm>
            <a:off x="640080" y="3291840"/>
            <a:ext cx="5486400" cy="320040"/>
          </a:xfrm>
          <a:prstGeom prst="rect">
            <a:avLst/>
          </a:prstGeom>
          <a:noFill/>
          <a:ln/>
        </p:spPr>
        <p:txBody>
          <a:bodyPr wrap="square" lIns="0" tIns="0" rIns="0" bIns="0" rtlCol="0" anchor="ctr"/>
          <a:lstStyle/>
          <a:p>
            <a:pPr marL="0" indent="0">
              <a:buNone/>
            </a:pPr>
            <a:r>
              <a:rPr lang="en-US" sz="1700" b="1" dirty="0">
                <a:solidFill>
                  <a:srgbClr val="0F2E42"/>
                </a:solidFill>
                <a:latin typeface="Calibri" pitchFamily="34" charset="0"/>
                <a:ea typeface="Calibri" pitchFamily="34" charset="-122"/>
                <a:cs typeface="Calibri" pitchFamily="34" charset="-120"/>
              </a:rPr>
              <a:t>Distribución de responsabilidades</a:t>
            </a:r>
            <a:endParaRPr lang="en-US" sz="1700" dirty="0"/>
          </a:p>
        </p:txBody>
      </p:sp>
      <p:sp>
        <p:nvSpPr>
          <p:cNvPr id="35" name="Shape 32"/>
          <p:cNvSpPr/>
          <p:nvPr/>
        </p:nvSpPr>
        <p:spPr>
          <a:xfrm>
            <a:off x="640080" y="3749040"/>
            <a:ext cx="3429000" cy="2148840"/>
          </a:xfrm>
          <a:prstGeom prst="roundRect">
            <a:avLst>
              <a:gd name="adj" fmla="val 3404"/>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36" name="Shape 33"/>
          <p:cNvSpPr/>
          <p:nvPr/>
        </p:nvSpPr>
        <p:spPr>
          <a:xfrm>
            <a:off x="896112" y="3977640"/>
            <a:ext cx="1234440" cy="274320"/>
          </a:xfrm>
          <a:prstGeom prst="roundRect">
            <a:avLst>
              <a:gd name="adj" fmla="val 50000"/>
            </a:avLst>
          </a:prstGeom>
          <a:solidFill>
            <a:srgbClr val="2E7FB8"/>
          </a:solidFill>
          <a:ln w="12700">
            <a:solidFill>
              <a:srgbClr val="2E7FB8"/>
            </a:solidFill>
            <a:prstDash val="solid"/>
          </a:ln>
        </p:spPr>
        <p:txBody>
          <a:bodyPr/>
          <a:lstStyle/>
          <a:p>
            <a:endParaRPr lang="es-CL"/>
          </a:p>
        </p:txBody>
      </p:sp>
      <p:sp>
        <p:nvSpPr>
          <p:cNvPr id="37" name="Text 34"/>
          <p:cNvSpPr/>
          <p:nvPr/>
        </p:nvSpPr>
        <p:spPr>
          <a:xfrm>
            <a:off x="896112" y="3977640"/>
            <a:ext cx="123444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Integrante 1</a:t>
            </a:r>
            <a:endParaRPr lang="en-US" sz="950" dirty="0"/>
          </a:p>
        </p:txBody>
      </p:sp>
      <p:sp>
        <p:nvSpPr>
          <p:cNvPr id="38" name="Text 35"/>
          <p:cNvSpPr/>
          <p:nvPr/>
        </p:nvSpPr>
        <p:spPr>
          <a:xfrm>
            <a:off x="896112" y="4370832"/>
            <a:ext cx="2926080" cy="548640"/>
          </a:xfrm>
          <a:prstGeom prst="rect">
            <a:avLst/>
          </a:prstGeom>
          <a:noFill/>
          <a:ln/>
        </p:spPr>
        <p:txBody>
          <a:bodyPr wrap="square" lIns="0" tIns="0" rIns="0" bIns="0" rtlCol="0" anchor="ctr"/>
          <a:lstStyle/>
          <a:p>
            <a:pPr marL="0" indent="0">
              <a:lnSpc>
                <a:spcPct val="105000"/>
              </a:lnSpc>
              <a:buNone/>
            </a:pPr>
            <a:r>
              <a:rPr lang="en-US" sz="1300" b="1" dirty="0">
                <a:solidFill>
                  <a:srgbClr val="0F2E42"/>
                </a:solidFill>
                <a:latin typeface="Calibri" pitchFamily="34" charset="0"/>
                <a:ea typeface="Calibri" pitchFamily="34" charset="-122"/>
                <a:cs typeface="Calibri" pitchFamily="34" charset="-120"/>
              </a:rPr>
              <a:t>Jefatura de proyecto y núcleo funcional</a:t>
            </a:r>
            <a:endParaRPr lang="en-US" sz="1300" dirty="0"/>
          </a:p>
        </p:txBody>
      </p:sp>
      <p:sp>
        <p:nvSpPr>
          <p:cNvPr id="39" name="Text 36"/>
          <p:cNvSpPr/>
          <p:nvPr/>
        </p:nvSpPr>
        <p:spPr>
          <a:xfrm>
            <a:off x="896112" y="4956048"/>
            <a:ext cx="2926080" cy="822960"/>
          </a:xfrm>
          <a:prstGeom prst="rect">
            <a:avLst/>
          </a:prstGeom>
          <a:noFill/>
          <a:ln/>
        </p:spPr>
        <p:txBody>
          <a:bodyPr wrap="square" lIns="0" tIns="0" rIns="0" bIns="0" rtlCol="0" anchor="ctr"/>
          <a:lstStyle/>
          <a:p>
            <a:pPr marL="0" indent="0">
              <a:lnSpc>
                <a:spcPct val="115000"/>
              </a:lnSpc>
              <a:buNone/>
            </a:pPr>
            <a:r>
              <a:rPr lang="en-US" sz="1050" dirty="0">
                <a:solidFill>
                  <a:srgbClr val="5A6B78"/>
                </a:solidFill>
                <a:latin typeface="Calibri" pitchFamily="34" charset="0"/>
                <a:ea typeface="Calibri" pitchFamily="34" charset="-122"/>
                <a:cs typeface="Calibri" pitchFamily="34" charset="-120"/>
              </a:rPr>
              <a:t>Planificación y control del avance, módulos de pedidos y rutas, consolidación de informes.</a:t>
            </a:r>
            <a:endParaRPr lang="en-US" sz="1050" dirty="0"/>
          </a:p>
        </p:txBody>
      </p:sp>
      <p:sp>
        <p:nvSpPr>
          <p:cNvPr id="40" name="Shape 37"/>
          <p:cNvSpPr/>
          <p:nvPr/>
        </p:nvSpPr>
        <p:spPr>
          <a:xfrm>
            <a:off x="4343400" y="3749040"/>
            <a:ext cx="3429000" cy="2148840"/>
          </a:xfrm>
          <a:prstGeom prst="roundRect">
            <a:avLst>
              <a:gd name="adj" fmla="val 3404"/>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41" name="Shape 38"/>
          <p:cNvSpPr/>
          <p:nvPr/>
        </p:nvSpPr>
        <p:spPr>
          <a:xfrm>
            <a:off x="4599432" y="3977640"/>
            <a:ext cx="1234440" cy="274320"/>
          </a:xfrm>
          <a:prstGeom prst="roundRect">
            <a:avLst>
              <a:gd name="adj" fmla="val 50000"/>
            </a:avLst>
          </a:prstGeom>
          <a:solidFill>
            <a:srgbClr val="16A394"/>
          </a:solidFill>
          <a:ln w="12700">
            <a:solidFill>
              <a:srgbClr val="16A394"/>
            </a:solidFill>
            <a:prstDash val="solid"/>
          </a:ln>
        </p:spPr>
        <p:txBody>
          <a:bodyPr/>
          <a:lstStyle/>
          <a:p>
            <a:endParaRPr lang="es-CL"/>
          </a:p>
        </p:txBody>
      </p:sp>
      <p:sp>
        <p:nvSpPr>
          <p:cNvPr id="42" name="Text 39"/>
          <p:cNvSpPr/>
          <p:nvPr/>
        </p:nvSpPr>
        <p:spPr>
          <a:xfrm>
            <a:off x="4599432" y="3977640"/>
            <a:ext cx="123444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Integrante 2</a:t>
            </a:r>
            <a:endParaRPr lang="en-US" sz="950" dirty="0"/>
          </a:p>
        </p:txBody>
      </p:sp>
      <p:sp>
        <p:nvSpPr>
          <p:cNvPr id="43" name="Text 40"/>
          <p:cNvSpPr/>
          <p:nvPr/>
        </p:nvSpPr>
        <p:spPr>
          <a:xfrm>
            <a:off x="4599432" y="4370832"/>
            <a:ext cx="2926080" cy="548640"/>
          </a:xfrm>
          <a:prstGeom prst="rect">
            <a:avLst/>
          </a:prstGeom>
          <a:noFill/>
          <a:ln/>
        </p:spPr>
        <p:txBody>
          <a:bodyPr wrap="square" lIns="0" tIns="0" rIns="0" bIns="0" rtlCol="0" anchor="ctr"/>
          <a:lstStyle/>
          <a:p>
            <a:pPr marL="0" indent="0">
              <a:lnSpc>
                <a:spcPct val="105000"/>
              </a:lnSpc>
              <a:buNone/>
            </a:pPr>
            <a:r>
              <a:rPr lang="en-US" sz="1300" b="1" dirty="0">
                <a:solidFill>
                  <a:srgbClr val="0F2E42"/>
                </a:solidFill>
                <a:latin typeface="Calibri" pitchFamily="34" charset="0"/>
                <a:ea typeface="Calibri" pitchFamily="34" charset="-122"/>
                <a:cs typeface="Calibri" pitchFamily="34" charset="-120"/>
              </a:rPr>
              <a:t>Modelamiento de datos y módulos de soporte</a:t>
            </a:r>
            <a:endParaRPr lang="en-US" sz="1300" dirty="0"/>
          </a:p>
        </p:txBody>
      </p:sp>
      <p:sp>
        <p:nvSpPr>
          <p:cNvPr id="44" name="Text 41"/>
          <p:cNvSpPr/>
          <p:nvPr/>
        </p:nvSpPr>
        <p:spPr>
          <a:xfrm>
            <a:off x="4599432" y="4956048"/>
            <a:ext cx="2926080" cy="822960"/>
          </a:xfrm>
          <a:prstGeom prst="rect">
            <a:avLst/>
          </a:prstGeom>
          <a:noFill/>
          <a:ln/>
        </p:spPr>
        <p:txBody>
          <a:bodyPr wrap="square" lIns="0" tIns="0" rIns="0" bIns="0" rtlCol="0" anchor="ctr"/>
          <a:lstStyle/>
          <a:p>
            <a:pPr marL="0" indent="0">
              <a:lnSpc>
                <a:spcPct val="115000"/>
              </a:lnSpc>
              <a:buNone/>
            </a:pPr>
            <a:r>
              <a:rPr lang="en-US" sz="1050" dirty="0">
                <a:solidFill>
                  <a:srgbClr val="5A6B78"/>
                </a:solidFill>
                <a:latin typeface="Calibri" pitchFamily="34" charset="0"/>
                <a:ea typeface="Calibri" pitchFamily="34" charset="-122"/>
                <a:cs typeface="Calibri" pitchFamily="34" charset="-120"/>
              </a:rPr>
              <a:t>Modelo y diccionario de datos, módulos documental y de mantenimiento, control de versiones.</a:t>
            </a:r>
            <a:endParaRPr lang="en-US" sz="1050" dirty="0"/>
          </a:p>
        </p:txBody>
      </p:sp>
      <p:sp>
        <p:nvSpPr>
          <p:cNvPr id="45" name="Shape 42"/>
          <p:cNvSpPr/>
          <p:nvPr/>
        </p:nvSpPr>
        <p:spPr>
          <a:xfrm>
            <a:off x="8046720" y="3749040"/>
            <a:ext cx="3429000" cy="2148840"/>
          </a:xfrm>
          <a:prstGeom prst="roundRect">
            <a:avLst>
              <a:gd name="adj" fmla="val 3404"/>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46" name="Shape 43"/>
          <p:cNvSpPr/>
          <p:nvPr/>
        </p:nvSpPr>
        <p:spPr>
          <a:xfrm>
            <a:off x="8302752" y="3977640"/>
            <a:ext cx="1234440" cy="274320"/>
          </a:xfrm>
          <a:prstGeom prst="roundRect">
            <a:avLst>
              <a:gd name="adj" fmla="val 50000"/>
            </a:avLst>
          </a:prstGeom>
          <a:solidFill>
            <a:srgbClr val="2E7FB8"/>
          </a:solidFill>
          <a:ln w="12700">
            <a:solidFill>
              <a:srgbClr val="2E7FB8"/>
            </a:solidFill>
            <a:prstDash val="solid"/>
          </a:ln>
        </p:spPr>
        <p:txBody>
          <a:bodyPr/>
          <a:lstStyle/>
          <a:p>
            <a:endParaRPr lang="es-CL"/>
          </a:p>
        </p:txBody>
      </p:sp>
      <p:sp>
        <p:nvSpPr>
          <p:cNvPr id="47" name="Text 44"/>
          <p:cNvSpPr/>
          <p:nvPr/>
        </p:nvSpPr>
        <p:spPr>
          <a:xfrm>
            <a:off x="8302752" y="3977640"/>
            <a:ext cx="123444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Integrante 3</a:t>
            </a:r>
            <a:endParaRPr lang="en-US" sz="950" dirty="0"/>
          </a:p>
        </p:txBody>
      </p:sp>
      <p:sp>
        <p:nvSpPr>
          <p:cNvPr id="48" name="Text 45"/>
          <p:cNvSpPr/>
          <p:nvPr/>
        </p:nvSpPr>
        <p:spPr>
          <a:xfrm>
            <a:off x="8302752" y="4370832"/>
            <a:ext cx="2926080" cy="548640"/>
          </a:xfrm>
          <a:prstGeom prst="rect">
            <a:avLst/>
          </a:prstGeom>
          <a:noFill/>
          <a:ln/>
        </p:spPr>
        <p:txBody>
          <a:bodyPr wrap="square" lIns="0" tIns="0" rIns="0" bIns="0" rtlCol="0" anchor="ctr"/>
          <a:lstStyle/>
          <a:p>
            <a:pPr marL="0" indent="0">
              <a:lnSpc>
                <a:spcPct val="105000"/>
              </a:lnSpc>
              <a:buNone/>
            </a:pPr>
            <a:r>
              <a:rPr lang="en-US" sz="1300" b="1" dirty="0">
                <a:solidFill>
                  <a:srgbClr val="0F2E42"/>
                </a:solidFill>
                <a:latin typeface="Calibri" pitchFamily="34" charset="0"/>
                <a:ea typeface="Calibri" pitchFamily="34" charset="-122"/>
                <a:cs typeface="Calibri" pitchFamily="34" charset="-120"/>
              </a:rPr>
              <a:t>Calidad y componente de innovación</a:t>
            </a:r>
            <a:endParaRPr lang="en-US" sz="1300" dirty="0"/>
          </a:p>
        </p:txBody>
      </p:sp>
      <p:sp>
        <p:nvSpPr>
          <p:cNvPr id="49" name="Text 46"/>
          <p:cNvSpPr/>
          <p:nvPr/>
        </p:nvSpPr>
        <p:spPr>
          <a:xfrm>
            <a:off x="8302752" y="4956048"/>
            <a:ext cx="2926080" cy="822960"/>
          </a:xfrm>
          <a:prstGeom prst="rect">
            <a:avLst/>
          </a:prstGeom>
          <a:noFill/>
          <a:ln/>
        </p:spPr>
        <p:txBody>
          <a:bodyPr wrap="square" lIns="0" tIns="0" rIns="0" bIns="0" rtlCol="0" anchor="ctr"/>
          <a:lstStyle/>
          <a:p>
            <a:pPr marL="0" indent="0">
              <a:lnSpc>
                <a:spcPct val="115000"/>
              </a:lnSpc>
              <a:buNone/>
            </a:pPr>
            <a:r>
              <a:rPr lang="en-US" sz="1050" dirty="0">
                <a:solidFill>
                  <a:srgbClr val="5A6B78"/>
                </a:solidFill>
                <a:latin typeface="Calibri" pitchFamily="34" charset="0"/>
                <a:ea typeface="Calibri" pitchFamily="34" charset="-122"/>
                <a:cs typeface="Calibri" pitchFamily="34" charset="-120"/>
              </a:rPr>
              <a:t>Plan de pruebas, módulo de facturación, tablero de indicadores y manual de usuario.</a:t>
            </a:r>
            <a:endParaRPr lang="en-US" sz="1050" dirty="0"/>
          </a:p>
        </p:txBody>
      </p:sp>
      <p:sp>
        <p:nvSpPr>
          <p:cNvPr id="50" name="Text 47"/>
          <p:cNvSpPr/>
          <p:nvPr/>
        </p:nvSpPr>
        <p:spPr>
          <a:xfrm>
            <a:off x="640080" y="6035040"/>
            <a:ext cx="10607040" cy="320040"/>
          </a:xfrm>
          <a:prstGeom prst="rect">
            <a:avLst/>
          </a:prstGeom>
          <a:noFill/>
          <a:ln/>
        </p:spPr>
        <p:txBody>
          <a:bodyPr wrap="square" lIns="0" tIns="0" rIns="0" bIns="0" rtlCol="0" anchor="ctr"/>
          <a:lstStyle/>
          <a:p>
            <a:pPr marL="0" indent="0">
              <a:buNone/>
            </a:pPr>
            <a:r>
              <a:rPr lang="en-US" sz="1050" i="1" dirty="0">
                <a:solidFill>
                  <a:srgbClr val="5A6B78"/>
                </a:solidFill>
                <a:latin typeface="Calibri" pitchFamily="34" charset="0"/>
                <a:ea typeface="Calibri" pitchFamily="34" charset="-122"/>
                <a:cs typeface="Calibri" pitchFamily="34" charset="-120"/>
              </a:rPr>
              <a:t>Las responsabilidades son complementarias: la construcción es colaborativa sobre un repositorio compartido y cada integrante revisa el trabajo de los demás antes de integrar.</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548640"/>
          </a:xfrm>
          <a:prstGeom prst="rect">
            <a:avLst/>
          </a:prstGeom>
          <a:noFill/>
          <a:ln/>
        </p:spPr>
        <p:txBody>
          <a:bodyPr wrap="square" lIns="0" tIns="0" rIns="0" bIns="0" rtlCol="0" anchor="ctr"/>
          <a:lstStyle/>
          <a:p>
            <a:pPr marL="0" indent="0">
              <a:buNone/>
            </a:pPr>
            <a:r>
              <a:rPr lang="en-US" sz="3000" b="1" dirty="0">
                <a:solidFill>
                  <a:srgbClr val="0F2E42"/>
                </a:solidFill>
                <a:latin typeface="Calibri" pitchFamily="34" charset="0"/>
                <a:ea typeface="Calibri" pitchFamily="34" charset="-122"/>
                <a:cs typeface="Calibri" pitchFamily="34" charset="-120"/>
              </a:rPr>
              <a:t>Plan de trabajo</a:t>
            </a:r>
            <a:endParaRPr lang="en-US" sz="3000" dirty="0"/>
          </a:p>
        </p:txBody>
      </p:sp>
      <p:sp>
        <p:nvSpPr>
          <p:cNvPr id="3" name="Text 1"/>
          <p:cNvSpPr/>
          <p:nvPr/>
        </p:nvSpPr>
        <p:spPr>
          <a:xfrm>
            <a:off x="640080" y="932688"/>
            <a:ext cx="10881360" cy="36576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Quince actividades distribuidas en las dieciocho semanas del semestre</a:t>
            </a:r>
            <a:endParaRPr lang="en-US" sz="1500" dirty="0"/>
          </a:p>
        </p:txBody>
      </p:sp>
      <p:pic>
        <p:nvPicPr>
          <p:cNvPr id="4" name="Image 0" descr="/mnt/user-data/outputs/logo/vialnex-isotipo-512.png"/>
          <p:cNvPicPr>
            <a:picLocks noChangeAspect="1"/>
          </p:cNvPicPr>
          <p:nvPr/>
        </p:nvPicPr>
        <p:blipFill>
          <a:blip r:embed="rId3"/>
          <a:stretch>
            <a:fillRect/>
          </a:stretch>
        </p:blipFill>
        <p:spPr>
          <a:xfrm>
            <a:off x="11475720" y="6172200"/>
            <a:ext cx="384048" cy="384048"/>
          </a:xfrm>
          <a:prstGeom prst="rect">
            <a:avLst/>
          </a:prstGeom>
        </p:spPr>
      </p:pic>
      <p:sp>
        <p:nvSpPr>
          <p:cNvPr id="5" name="Shape 2"/>
          <p:cNvSpPr/>
          <p:nvPr/>
        </p:nvSpPr>
        <p:spPr>
          <a:xfrm>
            <a:off x="3246120" y="1572768"/>
            <a:ext cx="1828800" cy="384048"/>
          </a:xfrm>
          <a:prstGeom prst="roundRect">
            <a:avLst>
              <a:gd name="adj" fmla="val 14286"/>
            </a:avLst>
          </a:prstGeom>
          <a:solidFill>
            <a:srgbClr val="2E7FB8"/>
          </a:solidFill>
          <a:ln w="12700">
            <a:solidFill>
              <a:srgbClr val="2E7FB8"/>
            </a:solidFill>
            <a:prstDash val="solid"/>
          </a:ln>
        </p:spPr>
        <p:txBody>
          <a:bodyPr/>
          <a:lstStyle/>
          <a:p>
            <a:endParaRPr lang="es-CL"/>
          </a:p>
        </p:txBody>
      </p:sp>
      <p:sp>
        <p:nvSpPr>
          <p:cNvPr id="6" name="Text 3"/>
          <p:cNvSpPr/>
          <p:nvPr/>
        </p:nvSpPr>
        <p:spPr>
          <a:xfrm>
            <a:off x="3246120" y="1572768"/>
            <a:ext cx="182880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Fase 1 · S1 – S4</a:t>
            </a:r>
            <a:endParaRPr lang="en-US" sz="1050" dirty="0"/>
          </a:p>
        </p:txBody>
      </p:sp>
      <p:sp>
        <p:nvSpPr>
          <p:cNvPr id="7" name="Shape 4"/>
          <p:cNvSpPr/>
          <p:nvPr/>
        </p:nvSpPr>
        <p:spPr>
          <a:xfrm>
            <a:off x="5074920" y="1572768"/>
            <a:ext cx="5486400" cy="384048"/>
          </a:xfrm>
          <a:prstGeom prst="roundRect">
            <a:avLst>
              <a:gd name="adj" fmla="val 14286"/>
            </a:avLst>
          </a:prstGeom>
          <a:solidFill>
            <a:srgbClr val="16A394"/>
          </a:solidFill>
          <a:ln w="12700">
            <a:solidFill>
              <a:srgbClr val="16A394"/>
            </a:solidFill>
            <a:prstDash val="solid"/>
          </a:ln>
        </p:spPr>
        <p:txBody>
          <a:bodyPr/>
          <a:lstStyle/>
          <a:p>
            <a:endParaRPr lang="es-CL"/>
          </a:p>
        </p:txBody>
      </p:sp>
      <p:sp>
        <p:nvSpPr>
          <p:cNvPr id="8" name="Text 5"/>
          <p:cNvSpPr/>
          <p:nvPr/>
        </p:nvSpPr>
        <p:spPr>
          <a:xfrm>
            <a:off x="5074920" y="1572768"/>
            <a:ext cx="548640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Fase 2 · S5 – S16</a:t>
            </a:r>
            <a:endParaRPr lang="en-US" sz="1050" dirty="0"/>
          </a:p>
        </p:txBody>
      </p:sp>
      <p:sp>
        <p:nvSpPr>
          <p:cNvPr id="9" name="Shape 6"/>
          <p:cNvSpPr/>
          <p:nvPr/>
        </p:nvSpPr>
        <p:spPr>
          <a:xfrm>
            <a:off x="10561320" y="1572768"/>
            <a:ext cx="914400" cy="384048"/>
          </a:xfrm>
          <a:prstGeom prst="roundRect">
            <a:avLst>
              <a:gd name="adj" fmla="val 14286"/>
            </a:avLst>
          </a:prstGeom>
          <a:solidFill>
            <a:srgbClr val="2E7FB8"/>
          </a:solidFill>
          <a:ln w="12700">
            <a:solidFill>
              <a:srgbClr val="2E7FB8"/>
            </a:solidFill>
            <a:prstDash val="solid"/>
          </a:ln>
        </p:spPr>
        <p:txBody>
          <a:bodyPr/>
          <a:lstStyle/>
          <a:p>
            <a:endParaRPr lang="es-CL"/>
          </a:p>
        </p:txBody>
      </p:sp>
      <p:sp>
        <p:nvSpPr>
          <p:cNvPr id="10" name="Text 7"/>
          <p:cNvSpPr/>
          <p:nvPr/>
        </p:nvSpPr>
        <p:spPr>
          <a:xfrm>
            <a:off x="10561320" y="1572768"/>
            <a:ext cx="91440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Fase 3</a:t>
            </a:r>
            <a:endParaRPr lang="en-US" sz="1050" dirty="0"/>
          </a:p>
        </p:txBody>
      </p:sp>
      <p:sp>
        <p:nvSpPr>
          <p:cNvPr id="11" name="Text 8"/>
          <p:cNvSpPr/>
          <p:nvPr/>
        </p:nvSpPr>
        <p:spPr>
          <a:xfrm>
            <a:off x="685800" y="2039112"/>
            <a:ext cx="2468880" cy="201168"/>
          </a:xfrm>
          <a:prstGeom prst="rect">
            <a:avLst/>
          </a:prstGeom>
          <a:noFill/>
          <a:ln/>
        </p:spPr>
        <p:txBody>
          <a:bodyPr wrap="square" lIns="0" tIns="0" rIns="0" bIns="0" rtlCol="0" anchor="ctr"/>
          <a:lstStyle/>
          <a:p>
            <a:pPr marL="0" indent="0">
              <a:buNone/>
            </a:pPr>
            <a:r>
              <a:rPr lang="en-US" sz="800" b="1" dirty="0">
                <a:solidFill>
                  <a:srgbClr val="5A6B78"/>
                </a:solidFill>
                <a:latin typeface="Calibri" pitchFamily="34" charset="0"/>
                <a:ea typeface="Calibri" pitchFamily="34" charset="-122"/>
                <a:cs typeface="Calibri" pitchFamily="34" charset="-120"/>
              </a:rPr>
              <a:t>Actividad</a:t>
            </a:r>
            <a:endParaRPr lang="en-US" sz="800" dirty="0"/>
          </a:p>
        </p:txBody>
      </p:sp>
      <p:sp>
        <p:nvSpPr>
          <p:cNvPr id="12" name="Text 9"/>
          <p:cNvSpPr/>
          <p:nvPr/>
        </p:nvSpPr>
        <p:spPr>
          <a:xfrm>
            <a:off x="3246120" y="2039112"/>
            <a:ext cx="457200" cy="201168"/>
          </a:xfrm>
          <a:prstGeom prst="rect">
            <a:avLst/>
          </a:prstGeom>
          <a:noFill/>
          <a:ln/>
        </p:spPr>
        <p:txBody>
          <a:bodyPr wrap="square" lIns="0" tIns="0" rIns="0" bIns="0" rtlCol="0" anchor="ctr"/>
          <a:lstStyle/>
          <a:p>
            <a:pPr marL="0" indent="0" algn="ctr">
              <a:buNone/>
            </a:pPr>
            <a:r>
              <a:rPr lang="en-US" sz="700" dirty="0">
                <a:solidFill>
                  <a:srgbClr val="5A6B78"/>
                </a:solidFill>
                <a:latin typeface="Calibri" pitchFamily="34" charset="0"/>
                <a:ea typeface="Calibri" pitchFamily="34" charset="-122"/>
                <a:cs typeface="Calibri" pitchFamily="34" charset="-120"/>
              </a:rPr>
              <a:t>S1</a:t>
            </a:r>
            <a:endParaRPr lang="en-US" sz="700" dirty="0"/>
          </a:p>
        </p:txBody>
      </p:sp>
      <p:sp>
        <p:nvSpPr>
          <p:cNvPr id="13" name="Text 10"/>
          <p:cNvSpPr/>
          <p:nvPr/>
        </p:nvSpPr>
        <p:spPr>
          <a:xfrm>
            <a:off x="3703320" y="2039112"/>
            <a:ext cx="457200" cy="201168"/>
          </a:xfrm>
          <a:prstGeom prst="rect">
            <a:avLst/>
          </a:prstGeom>
          <a:noFill/>
          <a:ln/>
        </p:spPr>
        <p:txBody>
          <a:bodyPr wrap="square" lIns="0" tIns="0" rIns="0" bIns="0" rtlCol="0" anchor="ctr"/>
          <a:lstStyle/>
          <a:p>
            <a:pPr marL="0" indent="0" algn="ctr">
              <a:buNone/>
            </a:pPr>
            <a:r>
              <a:rPr lang="en-US" sz="700" dirty="0">
                <a:solidFill>
                  <a:srgbClr val="5A6B78"/>
                </a:solidFill>
                <a:latin typeface="Calibri" pitchFamily="34" charset="0"/>
                <a:ea typeface="Calibri" pitchFamily="34" charset="-122"/>
                <a:cs typeface="Calibri" pitchFamily="34" charset="-120"/>
              </a:rPr>
              <a:t>S2</a:t>
            </a:r>
            <a:endParaRPr lang="en-US" sz="700" dirty="0"/>
          </a:p>
        </p:txBody>
      </p:sp>
      <p:sp>
        <p:nvSpPr>
          <p:cNvPr id="14" name="Text 11"/>
          <p:cNvSpPr/>
          <p:nvPr/>
        </p:nvSpPr>
        <p:spPr>
          <a:xfrm>
            <a:off x="4160520" y="2039112"/>
            <a:ext cx="457200" cy="201168"/>
          </a:xfrm>
          <a:prstGeom prst="rect">
            <a:avLst/>
          </a:prstGeom>
          <a:noFill/>
          <a:ln/>
        </p:spPr>
        <p:txBody>
          <a:bodyPr wrap="square" lIns="0" tIns="0" rIns="0" bIns="0" rtlCol="0" anchor="ctr"/>
          <a:lstStyle/>
          <a:p>
            <a:pPr marL="0" indent="0" algn="ctr">
              <a:buNone/>
            </a:pPr>
            <a:r>
              <a:rPr lang="en-US" sz="700" dirty="0">
                <a:solidFill>
                  <a:srgbClr val="5A6B78"/>
                </a:solidFill>
                <a:latin typeface="Calibri" pitchFamily="34" charset="0"/>
                <a:ea typeface="Calibri" pitchFamily="34" charset="-122"/>
                <a:cs typeface="Calibri" pitchFamily="34" charset="-120"/>
              </a:rPr>
              <a:t>S3</a:t>
            </a:r>
            <a:endParaRPr lang="en-US" sz="700" dirty="0"/>
          </a:p>
        </p:txBody>
      </p:sp>
      <p:sp>
        <p:nvSpPr>
          <p:cNvPr id="15" name="Text 12"/>
          <p:cNvSpPr/>
          <p:nvPr/>
        </p:nvSpPr>
        <p:spPr>
          <a:xfrm>
            <a:off x="4617720" y="2039112"/>
            <a:ext cx="457200" cy="201168"/>
          </a:xfrm>
          <a:prstGeom prst="rect">
            <a:avLst/>
          </a:prstGeom>
          <a:noFill/>
          <a:ln/>
        </p:spPr>
        <p:txBody>
          <a:bodyPr wrap="square" lIns="0" tIns="0" rIns="0" bIns="0" rtlCol="0" anchor="ctr"/>
          <a:lstStyle/>
          <a:p>
            <a:pPr marL="0" indent="0" algn="ctr">
              <a:buNone/>
            </a:pPr>
            <a:r>
              <a:rPr lang="en-US" sz="700" dirty="0">
                <a:solidFill>
                  <a:srgbClr val="5A6B78"/>
                </a:solidFill>
                <a:latin typeface="Calibri" pitchFamily="34" charset="0"/>
                <a:ea typeface="Calibri" pitchFamily="34" charset="-122"/>
                <a:cs typeface="Calibri" pitchFamily="34" charset="-120"/>
              </a:rPr>
              <a:t>S4</a:t>
            </a:r>
            <a:endParaRPr lang="en-US" sz="700" dirty="0"/>
          </a:p>
        </p:txBody>
      </p:sp>
      <p:sp>
        <p:nvSpPr>
          <p:cNvPr id="16" name="Text 13"/>
          <p:cNvSpPr/>
          <p:nvPr/>
        </p:nvSpPr>
        <p:spPr>
          <a:xfrm>
            <a:off x="5074920" y="2039112"/>
            <a:ext cx="457200" cy="201168"/>
          </a:xfrm>
          <a:prstGeom prst="rect">
            <a:avLst/>
          </a:prstGeom>
          <a:noFill/>
          <a:ln/>
        </p:spPr>
        <p:txBody>
          <a:bodyPr wrap="square" lIns="0" tIns="0" rIns="0" bIns="0" rtlCol="0" anchor="ctr"/>
          <a:lstStyle/>
          <a:p>
            <a:pPr marL="0" indent="0" algn="ctr">
              <a:buNone/>
            </a:pPr>
            <a:r>
              <a:rPr lang="en-US" sz="700" dirty="0">
                <a:solidFill>
                  <a:srgbClr val="5A6B78"/>
                </a:solidFill>
                <a:latin typeface="Calibri" pitchFamily="34" charset="0"/>
                <a:ea typeface="Calibri" pitchFamily="34" charset="-122"/>
                <a:cs typeface="Calibri" pitchFamily="34" charset="-120"/>
              </a:rPr>
              <a:t>S5</a:t>
            </a:r>
            <a:endParaRPr lang="en-US" sz="700" dirty="0"/>
          </a:p>
        </p:txBody>
      </p:sp>
      <p:sp>
        <p:nvSpPr>
          <p:cNvPr id="17" name="Text 14"/>
          <p:cNvSpPr/>
          <p:nvPr/>
        </p:nvSpPr>
        <p:spPr>
          <a:xfrm>
            <a:off x="5532120" y="2039112"/>
            <a:ext cx="457200" cy="201168"/>
          </a:xfrm>
          <a:prstGeom prst="rect">
            <a:avLst/>
          </a:prstGeom>
          <a:noFill/>
          <a:ln/>
        </p:spPr>
        <p:txBody>
          <a:bodyPr wrap="square" lIns="0" tIns="0" rIns="0" bIns="0" rtlCol="0" anchor="ctr"/>
          <a:lstStyle/>
          <a:p>
            <a:pPr marL="0" indent="0" algn="ctr">
              <a:buNone/>
            </a:pPr>
            <a:r>
              <a:rPr lang="en-US" sz="700" dirty="0">
                <a:solidFill>
                  <a:srgbClr val="5A6B78"/>
                </a:solidFill>
                <a:latin typeface="Calibri" pitchFamily="34" charset="0"/>
                <a:ea typeface="Calibri" pitchFamily="34" charset="-122"/>
                <a:cs typeface="Calibri" pitchFamily="34" charset="-120"/>
              </a:rPr>
              <a:t>S6</a:t>
            </a:r>
            <a:endParaRPr lang="en-US" sz="700" dirty="0"/>
          </a:p>
        </p:txBody>
      </p:sp>
      <p:sp>
        <p:nvSpPr>
          <p:cNvPr id="18" name="Text 15"/>
          <p:cNvSpPr/>
          <p:nvPr/>
        </p:nvSpPr>
        <p:spPr>
          <a:xfrm>
            <a:off x="5989320" y="2039112"/>
            <a:ext cx="457200" cy="201168"/>
          </a:xfrm>
          <a:prstGeom prst="rect">
            <a:avLst/>
          </a:prstGeom>
          <a:noFill/>
          <a:ln/>
        </p:spPr>
        <p:txBody>
          <a:bodyPr wrap="square" lIns="0" tIns="0" rIns="0" bIns="0" rtlCol="0" anchor="ctr"/>
          <a:lstStyle/>
          <a:p>
            <a:pPr marL="0" indent="0" algn="ctr">
              <a:buNone/>
            </a:pPr>
            <a:r>
              <a:rPr lang="en-US" sz="700" dirty="0">
                <a:solidFill>
                  <a:srgbClr val="5A6B78"/>
                </a:solidFill>
                <a:latin typeface="Calibri" pitchFamily="34" charset="0"/>
                <a:ea typeface="Calibri" pitchFamily="34" charset="-122"/>
                <a:cs typeface="Calibri" pitchFamily="34" charset="-120"/>
              </a:rPr>
              <a:t>S7</a:t>
            </a:r>
            <a:endParaRPr lang="en-US" sz="700" dirty="0"/>
          </a:p>
        </p:txBody>
      </p:sp>
      <p:sp>
        <p:nvSpPr>
          <p:cNvPr id="19" name="Text 16"/>
          <p:cNvSpPr/>
          <p:nvPr/>
        </p:nvSpPr>
        <p:spPr>
          <a:xfrm>
            <a:off x="6446520" y="2039112"/>
            <a:ext cx="457200" cy="201168"/>
          </a:xfrm>
          <a:prstGeom prst="rect">
            <a:avLst/>
          </a:prstGeom>
          <a:noFill/>
          <a:ln/>
        </p:spPr>
        <p:txBody>
          <a:bodyPr wrap="square" lIns="0" tIns="0" rIns="0" bIns="0" rtlCol="0" anchor="ctr"/>
          <a:lstStyle/>
          <a:p>
            <a:pPr marL="0" indent="0" algn="ctr">
              <a:buNone/>
            </a:pPr>
            <a:r>
              <a:rPr lang="en-US" sz="700" dirty="0">
                <a:solidFill>
                  <a:srgbClr val="5A6B78"/>
                </a:solidFill>
                <a:latin typeface="Calibri" pitchFamily="34" charset="0"/>
                <a:ea typeface="Calibri" pitchFamily="34" charset="-122"/>
                <a:cs typeface="Calibri" pitchFamily="34" charset="-120"/>
              </a:rPr>
              <a:t>S8</a:t>
            </a:r>
            <a:endParaRPr lang="en-US" sz="700" dirty="0"/>
          </a:p>
        </p:txBody>
      </p:sp>
      <p:sp>
        <p:nvSpPr>
          <p:cNvPr id="20" name="Text 17"/>
          <p:cNvSpPr/>
          <p:nvPr/>
        </p:nvSpPr>
        <p:spPr>
          <a:xfrm>
            <a:off x="6903720" y="2039112"/>
            <a:ext cx="457200" cy="201168"/>
          </a:xfrm>
          <a:prstGeom prst="rect">
            <a:avLst/>
          </a:prstGeom>
          <a:noFill/>
          <a:ln/>
        </p:spPr>
        <p:txBody>
          <a:bodyPr wrap="square" lIns="0" tIns="0" rIns="0" bIns="0" rtlCol="0" anchor="ctr"/>
          <a:lstStyle/>
          <a:p>
            <a:pPr marL="0" indent="0" algn="ctr">
              <a:buNone/>
            </a:pPr>
            <a:r>
              <a:rPr lang="en-US" sz="700" dirty="0">
                <a:solidFill>
                  <a:srgbClr val="5A6B78"/>
                </a:solidFill>
                <a:latin typeface="Calibri" pitchFamily="34" charset="0"/>
                <a:ea typeface="Calibri" pitchFamily="34" charset="-122"/>
                <a:cs typeface="Calibri" pitchFamily="34" charset="-120"/>
              </a:rPr>
              <a:t>S9</a:t>
            </a:r>
            <a:endParaRPr lang="en-US" sz="700" dirty="0"/>
          </a:p>
        </p:txBody>
      </p:sp>
      <p:sp>
        <p:nvSpPr>
          <p:cNvPr id="21" name="Text 18"/>
          <p:cNvSpPr/>
          <p:nvPr/>
        </p:nvSpPr>
        <p:spPr>
          <a:xfrm>
            <a:off x="7360920" y="2039112"/>
            <a:ext cx="457200" cy="201168"/>
          </a:xfrm>
          <a:prstGeom prst="rect">
            <a:avLst/>
          </a:prstGeom>
          <a:noFill/>
          <a:ln/>
        </p:spPr>
        <p:txBody>
          <a:bodyPr wrap="square" lIns="0" tIns="0" rIns="0" bIns="0" rtlCol="0" anchor="ctr"/>
          <a:lstStyle/>
          <a:p>
            <a:pPr marL="0" indent="0" algn="ctr">
              <a:buNone/>
            </a:pPr>
            <a:r>
              <a:rPr lang="en-US" sz="700" dirty="0">
                <a:solidFill>
                  <a:srgbClr val="5A6B78"/>
                </a:solidFill>
                <a:latin typeface="Calibri" pitchFamily="34" charset="0"/>
                <a:ea typeface="Calibri" pitchFamily="34" charset="-122"/>
                <a:cs typeface="Calibri" pitchFamily="34" charset="-120"/>
              </a:rPr>
              <a:t>S10</a:t>
            </a:r>
            <a:endParaRPr lang="en-US" sz="700" dirty="0"/>
          </a:p>
        </p:txBody>
      </p:sp>
      <p:sp>
        <p:nvSpPr>
          <p:cNvPr id="22" name="Text 19"/>
          <p:cNvSpPr/>
          <p:nvPr/>
        </p:nvSpPr>
        <p:spPr>
          <a:xfrm>
            <a:off x="7818120" y="2039112"/>
            <a:ext cx="457200" cy="201168"/>
          </a:xfrm>
          <a:prstGeom prst="rect">
            <a:avLst/>
          </a:prstGeom>
          <a:noFill/>
          <a:ln/>
        </p:spPr>
        <p:txBody>
          <a:bodyPr wrap="square" lIns="0" tIns="0" rIns="0" bIns="0" rtlCol="0" anchor="ctr"/>
          <a:lstStyle/>
          <a:p>
            <a:pPr marL="0" indent="0" algn="ctr">
              <a:buNone/>
            </a:pPr>
            <a:r>
              <a:rPr lang="en-US" sz="700" dirty="0">
                <a:solidFill>
                  <a:srgbClr val="5A6B78"/>
                </a:solidFill>
                <a:latin typeface="Calibri" pitchFamily="34" charset="0"/>
                <a:ea typeface="Calibri" pitchFamily="34" charset="-122"/>
                <a:cs typeface="Calibri" pitchFamily="34" charset="-120"/>
              </a:rPr>
              <a:t>S11</a:t>
            </a:r>
            <a:endParaRPr lang="en-US" sz="700" dirty="0"/>
          </a:p>
        </p:txBody>
      </p:sp>
      <p:sp>
        <p:nvSpPr>
          <p:cNvPr id="23" name="Text 20"/>
          <p:cNvSpPr/>
          <p:nvPr/>
        </p:nvSpPr>
        <p:spPr>
          <a:xfrm>
            <a:off x="8275320" y="2039112"/>
            <a:ext cx="457200" cy="201168"/>
          </a:xfrm>
          <a:prstGeom prst="rect">
            <a:avLst/>
          </a:prstGeom>
          <a:noFill/>
          <a:ln/>
        </p:spPr>
        <p:txBody>
          <a:bodyPr wrap="square" lIns="0" tIns="0" rIns="0" bIns="0" rtlCol="0" anchor="ctr"/>
          <a:lstStyle/>
          <a:p>
            <a:pPr marL="0" indent="0" algn="ctr">
              <a:buNone/>
            </a:pPr>
            <a:r>
              <a:rPr lang="en-US" sz="700" dirty="0">
                <a:solidFill>
                  <a:srgbClr val="5A6B78"/>
                </a:solidFill>
                <a:latin typeface="Calibri" pitchFamily="34" charset="0"/>
                <a:ea typeface="Calibri" pitchFamily="34" charset="-122"/>
                <a:cs typeface="Calibri" pitchFamily="34" charset="-120"/>
              </a:rPr>
              <a:t>S12</a:t>
            </a:r>
            <a:endParaRPr lang="en-US" sz="700" dirty="0"/>
          </a:p>
        </p:txBody>
      </p:sp>
      <p:sp>
        <p:nvSpPr>
          <p:cNvPr id="24" name="Text 21"/>
          <p:cNvSpPr/>
          <p:nvPr/>
        </p:nvSpPr>
        <p:spPr>
          <a:xfrm>
            <a:off x="8732520" y="2039112"/>
            <a:ext cx="457200" cy="201168"/>
          </a:xfrm>
          <a:prstGeom prst="rect">
            <a:avLst/>
          </a:prstGeom>
          <a:noFill/>
          <a:ln/>
        </p:spPr>
        <p:txBody>
          <a:bodyPr wrap="square" lIns="0" tIns="0" rIns="0" bIns="0" rtlCol="0" anchor="ctr"/>
          <a:lstStyle/>
          <a:p>
            <a:pPr marL="0" indent="0" algn="ctr">
              <a:buNone/>
            </a:pPr>
            <a:r>
              <a:rPr lang="en-US" sz="700" dirty="0">
                <a:solidFill>
                  <a:srgbClr val="5A6B78"/>
                </a:solidFill>
                <a:latin typeface="Calibri" pitchFamily="34" charset="0"/>
                <a:ea typeface="Calibri" pitchFamily="34" charset="-122"/>
                <a:cs typeface="Calibri" pitchFamily="34" charset="-120"/>
              </a:rPr>
              <a:t>S13</a:t>
            </a:r>
            <a:endParaRPr lang="en-US" sz="700" dirty="0"/>
          </a:p>
        </p:txBody>
      </p:sp>
      <p:sp>
        <p:nvSpPr>
          <p:cNvPr id="25" name="Text 22"/>
          <p:cNvSpPr/>
          <p:nvPr/>
        </p:nvSpPr>
        <p:spPr>
          <a:xfrm>
            <a:off x="9189720" y="2039112"/>
            <a:ext cx="457200" cy="201168"/>
          </a:xfrm>
          <a:prstGeom prst="rect">
            <a:avLst/>
          </a:prstGeom>
          <a:noFill/>
          <a:ln/>
        </p:spPr>
        <p:txBody>
          <a:bodyPr wrap="square" lIns="0" tIns="0" rIns="0" bIns="0" rtlCol="0" anchor="ctr"/>
          <a:lstStyle/>
          <a:p>
            <a:pPr marL="0" indent="0" algn="ctr">
              <a:buNone/>
            </a:pPr>
            <a:r>
              <a:rPr lang="en-US" sz="700" dirty="0">
                <a:solidFill>
                  <a:srgbClr val="5A6B78"/>
                </a:solidFill>
                <a:latin typeface="Calibri" pitchFamily="34" charset="0"/>
                <a:ea typeface="Calibri" pitchFamily="34" charset="-122"/>
                <a:cs typeface="Calibri" pitchFamily="34" charset="-120"/>
              </a:rPr>
              <a:t>S14</a:t>
            </a:r>
            <a:endParaRPr lang="en-US" sz="700" dirty="0"/>
          </a:p>
        </p:txBody>
      </p:sp>
      <p:sp>
        <p:nvSpPr>
          <p:cNvPr id="26" name="Text 23"/>
          <p:cNvSpPr/>
          <p:nvPr/>
        </p:nvSpPr>
        <p:spPr>
          <a:xfrm>
            <a:off x="9646920" y="2039112"/>
            <a:ext cx="457200" cy="201168"/>
          </a:xfrm>
          <a:prstGeom prst="rect">
            <a:avLst/>
          </a:prstGeom>
          <a:noFill/>
          <a:ln/>
        </p:spPr>
        <p:txBody>
          <a:bodyPr wrap="square" lIns="0" tIns="0" rIns="0" bIns="0" rtlCol="0" anchor="ctr"/>
          <a:lstStyle/>
          <a:p>
            <a:pPr marL="0" indent="0" algn="ctr">
              <a:buNone/>
            </a:pPr>
            <a:r>
              <a:rPr lang="en-US" sz="700" dirty="0">
                <a:solidFill>
                  <a:srgbClr val="5A6B78"/>
                </a:solidFill>
                <a:latin typeface="Calibri" pitchFamily="34" charset="0"/>
                <a:ea typeface="Calibri" pitchFamily="34" charset="-122"/>
                <a:cs typeface="Calibri" pitchFamily="34" charset="-120"/>
              </a:rPr>
              <a:t>S15</a:t>
            </a:r>
            <a:endParaRPr lang="en-US" sz="700" dirty="0"/>
          </a:p>
        </p:txBody>
      </p:sp>
      <p:sp>
        <p:nvSpPr>
          <p:cNvPr id="27" name="Text 24"/>
          <p:cNvSpPr/>
          <p:nvPr/>
        </p:nvSpPr>
        <p:spPr>
          <a:xfrm>
            <a:off x="10104120" y="2039112"/>
            <a:ext cx="457200" cy="201168"/>
          </a:xfrm>
          <a:prstGeom prst="rect">
            <a:avLst/>
          </a:prstGeom>
          <a:noFill/>
          <a:ln/>
        </p:spPr>
        <p:txBody>
          <a:bodyPr wrap="square" lIns="0" tIns="0" rIns="0" bIns="0" rtlCol="0" anchor="ctr"/>
          <a:lstStyle/>
          <a:p>
            <a:pPr marL="0" indent="0" algn="ctr">
              <a:buNone/>
            </a:pPr>
            <a:r>
              <a:rPr lang="en-US" sz="700" dirty="0">
                <a:solidFill>
                  <a:srgbClr val="5A6B78"/>
                </a:solidFill>
                <a:latin typeface="Calibri" pitchFamily="34" charset="0"/>
                <a:ea typeface="Calibri" pitchFamily="34" charset="-122"/>
                <a:cs typeface="Calibri" pitchFamily="34" charset="-120"/>
              </a:rPr>
              <a:t>S16</a:t>
            </a:r>
            <a:endParaRPr lang="en-US" sz="700" dirty="0"/>
          </a:p>
        </p:txBody>
      </p:sp>
      <p:sp>
        <p:nvSpPr>
          <p:cNvPr id="28" name="Text 25"/>
          <p:cNvSpPr/>
          <p:nvPr/>
        </p:nvSpPr>
        <p:spPr>
          <a:xfrm>
            <a:off x="10561320" y="2039112"/>
            <a:ext cx="457200" cy="201168"/>
          </a:xfrm>
          <a:prstGeom prst="rect">
            <a:avLst/>
          </a:prstGeom>
          <a:noFill/>
          <a:ln/>
        </p:spPr>
        <p:txBody>
          <a:bodyPr wrap="square" lIns="0" tIns="0" rIns="0" bIns="0" rtlCol="0" anchor="ctr"/>
          <a:lstStyle/>
          <a:p>
            <a:pPr marL="0" indent="0" algn="ctr">
              <a:buNone/>
            </a:pPr>
            <a:r>
              <a:rPr lang="en-US" sz="700" dirty="0">
                <a:solidFill>
                  <a:srgbClr val="5A6B78"/>
                </a:solidFill>
                <a:latin typeface="Calibri" pitchFamily="34" charset="0"/>
                <a:ea typeface="Calibri" pitchFamily="34" charset="-122"/>
                <a:cs typeface="Calibri" pitchFamily="34" charset="-120"/>
              </a:rPr>
              <a:t>S17</a:t>
            </a:r>
            <a:endParaRPr lang="en-US" sz="700" dirty="0"/>
          </a:p>
        </p:txBody>
      </p:sp>
      <p:sp>
        <p:nvSpPr>
          <p:cNvPr id="29" name="Text 26"/>
          <p:cNvSpPr/>
          <p:nvPr/>
        </p:nvSpPr>
        <p:spPr>
          <a:xfrm>
            <a:off x="11018520" y="2039112"/>
            <a:ext cx="457200" cy="201168"/>
          </a:xfrm>
          <a:prstGeom prst="rect">
            <a:avLst/>
          </a:prstGeom>
          <a:noFill/>
          <a:ln/>
        </p:spPr>
        <p:txBody>
          <a:bodyPr wrap="square" lIns="0" tIns="0" rIns="0" bIns="0" rtlCol="0" anchor="ctr"/>
          <a:lstStyle/>
          <a:p>
            <a:pPr marL="0" indent="0" algn="ctr">
              <a:buNone/>
            </a:pPr>
            <a:r>
              <a:rPr lang="en-US" sz="700" dirty="0">
                <a:solidFill>
                  <a:srgbClr val="5A6B78"/>
                </a:solidFill>
                <a:latin typeface="Calibri" pitchFamily="34" charset="0"/>
                <a:ea typeface="Calibri" pitchFamily="34" charset="-122"/>
                <a:cs typeface="Calibri" pitchFamily="34" charset="-120"/>
              </a:rPr>
              <a:t>S18</a:t>
            </a:r>
            <a:endParaRPr lang="en-US" sz="700" dirty="0"/>
          </a:p>
        </p:txBody>
      </p:sp>
      <p:sp>
        <p:nvSpPr>
          <p:cNvPr id="30" name="Shape 27"/>
          <p:cNvSpPr/>
          <p:nvPr/>
        </p:nvSpPr>
        <p:spPr>
          <a:xfrm>
            <a:off x="640080" y="2286000"/>
            <a:ext cx="10607040" cy="228600"/>
          </a:xfrm>
          <a:prstGeom prst="rect">
            <a:avLst/>
          </a:prstGeom>
          <a:solidFill>
            <a:srgbClr val="F2F6F9"/>
          </a:solidFill>
          <a:ln w="12700">
            <a:solidFill>
              <a:srgbClr val="F2F6F9"/>
            </a:solidFill>
            <a:prstDash val="solid"/>
          </a:ln>
        </p:spPr>
        <p:txBody>
          <a:bodyPr/>
          <a:lstStyle/>
          <a:p>
            <a:endParaRPr lang="es-CL"/>
          </a:p>
        </p:txBody>
      </p:sp>
      <p:sp>
        <p:nvSpPr>
          <p:cNvPr id="31" name="Text 28"/>
          <p:cNvSpPr/>
          <p:nvPr/>
        </p:nvSpPr>
        <p:spPr>
          <a:xfrm>
            <a:off x="685800" y="2286000"/>
            <a:ext cx="2468880" cy="228600"/>
          </a:xfrm>
          <a:prstGeom prst="rect">
            <a:avLst/>
          </a:prstGeom>
          <a:noFill/>
          <a:ln/>
        </p:spPr>
        <p:txBody>
          <a:bodyPr wrap="square" lIns="0" tIns="0" rIns="0" bIns="0" rtlCol="0" anchor="ctr"/>
          <a:lstStyle/>
          <a:p>
            <a:pPr marL="0" indent="0">
              <a:buNone/>
            </a:pPr>
            <a:r>
              <a:rPr lang="en-US" sz="950" dirty="0">
                <a:solidFill>
                  <a:srgbClr val="0F2E42"/>
                </a:solidFill>
                <a:latin typeface="Calibri" pitchFamily="34" charset="0"/>
                <a:ea typeface="Calibri" pitchFamily="34" charset="-122"/>
                <a:cs typeface="Calibri" pitchFamily="34" charset="-120"/>
              </a:rPr>
              <a:t>Levantamiento de requerimientos</a:t>
            </a:r>
            <a:endParaRPr lang="en-US" sz="950" dirty="0"/>
          </a:p>
        </p:txBody>
      </p:sp>
      <p:sp>
        <p:nvSpPr>
          <p:cNvPr id="32" name="Shape 29"/>
          <p:cNvSpPr/>
          <p:nvPr/>
        </p:nvSpPr>
        <p:spPr>
          <a:xfrm>
            <a:off x="3282696" y="2322576"/>
            <a:ext cx="1298448" cy="155448"/>
          </a:xfrm>
          <a:prstGeom prst="roundRect">
            <a:avLst>
              <a:gd name="adj" fmla="val 29412"/>
            </a:avLst>
          </a:prstGeom>
          <a:solidFill>
            <a:srgbClr val="2E7FB8"/>
          </a:solidFill>
          <a:ln w="12700">
            <a:solidFill>
              <a:srgbClr val="2E7FB8"/>
            </a:solidFill>
            <a:prstDash val="solid"/>
          </a:ln>
        </p:spPr>
        <p:txBody>
          <a:bodyPr/>
          <a:lstStyle/>
          <a:p>
            <a:endParaRPr lang="es-CL"/>
          </a:p>
        </p:txBody>
      </p:sp>
      <p:sp>
        <p:nvSpPr>
          <p:cNvPr id="33" name="Text 30"/>
          <p:cNvSpPr/>
          <p:nvPr/>
        </p:nvSpPr>
        <p:spPr>
          <a:xfrm>
            <a:off x="685800" y="2551176"/>
            <a:ext cx="2468880" cy="228600"/>
          </a:xfrm>
          <a:prstGeom prst="rect">
            <a:avLst/>
          </a:prstGeom>
          <a:noFill/>
          <a:ln/>
        </p:spPr>
        <p:txBody>
          <a:bodyPr wrap="square" lIns="0" tIns="0" rIns="0" bIns="0" rtlCol="0" anchor="ctr"/>
          <a:lstStyle/>
          <a:p>
            <a:pPr marL="0" indent="0">
              <a:buNone/>
            </a:pPr>
            <a:r>
              <a:rPr lang="en-US" sz="950" dirty="0">
                <a:solidFill>
                  <a:srgbClr val="0F2E42"/>
                </a:solidFill>
                <a:latin typeface="Calibri" pitchFamily="34" charset="0"/>
                <a:ea typeface="Calibri" pitchFamily="34" charset="-122"/>
                <a:cs typeface="Calibri" pitchFamily="34" charset="-120"/>
              </a:rPr>
              <a:t>Alcance y planificación</a:t>
            </a:r>
            <a:endParaRPr lang="en-US" sz="950" dirty="0"/>
          </a:p>
        </p:txBody>
      </p:sp>
      <p:sp>
        <p:nvSpPr>
          <p:cNvPr id="34" name="Shape 31"/>
          <p:cNvSpPr/>
          <p:nvPr/>
        </p:nvSpPr>
        <p:spPr>
          <a:xfrm>
            <a:off x="3282696" y="2587752"/>
            <a:ext cx="841248" cy="155448"/>
          </a:xfrm>
          <a:prstGeom prst="roundRect">
            <a:avLst>
              <a:gd name="adj" fmla="val 29412"/>
            </a:avLst>
          </a:prstGeom>
          <a:solidFill>
            <a:srgbClr val="2E7FB8"/>
          </a:solidFill>
          <a:ln w="12700">
            <a:solidFill>
              <a:srgbClr val="2E7FB8"/>
            </a:solidFill>
            <a:prstDash val="solid"/>
          </a:ln>
        </p:spPr>
        <p:txBody>
          <a:bodyPr/>
          <a:lstStyle/>
          <a:p>
            <a:endParaRPr lang="es-CL"/>
          </a:p>
        </p:txBody>
      </p:sp>
      <p:sp>
        <p:nvSpPr>
          <p:cNvPr id="35" name="Shape 32"/>
          <p:cNvSpPr/>
          <p:nvPr/>
        </p:nvSpPr>
        <p:spPr>
          <a:xfrm>
            <a:off x="640080" y="2816352"/>
            <a:ext cx="10607040" cy="228600"/>
          </a:xfrm>
          <a:prstGeom prst="rect">
            <a:avLst/>
          </a:prstGeom>
          <a:solidFill>
            <a:srgbClr val="F2F6F9"/>
          </a:solidFill>
          <a:ln w="12700">
            <a:solidFill>
              <a:srgbClr val="F2F6F9"/>
            </a:solidFill>
            <a:prstDash val="solid"/>
          </a:ln>
        </p:spPr>
        <p:txBody>
          <a:bodyPr/>
          <a:lstStyle/>
          <a:p>
            <a:endParaRPr lang="es-CL"/>
          </a:p>
        </p:txBody>
      </p:sp>
      <p:sp>
        <p:nvSpPr>
          <p:cNvPr id="36" name="Text 33"/>
          <p:cNvSpPr/>
          <p:nvPr/>
        </p:nvSpPr>
        <p:spPr>
          <a:xfrm>
            <a:off x="685800" y="2816352"/>
            <a:ext cx="2468880" cy="228600"/>
          </a:xfrm>
          <a:prstGeom prst="rect">
            <a:avLst/>
          </a:prstGeom>
          <a:noFill/>
          <a:ln/>
        </p:spPr>
        <p:txBody>
          <a:bodyPr wrap="square" lIns="0" tIns="0" rIns="0" bIns="0" rtlCol="0" anchor="ctr"/>
          <a:lstStyle/>
          <a:p>
            <a:pPr marL="0" indent="0">
              <a:buNone/>
            </a:pPr>
            <a:r>
              <a:rPr lang="en-US" sz="950" dirty="0">
                <a:solidFill>
                  <a:srgbClr val="0F2E42"/>
                </a:solidFill>
                <a:latin typeface="Calibri" pitchFamily="34" charset="0"/>
                <a:ea typeface="Calibri" pitchFamily="34" charset="-122"/>
                <a:cs typeface="Calibri" pitchFamily="34" charset="-120"/>
              </a:rPr>
              <a:t>Modelo de datos</a:t>
            </a:r>
            <a:endParaRPr lang="en-US" sz="950" dirty="0"/>
          </a:p>
        </p:txBody>
      </p:sp>
      <p:sp>
        <p:nvSpPr>
          <p:cNvPr id="37" name="Shape 34"/>
          <p:cNvSpPr/>
          <p:nvPr/>
        </p:nvSpPr>
        <p:spPr>
          <a:xfrm>
            <a:off x="4197096" y="2852928"/>
            <a:ext cx="1298448" cy="155448"/>
          </a:xfrm>
          <a:prstGeom prst="roundRect">
            <a:avLst>
              <a:gd name="adj" fmla="val 29412"/>
            </a:avLst>
          </a:prstGeom>
          <a:solidFill>
            <a:srgbClr val="16A394"/>
          </a:solidFill>
          <a:ln w="12700">
            <a:solidFill>
              <a:srgbClr val="16A394"/>
            </a:solidFill>
            <a:prstDash val="solid"/>
          </a:ln>
        </p:spPr>
        <p:txBody>
          <a:bodyPr/>
          <a:lstStyle/>
          <a:p>
            <a:endParaRPr lang="es-CL"/>
          </a:p>
        </p:txBody>
      </p:sp>
      <p:sp>
        <p:nvSpPr>
          <p:cNvPr id="38" name="Text 35"/>
          <p:cNvSpPr/>
          <p:nvPr/>
        </p:nvSpPr>
        <p:spPr>
          <a:xfrm>
            <a:off x="685800" y="3081528"/>
            <a:ext cx="2468880" cy="228600"/>
          </a:xfrm>
          <a:prstGeom prst="rect">
            <a:avLst/>
          </a:prstGeom>
          <a:noFill/>
          <a:ln/>
        </p:spPr>
        <p:txBody>
          <a:bodyPr wrap="square" lIns="0" tIns="0" rIns="0" bIns="0" rtlCol="0" anchor="ctr"/>
          <a:lstStyle/>
          <a:p>
            <a:pPr marL="0" indent="0">
              <a:buNone/>
            </a:pPr>
            <a:r>
              <a:rPr lang="en-US" sz="950" dirty="0">
                <a:solidFill>
                  <a:srgbClr val="0F2E42"/>
                </a:solidFill>
                <a:latin typeface="Calibri" pitchFamily="34" charset="0"/>
                <a:ea typeface="Calibri" pitchFamily="34" charset="-122"/>
                <a:cs typeface="Calibri" pitchFamily="34" charset="-120"/>
              </a:rPr>
              <a:t>Interfaz y prototipos</a:t>
            </a:r>
            <a:endParaRPr lang="en-US" sz="950" dirty="0"/>
          </a:p>
        </p:txBody>
      </p:sp>
      <p:sp>
        <p:nvSpPr>
          <p:cNvPr id="39" name="Shape 36"/>
          <p:cNvSpPr/>
          <p:nvPr/>
        </p:nvSpPr>
        <p:spPr>
          <a:xfrm>
            <a:off x="4654296" y="3118104"/>
            <a:ext cx="841248" cy="155448"/>
          </a:xfrm>
          <a:prstGeom prst="roundRect">
            <a:avLst>
              <a:gd name="adj" fmla="val 29412"/>
            </a:avLst>
          </a:prstGeom>
          <a:solidFill>
            <a:srgbClr val="16A394"/>
          </a:solidFill>
          <a:ln w="12700">
            <a:solidFill>
              <a:srgbClr val="16A394"/>
            </a:solidFill>
            <a:prstDash val="solid"/>
          </a:ln>
        </p:spPr>
        <p:txBody>
          <a:bodyPr/>
          <a:lstStyle/>
          <a:p>
            <a:endParaRPr lang="es-CL"/>
          </a:p>
        </p:txBody>
      </p:sp>
      <p:sp>
        <p:nvSpPr>
          <p:cNvPr id="40" name="Shape 37"/>
          <p:cNvSpPr/>
          <p:nvPr/>
        </p:nvSpPr>
        <p:spPr>
          <a:xfrm>
            <a:off x="640080" y="3346704"/>
            <a:ext cx="10607040" cy="228600"/>
          </a:xfrm>
          <a:prstGeom prst="rect">
            <a:avLst/>
          </a:prstGeom>
          <a:solidFill>
            <a:srgbClr val="F2F6F9"/>
          </a:solidFill>
          <a:ln w="12700">
            <a:solidFill>
              <a:srgbClr val="F2F6F9"/>
            </a:solidFill>
            <a:prstDash val="solid"/>
          </a:ln>
        </p:spPr>
        <p:txBody>
          <a:bodyPr/>
          <a:lstStyle/>
          <a:p>
            <a:endParaRPr lang="es-CL"/>
          </a:p>
        </p:txBody>
      </p:sp>
      <p:sp>
        <p:nvSpPr>
          <p:cNvPr id="41" name="Text 38"/>
          <p:cNvSpPr/>
          <p:nvPr/>
        </p:nvSpPr>
        <p:spPr>
          <a:xfrm>
            <a:off x="685800" y="3346704"/>
            <a:ext cx="2468880" cy="228600"/>
          </a:xfrm>
          <a:prstGeom prst="rect">
            <a:avLst/>
          </a:prstGeom>
          <a:noFill/>
          <a:ln/>
        </p:spPr>
        <p:txBody>
          <a:bodyPr wrap="square" lIns="0" tIns="0" rIns="0" bIns="0" rtlCol="0" anchor="ctr"/>
          <a:lstStyle/>
          <a:p>
            <a:pPr marL="0" indent="0">
              <a:buNone/>
            </a:pPr>
            <a:r>
              <a:rPr lang="en-US" sz="950" dirty="0">
                <a:solidFill>
                  <a:srgbClr val="0F2E42"/>
                </a:solidFill>
                <a:latin typeface="Calibri" pitchFamily="34" charset="0"/>
                <a:ea typeface="Calibri" pitchFamily="34" charset="-122"/>
                <a:cs typeface="Calibri" pitchFamily="34" charset="-120"/>
              </a:rPr>
              <a:t>Base de datos</a:t>
            </a:r>
            <a:endParaRPr lang="en-US" sz="950" dirty="0"/>
          </a:p>
        </p:txBody>
      </p:sp>
      <p:sp>
        <p:nvSpPr>
          <p:cNvPr id="42" name="Shape 39"/>
          <p:cNvSpPr/>
          <p:nvPr/>
        </p:nvSpPr>
        <p:spPr>
          <a:xfrm>
            <a:off x="5111496" y="3383280"/>
            <a:ext cx="841248" cy="155448"/>
          </a:xfrm>
          <a:prstGeom prst="roundRect">
            <a:avLst>
              <a:gd name="adj" fmla="val 29412"/>
            </a:avLst>
          </a:prstGeom>
          <a:solidFill>
            <a:srgbClr val="16A394"/>
          </a:solidFill>
          <a:ln w="12700">
            <a:solidFill>
              <a:srgbClr val="16A394"/>
            </a:solidFill>
            <a:prstDash val="solid"/>
          </a:ln>
        </p:spPr>
        <p:txBody>
          <a:bodyPr/>
          <a:lstStyle/>
          <a:p>
            <a:endParaRPr lang="es-CL"/>
          </a:p>
        </p:txBody>
      </p:sp>
      <p:sp>
        <p:nvSpPr>
          <p:cNvPr id="43" name="Text 40"/>
          <p:cNvSpPr/>
          <p:nvPr/>
        </p:nvSpPr>
        <p:spPr>
          <a:xfrm>
            <a:off x="685800" y="3611880"/>
            <a:ext cx="2468880" cy="228600"/>
          </a:xfrm>
          <a:prstGeom prst="rect">
            <a:avLst/>
          </a:prstGeom>
          <a:noFill/>
          <a:ln/>
        </p:spPr>
        <p:txBody>
          <a:bodyPr wrap="square" lIns="0" tIns="0" rIns="0" bIns="0" rtlCol="0" anchor="ctr"/>
          <a:lstStyle/>
          <a:p>
            <a:pPr marL="0" indent="0">
              <a:buNone/>
            </a:pPr>
            <a:r>
              <a:rPr lang="en-US" sz="950" dirty="0">
                <a:solidFill>
                  <a:srgbClr val="0F2E42"/>
                </a:solidFill>
                <a:latin typeface="Calibri" pitchFamily="34" charset="0"/>
                <a:ea typeface="Calibri" pitchFamily="34" charset="-122"/>
                <a:cs typeface="Calibri" pitchFamily="34" charset="-120"/>
              </a:rPr>
              <a:t>Módulo de pedidos</a:t>
            </a:r>
            <a:endParaRPr lang="en-US" sz="950" dirty="0"/>
          </a:p>
        </p:txBody>
      </p:sp>
      <p:sp>
        <p:nvSpPr>
          <p:cNvPr id="44" name="Shape 41"/>
          <p:cNvSpPr/>
          <p:nvPr/>
        </p:nvSpPr>
        <p:spPr>
          <a:xfrm>
            <a:off x="5568696" y="3648456"/>
            <a:ext cx="1298448" cy="155448"/>
          </a:xfrm>
          <a:prstGeom prst="roundRect">
            <a:avLst>
              <a:gd name="adj" fmla="val 29412"/>
            </a:avLst>
          </a:prstGeom>
          <a:solidFill>
            <a:srgbClr val="16A394"/>
          </a:solidFill>
          <a:ln w="12700">
            <a:solidFill>
              <a:srgbClr val="16A394"/>
            </a:solidFill>
            <a:prstDash val="solid"/>
          </a:ln>
        </p:spPr>
        <p:txBody>
          <a:bodyPr/>
          <a:lstStyle/>
          <a:p>
            <a:endParaRPr lang="es-CL"/>
          </a:p>
        </p:txBody>
      </p:sp>
      <p:sp>
        <p:nvSpPr>
          <p:cNvPr id="45" name="Shape 42"/>
          <p:cNvSpPr/>
          <p:nvPr/>
        </p:nvSpPr>
        <p:spPr>
          <a:xfrm>
            <a:off x="640080" y="3877056"/>
            <a:ext cx="10607040" cy="228600"/>
          </a:xfrm>
          <a:prstGeom prst="rect">
            <a:avLst/>
          </a:prstGeom>
          <a:solidFill>
            <a:srgbClr val="F2F6F9"/>
          </a:solidFill>
          <a:ln w="12700">
            <a:solidFill>
              <a:srgbClr val="F2F6F9"/>
            </a:solidFill>
            <a:prstDash val="solid"/>
          </a:ln>
        </p:spPr>
        <p:txBody>
          <a:bodyPr/>
          <a:lstStyle/>
          <a:p>
            <a:endParaRPr lang="es-CL"/>
          </a:p>
        </p:txBody>
      </p:sp>
      <p:sp>
        <p:nvSpPr>
          <p:cNvPr id="46" name="Text 43"/>
          <p:cNvSpPr/>
          <p:nvPr/>
        </p:nvSpPr>
        <p:spPr>
          <a:xfrm>
            <a:off x="685800" y="3877056"/>
            <a:ext cx="2468880" cy="228600"/>
          </a:xfrm>
          <a:prstGeom prst="rect">
            <a:avLst/>
          </a:prstGeom>
          <a:noFill/>
          <a:ln/>
        </p:spPr>
        <p:txBody>
          <a:bodyPr wrap="square" lIns="0" tIns="0" rIns="0" bIns="0" rtlCol="0" anchor="ctr"/>
          <a:lstStyle/>
          <a:p>
            <a:pPr marL="0" indent="0">
              <a:buNone/>
            </a:pPr>
            <a:r>
              <a:rPr lang="en-US" sz="950" dirty="0">
                <a:solidFill>
                  <a:srgbClr val="0F2E42"/>
                </a:solidFill>
                <a:latin typeface="Calibri" pitchFamily="34" charset="0"/>
                <a:ea typeface="Calibri" pitchFamily="34" charset="-122"/>
                <a:cs typeface="Calibri" pitchFamily="34" charset="-120"/>
              </a:rPr>
              <a:t>Módulo de rutas</a:t>
            </a:r>
            <a:endParaRPr lang="en-US" sz="950" dirty="0"/>
          </a:p>
        </p:txBody>
      </p:sp>
      <p:sp>
        <p:nvSpPr>
          <p:cNvPr id="47" name="Shape 44"/>
          <p:cNvSpPr/>
          <p:nvPr/>
        </p:nvSpPr>
        <p:spPr>
          <a:xfrm>
            <a:off x="6483096" y="3913632"/>
            <a:ext cx="1298448" cy="155448"/>
          </a:xfrm>
          <a:prstGeom prst="roundRect">
            <a:avLst>
              <a:gd name="adj" fmla="val 29412"/>
            </a:avLst>
          </a:prstGeom>
          <a:solidFill>
            <a:srgbClr val="16A394"/>
          </a:solidFill>
          <a:ln w="12700">
            <a:solidFill>
              <a:srgbClr val="16A394"/>
            </a:solidFill>
            <a:prstDash val="solid"/>
          </a:ln>
        </p:spPr>
        <p:txBody>
          <a:bodyPr/>
          <a:lstStyle/>
          <a:p>
            <a:endParaRPr lang="es-CL"/>
          </a:p>
        </p:txBody>
      </p:sp>
      <p:sp>
        <p:nvSpPr>
          <p:cNvPr id="48" name="Text 45"/>
          <p:cNvSpPr/>
          <p:nvPr/>
        </p:nvSpPr>
        <p:spPr>
          <a:xfrm>
            <a:off x="685800" y="4142232"/>
            <a:ext cx="2468880" cy="228600"/>
          </a:xfrm>
          <a:prstGeom prst="rect">
            <a:avLst/>
          </a:prstGeom>
          <a:noFill/>
          <a:ln/>
        </p:spPr>
        <p:txBody>
          <a:bodyPr wrap="square" lIns="0" tIns="0" rIns="0" bIns="0" rtlCol="0" anchor="ctr"/>
          <a:lstStyle/>
          <a:p>
            <a:pPr marL="0" indent="0">
              <a:buNone/>
            </a:pPr>
            <a:r>
              <a:rPr lang="en-US" sz="950" dirty="0">
                <a:solidFill>
                  <a:srgbClr val="0F2E42"/>
                </a:solidFill>
                <a:latin typeface="Calibri" pitchFamily="34" charset="0"/>
                <a:ea typeface="Calibri" pitchFamily="34" charset="-122"/>
                <a:cs typeface="Calibri" pitchFamily="34" charset="-120"/>
              </a:rPr>
              <a:t>Módulo documental</a:t>
            </a:r>
            <a:endParaRPr lang="en-US" sz="950" dirty="0"/>
          </a:p>
        </p:txBody>
      </p:sp>
      <p:sp>
        <p:nvSpPr>
          <p:cNvPr id="49" name="Shape 46"/>
          <p:cNvSpPr/>
          <p:nvPr/>
        </p:nvSpPr>
        <p:spPr>
          <a:xfrm>
            <a:off x="7397496" y="4178808"/>
            <a:ext cx="841248" cy="155448"/>
          </a:xfrm>
          <a:prstGeom prst="roundRect">
            <a:avLst>
              <a:gd name="adj" fmla="val 29412"/>
            </a:avLst>
          </a:prstGeom>
          <a:solidFill>
            <a:srgbClr val="16A394"/>
          </a:solidFill>
          <a:ln w="12700">
            <a:solidFill>
              <a:srgbClr val="16A394"/>
            </a:solidFill>
            <a:prstDash val="solid"/>
          </a:ln>
        </p:spPr>
        <p:txBody>
          <a:bodyPr/>
          <a:lstStyle/>
          <a:p>
            <a:endParaRPr lang="es-CL"/>
          </a:p>
        </p:txBody>
      </p:sp>
      <p:sp>
        <p:nvSpPr>
          <p:cNvPr id="50" name="Shape 47"/>
          <p:cNvSpPr/>
          <p:nvPr/>
        </p:nvSpPr>
        <p:spPr>
          <a:xfrm>
            <a:off x="640080" y="4407408"/>
            <a:ext cx="10607040" cy="228600"/>
          </a:xfrm>
          <a:prstGeom prst="rect">
            <a:avLst/>
          </a:prstGeom>
          <a:solidFill>
            <a:srgbClr val="F2F6F9"/>
          </a:solidFill>
          <a:ln w="12700">
            <a:solidFill>
              <a:srgbClr val="F2F6F9"/>
            </a:solidFill>
            <a:prstDash val="solid"/>
          </a:ln>
        </p:spPr>
        <p:txBody>
          <a:bodyPr/>
          <a:lstStyle/>
          <a:p>
            <a:endParaRPr lang="es-CL"/>
          </a:p>
        </p:txBody>
      </p:sp>
      <p:sp>
        <p:nvSpPr>
          <p:cNvPr id="51" name="Text 48"/>
          <p:cNvSpPr/>
          <p:nvPr/>
        </p:nvSpPr>
        <p:spPr>
          <a:xfrm>
            <a:off x="685800" y="4407408"/>
            <a:ext cx="2468880" cy="228600"/>
          </a:xfrm>
          <a:prstGeom prst="rect">
            <a:avLst/>
          </a:prstGeom>
          <a:noFill/>
          <a:ln/>
        </p:spPr>
        <p:txBody>
          <a:bodyPr wrap="square" lIns="0" tIns="0" rIns="0" bIns="0" rtlCol="0" anchor="ctr"/>
          <a:lstStyle/>
          <a:p>
            <a:pPr marL="0" indent="0">
              <a:buNone/>
            </a:pPr>
            <a:r>
              <a:rPr lang="en-US" sz="950" dirty="0">
                <a:solidFill>
                  <a:srgbClr val="0F2E42"/>
                </a:solidFill>
                <a:latin typeface="Calibri" pitchFamily="34" charset="0"/>
                <a:ea typeface="Calibri" pitchFamily="34" charset="-122"/>
                <a:cs typeface="Calibri" pitchFamily="34" charset="-120"/>
              </a:rPr>
              <a:t>Módulo de mantenimiento</a:t>
            </a:r>
            <a:endParaRPr lang="en-US" sz="950" dirty="0"/>
          </a:p>
        </p:txBody>
      </p:sp>
      <p:sp>
        <p:nvSpPr>
          <p:cNvPr id="52" name="Shape 49"/>
          <p:cNvSpPr/>
          <p:nvPr/>
        </p:nvSpPr>
        <p:spPr>
          <a:xfrm>
            <a:off x="7854696" y="4443984"/>
            <a:ext cx="841248" cy="155448"/>
          </a:xfrm>
          <a:prstGeom prst="roundRect">
            <a:avLst>
              <a:gd name="adj" fmla="val 29412"/>
            </a:avLst>
          </a:prstGeom>
          <a:solidFill>
            <a:srgbClr val="16A394"/>
          </a:solidFill>
          <a:ln w="12700">
            <a:solidFill>
              <a:srgbClr val="16A394"/>
            </a:solidFill>
            <a:prstDash val="solid"/>
          </a:ln>
        </p:spPr>
        <p:txBody>
          <a:bodyPr/>
          <a:lstStyle/>
          <a:p>
            <a:endParaRPr lang="es-CL"/>
          </a:p>
        </p:txBody>
      </p:sp>
      <p:sp>
        <p:nvSpPr>
          <p:cNvPr id="53" name="Text 50"/>
          <p:cNvSpPr/>
          <p:nvPr/>
        </p:nvSpPr>
        <p:spPr>
          <a:xfrm>
            <a:off x="685800" y="4672584"/>
            <a:ext cx="2468880" cy="228600"/>
          </a:xfrm>
          <a:prstGeom prst="rect">
            <a:avLst/>
          </a:prstGeom>
          <a:noFill/>
          <a:ln/>
        </p:spPr>
        <p:txBody>
          <a:bodyPr wrap="square" lIns="0" tIns="0" rIns="0" bIns="0" rtlCol="0" anchor="ctr"/>
          <a:lstStyle/>
          <a:p>
            <a:pPr marL="0" indent="0">
              <a:buNone/>
            </a:pPr>
            <a:r>
              <a:rPr lang="en-US" sz="950" dirty="0">
                <a:solidFill>
                  <a:srgbClr val="0F2E42"/>
                </a:solidFill>
                <a:latin typeface="Calibri" pitchFamily="34" charset="0"/>
                <a:ea typeface="Calibri" pitchFamily="34" charset="-122"/>
                <a:cs typeface="Calibri" pitchFamily="34" charset="-120"/>
              </a:rPr>
              <a:t>Módulo de facturación</a:t>
            </a:r>
            <a:endParaRPr lang="en-US" sz="950" dirty="0"/>
          </a:p>
        </p:txBody>
      </p:sp>
      <p:sp>
        <p:nvSpPr>
          <p:cNvPr id="54" name="Shape 51"/>
          <p:cNvSpPr/>
          <p:nvPr/>
        </p:nvSpPr>
        <p:spPr>
          <a:xfrm>
            <a:off x="8311896" y="4709160"/>
            <a:ext cx="841248" cy="155448"/>
          </a:xfrm>
          <a:prstGeom prst="roundRect">
            <a:avLst>
              <a:gd name="adj" fmla="val 29412"/>
            </a:avLst>
          </a:prstGeom>
          <a:solidFill>
            <a:srgbClr val="16A394"/>
          </a:solidFill>
          <a:ln w="12700">
            <a:solidFill>
              <a:srgbClr val="16A394"/>
            </a:solidFill>
            <a:prstDash val="solid"/>
          </a:ln>
        </p:spPr>
        <p:txBody>
          <a:bodyPr/>
          <a:lstStyle/>
          <a:p>
            <a:endParaRPr lang="es-CL"/>
          </a:p>
        </p:txBody>
      </p:sp>
      <p:sp>
        <p:nvSpPr>
          <p:cNvPr id="55" name="Shape 52"/>
          <p:cNvSpPr/>
          <p:nvPr/>
        </p:nvSpPr>
        <p:spPr>
          <a:xfrm>
            <a:off x="640080" y="4937760"/>
            <a:ext cx="10607040" cy="228600"/>
          </a:xfrm>
          <a:prstGeom prst="rect">
            <a:avLst/>
          </a:prstGeom>
          <a:solidFill>
            <a:srgbClr val="F2F6F9"/>
          </a:solidFill>
          <a:ln w="12700">
            <a:solidFill>
              <a:srgbClr val="F2F6F9"/>
            </a:solidFill>
            <a:prstDash val="solid"/>
          </a:ln>
        </p:spPr>
        <p:txBody>
          <a:bodyPr/>
          <a:lstStyle/>
          <a:p>
            <a:endParaRPr lang="es-CL"/>
          </a:p>
        </p:txBody>
      </p:sp>
      <p:sp>
        <p:nvSpPr>
          <p:cNvPr id="56" name="Text 53"/>
          <p:cNvSpPr/>
          <p:nvPr/>
        </p:nvSpPr>
        <p:spPr>
          <a:xfrm>
            <a:off x="685800" y="4937760"/>
            <a:ext cx="2468880" cy="228600"/>
          </a:xfrm>
          <a:prstGeom prst="rect">
            <a:avLst/>
          </a:prstGeom>
          <a:noFill/>
          <a:ln/>
        </p:spPr>
        <p:txBody>
          <a:bodyPr wrap="square" lIns="0" tIns="0" rIns="0" bIns="0" rtlCol="0" anchor="ctr"/>
          <a:lstStyle/>
          <a:p>
            <a:pPr marL="0" indent="0">
              <a:buNone/>
            </a:pPr>
            <a:r>
              <a:rPr lang="en-US" sz="950" dirty="0">
                <a:solidFill>
                  <a:srgbClr val="0F2E42"/>
                </a:solidFill>
                <a:latin typeface="Calibri" pitchFamily="34" charset="0"/>
                <a:ea typeface="Calibri" pitchFamily="34" charset="-122"/>
                <a:cs typeface="Calibri" pitchFamily="34" charset="-120"/>
              </a:rPr>
              <a:t>Componente de innovación</a:t>
            </a:r>
            <a:endParaRPr lang="en-US" sz="950" dirty="0"/>
          </a:p>
        </p:txBody>
      </p:sp>
      <p:sp>
        <p:nvSpPr>
          <p:cNvPr id="57" name="Shape 54"/>
          <p:cNvSpPr/>
          <p:nvPr/>
        </p:nvSpPr>
        <p:spPr>
          <a:xfrm>
            <a:off x="8769096" y="4974336"/>
            <a:ext cx="841248" cy="155448"/>
          </a:xfrm>
          <a:prstGeom prst="roundRect">
            <a:avLst>
              <a:gd name="adj" fmla="val 29412"/>
            </a:avLst>
          </a:prstGeom>
          <a:solidFill>
            <a:srgbClr val="16A394"/>
          </a:solidFill>
          <a:ln w="12700">
            <a:solidFill>
              <a:srgbClr val="16A394"/>
            </a:solidFill>
            <a:prstDash val="solid"/>
          </a:ln>
        </p:spPr>
        <p:txBody>
          <a:bodyPr/>
          <a:lstStyle/>
          <a:p>
            <a:endParaRPr lang="es-CL"/>
          </a:p>
        </p:txBody>
      </p:sp>
      <p:sp>
        <p:nvSpPr>
          <p:cNvPr id="58" name="Text 55"/>
          <p:cNvSpPr/>
          <p:nvPr/>
        </p:nvSpPr>
        <p:spPr>
          <a:xfrm>
            <a:off x="685800" y="5202936"/>
            <a:ext cx="2468880" cy="228600"/>
          </a:xfrm>
          <a:prstGeom prst="rect">
            <a:avLst/>
          </a:prstGeom>
          <a:noFill/>
          <a:ln/>
        </p:spPr>
        <p:txBody>
          <a:bodyPr wrap="square" lIns="0" tIns="0" rIns="0" bIns="0" rtlCol="0" anchor="ctr"/>
          <a:lstStyle/>
          <a:p>
            <a:pPr marL="0" indent="0">
              <a:buNone/>
            </a:pPr>
            <a:r>
              <a:rPr lang="en-US" sz="950" dirty="0">
                <a:solidFill>
                  <a:srgbClr val="0F2E42"/>
                </a:solidFill>
                <a:latin typeface="Calibri" pitchFamily="34" charset="0"/>
                <a:ea typeface="Calibri" pitchFamily="34" charset="-122"/>
                <a:cs typeface="Calibri" pitchFamily="34" charset="-120"/>
              </a:rPr>
              <a:t>Plan de pruebas</a:t>
            </a:r>
            <a:endParaRPr lang="en-US" sz="950" dirty="0"/>
          </a:p>
        </p:txBody>
      </p:sp>
      <p:sp>
        <p:nvSpPr>
          <p:cNvPr id="59" name="Shape 56"/>
          <p:cNvSpPr/>
          <p:nvPr/>
        </p:nvSpPr>
        <p:spPr>
          <a:xfrm>
            <a:off x="9226296" y="5239512"/>
            <a:ext cx="1298448" cy="155448"/>
          </a:xfrm>
          <a:prstGeom prst="roundRect">
            <a:avLst>
              <a:gd name="adj" fmla="val 29412"/>
            </a:avLst>
          </a:prstGeom>
          <a:solidFill>
            <a:srgbClr val="16A394"/>
          </a:solidFill>
          <a:ln w="12700">
            <a:solidFill>
              <a:srgbClr val="16A394"/>
            </a:solidFill>
            <a:prstDash val="solid"/>
          </a:ln>
        </p:spPr>
        <p:txBody>
          <a:bodyPr/>
          <a:lstStyle/>
          <a:p>
            <a:endParaRPr lang="es-CL"/>
          </a:p>
        </p:txBody>
      </p:sp>
      <p:sp>
        <p:nvSpPr>
          <p:cNvPr id="60" name="Shape 57"/>
          <p:cNvSpPr/>
          <p:nvPr/>
        </p:nvSpPr>
        <p:spPr>
          <a:xfrm>
            <a:off x="640080" y="5468112"/>
            <a:ext cx="10607040" cy="228600"/>
          </a:xfrm>
          <a:prstGeom prst="rect">
            <a:avLst/>
          </a:prstGeom>
          <a:solidFill>
            <a:srgbClr val="F2F6F9"/>
          </a:solidFill>
          <a:ln w="12700">
            <a:solidFill>
              <a:srgbClr val="F2F6F9"/>
            </a:solidFill>
            <a:prstDash val="solid"/>
          </a:ln>
        </p:spPr>
        <p:txBody>
          <a:bodyPr/>
          <a:lstStyle/>
          <a:p>
            <a:endParaRPr lang="es-CL"/>
          </a:p>
        </p:txBody>
      </p:sp>
      <p:sp>
        <p:nvSpPr>
          <p:cNvPr id="61" name="Text 58"/>
          <p:cNvSpPr/>
          <p:nvPr/>
        </p:nvSpPr>
        <p:spPr>
          <a:xfrm>
            <a:off x="685800" y="5468112"/>
            <a:ext cx="2468880" cy="228600"/>
          </a:xfrm>
          <a:prstGeom prst="rect">
            <a:avLst/>
          </a:prstGeom>
          <a:noFill/>
          <a:ln/>
        </p:spPr>
        <p:txBody>
          <a:bodyPr wrap="square" lIns="0" tIns="0" rIns="0" bIns="0" rtlCol="0" anchor="ctr"/>
          <a:lstStyle/>
          <a:p>
            <a:pPr marL="0" indent="0">
              <a:buNone/>
            </a:pPr>
            <a:r>
              <a:rPr lang="en-US" sz="950" dirty="0">
                <a:solidFill>
                  <a:srgbClr val="0F2E42"/>
                </a:solidFill>
                <a:latin typeface="Calibri" pitchFamily="34" charset="0"/>
                <a:ea typeface="Calibri" pitchFamily="34" charset="-122"/>
                <a:cs typeface="Calibri" pitchFamily="34" charset="-120"/>
              </a:rPr>
              <a:t>Mejoras y correcciones</a:t>
            </a:r>
            <a:endParaRPr lang="en-US" sz="950" dirty="0"/>
          </a:p>
        </p:txBody>
      </p:sp>
      <p:sp>
        <p:nvSpPr>
          <p:cNvPr id="62" name="Shape 59"/>
          <p:cNvSpPr/>
          <p:nvPr/>
        </p:nvSpPr>
        <p:spPr>
          <a:xfrm>
            <a:off x="9683496" y="5504688"/>
            <a:ext cx="841248" cy="155448"/>
          </a:xfrm>
          <a:prstGeom prst="roundRect">
            <a:avLst>
              <a:gd name="adj" fmla="val 29412"/>
            </a:avLst>
          </a:prstGeom>
          <a:solidFill>
            <a:srgbClr val="16A394"/>
          </a:solidFill>
          <a:ln w="12700">
            <a:solidFill>
              <a:srgbClr val="16A394"/>
            </a:solidFill>
            <a:prstDash val="solid"/>
          </a:ln>
        </p:spPr>
        <p:txBody>
          <a:bodyPr/>
          <a:lstStyle/>
          <a:p>
            <a:endParaRPr lang="es-CL"/>
          </a:p>
        </p:txBody>
      </p:sp>
      <p:sp>
        <p:nvSpPr>
          <p:cNvPr id="63" name="Text 60"/>
          <p:cNvSpPr/>
          <p:nvPr/>
        </p:nvSpPr>
        <p:spPr>
          <a:xfrm>
            <a:off x="685800" y="5733288"/>
            <a:ext cx="2468880" cy="228600"/>
          </a:xfrm>
          <a:prstGeom prst="rect">
            <a:avLst/>
          </a:prstGeom>
          <a:noFill/>
          <a:ln/>
        </p:spPr>
        <p:txBody>
          <a:bodyPr wrap="square" lIns="0" tIns="0" rIns="0" bIns="0" rtlCol="0" anchor="ctr"/>
          <a:lstStyle/>
          <a:p>
            <a:pPr marL="0" indent="0">
              <a:buNone/>
            </a:pPr>
            <a:r>
              <a:rPr lang="en-US" sz="950" dirty="0">
                <a:solidFill>
                  <a:srgbClr val="0F2E42"/>
                </a:solidFill>
                <a:latin typeface="Calibri" pitchFamily="34" charset="0"/>
                <a:ea typeface="Calibri" pitchFamily="34" charset="-122"/>
                <a:cs typeface="Calibri" pitchFamily="34" charset="-120"/>
              </a:rPr>
              <a:t>Implantación y despliegue</a:t>
            </a:r>
            <a:endParaRPr lang="en-US" sz="950" dirty="0"/>
          </a:p>
        </p:txBody>
      </p:sp>
      <p:sp>
        <p:nvSpPr>
          <p:cNvPr id="64" name="Shape 61"/>
          <p:cNvSpPr/>
          <p:nvPr/>
        </p:nvSpPr>
        <p:spPr>
          <a:xfrm>
            <a:off x="10140696" y="5769864"/>
            <a:ext cx="384048" cy="155448"/>
          </a:xfrm>
          <a:prstGeom prst="roundRect">
            <a:avLst>
              <a:gd name="adj" fmla="val 29412"/>
            </a:avLst>
          </a:prstGeom>
          <a:solidFill>
            <a:srgbClr val="16A394"/>
          </a:solidFill>
          <a:ln w="12700">
            <a:solidFill>
              <a:srgbClr val="16A394"/>
            </a:solidFill>
            <a:prstDash val="solid"/>
          </a:ln>
        </p:spPr>
        <p:txBody>
          <a:bodyPr/>
          <a:lstStyle/>
          <a:p>
            <a:endParaRPr lang="es-CL"/>
          </a:p>
        </p:txBody>
      </p:sp>
      <p:sp>
        <p:nvSpPr>
          <p:cNvPr id="65" name="Shape 62"/>
          <p:cNvSpPr/>
          <p:nvPr/>
        </p:nvSpPr>
        <p:spPr>
          <a:xfrm>
            <a:off x="640080" y="5998464"/>
            <a:ext cx="10607040" cy="228600"/>
          </a:xfrm>
          <a:prstGeom prst="rect">
            <a:avLst/>
          </a:prstGeom>
          <a:solidFill>
            <a:srgbClr val="F2F6F9"/>
          </a:solidFill>
          <a:ln w="12700">
            <a:solidFill>
              <a:srgbClr val="F2F6F9"/>
            </a:solidFill>
            <a:prstDash val="solid"/>
          </a:ln>
        </p:spPr>
        <p:txBody>
          <a:bodyPr/>
          <a:lstStyle/>
          <a:p>
            <a:endParaRPr lang="es-CL"/>
          </a:p>
        </p:txBody>
      </p:sp>
      <p:sp>
        <p:nvSpPr>
          <p:cNvPr id="66" name="Text 63"/>
          <p:cNvSpPr/>
          <p:nvPr/>
        </p:nvSpPr>
        <p:spPr>
          <a:xfrm>
            <a:off x="685800" y="5998464"/>
            <a:ext cx="2468880" cy="228600"/>
          </a:xfrm>
          <a:prstGeom prst="rect">
            <a:avLst/>
          </a:prstGeom>
          <a:noFill/>
          <a:ln/>
        </p:spPr>
        <p:txBody>
          <a:bodyPr wrap="square" lIns="0" tIns="0" rIns="0" bIns="0" rtlCol="0" anchor="ctr"/>
          <a:lstStyle/>
          <a:p>
            <a:pPr marL="0" indent="0">
              <a:buNone/>
            </a:pPr>
            <a:r>
              <a:rPr lang="en-US" sz="950" dirty="0">
                <a:solidFill>
                  <a:srgbClr val="0F2E42"/>
                </a:solidFill>
                <a:latin typeface="Calibri" pitchFamily="34" charset="0"/>
                <a:ea typeface="Calibri" pitchFamily="34" charset="-122"/>
                <a:cs typeface="Calibri" pitchFamily="34" charset="-120"/>
              </a:rPr>
              <a:t>Informe final y defensa</a:t>
            </a:r>
            <a:endParaRPr lang="en-US" sz="950" dirty="0"/>
          </a:p>
        </p:txBody>
      </p:sp>
      <p:sp>
        <p:nvSpPr>
          <p:cNvPr id="67" name="Shape 64"/>
          <p:cNvSpPr/>
          <p:nvPr/>
        </p:nvSpPr>
        <p:spPr>
          <a:xfrm>
            <a:off x="10597896" y="6035040"/>
            <a:ext cx="841248" cy="155448"/>
          </a:xfrm>
          <a:prstGeom prst="roundRect">
            <a:avLst>
              <a:gd name="adj" fmla="val 29412"/>
            </a:avLst>
          </a:prstGeom>
          <a:solidFill>
            <a:srgbClr val="2E7FB8"/>
          </a:solidFill>
          <a:ln w="12700">
            <a:solidFill>
              <a:srgbClr val="2E7FB8"/>
            </a:solidFill>
            <a:prstDash val="solid"/>
          </a:ln>
        </p:spPr>
        <p:txBody>
          <a:bodyPr/>
          <a:lstStyle/>
          <a:p>
            <a:endParaRPr lang="es-CL"/>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548640"/>
          </a:xfrm>
          <a:prstGeom prst="rect">
            <a:avLst/>
          </a:prstGeom>
          <a:noFill/>
          <a:ln/>
        </p:spPr>
        <p:txBody>
          <a:bodyPr wrap="square" lIns="0" tIns="0" rIns="0" bIns="0" rtlCol="0" anchor="ctr"/>
          <a:lstStyle/>
          <a:p>
            <a:pPr marL="0" indent="0">
              <a:buNone/>
            </a:pPr>
            <a:r>
              <a:rPr lang="en-US" sz="3000" b="1" dirty="0">
                <a:solidFill>
                  <a:srgbClr val="0F2E42"/>
                </a:solidFill>
                <a:latin typeface="Calibri" pitchFamily="34" charset="0"/>
                <a:ea typeface="Calibri" pitchFamily="34" charset="-122"/>
                <a:cs typeface="Calibri" pitchFamily="34" charset="-120"/>
              </a:rPr>
              <a:t>Evidencias comprometidas</a:t>
            </a:r>
            <a:endParaRPr lang="en-US" sz="3000" dirty="0"/>
          </a:p>
        </p:txBody>
      </p:sp>
      <p:sp>
        <p:nvSpPr>
          <p:cNvPr id="3" name="Text 1"/>
          <p:cNvSpPr/>
          <p:nvPr/>
        </p:nvSpPr>
        <p:spPr>
          <a:xfrm>
            <a:off x="640080" y="932688"/>
            <a:ext cx="10881360" cy="36576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Productos que documentan el desarrollo del proyecto</a:t>
            </a:r>
            <a:endParaRPr lang="en-US" sz="1500" dirty="0"/>
          </a:p>
        </p:txBody>
      </p:sp>
      <p:pic>
        <p:nvPicPr>
          <p:cNvPr id="4" name="Image 0" descr="/mnt/user-data/outputs/logo/vialnex-isotipo-512.png"/>
          <p:cNvPicPr>
            <a:picLocks noChangeAspect="1"/>
          </p:cNvPicPr>
          <p:nvPr/>
        </p:nvPicPr>
        <p:blipFill>
          <a:blip r:embed="rId3"/>
          <a:stretch>
            <a:fillRect/>
          </a:stretch>
        </p:blipFill>
        <p:spPr>
          <a:xfrm>
            <a:off x="11475720" y="6172200"/>
            <a:ext cx="384048" cy="384048"/>
          </a:xfrm>
          <a:prstGeom prst="rect">
            <a:avLst/>
          </a:prstGeom>
        </p:spPr>
      </p:pic>
      <p:sp>
        <p:nvSpPr>
          <p:cNvPr id="5" name="Shape 2"/>
          <p:cNvSpPr/>
          <p:nvPr/>
        </p:nvSpPr>
        <p:spPr>
          <a:xfrm>
            <a:off x="640080" y="1572768"/>
            <a:ext cx="5303520" cy="384048"/>
          </a:xfrm>
          <a:prstGeom prst="roundRect">
            <a:avLst>
              <a:gd name="adj" fmla="val 14286"/>
            </a:avLst>
          </a:prstGeom>
          <a:solidFill>
            <a:srgbClr val="2E7FB8"/>
          </a:solidFill>
          <a:ln w="12700">
            <a:solidFill>
              <a:srgbClr val="2E7FB8"/>
            </a:solidFill>
            <a:prstDash val="solid"/>
          </a:ln>
        </p:spPr>
        <p:txBody>
          <a:bodyPr/>
          <a:lstStyle/>
          <a:p>
            <a:endParaRPr lang="es-CL"/>
          </a:p>
        </p:txBody>
      </p:sp>
      <p:sp>
        <p:nvSpPr>
          <p:cNvPr id="6" name="Text 3"/>
          <p:cNvSpPr/>
          <p:nvPr/>
        </p:nvSpPr>
        <p:spPr>
          <a:xfrm>
            <a:off x="640080" y="1572768"/>
            <a:ext cx="530352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Informe de avance</a:t>
            </a:r>
            <a:endParaRPr lang="en-US" sz="1200" dirty="0"/>
          </a:p>
        </p:txBody>
      </p:sp>
      <p:sp>
        <p:nvSpPr>
          <p:cNvPr id="7" name="Shape 4"/>
          <p:cNvSpPr/>
          <p:nvPr/>
        </p:nvSpPr>
        <p:spPr>
          <a:xfrm>
            <a:off x="6217920" y="1572768"/>
            <a:ext cx="5303520" cy="384048"/>
          </a:xfrm>
          <a:prstGeom prst="roundRect">
            <a:avLst>
              <a:gd name="adj" fmla="val 14286"/>
            </a:avLst>
          </a:prstGeom>
          <a:solidFill>
            <a:srgbClr val="16A394"/>
          </a:solidFill>
          <a:ln w="12700">
            <a:solidFill>
              <a:srgbClr val="16A394"/>
            </a:solidFill>
            <a:prstDash val="solid"/>
          </a:ln>
        </p:spPr>
        <p:txBody>
          <a:bodyPr/>
          <a:lstStyle/>
          <a:p>
            <a:endParaRPr lang="es-CL"/>
          </a:p>
        </p:txBody>
      </p:sp>
      <p:sp>
        <p:nvSpPr>
          <p:cNvPr id="8" name="Text 5"/>
          <p:cNvSpPr/>
          <p:nvPr/>
        </p:nvSpPr>
        <p:spPr>
          <a:xfrm>
            <a:off x="6217920" y="1572768"/>
            <a:ext cx="530352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Informe final</a:t>
            </a:r>
            <a:endParaRPr lang="en-US" sz="1200" dirty="0"/>
          </a:p>
        </p:txBody>
      </p:sp>
      <p:sp>
        <p:nvSpPr>
          <p:cNvPr id="9" name="Shape 6"/>
          <p:cNvSpPr/>
          <p:nvPr/>
        </p:nvSpPr>
        <p:spPr>
          <a:xfrm>
            <a:off x="640080" y="2148840"/>
            <a:ext cx="5303520" cy="731520"/>
          </a:xfrm>
          <a:prstGeom prst="roundRect">
            <a:avLst>
              <a:gd name="adj" fmla="val 8750"/>
            </a:avLst>
          </a:prstGeom>
          <a:solidFill>
            <a:srgbClr val="FFFFFF"/>
          </a:solidFill>
          <a:ln w="12700">
            <a:solidFill>
              <a:srgbClr val="D8E2E9"/>
            </a:solidFill>
            <a:prstDash val="solid"/>
          </a:ln>
        </p:spPr>
        <p:txBody>
          <a:bodyPr/>
          <a:lstStyle/>
          <a:p>
            <a:endParaRPr lang="es-CL"/>
          </a:p>
        </p:txBody>
      </p:sp>
      <p:sp>
        <p:nvSpPr>
          <p:cNvPr id="10" name="Shape 7"/>
          <p:cNvSpPr/>
          <p:nvPr/>
        </p:nvSpPr>
        <p:spPr>
          <a:xfrm>
            <a:off x="868680" y="2441448"/>
            <a:ext cx="164592" cy="164592"/>
          </a:xfrm>
          <a:prstGeom prst="ellipse">
            <a:avLst/>
          </a:prstGeom>
          <a:solidFill>
            <a:srgbClr val="2E7FB8"/>
          </a:solidFill>
          <a:ln w="12700">
            <a:solidFill>
              <a:srgbClr val="2E7FB8"/>
            </a:solidFill>
            <a:prstDash val="solid"/>
          </a:ln>
        </p:spPr>
        <p:txBody>
          <a:bodyPr/>
          <a:lstStyle/>
          <a:p>
            <a:endParaRPr lang="es-CL"/>
          </a:p>
        </p:txBody>
      </p:sp>
      <p:sp>
        <p:nvSpPr>
          <p:cNvPr id="11" name="Text 8"/>
          <p:cNvSpPr/>
          <p:nvPr/>
        </p:nvSpPr>
        <p:spPr>
          <a:xfrm>
            <a:off x="1143000" y="2249424"/>
            <a:ext cx="4663440" cy="256032"/>
          </a:xfrm>
          <a:prstGeom prst="rect">
            <a:avLst/>
          </a:prstGeom>
          <a:noFill/>
          <a:ln/>
        </p:spPr>
        <p:txBody>
          <a:bodyPr wrap="square" lIns="0" tIns="0" rIns="0" bIns="0" rtlCol="0" anchor="ctr"/>
          <a:lstStyle/>
          <a:p>
            <a:pPr marL="0" indent="0">
              <a:buNone/>
            </a:pPr>
            <a:r>
              <a:rPr lang="en-US" sz="1200" b="1" dirty="0">
                <a:solidFill>
                  <a:srgbClr val="0F2E42"/>
                </a:solidFill>
                <a:latin typeface="Calibri" pitchFamily="34" charset="0"/>
                <a:ea typeface="Calibri" pitchFamily="34" charset="-122"/>
                <a:cs typeface="Calibri" pitchFamily="34" charset="-120"/>
              </a:rPr>
              <a:t>Documento de requerimientos</a:t>
            </a:r>
            <a:endParaRPr lang="en-US" sz="1200" dirty="0"/>
          </a:p>
        </p:txBody>
      </p:sp>
      <p:sp>
        <p:nvSpPr>
          <p:cNvPr id="12" name="Text 9"/>
          <p:cNvSpPr/>
          <p:nvPr/>
        </p:nvSpPr>
        <p:spPr>
          <a:xfrm>
            <a:off x="1143000" y="2532888"/>
            <a:ext cx="4663440" cy="274320"/>
          </a:xfrm>
          <a:prstGeom prst="rect">
            <a:avLst/>
          </a:prstGeom>
          <a:noFill/>
          <a:ln/>
        </p:spPr>
        <p:txBody>
          <a:bodyPr wrap="square" lIns="0" tIns="0" rIns="0" bIns="0" rtlCol="0" anchor="ctr"/>
          <a:lstStyle/>
          <a:p>
            <a:pPr marL="0" indent="0">
              <a:buNone/>
            </a:pPr>
            <a:r>
              <a:rPr lang="en-US" sz="1000" dirty="0">
                <a:solidFill>
                  <a:srgbClr val="5A6B78"/>
                </a:solidFill>
                <a:latin typeface="Calibri" pitchFamily="34" charset="0"/>
                <a:ea typeface="Calibri" pitchFamily="34" charset="-122"/>
                <a:cs typeface="Calibri" pitchFamily="34" charset="-120"/>
              </a:rPr>
              <a:t>Procesos, historias de usuario y alcance definido</a:t>
            </a:r>
            <a:endParaRPr lang="en-US" sz="1000" dirty="0"/>
          </a:p>
        </p:txBody>
      </p:sp>
      <p:sp>
        <p:nvSpPr>
          <p:cNvPr id="13" name="Shape 10"/>
          <p:cNvSpPr/>
          <p:nvPr/>
        </p:nvSpPr>
        <p:spPr>
          <a:xfrm>
            <a:off x="640080" y="2990088"/>
            <a:ext cx="5303520" cy="731520"/>
          </a:xfrm>
          <a:prstGeom prst="roundRect">
            <a:avLst>
              <a:gd name="adj" fmla="val 8750"/>
            </a:avLst>
          </a:prstGeom>
          <a:solidFill>
            <a:srgbClr val="FFFFFF"/>
          </a:solidFill>
          <a:ln w="12700">
            <a:solidFill>
              <a:srgbClr val="D8E2E9"/>
            </a:solidFill>
            <a:prstDash val="solid"/>
          </a:ln>
        </p:spPr>
        <p:txBody>
          <a:bodyPr/>
          <a:lstStyle/>
          <a:p>
            <a:endParaRPr lang="es-CL"/>
          </a:p>
        </p:txBody>
      </p:sp>
      <p:sp>
        <p:nvSpPr>
          <p:cNvPr id="14" name="Shape 11"/>
          <p:cNvSpPr/>
          <p:nvPr/>
        </p:nvSpPr>
        <p:spPr>
          <a:xfrm>
            <a:off x="868680" y="3282696"/>
            <a:ext cx="164592" cy="164592"/>
          </a:xfrm>
          <a:prstGeom prst="ellipse">
            <a:avLst/>
          </a:prstGeom>
          <a:solidFill>
            <a:srgbClr val="2E7FB8"/>
          </a:solidFill>
          <a:ln w="12700">
            <a:solidFill>
              <a:srgbClr val="2E7FB8"/>
            </a:solidFill>
            <a:prstDash val="solid"/>
          </a:ln>
        </p:spPr>
        <p:txBody>
          <a:bodyPr/>
          <a:lstStyle/>
          <a:p>
            <a:endParaRPr lang="es-CL"/>
          </a:p>
        </p:txBody>
      </p:sp>
      <p:sp>
        <p:nvSpPr>
          <p:cNvPr id="15" name="Text 12"/>
          <p:cNvSpPr/>
          <p:nvPr/>
        </p:nvSpPr>
        <p:spPr>
          <a:xfrm>
            <a:off x="1143000" y="3090672"/>
            <a:ext cx="4663440" cy="256032"/>
          </a:xfrm>
          <a:prstGeom prst="rect">
            <a:avLst/>
          </a:prstGeom>
          <a:noFill/>
          <a:ln/>
        </p:spPr>
        <p:txBody>
          <a:bodyPr wrap="square" lIns="0" tIns="0" rIns="0" bIns="0" rtlCol="0" anchor="ctr"/>
          <a:lstStyle/>
          <a:p>
            <a:pPr marL="0" indent="0">
              <a:buNone/>
            </a:pPr>
            <a:r>
              <a:rPr lang="en-US" sz="1200" b="1" dirty="0">
                <a:solidFill>
                  <a:srgbClr val="0F2E42"/>
                </a:solidFill>
                <a:latin typeface="Calibri" pitchFamily="34" charset="0"/>
                <a:ea typeface="Calibri" pitchFamily="34" charset="-122"/>
                <a:cs typeface="Calibri" pitchFamily="34" charset="-120"/>
              </a:rPr>
              <a:t>Modelo y diccionario de datos</a:t>
            </a:r>
            <a:endParaRPr lang="en-US" sz="1200" dirty="0"/>
          </a:p>
        </p:txBody>
      </p:sp>
      <p:sp>
        <p:nvSpPr>
          <p:cNvPr id="16" name="Text 13"/>
          <p:cNvSpPr/>
          <p:nvPr/>
        </p:nvSpPr>
        <p:spPr>
          <a:xfrm>
            <a:off x="1143000" y="3374136"/>
            <a:ext cx="4663440" cy="274320"/>
          </a:xfrm>
          <a:prstGeom prst="rect">
            <a:avLst/>
          </a:prstGeom>
          <a:noFill/>
          <a:ln/>
        </p:spPr>
        <p:txBody>
          <a:bodyPr wrap="square" lIns="0" tIns="0" rIns="0" bIns="0" rtlCol="0" anchor="ctr"/>
          <a:lstStyle/>
          <a:p>
            <a:pPr marL="0" indent="0">
              <a:buNone/>
            </a:pPr>
            <a:r>
              <a:rPr lang="en-US" sz="1000" dirty="0">
                <a:solidFill>
                  <a:srgbClr val="5A6B78"/>
                </a:solidFill>
                <a:latin typeface="Calibri" pitchFamily="34" charset="0"/>
                <a:ea typeface="Calibri" pitchFamily="34" charset="-122"/>
                <a:cs typeface="Calibri" pitchFamily="34" charset="-120"/>
              </a:rPr>
              <a:t>Fundamento técnico de la integración entre módulos</a:t>
            </a:r>
            <a:endParaRPr lang="en-US" sz="1000" dirty="0"/>
          </a:p>
        </p:txBody>
      </p:sp>
      <p:sp>
        <p:nvSpPr>
          <p:cNvPr id="17" name="Shape 14"/>
          <p:cNvSpPr/>
          <p:nvPr/>
        </p:nvSpPr>
        <p:spPr>
          <a:xfrm>
            <a:off x="640080" y="3831336"/>
            <a:ext cx="5303520" cy="731520"/>
          </a:xfrm>
          <a:prstGeom prst="roundRect">
            <a:avLst>
              <a:gd name="adj" fmla="val 8750"/>
            </a:avLst>
          </a:prstGeom>
          <a:solidFill>
            <a:srgbClr val="FFFFFF"/>
          </a:solidFill>
          <a:ln w="12700">
            <a:solidFill>
              <a:srgbClr val="D8E2E9"/>
            </a:solidFill>
            <a:prstDash val="solid"/>
          </a:ln>
        </p:spPr>
        <p:txBody>
          <a:bodyPr/>
          <a:lstStyle/>
          <a:p>
            <a:endParaRPr lang="es-CL"/>
          </a:p>
        </p:txBody>
      </p:sp>
      <p:sp>
        <p:nvSpPr>
          <p:cNvPr id="18" name="Shape 15"/>
          <p:cNvSpPr/>
          <p:nvPr/>
        </p:nvSpPr>
        <p:spPr>
          <a:xfrm>
            <a:off x="868680" y="4123944"/>
            <a:ext cx="164592" cy="164592"/>
          </a:xfrm>
          <a:prstGeom prst="ellipse">
            <a:avLst/>
          </a:prstGeom>
          <a:solidFill>
            <a:srgbClr val="2E7FB8"/>
          </a:solidFill>
          <a:ln w="12700">
            <a:solidFill>
              <a:srgbClr val="2E7FB8"/>
            </a:solidFill>
            <a:prstDash val="solid"/>
          </a:ln>
        </p:spPr>
        <p:txBody>
          <a:bodyPr/>
          <a:lstStyle/>
          <a:p>
            <a:endParaRPr lang="es-CL"/>
          </a:p>
        </p:txBody>
      </p:sp>
      <p:sp>
        <p:nvSpPr>
          <p:cNvPr id="19" name="Text 16"/>
          <p:cNvSpPr/>
          <p:nvPr/>
        </p:nvSpPr>
        <p:spPr>
          <a:xfrm>
            <a:off x="1143000" y="3931920"/>
            <a:ext cx="4663440" cy="256032"/>
          </a:xfrm>
          <a:prstGeom prst="rect">
            <a:avLst/>
          </a:prstGeom>
          <a:noFill/>
          <a:ln/>
        </p:spPr>
        <p:txBody>
          <a:bodyPr wrap="square" lIns="0" tIns="0" rIns="0" bIns="0" rtlCol="0" anchor="ctr"/>
          <a:lstStyle/>
          <a:p>
            <a:pPr marL="0" indent="0">
              <a:buNone/>
            </a:pPr>
            <a:r>
              <a:rPr lang="en-US" sz="1200" b="1" dirty="0">
                <a:solidFill>
                  <a:srgbClr val="0F2E42"/>
                </a:solidFill>
                <a:latin typeface="Calibri" pitchFamily="34" charset="0"/>
                <a:ea typeface="Calibri" pitchFamily="34" charset="-122"/>
                <a:cs typeface="Calibri" pitchFamily="34" charset="-120"/>
              </a:rPr>
              <a:t>Prototipos de interfaz</a:t>
            </a:r>
            <a:endParaRPr lang="en-US" sz="1200" dirty="0"/>
          </a:p>
        </p:txBody>
      </p:sp>
      <p:sp>
        <p:nvSpPr>
          <p:cNvPr id="20" name="Text 17"/>
          <p:cNvSpPr/>
          <p:nvPr/>
        </p:nvSpPr>
        <p:spPr>
          <a:xfrm>
            <a:off x="1143000" y="4215384"/>
            <a:ext cx="4663440" cy="274320"/>
          </a:xfrm>
          <a:prstGeom prst="rect">
            <a:avLst/>
          </a:prstGeom>
          <a:noFill/>
          <a:ln/>
        </p:spPr>
        <p:txBody>
          <a:bodyPr wrap="square" lIns="0" tIns="0" rIns="0" bIns="0" rtlCol="0" anchor="ctr"/>
          <a:lstStyle/>
          <a:p>
            <a:pPr marL="0" indent="0">
              <a:buNone/>
            </a:pPr>
            <a:r>
              <a:rPr lang="en-US" sz="1000" dirty="0">
                <a:solidFill>
                  <a:srgbClr val="5A6B78"/>
                </a:solidFill>
                <a:latin typeface="Calibri" pitchFamily="34" charset="0"/>
                <a:ea typeface="Calibri" pitchFamily="34" charset="-122"/>
                <a:cs typeface="Calibri" pitchFamily="34" charset="-120"/>
              </a:rPr>
              <a:t>Validación temprana antes de comprometer construcción</a:t>
            </a:r>
            <a:endParaRPr lang="en-US" sz="1000" dirty="0"/>
          </a:p>
        </p:txBody>
      </p:sp>
      <p:sp>
        <p:nvSpPr>
          <p:cNvPr id="21" name="Shape 18"/>
          <p:cNvSpPr/>
          <p:nvPr/>
        </p:nvSpPr>
        <p:spPr>
          <a:xfrm>
            <a:off x="640080" y="4672584"/>
            <a:ext cx="5303520" cy="731520"/>
          </a:xfrm>
          <a:prstGeom prst="roundRect">
            <a:avLst>
              <a:gd name="adj" fmla="val 8750"/>
            </a:avLst>
          </a:prstGeom>
          <a:solidFill>
            <a:srgbClr val="FFFFFF"/>
          </a:solidFill>
          <a:ln w="12700">
            <a:solidFill>
              <a:srgbClr val="D8E2E9"/>
            </a:solidFill>
            <a:prstDash val="solid"/>
          </a:ln>
        </p:spPr>
        <p:txBody>
          <a:bodyPr/>
          <a:lstStyle/>
          <a:p>
            <a:endParaRPr lang="es-CL"/>
          </a:p>
        </p:txBody>
      </p:sp>
      <p:sp>
        <p:nvSpPr>
          <p:cNvPr id="22" name="Shape 19"/>
          <p:cNvSpPr/>
          <p:nvPr/>
        </p:nvSpPr>
        <p:spPr>
          <a:xfrm>
            <a:off x="868680" y="4965192"/>
            <a:ext cx="164592" cy="164592"/>
          </a:xfrm>
          <a:prstGeom prst="ellipse">
            <a:avLst/>
          </a:prstGeom>
          <a:solidFill>
            <a:srgbClr val="2E7FB8"/>
          </a:solidFill>
          <a:ln w="12700">
            <a:solidFill>
              <a:srgbClr val="2E7FB8"/>
            </a:solidFill>
            <a:prstDash val="solid"/>
          </a:ln>
        </p:spPr>
        <p:txBody>
          <a:bodyPr/>
          <a:lstStyle/>
          <a:p>
            <a:endParaRPr lang="es-CL"/>
          </a:p>
        </p:txBody>
      </p:sp>
      <p:sp>
        <p:nvSpPr>
          <p:cNvPr id="23" name="Text 20"/>
          <p:cNvSpPr/>
          <p:nvPr/>
        </p:nvSpPr>
        <p:spPr>
          <a:xfrm>
            <a:off x="1143000" y="4773168"/>
            <a:ext cx="4663440" cy="256032"/>
          </a:xfrm>
          <a:prstGeom prst="rect">
            <a:avLst/>
          </a:prstGeom>
          <a:noFill/>
          <a:ln/>
        </p:spPr>
        <p:txBody>
          <a:bodyPr wrap="square" lIns="0" tIns="0" rIns="0" bIns="0" rtlCol="0" anchor="ctr"/>
          <a:lstStyle/>
          <a:p>
            <a:pPr marL="0" indent="0">
              <a:buNone/>
            </a:pPr>
            <a:r>
              <a:rPr lang="en-US" sz="1200" b="1" dirty="0">
                <a:solidFill>
                  <a:srgbClr val="0F2E42"/>
                </a:solidFill>
                <a:latin typeface="Calibri" pitchFamily="34" charset="0"/>
                <a:ea typeface="Calibri" pitchFamily="34" charset="-122"/>
                <a:cs typeface="Calibri" pitchFamily="34" charset="-120"/>
              </a:rPr>
              <a:t>Repositorio con el núcleo funcional</a:t>
            </a:r>
            <a:endParaRPr lang="en-US" sz="1200" dirty="0"/>
          </a:p>
        </p:txBody>
      </p:sp>
      <p:sp>
        <p:nvSpPr>
          <p:cNvPr id="24" name="Text 21"/>
          <p:cNvSpPr/>
          <p:nvPr/>
        </p:nvSpPr>
        <p:spPr>
          <a:xfrm>
            <a:off x="1143000" y="5056632"/>
            <a:ext cx="4663440" cy="274320"/>
          </a:xfrm>
          <a:prstGeom prst="rect">
            <a:avLst/>
          </a:prstGeom>
          <a:noFill/>
          <a:ln/>
        </p:spPr>
        <p:txBody>
          <a:bodyPr wrap="square" lIns="0" tIns="0" rIns="0" bIns="0" rtlCol="0" anchor="ctr"/>
          <a:lstStyle/>
          <a:p>
            <a:pPr marL="0" indent="0">
              <a:buNone/>
            </a:pPr>
            <a:r>
              <a:rPr lang="en-US" sz="1000" dirty="0">
                <a:solidFill>
                  <a:srgbClr val="5A6B78"/>
                </a:solidFill>
                <a:latin typeface="Calibri" pitchFamily="34" charset="0"/>
                <a:ea typeface="Calibri" pitchFamily="34" charset="-122"/>
                <a:cs typeface="Calibri" pitchFamily="34" charset="-120"/>
              </a:rPr>
              <a:t>Pedidos, rutas y documental operativos</a:t>
            </a:r>
            <a:endParaRPr lang="en-US" sz="1000" dirty="0"/>
          </a:p>
        </p:txBody>
      </p:sp>
      <p:sp>
        <p:nvSpPr>
          <p:cNvPr id="25" name="Shape 22"/>
          <p:cNvSpPr/>
          <p:nvPr/>
        </p:nvSpPr>
        <p:spPr>
          <a:xfrm>
            <a:off x="640080" y="5513832"/>
            <a:ext cx="5303520" cy="731520"/>
          </a:xfrm>
          <a:prstGeom prst="roundRect">
            <a:avLst>
              <a:gd name="adj" fmla="val 8750"/>
            </a:avLst>
          </a:prstGeom>
          <a:solidFill>
            <a:srgbClr val="FFFFFF"/>
          </a:solidFill>
          <a:ln w="12700">
            <a:solidFill>
              <a:srgbClr val="D8E2E9"/>
            </a:solidFill>
            <a:prstDash val="solid"/>
          </a:ln>
        </p:spPr>
        <p:txBody>
          <a:bodyPr/>
          <a:lstStyle/>
          <a:p>
            <a:endParaRPr lang="es-CL"/>
          </a:p>
        </p:txBody>
      </p:sp>
      <p:sp>
        <p:nvSpPr>
          <p:cNvPr id="26" name="Shape 23"/>
          <p:cNvSpPr/>
          <p:nvPr/>
        </p:nvSpPr>
        <p:spPr>
          <a:xfrm>
            <a:off x="868680" y="5806440"/>
            <a:ext cx="164592" cy="164592"/>
          </a:xfrm>
          <a:prstGeom prst="ellipse">
            <a:avLst/>
          </a:prstGeom>
          <a:solidFill>
            <a:srgbClr val="2E7FB8"/>
          </a:solidFill>
          <a:ln w="12700">
            <a:solidFill>
              <a:srgbClr val="2E7FB8"/>
            </a:solidFill>
            <a:prstDash val="solid"/>
          </a:ln>
        </p:spPr>
        <p:txBody>
          <a:bodyPr/>
          <a:lstStyle/>
          <a:p>
            <a:endParaRPr lang="es-CL"/>
          </a:p>
        </p:txBody>
      </p:sp>
      <p:sp>
        <p:nvSpPr>
          <p:cNvPr id="27" name="Text 24"/>
          <p:cNvSpPr/>
          <p:nvPr/>
        </p:nvSpPr>
        <p:spPr>
          <a:xfrm>
            <a:off x="1143000" y="5614416"/>
            <a:ext cx="4663440" cy="256032"/>
          </a:xfrm>
          <a:prstGeom prst="rect">
            <a:avLst/>
          </a:prstGeom>
          <a:noFill/>
          <a:ln/>
        </p:spPr>
        <p:txBody>
          <a:bodyPr wrap="square" lIns="0" tIns="0" rIns="0" bIns="0" rtlCol="0" anchor="ctr"/>
          <a:lstStyle/>
          <a:p>
            <a:pPr marL="0" indent="0">
              <a:buNone/>
            </a:pPr>
            <a:r>
              <a:rPr lang="en-US" sz="1200" b="1" dirty="0">
                <a:solidFill>
                  <a:srgbClr val="0F2E42"/>
                </a:solidFill>
                <a:latin typeface="Calibri" pitchFamily="34" charset="0"/>
                <a:ea typeface="Calibri" pitchFamily="34" charset="-122"/>
                <a:cs typeface="Calibri" pitchFamily="34" charset="-120"/>
              </a:rPr>
              <a:t>Carta Gantt y bitácora de avance</a:t>
            </a:r>
            <a:endParaRPr lang="en-US" sz="1200" dirty="0"/>
          </a:p>
        </p:txBody>
      </p:sp>
      <p:sp>
        <p:nvSpPr>
          <p:cNvPr id="28" name="Text 25"/>
          <p:cNvSpPr/>
          <p:nvPr/>
        </p:nvSpPr>
        <p:spPr>
          <a:xfrm>
            <a:off x="1143000" y="5897880"/>
            <a:ext cx="4663440" cy="274320"/>
          </a:xfrm>
          <a:prstGeom prst="rect">
            <a:avLst/>
          </a:prstGeom>
          <a:noFill/>
          <a:ln/>
        </p:spPr>
        <p:txBody>
          <a:bodyPr wrap="square" lIns="0" tIns="0" rIns="0" bIns="0" rtlCol="0" anchor="ctr"/>
          <a:lstStyle/>
          <a:p>
            <a:pPr marL="0" indent="0">
              <a:buNone/>
            </a:pPr>
            <a:r>
              <a:rPr lang="en-US" sz="1000" dirty="0">
                <a:solidFill>
                  <a:srgbClr val="5A6B78"/>
                </a:solidFill>
                <a:latin typeface="Calibri" pitchFamily="34" charset="0"/>
                <a:ea typeface="Calibri" pitchFamily="34" charset="-122"/>
                <a:cs typeface="Calibri" pitchFamily="34" charset="-120"/>
              </a:rPr>
              <a:t>Evidencia de planificación y control</a:t>
            </a:r>
            <a:endParaRPr lang="en-US" sz="1000" dirty="0"/>
          </a:p>
        </p:txBody>
      </p:sp>
      <p:sp>
        <p:nvSpPr>
          <p:cNvPr id="29" name="Shape 26"/>
          <p:cNvSpPr/>
          <p:nvPr/>
        </p:nvSpPr>
        <p:spPr>
          <a:xfrm>
            <a:off x="6217920" y="2148840"/>
            <a:ext cx="5303520" cy="731520"/>
          </a:xfrm>
          <a:prstGeom prst="roundRect">
            <a:avLst>
              <a:gd name="adj" fmla="val 8750"/>
            </a:avLst>
          </a:prstGeom>
          <a:solidFill>
            <a:srgbClr val="FFFFFF"/>
          </a:solidFill>
          <a:ln w="12700">
            <a:solidFill>
              <a:srgbClr val="D8E2E9"/>
            </a:solidFill>
            <a:prstDash val="solid"/>
          </a:ln>
        </p:spPr>
        <p:txBody>
          <a:bodyPr/>
          <a:lstStyle/>
          <a:p>
            <a:endParaRPr lang="es-CL"/>
          </a:p>
        </p:txBody>
      </p:sp>
      <p:sp>
        <p:nvSpPr>
          <p:cNvPr id="30" name="Shape 27"/>
          <p:cNvSpPr/>
          <p:nvPr/>
        </p:nvSpPr>
        <p:spPr>
          <a:xfrm>
            <a:off x="6446520" y="2441448"/>
            <a:ext cx="164592" cy="164592"/>
          </a:xfrm>
          <a:prstGeom prst="ellipse">
            <a:avLst/>
          </a:prstGeom>
          <a:solidFill>
            <a:srgbClr val="16A394"/>
          </a:solidFill>
          <a:ln w="12700">
            <a:solidFill>
              <a:srgbClr val="16A394"/>
            </a:solidFill>
            <a:prstDash val="solid"/>
          </a:ln>
        </p:spPr>
        <p:txBody>
          <a:bodyPr/>
          <a:lstStyle/>
          <a:p>
            <a:endParaRPr lang="es-CL"/>
          </a:p>
        </p:txBody>
      </p:sp>
      <p:sp>
        <p:nvSpPr>
          <p:cNvPr id="31" name="Text 28"/>
          <p:cNvSpPr/>
          <p:nvPr/>
        </p:nvSpPr>
        <p:spPr>
          <a:xfrm>
            <a:off x="6720840" y="2249424"/>
            <a:ext cx="4663440" cy="256032"/>
          </a:xfrm>
          <a:prstGeom prst="rect">
            <a:avLst/>
          </a:prstGeom>
          <a:noFill/>
          <a:ln/>
        </p:spPr>
        <p:txBody>
          <a:bodyPr wrap="square" lIns="0" tIns="0" rIns="0" bIns="0" rtlCol="0" anchor="ctr"/>
          <a:lstStyle/>
          <a:p>
            <a:pPr marL="0" indent="0">
              <a:buNone/>
            </a:pPr>
            <a:r>
              <a:rPr lang="en-US" sz="1200" b="1" dirty="0">
                <a:solidFill>
                  <a:srgbClr val="0F2E42"/>
                </a:solidFill>
                <a:latin typeface="Calibri" pitchFamily="34" charset="0"/>
                <a:ea typeface="Calibri" pitchFamily="34" charset="-122"/>
                <a:cs typeface="Calibri" pitchFamily="34" charset="-120"/>
              </a:rPr>
              <a:t>Plataforma vialNex desplegada</a:t>
            </a:r>
            <a:endParaRPr lang="en-US" sz="1200" dirty="0"/>
          </a:p>
        </p:txBody>
      </p:sp>
      <p:sp>
        <p:nvSpPr>
          <p:cNvPr id="32" name="Text 29"/>
          <p:cNvSpPr/>
          <p:nvPr/>
        </p:nvSpPr>
        <p:spPr>
          <a:xfrm>
            <a:off x="6720840" y="2532888"/>
            <a:ext cx="4663440" cy="274320"/>
          </a:xfrm>
          <a:prstGeom prst="rect">
            <a:avLst/>
          </a:prstGeom>
          <a:noFill/>
          <a:ln/>
        </p:spPr>
        <p:txBody>
          <a:bodyPr wrap="square" lIns="0" tIns="0" rIns="0" bIns="0" rtlCol="0" anchor="ctr"/>
          <a:lstStyle/>
          <a:p>
            <a:pPr marL="0" indent="0">
              <a:buNone/>
            </a:pPr>
            <a:r>
              <a:rPr lang="en-US" sz="1000" dirty="0">
                <a:solidFill>
                  <a:srgbClr val="5A6B78"/>
                </a:solidFill>
                <a:latin typeface="Calibri" pitchFamily="34" charset="0"/>
                <a:ea typeface="Calibri" pitchFamily="34" charset="-122"/>
                <a:cs typeface="Calibri" pitchFamily="34" charset="-120"/>
              </a:rPr>
              <a:t>Seis módulos integrados en ambiente de prueba</a:t>
            </a:r>
            <a:endParaRPr lang="en-US" sz="1000" dirty="0"/>
          </a:p>
        </p:txBody>
      </p:sp>
      <p:sp>
        <p:nvSpPr>
          <p:cNvPr id="33" name="Shape 30"/>
          <p:cNvSpPr/>
          <p:nvPr/>
        </p:nvSpPr>
        <p:spPr>
          <a:xfrm>
            <a:off x="6217920" y="2990088"/>
            <a:ext cx="5303520" cy="731520"/>
          </a:xfrm>
          <a:prstGeom prst="roundRect">
            <a:avLst>
              <a:gd name="adj" fmla="val 8750"/>
            </a:avLst>
          </a:prstGeom>
          <a:solidFill>
            <a:srgbClr val="FFFFFF"/>
          </a:solidFill>
          <a:ln w="12700">
            <a:solidFill>
              <a:srgbClr val="D8E2E9"/>
            </a:solidFill>
            <a:prstDash val="solid"/>
          </a:ln>
        </p:spPr>
        <p:txBody>
          <a:bodyPr/>
          <a:lstStyle/>
          <a:p>
            <a:endParaRPr lang="es-CL"/>
          </a:p>
        </p:txBody>
      </p:sp>
      <p:sp>
        <p:nvSpPr>
          <p:cNvPr id="34" name="Shape 31"/>
          <p:cNvSpPr/>
          <p:nvPr/>
        </p:nvSpPr>
        <p:spPr>
          <a:xfrm>
            <a:off x="6446520" y="3282696"/>
            <a:ext cx="164592" cy="164592"/>
          </a:xfrm>
          <a:prstGeom prst="ellipse">
            <a:avLst/>
          </a:prstGeom>
          <a:solidFill>
            <a:srgbClr val="16A394"/>
          </a:solidFill>
          <a:ln w="12700">
            <a:solidFill>
              <a:srgbClr val="16A394"/>
            </a:solidFill>
            <a:prstDash val="solid"/>
          </a:ln>
        </p:spPr>
        <p:txBody>
          <a:bodyPr/>
          <a:lstStyle/>
          <a:p>
            <a:endParaRPr lang="es-CL"/>
          </a:p>
        </p:txBody>
      </p:sp>
      <p:sp>
        <p:nvSpPr>
          <p:cNvPr id="35" name="Text 32"/>
          <p:cNvSpPr/>
          <p:nvPr/>
        </p:nvSpPr>
        <p:spPr>
          <a:xfrm>
            <a:off x="6720840" y="3090672"/>
            <a:ext cx="4663440" cy="256032"/>
          </a:xfrm>
          <a:prstGeom prst="rect">
            <a:avLst/>
          </a:prstGeom>
          <a:noFill/>
          <a:ln/>
        </p:spPr>
        <p:txBody>
          <a:bodyPr wrap="square" lIns="0" tIns="0" rIns="0" bIns="0" rtlCol="0" anchor="ctr"/>
          <a:lstStyle/>
          <a:p>
            <a:pPr marL="0" indent="0">
              <a:buNone/>
            </a:pPr>
            <a:r>
              <a:rPr lang="en-US" sz="1200" b="1" dirty="0">
                <a:solidFill>
                  <a:srgbClr val="0F2E42"/>
                </a:solidFill>
                <a:latin typeface="Calibri" pitchFamily="34" charset="0"/>
                <a:ea typeface="Calibri" pitchFamily="34" charset="-122"/>
                <a:cs typeface="Calibri" pitchFamily="34" charset="-120"/>
              </a:rPr>
              <a:t>Plan de pruebas y resultados</a:t>
            </a:r>
            <a:endParaRPr lang="en-US" sz="1200" dirty="0"/>
          </a:p>
        </p:txBody>
      </p:sp>
      <p:sp>
        <p:nvSpPr>
          <p:cNvPr id="36" name="Text 33"/>
          <p:cNvSpPr/>
          <p:nvPr/>
        </p:nvSpPr>
        <p:spPr>
          <a:xfrm>
            <a:off x="6720840" y="3374136"/>
            <a:ext cx="4663440" cy="274320"/>
          </a:xfrm>
          <a:prstGeom prst="rect">
            <a:avLst/>
          </a:prstGeom>
          <a:noFill/>
          <a:ln/>
        </p:spPr>
        <p:txBody>
          <a:bodyPr wrap="square" lIns="0" tIns="0" rIns="0" bIns="0" rtlCol="0" anchor="ctr"/>
          <a:lstStyle/>
          <a:p>
            <a:pPr marL="0" indent="0">
              <a:buNone/>
            </a:pPr>
            <a:r>
              <a:rPr lang="en-US" sz="1000" dirty="0">
                <a:solidFill>
                  <a:srgbClr val="5A6B78"/>
                </a:solidFill>
                <a:latin typeface="Calibri" pitchFamily="34" charset="0"/>
                <a:ea typeface="Calibri" pitchFamily="34" charset="-122"/>
                <a:cs typeface="Calibri" pitchFamily="34" charset="-120"/>
              </a:rPr>
              <a:t>Casos, hallazgos y mejoras aplicadas</a:t>
            </a:r>
            <a:endParaRPr lang="en-US" sz="1000" dirty="0"/>
          </a:p>
        </p:txBody>
      </p:sp>
      <p:sp>
        <p:nvSpPr>
          <p:cNvPr id="37" name="Shape 34"/>
          <p:cNvSpPr/>
          <p:nvPr/>
        </p:nvSpPr>
        <p:spPr>
          <a:xfrm>
            <a:off x="6217920" y="3831336"/>
            <a:ext cx="5303520" cy="731520"/>
          </a:xfrm>
          <a:prstGeom prst="roundRect">
            <a:avLst>
              <a:gd name="adj" fmla="val 8750"/>
            </a:avLst>
          </a:prstGeom>
          <a:solidFill>
            <a:srgbClr val="FFFFFF"/>
          </a:solidFill>
          <a:ln w="12700">
            <a:solidFill>
              <a:srgbClr val="D8E2E9"/>
            </a:solidFill>
            <a:prstDash val="solid"/>
          </a:ln>
        </p:spPr>
        <p:txBody>
          <a:bodyPr/>
          <a:lstStyle/>
          <a:p>
            <a:endParaRPr lang="es-CL"/>
          </a:p>
        </p:txBody>
      </p:sp>
      <p:sp>
        <p:nvSpPr>
          <p:cNvPr id="38" name="Shape 35"/>
          <p:cNvSpPr/>
          <p:nvPr/>
        </p:nvSpPr>
        <p:spPr>
          <a:xfrm>
            <a:off x="6446520" y="4123944"/>
            <a:ext cx="164592" cy="164592"/>
          </a:xfrm>
          <a:prstGeom prst="ellipse">
            <a:avLst/>
          </a:prstGeom>
          <a:solidFill>
            <a:srgbClr val="16A394"/>
          </a:solidFill>
          <a:ln w="12700">
            <a:solidFill>
              <a:srgbClr val="16A394"/>
            </a:solidFill>
            <a:prstDash val="solid"/>
          </a:ln>
        </p:spPr>
        <p:txBody>
          <a:bodyPr/>
          <a:lstStyle/>
          <a:p>
            <a:endParaRPr lang="es-CL"/>
          </a:p>
        </p:txBody>
      </p:sp>
      <p:sp>
        <p:nvSpPr>
          <p:cNvPr id="39" name="Text 36"/>
          <p:cNvSpPr/>
          <p:nvPr/>
        </p:nvSpPr>
        <p:spPr>
          <a:xfrm>
            <a:off x="6720840" y="3931920"/>
            <a:ext cx="4663440" cy="256032"/>
          </a:xfrm>
          <a:prstGeom prst="rect">
            <a:avLst/>
          </a:prstGeom>
          <a:noFill/>
          <a:ln/>
        </p:spPr>
        <p:txBody>
          <a:bodyPr wrap="square" lIns="0" tIns="0" rIns="0" bIns="0" rtlCol="0" anchor="ctr"/>
          <a:lstStyle/>
          <a:p>
            <a:pPr marL="0" indent="0">
              <a:buNone/>
            </a:pPr>
            <a:r>
              <a:rPr lang="en-US" sz="1200" b="1" dirty="0">
                <a:solidFill>
                  <a:srgbClr val="0F2E42"/>
                </a:solidFill>
                <a:latin typeface="Calibri" pitchFamily="34" charset="0"/>
                <a:ea typeface="Calibri" pitchFamily="34" charset="-122"/>
                <a:cs typeface="Calibri" pitchFamily="34" charset="-120"/>
              </a:rPr>
              <a:t>Manual de usuario y manual técnico</a:t>
            </a:r>
            <a:endParaRPr lang="en-US" sz="1200" dirty="0"/>
          </a:p>
        </p:txBody>
      </p:sp>
      <p:sp>
        <p:nvSpPr>
          <p:cNvPr id="40" name="Text 37"/>
          <p:cNvSpPr/>
          <p:nvPr/>
        </p:nvSpPr>
        <p:spPr>
          <a:xfrm>
            <a:off x="6720840" y="4215384"/>
            <a:ext cx="4663440" cy="274320"/>
          </a:xfrm>
          <a:prstGeom prst="rect">
            <a:avLst/>
          </a:prstGeom>
          <a:noFill/>
          <a:ln/>
        </p:spPr>
        <p:txBody>
          <a:bodyPr wrap="square" lIns="0" tIns="0" rIns="0" bIns="0" rtlCol="0" anchor="ctr"/>
          <a:lstStyle/>
          <a:p>
            <a:pPr marL="0" indent="0">
              <a:buNone/>
            </a:pPr>
            <a:r>
              <a:rPr lang="en-US" sz="1000" dirty="0">
                <a:solidFill>
                  <a:srgbClr val="5A6B78"/>
                </a:solidFill>
                <a:latin typeface="Calibri" pitchFamily="34" charset="0"/>
                <a:ea typeface="Calibri" pitchFamily="34" charset="-122"/>
                <a:cs typeface="Calibri" pitchFamily="34" charset="-120"/>
              </a:rPr>
              <a:t>La solución queda mantenible y transferible</a:t>
            </a:r>
            <a:endParaRPr lang="en-US" sz="1000" dirty="0"/>
          </a:p>
        </p:txBody>
      </p:sp>
      <p:sp>
        <p:nvSpPr>
          <p:cNvPr id="41" name="Shape 38"/>
          <p:cNvSpPr/>
          <p:nvPr/>
        </p:nvSpPr>
        <p:spPr>
          <a:xfrm>
            <a:off x="6217920" y="4672584"/>
            <a:ext cx="5303520" cy="731520"/>
          </a:xfrm>
          <a:prstGeom prst="roundRect">
            <a:avLst>
              <a:gd name="adj" fmla="val 8750"/>
            </a:avLst>
          </a:prstGeom>
          <a:solidFill>
            <a:srgbClr val="FFFFFF"/>
          </a:solidFill>
          <a:ln w="12700">
            <a:solidFill>
              <a:srgbClr val="D8E2E9"/>
            </a:solidFill>
            <a:prstDash val="solid"/>
          </a:ln>
        </p:spPr>
        <p:txBody>
          <a:bodyPr/>
          <a:lstStyle/>
          <a:p>
            <a:endParaRPr lang="es-CL"/>
          </a:p>
        </p:txBody>
      </p:sp>
      <p:sp>
        <p:nvSpPr>
          <p:cNvPr id="42" name="Shape 39"/>
          <p:cNvSpPr/>
          <p:nvPr/>
        </p:nvSpPr>
        <p:spPr>
          <a:xfrm>
            <a:off x="6446520" y="4965192"/>
            <a:ext cx="164592" cy="164592"/>
          </a:xfrm>
          <a:prstGeom prst="ellipse">
            <a:avLst/>
          </a:prstGeom>
          <a:solidFill>
            <a:srgbClr val="16A394"/>
          </a:solidFill>
          <a:ln w="12700">
            <a:solidFill>
              <a:srgbClr val="16A394"/>
            </a:solidFill>
            <a:prstDash val="solid"/>
          </a:ln>
        </p:spPr>
        <p:txBody>
          <a:bodyPr/>
          <a:lstStyle/>
          <a:p>
            <a:endParaRPr lang="es-CL"/>
          </a:p>
        </p:txBody>
      </p:sp>
      <p:sp>
        <p:nvSpPr>
          <p:cNvPr id="43" name="Text 40"/>
          <p:cNvSpPr/>
          <p:nvPr/>
        </p:nvSpPr>
        <p:spPr>
          <a:xfrm>
            <a:off x="6720840" y="4773168"/>
            <a:ext cx="4663440" cy="256032"/>
          </a:xfrm>
          <a:prstGeom prst="rect">
            <a:avLst/>
          </a:prstGeom>
          <a:noFill/>
          <a:ln/>
        </p:spPr>
        <p:txBody>
          <a:bodyPr wrap="square" lIns="0" tIns="0" rIns="0" bIns="0" rtlCol="0" anchor="ctr"/>
          <a:lstStyle/>
          <a:p>
            <a:pPr marL="0" indent="0">
              <a:buNone/>
            </a:pPr>
            <a:r>
              <a:rPr lang="en-US" sz="1200" b="1" dirty="0">
                <a:solidFill>
                  <a:srgbClr val="0F2E42"/>
                </a:solidFill>
                <a:latin typeface="Calibri" pitchFamily="34" charset="0"/>
                <a:ea typeface="Calibri" pitchFamily="34" charset="-122"/>
                <a:cs typeface="Calibri" pitchFamily="34" charset="-120"/>
              </a:rPr>
              <a:t>Informe final y presentación</a:t>
            </a:r>
            <a:endParaRPr lang="en-US" sz="1200" dirty="0"/>
          </a:p>
        </p:txBody>
      </p:sp>
      <p:sp>
        <p:nvSpPr>
          <p:cNvPr id="44" name="Text 41"/>
          <p:cNvSpPr/>
          <p:nvPr/>
        </p:nvSpPr>
        <p:spPr>
          <a:xfrm>
            <a:off x="6720840" y="5056632"/>
            <a:ext cx="4663440" cy="274320"/>
          </a:xfrm>
          <a:prstGeom prst="rect">
            <a:avLst/>
          </a:prstGeom>
          <a:noFill/>
          <a:ln/>
        </p:spPr>
        <p:txBody>
          <a:bodyPr wrap="square" lIns="0" tIns="0" rIns="0" bIns="0" rtlCol="0" anchor="ctr"/>
          <a:lstStyle/>
          <a:p>
            <a:pPr marL="0" indent="0">
              <a:buNone/>
            </a:pPr>
            <a:r>
              <a:rPr lang="en-US" sz="1000" dirty="0">
                <a:solidFill>
                  <a:srgbClr val="5A6B78"/>
                </a:solidFill>
                <a:latin typeface="Calibri" pitchFamily="34" charset="0"/>
                <a:ea typeface="Calibri" pitchFamily="34" charset="-122"/>
                <a:cs typeface="Calibri" pitchFamily="34" charset="-120"/>
              </a:rPr>
              <a:t>Resultados contrastados con los objetivos</a:t>
            </a:r>
            <a:endParaRPr lang="en-US" sz="1000" dirty="0"/>
          </a:p>
        </p:txBody>
      </p:sp>
      <p:sp>
        <p:nvSpPr>
          <p:cNvPr id="45" name="Text 42"/>
          <p:cNvSpPr/>
          <p:nvPr/>
        </p:nvSpPr>
        <p:spPr>
          <a:xfrm>
            <a:off x="6217920" y="5577840"/>
            <a:ext cx="5303520" cy="320040"/>
          </a:xfrm>
          <a:prstGeom prst="rect">
            <a:avLst/>
          </a:prstGeom>
          <a:noFill/>
          <a:ln/>
        </p:spPr>
        <p:txBody>
          <a:bodyPr wrap="square" lIns="0" tIns="0" rIns="0" bIns="0" rtlCol="0" anchor="ctr"/>
          <a:lstStyle/>
          <a:p>
            <a:pPr marL="0" indent="0">
              <a:buNone/>
            </a:pPr>
            <a:r>
              <a:rPr lang="en-US" sz="1050" i="1" dirty="0">
                <a:solidFill>
                  <a:srgbClr val="5A6B78"/>
                </a:solidFill>
                <a:latin typeface="Calibri" pitchFamily="34" charset="0"/>
                <a:ea typeface="Calibri" pitchFamily="34" charset="-122"/>
                <a:cs typeface="Calibri" pitchFamily="34" charset="-120"/>
              </a:rPr>
              <a:t>Las evidencias se acuerdan con el docente al inicio del proyecto.</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548640"/>
          </a:xfrm>
          <a:prstGeom prst="rect">
            <a:avLst/>
          </a:prstGeom>
          <a:noFill/>
          <a:ln/>
        </p:spPr>
        <p:txBody>
          <a:bodyPr wrap="square" lIns="0" tIns="0" rIns="0" bIns="0" rtlCol="0" anchor="ctr"/>
          <a:lstStyle/>
          <a:p>
            <a:pPr marL="0" indent="0">
              <a:buNone/>
            </a:pPr>
            <a:r>
              <a:rPr lang="en-US" sz="3000" b="1" dirty="0">
                <a:solidFill>
                  <a:srgbClr val="0F2E42"/>
                </a:solidFill>
                <a:latin typeface="Calibri" pitchFamily="34" charset="0"/>
                <a:ea typeface="Calibri" pitchFamily="34" charset="-122"/>
                <a:cs typeface="Calibri" pitchFamily="34" charset="-120"/>
              </a:rPr>
              <a:t>Factibilidad</a:t>
            </a:r>
            <a:endParaRPr lang="en-US" sz="3000" dirty="0"/>
          </a:p>
        </p:txBody>
      </p:sp>
      <p:sp>
        <p:nvSpPr>
          <p:cNvPr id="3" name="Text 1"/>
          <p:cNvSpPr/>
          <p:nvPr/>
        </p:nvSpPr>
        <p:spPr>
          <a:xfrm>
            <a:off x="640080" y="932688"/>
            <a:ext cx="10881360" cy="36576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Por qué el proyecto es realizable en el marco de la asignatura</a:t>
            </a:r>
            <a:endParaRPr lang="en-US" sz="1500" dirty="0"/>
          </a:p>
        </p:txBody>
      </p:sp>
      <p:pic>
        <p:nvPicPr>
          <p:cNvPr id="4" name="Image 0" descr="/mnt/user-data/outputs/logo/vialnex-isotipo-512.png"/>
          <p:cNvPicPr>
            <a:picLocks noChangeAspect="1"/>
          </p:cNvPicPr>
          <p:nvPr/>
        </p:nvPicPr>
        <p:blipFill>
          <a:blip r:embed="rId3"/>
          <a:stretch>
            <a:fillRect/>
          </a:stretch>
        </p:blipFill>
        <p:spPr>
          <a:xfrm>
            <a:off x="11475720" y="6172200"/>
            <a:ext cx="384048" cy="384048"/>
          </a:xfrm>
          <a:prstGeom prst="rect">
            <a:avLst/>
          </a:prstGeom>
        </p:spPr>
      </p:pic>
      <p:sp>
        <p:nvSpPr>
          <p:cNvPr id="5" name="Shape 2"/>
          <p:cNvSpPr/>
          <p:nvPr/>
        </p:nvSpPr>
        <p:spPr>
          <a:xfrm>
            <a:off x="640080" y="1600200"/>
            <a:ext cx="3429000" cy="1645920"/>
          </a:xfrm>
          <a:prstGeom prst="roundRect">
            <a:avLst>
              <a:gd name="adj" fmla="val 5000"/>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6" name="Shape 3"/>
          <p:cNvSpPr/>
          <p:nvPr/>
        </p:nvSpPr>
        <p:spPr>
          <a:xfrm>
            <a:off x="896112" y="1837944"/>
            <a:ext cx="201168" cy="201168"/>
          </a:xfrm>
          <a:prstGeom prst="ellipse">
            <a:avLst/>
          </a:prstGeom>
          <a:solidFill>
            <a:srgbClr val="2E7FB8"/>
          </a:solidFill>
          <a:ln w="12700">
            <a:solidFill>
              <a:srgbClr val="2E7FB8"/>
            </a:solidFill>
            <a:prstDash val="solid"/>
          </a:ln>
        </p:spPr>
        <p:txBody>
          <a:bodyPr/>
          <a:lstStyle/>
          <a:p>
            <a:endParaRPr lang="es-CL"/>
          </a:p>
        </p:txBody>
      </p:sp>
      <p:sp>
        <p:nvSpPr>
          <p:cNvPr id="7" name="Text 4"/>
          <p:cNvSpPr/>
          <p:nvPr/>
        </p:nvSpPr>
        <p:spPr>
          <a:xfrm>
            <a:off x="1188720" y="1783080"/>
            <a:ext cx="2651760" cy="310896"/>
          </a:xfrm>
          <a:prstGeom prst="rect">
            <a:avLst/>
          </a:prstGeom>
          <a:noFill/>
          <a:ln/>
        </p:spPr>
        <p:txBody>
          <a:bodyPr wrap="square" lIns="0" tIns="0" rIns="0" bIns="0" rtlCol="0" anchor="ctr"/>
          <a:lstStyle/>
          <a:p>
            <a:pPr marL="0" indent="0">
              <a:buNone/>
            </a:pPr>
            <a:r>
              <a:rPr lang="en-US" sz="1400" b="1" dirty="0">
                <a:solidFill>
                  <a:srgbClr val="0F2E42"/>
                </a:solidFill>
                <a:latin typeface="Calibri" pitchFamily="34" charset="0"/>
                <a:ea typeface="Calibri" pitchFamily="34" charset="-122"/>
                <a:cs typeface="Calibri" pitchFamily="34" charset="-120"/>
              </a:rPr>
              <a:t>Tiempo</a:t>
            </a:r>
            <a:endParaRPr lang="en-US" sz="1400" dirty="0"/>
          </a:p>
        </p:txBody>
      </p:sp>
      <p:sp>
        <p:nvSpPr>
          <p:cNvPr id="8" name="Text 5"/>
          <p:cNvSpPr/>
          <p:nvPr/>
        </p:nvSpPr>
        <p:spPr>
          <a:xfrm>
            <a:off x="896112" y="2203704"/>
            <a:ext cx="2916936" cy="822960"/>
          </a:xfrm>
          <a:prstGeom prst="rect">
            <a:avLst/>
          </a:prstGeom>
          <a:noFill/>
          <a:ln/>
        </p:spPr>
        <p:txBody>
          <a:bodyPr wrap="square" lIns="0" tIns="0" rIns="0" bIns="0" rtlCol="0" anchor="ctr"/>
          <a:lstStyle/>
          <a:p>
            <a:pPr marL="0" indent="0">
              <a:lnSpc>
                <a:spcPct val="115000"/>
              </a:lnSpc>
              <a:buNone/>
            </a:pPr>
            <a:r>
              <a:rPr lang="en-US" sz="1150" dirty="0">
                <a:solidFill>
                  <a:srgbClr val="5A6B78"/>
                </a:solidFill>
                <a:latin typeface="Calibri" pitchFamily="34" charset="0"/>
                <a:ea typeface="Calibri" pitchFamily="34" charset="-122"/>
                <a:cs typeface="Calibri" pitchFamily="34" charset="-120"/>
              </a:rPr>
              <a:t>Dieciocho semanas con el núcleo funcional completo dentro de la Fase 2 y el alcance incremental al cierre de esa misma fase.</a:t>
            </a:r>
            <a:endParaRPr lang="en-US" sz="1150" dirty="0"/>
          </a:p>
        </p:txBody>
      </p:sp>
      <p:sp>
        <p:nvSpPr>
          <p:cNvPr id="9" name="Shape 6"/>
          <p:cNvSpPr/>
          <p:nvPr/>
        </p:nvSpPr>
        <p:spPr>
          <a:xfrm>
            <a:off x="4343400" y="1600200"/>
            <a:ext cx="3429000" cy="1645920"/>
          </a:xfrm>
          <a:prstGeom prst="roundRect">
            <a:avLst>
              <a:gd name="adj" fmla="val 5000"/>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10" name="Shape 7"/>
          <p:cNvSpPr/>
          <p:nvPr/>
        </p:nvSpPr>
        <p:spPr>
          <a:xfrm>
            <a:off x="4599432" y="1837944"/>
            <a:ext cx="201168" cy="201168"/>
          </a:xfrm>
          <a:prstGeom prst="ellipse">
            <a:avLst/>
          </a:prstGeom>
          <a:solidFill>
            <a:srgbClr val="16A394"/>
          </a:solidFill>
          <a:ln w="12700">
            <a:solidFill>
              <a:srgbClr val="16A394"/>
            </a:solidFill>
            <a:prstDash val="solid"/>
          </a:ln>
        </p:spPr>
        <p:txBody>
          <a:bodyPr/>
          <a:lstStyle/>
          <a:p>
            <a:endParaRPr lang="es-CL"/>
          </a:p>
        </p:txBody>
      </p:sp>
      <p:sp>
        <p:nvSpPr>
          <p:cNvPr id="11" name="Text 8"/>
          <p:cNvSpPr/>
          <p:nvPr/>
        </p:nvSpPr>
        <p:spPr>
          <a:xfrm>
            <a:off x="4892040" y="1783080"/>
            <a:ext cx="2651760" cy="310896"/>
          </a:xfrm>
          <a:prstGeom prst="rect">
            <a:avLst/>
          </a:prstGeom>
          <a:noFill/>
          <a:ln/>
        </p:spPr>
        <p:txBody>
          <a:bodyPr wrap="square" lIns="0" tIns="0" rIns="0" bIns="0" rtlCol="0" anchor="ctr"/>
          <a:lstStyle/>
          <a:p>
            <a:pPr marL="0" indent="0">
              <a:buNone/>
            </a:pPr>
            <a:r>
              <a:rPr lang="en-US" sz="1400" b="1" dirty="0">
                <a:solidFill>
                  <a:srgbClr val="0F2E42"/>
                </a:solidFill>
                <a:latin typeface="Calibri" pitchFamily="34" charset="0"/>
                <a:ea typeface="Calibri" pitchFamily="34" charset="-122"/>
                <a:cs typeface="Calibri" pitchFamily="34" charset="-120"/>
              </a:rPr>
              <a:t>Recursos</a:t>
            </a:r>
            <a:endParaRPr lang="en-US" sz="1400" dirty="0"/>
          </a:p>
        </p:txBody>
      </p:sp>
      <p:sp>
        <p:nvSpPr>
          <p:cNvPr id="12" name="Text 9"/>
          <p:cNvSpPr/>
          <p:nvPr/>
        </p:nvSpPr>
        <p:spPr>
          <a:xfrm>
            <a:off x="4599432" y="2203704"/>
            <a:ext cx="2916936" cy="822960"/>
          </a:xfrm>
          <a:prstGeom prst="rect">
            <a:avLst/>
          </a:prstGeom>
          <a:noFill/>
          <a:ln/>
        </p:spPr>
        <p:txBody>
          <a:bodyPr wrap="square" lIns="0" tIns="0" rIns="0" bIns="0" rtlCol="0" anchor="ctr"/>
          <a:lstStyle/>
          <a:p>
            <a:pPr marL="0" indent="0">
              <a:lnSpc>
                <a:spcPct val="115000"/>
              </a:lnSpc>
              <a:buNone/>
            </a:pPr>
            <a:r>
              <a:rPr lang="en-US" sz="1150" dirty="0">
                <a:solidFill>
                  <a:srgbClr val="5A6B78"/>
                </a:solidFill>
                <a:latin typeface="Calibri" pitchFamily="34" charset="0"/>
                <a:ea typeface="Calibri" pitchFamily="34" charset="-122"/>
                <a:cs typeface="Calibri" pitchFamily="34" charset="-120"/>
              </a:rPr>
              <a:t>Sin inversión: equipos propios, herramientas y motores de base de datos de uso libre, repositorio y ambiente de despliegue sin costo.</a:t>
            </a:r>
            <a:endParaRPr lang="en-US" sz="1150" dirty="0"/>
          </a:p>
        </p:txBody>
      </p:sp>
      <p:sp>
        <p:nvSpPr>
          <p:cNvPr id="13" name="Shape 10"/>
          <p:cNvSpPr/>
          <p:nvPr/>
        </p:nvSpPr>
        <p:spPr>
          <a:xfrm>
            <a:off x="8046720" y="1600200"/>
            <a:ext cx="3429000" cy="1645920"/>
          </a:xfrm>
          <a:prstGeom prst="roundRect">
            <a:avLst>
              <a:gd name="adj" fmla="val 5000"/>
            </a:avLst>
          </a:prstGeom>
          <a:solidFill>
            <a:srgbClr val="FFFFFF"/>
          </a:solidFill>
          <a:ln w="12700">
            <a:solidFill>
              <a:srgbClr val="D8E2E9"/>
            </a:solidFill>
            <a:prstDash val="solid"/>
          </a:ln>
          <a:effectLst>
            <a:outerShdw blurRad="152400" dist="25400" dir="5400000" algn="bl" rotWithShape="0">
              <a:srgbClr val="0F2E42">
                <a:alpha val="12000"/>
              </a:srgbClr>
            </a:outerShdw>
          </a:effectLst>
        </p:spPr>
        <p:txBody>
          <a:bodyPr/>
          <a:lstStyle/>
          <a:p>
            <a:endParaRPr lang="es-CL"/>
          </a:p>
        </p:txBody>
      </p:sp>
      <p:sp>
        <p:nvSpPr>
          <p:cNvPr id="14" name="Shape 11"/>
          <p:cNvSpPr/>
          <p:nvPr/>
        </p:nvSpPr>
        <p:spPr>
          <a:xfrm>
            <a:off x="8302752" y="1837944"/>
            <a:ext cx="201168" cy="201168"/>
          </a:xfrm>
          <a:prstGeom prst="ellipse">
            <a:avLst/>
          </a:prstGeom>
          <a:solidFill>
            <a:srgbClr val="2E7FB8"/>
          </a:solidFill>
          <a:ln w="12700">
            <a:solidFill>
              <a:srgbClr val="2E7FB8"/>
            </a:solidFill>
            <a:prstDash val="solid"/>
          </a:ln>
        </p:spPr>
        <p:txBody>
          <a:bodyPr/>
          <a:lstStyle/>
          <a:p>
            <a:endParaRPr lang="es-CL"/>
          </a:p>
        </p:txBody>
      </p:sp>
      <p:sp>
        <p:nvSpPr>
          <p:cNvPr id="15" name="Text 12"/>
          <p:cNvSpPr/>
          <p:nvPr/>
        </p:nvSpPr>
        <p:spPr>
          <a:xfrm>
            <a:off x="8595360" y="1783080"/>
            <a:ext cx="2651760" cy="310896"/>
          </a:xfrm>
          <a:prstGeom prst="rect">
            <a:avLst/>
          </a:prstGeom>
          <a:noFill/>
          <a:ln/>
        </p:spPr>
        <p:txBody>
          <a:bodyPr wrap="square" lIns="0" tIns="0" rIns="0" bIns="0" rtlCol="0" anchor="ctr"/>
          <a:lstStyle/>
          <a:p>
            <a:pPr marL="0" indent="0">
              <a:buNone/>
            </a:pPr>
            <a:r>
              <a:rPr lang="en-US" sz="1400" b="1" dirty="0">
                <a:solidFill>
                  <a:srgbClr val="0F2E42"/>
                </a:solidFill>
                <a:latin typeface="Calibri" pitchFamily="34" charset="0"/>
                <a:ea typeface="Calibri" pitchFamily="34" charset="-122"/>
                <a:cs typeface="Calibri" pitchFamily="34" charset="-120"/>
              </a:rPr>
              <a:t>Equipo</a:t>
            </a:r>
            <a:endParaRPr lang="en-US" sz="1400" dirty="0"/>
          </a:p>
        </p:txBody>
      </p:sp>
      <p:sp>
        <p:nvSpPr>
          <p:cNvPr id="16" name="Text 13"/>
          <p:cNvSpPr/>
          <p:nvPr/>
        </p:nvSpPr>
        <p:spPr>
          <a:xfrm>
            <a:off x="8302752" y="2203704"/>
            <a:ext cx="2916936" cy="822960"/>
          </a:xfrm>
          <a:prstGeom prst="rect">
            <a:avLst/>
          </a:prstGeom>
          <a:noFill/>
          <a:ln/>
        </p:spPr>
        <p:txBody>
          <a:bodyPr wrap="square" lIns="0" tIns="0" rIns="0" bIns="0" rtlCol="0" anchor="ctr"/>
          <a:lstStyle/>
          <a:p>
            <a:pPr marL="0" indent="0">
              <a:lnSpc>
                <a:spcPct val="115000"/>
              </a:lnSpc>
              <a:buNone/>
            </a:pPr>
            <a:r>
              <a:rPr lang="en-US" sz="1150" dirty="0">
                <a:solidFill>
                  <a:srgbClr val="5A6B78"/>
                </a:solidFill>
                <a:latin typeface="Calibri" pitchFamily="34" charset="0"/>
                <a:ea typeface="Calibri" pitchFamily="34" charset="-122"/>
                <a:cs typeface="Calibri" pitchFamily="34" charset="-120"/>
              </a:rPr>
              <a:t>Conocimientos previos de desarrollo web y modelamiento de datos, con responsabilidades asignadas por módulo.</a:t>
            </a:r>
            <a:endParaRPr lang="en-US" sz="1150" dirty="0"/>
          </a:p>
        </p:txBody>
      </p:sp>
      <p:sp>
        <p:nvSpPr>
          <p:cNvPr id="17" name="Text 14"/>
          <p:cNvSpPr/>
          <p:nvPr/>
        </p:nvSpPr>
        <p:spPr>
          <a:xfrm>
            <a:off x="640080" y="3493008"/>
            <a:ext cx="7315200" cy="320040"/>
          </a:xfrm>
          <a:prstGeom prst="rect">
            <a:avLst/>
          </a:prstGeom>
          <a:noFill/>
          <a:ln/>
        </p:spPr>
        <p:txBody>
          <a:bodyPr wrap="square" lIns="0" tIns="0" rIns="0" bIns="0" rtlCol="0" anchor="ctr"/>
          <a:lstStyle/>
          <a:p>
            <a:pPr marL="0" indent="0">
              <a:buNone/>
            </a:pPr>
            <a:r>
              <a:rPr lang="en-US" sz="1700" b="1" dirty="0">
                <a:solidFill>
                  <a:srgbClr val="0F2E42"/>
                </a:solidFill>
                <a:latin typeface="Calibri" pitchFamily="34" charset="0"/>
                <a:ea typeface="Calibri" pitchFamily="34" charset="-122"/>
                <a:cs typeface="Calibri" pitchFamily="34" charset="-120"/>
              </a:rPr>
              <a:t>Riesgos identificados y cómo se abordan</a:t>
            </a:r>
            <a:endParaRPr lang="en-US" sz="1700" dirty="0"/>
          </a:p>
        </p:txBody>
      </p:sp>
      <p:sp>
        <p:nvSpPr>
          <p:cNvPr id="18" name="Shape 15"/>
          <p:cNvSpPr/>
          <p:nvPr/>
        </p:nvSpPr>
        <p:spPr>
          <a:xfrm>
            <a:off x="640080" y="3950208"/>
            <a:ext cx="10881360" cy="658368"/>
          </a:xfrm>
          <a:prstGeom prst="roundRect">
            <a:avLst>
              <a:gd name="adj" fmla="val 9722"/>
            </a:avLst>
          </a:prstGeom>
          <a:solidFill>
            <a:srgbClr val="F2F6F9"/>
          </a:solidFill>
          <a:ln w="12700">
            <a:solidFill>
              <a:srgbClr val="D8E2E9"/>
            </a:solidFill>
            <a:prstDash val="solid"/>
          </a:ln>
        </p:spPr>
        <p:txBody>
          <a:bodyPr/>
          <a:lstStyle/>
          <a:p>
            <a:endParaRPr lang="es-CL"/>
          </a:p>
        </p:txBody>
      </p:sp>
      <p:sp>
        <p:nvSpPr>
          <p:cNvPr id="19" name="Shape 16"/>
          <p:cNvSpPr/>
          <p:nvPr/>
        </p:nvSpPr>
        <p:spPr>
          <a:xfrm>
            <a:off x="868680" y="4197096"/>
            <a:ext cx="164592" cy="164592"/>
          </a:xfrm>
          <a:prstGeom prst="ellipse">
            <a:avLst/>
          </a:prstGeom>
          <a:solidFill>
            <a:srgbClr val="C87B2E"/>
          </a:solidFill>
          <a:ln w="12700">
            <a:solidFill>
              <a:srgbClr val="C87B2E"/>
            </a:solidFill>
            <a:prstDash val="solid"/>
          </a:ln>
        </p:spPr>
        <p:txBody>
          <a:bodyPr/>
          <a:lstStyle/>
          <a:p>
            <a:endParaRPr lang="es-CL"/>
          </a:p>
        </p:txBody>
      </p:sp>
      <p:sp>
        <p:nvSpPr>
          <p:cNvPr id="20" name="Text 17"/>
          <p:cNvSpPr/>
          <p:nvPr/>
        </p:nvSpPr>
        <p:spPr>
          <a:xfrm>
            <a:off x="1143000" y="3950208"/>
            <a:ext cx="3931920" cy="658368"/>
          </a:xfrm>
          <a:prstGeom prst="rect">
            <a:avLst/>
          </a:prstGeom>
          <a:noFill/>
          <a:ln/>
        </p:spPr>
        <p:txBody>
          <a:bodyPr wrap="square" lIns="0" tIns="0" rIns="0" bIns="0" rtlCol="0" anchor="ctr"/>
          <a:lstStyle/>
          <a:p>
            <a:pPr marL="0" indent="0">
              <a:buNone/>
            </a:pPr>
            <a:r>
              <a:rPr lang="en-US" sz="1150" b="1" dirty="0">
                <a:solidFill>
                  <a:srgbClr val="0F2E42"/>
                </a:solidFill>
                <a:latin typeface="Calibri" pitchFamily="34" charset="0"/>
                <a:ea typeface="Calibri" pitchFamily="34" charset="-122"/>
                <a:cs typeface="Calibri" pitchFamily="34" charset="-120"/>
              </a:rPr>
              <a:t>Acceso limitado a una empresa real para validar requerimientos</a:t>
            </a:r>
            <a:endParaRPr lang="en-US" sz="1150" dirty="0"/>
          </a:p>
        </p:txBody>
      </p:sp>
      <p:sp>
        <p:nvSpPr>
          <p:cNvPr id="21" name="Shape 18"/>
          <p:cNvSpPr/>
          <p:nvPr/>
        </p:nvSpPr>
        <p:spPr>
          <a:xfrm>
            <a:off x="5230368" y="4279392"/>
            <a:ext cx="228600" cy="0"/>
          </a:xfrm>
          <a:prstGeom prst="line">
            <a:avLst/>
          </a:prstGeom>
          <a:noFill/>
          <a:ln w="22225">
            <a:solidFill>
              <a:srgbClr val="16A394"/>
            </a:solidFill>
            <a:prstDash val="solid"/>
            <a:tailEnd type="triangle"/>
          </a:ln>
        </p:spPr>
        <p:txBody>
          <a:bodyPr/>
          <a:lstStyle/>
          <a:p>
            <a:endParaRPr lang="es-CL"/>
          </a:p>
        </p:txBody>
      </p:sp>
      <p:sp>
        <p:nvSpPr>
          <p:cNvPr id="22" name="Text 19"/>
          <p:cNvSpPr/>
          <p:nvPr/>
        </p:nvSpPr>
        <p:spPr>
          <a:xfrm>
            <a:off x="5577840" y="3950208"/>
            <a:ext cx="5760720" cy="658368"/>
          </a:xfrm>
          <a:prstGeom prst="rect">
            <a:avLst/>
          </a:prstGeom>
          <a:noFill/>
          <a:ln/>
        </p:spPr>
        <p:txBody>
          <a:bodyPr wrap="square" lIns="0" tIns="0" rIns="0" bIns="0" rtlCol="0" anchor="ctr"/>
          <a:lstStyle/>
          <a:p>
            <a:pPr marL="0" indent="0">
              <a:buNone/>
            </a:pPr>
            <a:r>
              <a:rPr lang="en-US" sz="1100" dirty="0">
                <a:solidFill>
                  <a:srgbClr val="5A6B78"/>
                </a:solidFill>
                <a:latin typeface="Calibri" pitchFamily="34" charset="0"/>
                <a:ea typeface="Calibri" pitchFamily="34" charset="-122"/>
                <a:cs typeface="Calibri" pitchFamily="34" charset="-120"/>
              </a:rPr>
              <a:t>Trabajar sobre un caso de estudio construido con procesos estándar del rubro y validar los supuestos con el docente.</a:t>
            </a:r>
            <a:endParaRPr lang="en-US" sz="1100" dirty="0"/>
          </a:p>
        </p:txBody>
      </p:sp>
      <p:sp>
        <p:nvSpPr>
          <p:cNvPr id="23" name="Shape 20"/>
          <p:cNvSpPr/>
          <p:nvPr/>
        </p:nvSpPr>
        <p:spPr>
          <a:xfrm>
            <a:off x="640080" y="4700016"/>
            <a:ext cx="10881360" cy="658368"/>
          </a:xfrm>
          <a:prstGeom prst="roundRect">
            <a:avLst>
              <a:gd name="adj" fmla="val 9722"/>
            </a:avLst>
          </a:prstGeom>
          <a:solidFill>
            <a:srgbClr val="F2F6F9"/>
          </a:solidFill>
          <a:ln w="12700">
            <a:solidFill>
              <a:srgbClr val="D8E2E9"/>
            </a:solidFill>
            <a:prstDash val="solid"/>
          </a:ln>
        </p:spPr>
        <p:txBody>
          <a:bodyPr/>
          <a:lstStyle/>
          <a:p>
            <a:endParaRPr lang="es-CL"/>
          </a:p>
        </p:txBody>
      </p:sp>
      <p:sp>
        <p:nvSpPr>
          <p:cNvPr id="24" name="Shape 21"/>
          <p:cNvSpPr/>
          <p:nvPr/>
        </p:nvSpPr>
        <p:spPr>
          <a:xfrm>
            <a:off x="868680" y="4946904"/>
            <a:ext cx="164592" cy="164592"/>
          </a:xfrm>
          <a:prstGeom prst="ellipse">
            <a:avLst/>
          </a:prstGeom>
          <a:solidFill>
            <a:srgbClr val="C87B2E"/>
          </a:solidFill>
          <a:ln w="12700">
            <a:solidFill>
              <a:srgbClr val="C87B2E"/>
            </a:solidFill>
            <a:prstDash val="solid"/>
          </a:ln>
        </p:spPr>
        <p:txBody>
          <a:bodyPr/>
          <a:lstStyle/>
          <a:p>
            <a:endParaRPr lang="es-CL"/>
          </a:p>
        </p:txBody>
      </p:sp>
      <p:sp>
        <p:nvSpPr>
          <p:cNvPr id="25" name="Text 22"/>
          <p:cNvSpPr/>
          <p:nvPr/>
        </p:nvSpPr>
        <p:spPr>
          <a:xfrm>
            <a:off x="1143000" y="4700016"/>
            <a:ext cx="3931920" cy="658368"/>
          </a:xfrm>
          <a:prstGeom prst="rect">
            <a:avLst/>
          </a:prstGeom>
          <a:noFill/>
          <a:ln/>
        </p:spPr>
        <p:txBody>
          <a:bodyPr wrap="square" lIns="0" tIns="0" rIns="0" bIns="0" rtlCol="0" anchor="ctr"/>
          <a:lstStyle/>
          <a:p>
            <a:pPr marL="0" indent="0">
              <a:buNone/>
            </a:pPr>
            <a:r>
              <a:rPr lang="en-US" sz="1150" b="1" dirty="0">
                <a:solidFill>
                  <a:srgbClr val="0F2E42"/>
                </a:solidFill>
                <a:latin typeface="Calibri" pitchFamily="34" charset="0"/>
                <a:ea typeface="Calibri" pitchFamily="34" charset="-122"/>
                <a:cs typeface="Calibri" pitchFamily="34" charset="-120"/>
              </a:rPr>
              <a:t>Amplitud del alcance frente al tiempo disponible</a:t>
            </a:r>
            <a:endParaRPr lang="en-US" sz="1150" dirty="0"/>
          </a:p>
        </p:txBody>
      </p:sp>
      <p:sp>
        <p:nvSpPr>
          <p:cNvPr id="26" name="Shape 23"/>
          <p:cNvSpPr/>
          <p:nvPr/>
        </p:nvSpPr>
        <p:spPr>
          <a:xfrm>
            <a:off x="5230368" y="5029200"/>
            <a:ext cx="228600" cy="0"/>
          </a:xfrm>
          <a:prstGeom prst="line">
            <a:avLst/>
          </a:prstGeom>
          <a:noFill/>
          <a:ln w="22225">
            <a:solidFill>
              <a:srgbClr val="16A394"/>
            </a:solidFill>
            <a:prstDash val="solid"/>
            <a:tailEnd type="triangle"/>
          </a:ln>
        </p:spPr>
        <p:txBody>
          <a:bodyPr/>
          <a:lstStyle/>
          <a:p>
            <a:endParaRPr lang="es-CL"/>
          </a:p>
        </p:txBody>
      </p:sp>
      <p:sp>
        <p:nvSpPr>
          <p:cNvPr id="27" name="Text 24"/>
          <p:cNvSpPr/>
          <p:nvPr/>
        </p:nvSpPr>
        <p:spPr>
          <a:xfrm>
            <a:off x="5577840" y="4700016"/>
            <a:ext cx="5760720" cy="658368"/>
          </a:xfrm>
          <a:prstGeom prst="rect">
            <a:avLst/>
          </a:prstGeom>
          <a:noFill/>
          <a:ln/>
        </p:spPr>
        <p:txBody>
          <a:bodyPr wrap="square" lIns="0" tIns="0" rIns="0" bIns="0" rtlCol="0" anchor="ctr"/>
          <a:lstStyle/>
          <a:p>
            <a:pPr marL="0" indent="0">
              <a:buNone/>
            </a:pPr>
            <a:r>
              <a:rPr lang="en-US" sz="1100" dirty="0">
                <a:solidFill>
                  <a:srgbClr val="5A6B78"/>
                </a:solidFill>
                <a:latin typeface="Calibri" pitchFamily="34" charset="0"/>
                <a:ea typeface="Calibri" pitchFamily="34" charset="-122"/>
                <a:cs typeface="Calibri" pitchFamily="34" charset="-120"/>
              </a:rPr>
              <a:t>Priorización declarada entre núcleo obligatorio y alcance incremental: una reducción de alcance no compromete el resultado evaluable.</a:t>
            </a:r>
            <a:endParaRPr lang="en-US" sz="1100" dirty="0"/>
          </a:p>
        </p:txBody>
      </p:sp>
      <p:sp>
        <p:nvSpPr>
          <p:cNvPr id="28" name="Shape 25"/>
          <p:cNvSpPr/>
          <p:nvPr/>
        </p:nvSpPr>
        <p:spPr>
          <a:xfrm>
            <a:off x="640080" y="5449824"/>
            <a:ext cx="10881360" cy="658368"/>
          </a:xfrm>
          <a:prstGeom prst="roundRect">
            <a:avLst>
              <a:gd name="adj" fmla="val 9722"/>
            </a:avLst>
          </a:prstGeom>
          <a:solidFill>
            <a:srgbClr val="F2F6F9"/>
          </a:solidFill>
          <a:ln w="12700">
            <a:solidFill>
              <a:srgbClr val="D8E2E9"/>
            </a:solidFill>
            <a:prstDash val="solid"/>
          </a:ln>
        </p:spPr>
        <p:txBody>
          <a:bodyPr/>
          <a:lstStyle/>
          <a:p>
            <a:endParaRPr lang="es-CL"/>
          </a:p>
        </p:txBody>
      </p:sp>
      <p:sp>
        <p:nvSpPr>
          <p:cNvPr id="29" name="Shape 26"/>
          <p:cNvSpPr/>
          <p:nvPr/>
        </p:nvSpPr>
        <p:spPr>
          <a:xfrm>
            <a:off x="868680" y="5696712"/>
            <a:ext cx="164592" cy="164592"/>
          </a:xfrm>
          <a:prstGeom prst="ellipse">
            <a:avLst/>
          </a:prstGeom>
          <a:solidFill>
            <a:srgbClr val="C87B2E"/>
          </a:solidFill>
          <a:ln w="12700">
            <a:solidFill>
              <a:srgbClr val="C87B2E"/>
            </a:solidFill>
            <a:prstDash val="solid"/>
          </a:ln>
        </p:spPr>
        <p:txBody>
          <a:bodyPr/>
          <a:lstStyle/>
          <a:p>
            <a:endParaRPr lang="es-CL"/>
          </a:p>
        </p:txBody>
      </p:sp>
      <p:sp>
        <p:nvSpPr>
          <p:cNvPr id="30" name="Text 27"/>
          <p:cNvSpPr/>
          <p:nvPr/>
        </p:nvSpPr>
        <p:spPr>
          <a:xfrm>
            <a:off x="1143000" y="5449824"/>
            <a:ext cx="3931920" cy="658368"/>
          </a:xfrm>
          <a:prstGeom prst="rect">
            <a:avLst/>
          </a:prstGeom>
          <a:noFill/>
          <a:ln/>
        </p:spPr>
        <p:txBody>
          <a:bodyPr wrap="square" lIns="0" tIns="0" rIns="0" bIns="0" rtlCol="0" anchor="ctr"/>
          <a:lstStyle/>
          <a:p>
            <a:pPr marL="0" indent="0">
              <a:buNone/>
            </a:pPr>
            <a:r>
              <a:rPr lang="en-US" sz="1150" b="1" dirty="0">
                <a:solidFill>
                  <a:srgbClr val="0F2E42"/>
                </a:solidFill>
                <a:latin typeface="Calibri" pitchFamily="34" charset="0"/>
                <a:ea typeface="Calibri" pitchFamily="34" charset="-122"/>
                <a:cs typeface="Calibri" pitchFamily="34" charset="-120"/>
              </a:rPr>
              <a:t>Coordinación del equipo en un semestre cargado</a:t>
            </a:r>
            <a:endParaRPr lang="en-US" sz="1150" dirty="0"/>
          </a:p>
        </p:txBody>
      </p:sp>
      <p:sp>
        <p:nvSpPr>
          <p:cNvPr id="31" name="Shape 28"/>
          <p:cNvSpPr/>
          <p:nvPr/>
        </p:nvSpPr>
        <p:spPr>
          <a:xfrm>
            <a:off x="5230368" y="5779008"/>
            <a:ext cx="228600" cy="0"/>
          </a:xfrm>
          <a:prstGeom prst="line">
            <a:avLst/>
          </a:prstGeom>
          <a:noFill/>
          <a:ln w="22225">
            <a:solidFill>
              <a:srgbClr val="16A394"/>
            </a:solidFill>
            <a:prstDash val="solid"/>
            <a:tailEnd type="triangle"/>
          </a:ln>
        </p:spPr>
        <p:txBody>
          <a:bodyPr/>
          <a:lstStyle/>
          <a:p>
            <a:endParaRPr lang="es-CL"/>
          </a:p>
        </p:txBody>
      </p:sp>
      <p:sp>
        <p:nvSpPr>
          <p:cNvPr id="32" name="Text 29"/>
          <p:cNvSpPr/>
          <p:nvPr/>
        </p:nvSpPr>
        <p:spPr>
          <a:xfrm>
            <a:off x="5577840" y="5449824"/>
            <a:ext cx="5760720" cy="658368"/>
          </a:xfrm>
          <a:prstGeom prst="rect">
            <a:avLst/>
          </a:prstGeom>
          <a:noFill/>
          <a:ln/>
        </p:spPr>
        <p:txBody>
          <a:bodyPr wrap="square" lIns="0" tIns="0" rIns="0" bIns="0" rtlCol="0" anchor="ctr"/>
          <a:lstStyle/>
          <a:p>
            <a:pPr marL="0" indent="0">
              <a:buNone/>
            </a:pPr>
            <a:r>
              <a:rPr lang="en-US" sz="1100" dirty="0">
                <a:solidFill>
                  <a:srgbClr val="5A6B78"/>
                </a:solidFill>
                <a:latin typeface="Calibri" pitchFamily="34" charset="0"/>
                <a:ea typeface="Calibri" pitchFamily="34" charset="-122"/>
                <a:cs typeface="Calibri" pitchFamily="34" charset="-120"/>
              </a:rPr>
              <a:t>Reuniones de avance semanales, responsabilidades por módulo y control de versiones sobre un repositorio compartido.</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2E42"/>
        </a:solidFill>
        <a:effectLst/>
      </p:bgPr>
    </p:bg>
    <p:spTree>
      <p:nvGrpSpPr>
        <p:cNvPr id="1" name=""/>
        <p:cNvGrpSpPr/>
        <p:nvPr/>
      </p:nvGrpSpPr>
      <p:grpSpPr>
        <a:xfrm>
          <a:off x="0" y="0"/>
          <a:ext cx="0" cy="0"/>
          <a:chOff x="0" y="0"/>
          <a:chExt cx="0" cy="0"/>
        </a:xfrm>
      </p:grpSpPr>
      <p:pic>
        <p:nvPicPr>
          <p:cNvPr id="2" name="Image 0" descr="/mnt/user-data/outputs/logo/vialnex-logo-blanco-transp-1024.png"/>
          <p:cNvPicPr>
            <a:picLocks noChangeAspect="1"/>
          </p:cNvPicPr>
          <p:nvPr/>
        </p:nvPicPr>
        <p:blipFill>
          <a:blip r:embed="rId3"/>
          <a:stretch>
            <a:fillRect/>
          </a:stretch>
        </p:blipFill>
        <p:spPr>
          <a:xfrm>
            <a:off x="822960" y="1371600"/>
            <a:ext cx="3566160" cy="1051560"/>
          </a:xfrm>
          <a:prstGeom prst="rect">
            <a:avLst/>
          </a:prstGeom>
        </p:spPr>
      </p:pic>
      <p:sp>
        <p:nvSpPr>
          <p:cNvPr id="3" name="Text 0"/>
          <p:cNvSpPr/>
          <p:nvPr/>
        </p:nvSpPr>
        <p:spPr>
          <a:xfrm>
            <a:off x="868680" y="2697480"/>
            <a:ext cx="6766560" cy="1005840"/>
          </a:xfrm>
          <a:prstGeom prst="rect">
            <a:avLst/>
          </a:prstGeom>
          <a:noFill/>
          <a:ln/>
        </p:spPr>
        <p:txBody>
          <a:bodyPr wrap="square" lIns="0" tIns="0" rIns="0" bIns="0" rtlCol="0" anchor="ctr"/>
          <a:lstStyle/>
          <a:p>
            <a:pPr marL="0" indent="0">
              <a:lnSpc>
                <a:spcPct val="120000"/>
              </a:lnSpc>
              <a:buNone/>
            </a:pPr>
            <a:r>
              <a:rPr lang="en-US" sz="2200" b="1" dirty="0">
                <a:solidFill>
                  <a:srgbClr val="FFFFFF"/>
                </a:solidFill>
                <a:latin typeface="Calibri" pitchFamily="34" charset="0"/>
                <a:ea typeface="Calibri" pitchFamily="34" charset="-122"/>
                <a:cs typeface="Calibri" pitchFamily="34" charset="-120"/>
              </a:rPr>
              <a:t>Un pedido, una ruta, un documento y un cobro: la misma información, un solo lugar.</a:t>
            </a:r>
            <a:endParaRPr lang="en-US" sz="2200" dirty="0"/>
          </a:p>
        </p:txBody>
      </p:sp>
      <p:sp>
        <p:nvSpPr>
          <p:cNvPr id="4" name="Shape 1"/>
          <p:cNvSpPr/>
          <p:nvPr/>
        </p:nvSpPr>
        <p:spPr>
          <a:xfrm>
            <a:off x="868680" y="3840480"/>
            <a:ext cx="1280160" cy="27432"/>
          </a:xfrm>
          <a:prstGeom prst="rect">
            <a:avLst/>
          </a:prstGeom>
          <a:solidFill>
            <a:srgbClr val="16A394"/>
          </a:solidFill>
          <a:ln w="12700">
            <a:solidFill>
              <a:srgbClr val="16A394"/>
            </a:solidFill>
            <a:prstDash val="solid"/>
          </a:ln>
        </p:spPr>
        <p:txBody>
          <a:bodyPr/>
          <a:lstStyle/>
          <a:p>
            <a:endParaRPr lang="es-CL"/>
          </a:p>
        </p:txBody>
      </p:sp>
      <p:sp>
        <p:nvSpPr>
          <p:cNvPr id="5" name="Text 2"/>
          <p:cNvSpPr/>
          <p:nvPr/>
        </p:nvSpPr>
        <p:spPr>
          <a:xfrm>
            <a:off x="868680" y="4617720"/>
            <a:ext cx="3291840" cy="320040"/>
          </a:xfrm>
          <a:prstGeom prst="rect">
            <a:avLst/>
          </a:prstGeom>
          <a:noFill/>
          <a:ln/>
        </p:spPr>
        <p:txBody>
          <a:bodyPr wrap="square" lIns="0" tIns="0" rIns="0" bIns="0" rtlCol="0" anchor="ctr"/>
          <a:lstStyle/>
          <a:p>
            <a:pPr marL="0" indent="0">
              <a:buNone/>
            </a:pPr>
            <a:r>
              <a:rPr lang="en-US" sz="1600" b="1" dirty="0">
                <a:solidFill>
                  <a:srgbClr val="16A394"/>
                </a:solidFill>
                <a:latin typeface="Calibri" pitchFamily="34" charset="0"/>
                <a:ea typeface="Calibri" pitchFamily="34" charset="-122"/>
                <a:cs typeface="Calibri" pitchFamily="34" charset="-120"/>
              </a:rPr>
              <a:t>Problema real</a:t>
            </a:r>
            <a:endParaRPr lang="en-US" sz="1600" dirty="0"/>
          </a:p>
        </p:txBody>
      </p:sp>
      <p:sp>
        <p:nvSpPr>
          <p:cNvPr id="6" name="Text 3"/>
          <p:cNvSpPr/>
          <p:nvPr/>
        </p:nvSpPr>
        <p:spPr>
          <a:xfrm>
            <a:off x="868680" y="4956048"/>
            <a:ext cx="3291840" cy="457200"/>
          </a:xfrm>
          <a:prstGeom prst="rect">
            <a:avLst/>
          </a:prstGeom>
          <a:noFill/>
          <a:ln/>
        </p:spPr>
        <p:txBody>
          <a:bodyPr wrap="square" lIns="0" tIns="0" rIns="0" bIns="0" rtlCol="0" anchor="ctr"/>
          <a:lstStyle/>
          <a:p>
            <a:pPr marL="0" indent="0">
              <a:buNone/>
            </a:pPr>
            <a:r>
              <a:rPr lang="en-US" sz="1200" dirty="0">
                <a:solidFill>
                  <a:srgbClr val="BBCEDA"/>
                </a:solidFill>
                <a:latin typeface="Calibri" pitchFamily="34" charset="0"/>
                <a:ea typeface="Calibri" pitchFamily="34" charset="-122"/>
                <a:cs typeface="Calibri" pitchFamily="34" charset="-120"/>
              </a:rPr>
              <a:t>del campo laboral de la carrera</a:t>
            </a:r>
            <a:endParaRPr lang="en-US" sz="1200" dirty="0"/>
          </a:p>
        </p:txBody>
      </p:sp>
      <p:sp>
        <p:nvSpPr>
          <p:cNvPr id="7" name="Text 4"/>
          <p:cNvSpPr/>
          <p:nvPr/>
        </p:nvSpPr>
        <p:spPr>
          <a:xfrm>
            <a:off x="4434840" y="4617720"/>
            <a:ext cx="3291840" cy="320040"/>
          </a:xfrm>
          <a:prstGeom prst="rect">
            <a:avLst/>
          </a:prstGeom>
          <a:noFill/>
          <a:ln/>
        </p:spPr>
        <p:txBody>
          <a:bodyPr wrap="square" lIns="0" tIns="0" rIns="0" bIns="0" rtlCol="0" anchor="ctr"/>
          <a:lstStyle/>
          <a:p>
            <a:pPr marL="0" indent="0">
              <a:buNone/>
            </a:pPr>
            <a:r>
              <a:rPr lang="en-US" sz="1600" b="1" dirty="0">
                <a:solidFill>
                  <a:srgbClr val="16A394"/>
                </a:solidFill>
                <a:latin typeface="Calibri" pitchFamily="34" charset="0"/>
                <a:ea typeface="Calibri" pitchFamily="34" charset="-122"/>
                <a:cs typeface="Calibri" pitchFamily="34" charset="-120"/>
              </a:rPr>
              <a:t>Cuatro competencias</a:t>
            </a:r>
            <a:endParaRPr lang="en-US" sz="1600" dirty="0"/>
          </a:p>
        </p:txBody>
      </p:sp>
      <p:sp>
        <p:nvSpPr>
          <p:cNvPr id="8" name="Text 5"/>
          <p:cNvSpPr/>
          <p:nvPr/>
        </p:nvSpPr>
        <p:spPr>
          <a:xfrm>
            <a:off x="4434840" y="4956048"/>
            <a:ext cx="3291840" cy="457200"/>
          </a:xfrm>
          <a:prstGeom prst="rect">
            <a:avLst/>
          </a:prstGeom>
          <a:noFill/>
          <a:ln/>
        </p:spPr>
        <p:txBody>
          <a:bodyPr wrap="square" lIns="0" tIns="0" rIns="0" bIns="0" rtlCol="0" anchor="ctr"/>
          <a:lstStyle/>
          <a:p>
            <a:pPr marL="0" indent="0">
              <a:buNone/>
            </a:pPr>
            <a:r>
              <a:rPr lang="en-US" sz="1200" dirty="0">
                <a:solidFill>
                  <a:srgbClr val="BBCEDA"/>
                </a:solidFill>
                <a:latin typeface="Calibri" pitchFamily="34" charset="0"/>
                <a:ea typeface="Calibri" pitchFamily="34" charset="-122"/>
                <a:cs typeface="Calibri" pitchFamily="34" charset="-120"/>
              </a:rPr>
              <a:t>de especialidad movilizadas</a:t>
            </a:r>
            <a:endParaRPr lang="en-US" sz="1200" dirty="0"/>
          </a:p>
        </p:txBody>
      </p:sp>
      <p:sp>
        <p:nvSpPr>
          <p:cNvPr id="9" name="Text 6"/>
          <p:cNvSpPr/>
          <p:nvPr/>
        </p:nvSpPr>
        <p:spPr>
          <a:xfrm>
            <a:off x="8001000" y="4617720"/>
            <a:ext cx="3291840" cy="320040"/>
          </a:xfrm>
          <a:prstGeom prst="rect">
            <a:avLst/>
          </a:prstGeom>
          <a:noFill/>
          <a:ln/>
        </p:spPr>
        <p:txBody>
          <a:bodyPr wrap="square" lIns="0" tIns="0" rIns="0" bIns="0" rtlCol="0" anchor="ctr"/>
          <a:lstStyle/>
          <a:p>
            <a:pPr marL="0" indent="0">
              <a:buNone/>
            </a:pPr>
            <a:r>
              <a:rPr lang="en-US" sz="1600" b="1" dirty="0">
                <a:solidFill>
                  <a:srgbClr val="16A394"/>
                </a:solidFill>
                <a:latin typeface="Calibri" pitchFamily="34" charset="0"/>
                <a:ea typeface="Calibri" pitchFamily="34" charset="-122"/>
                <a:cs typeface="Calibri" pitchFamily="34" charset="-120"/>
              </a:rPr>
              <a:t>Alcance priorizado</a:t>
            </a:r>
            <a:endParaRPr lang="en-US" sz="1600" dirty="0"/>
          </a:p>
        </p:txBody>
      </p:sp>
      <p:sp>
        <p:nvSpPr>
          <p:cNvPr id="10" name="Text 7"/>
          <p:cNvSpPr/>
          <p:nvPr/>
        </p:nvSpPr>
        <p:spPr>
          <a:xfrm>
            <a:off x="8001000" y="4956048"/>
            <a:ext cx="3291840" cy="457200"/>
          </a:xfrm>
          <a:prstGeom prst="rect">
            <a:avLst/>
          </a:prstGeom>
          <a:noFill/>
          <a:ln/>
        </p:spPr>
        <p:txBody>
          <a:bodyPr wrap="square" lIns="0" tIns="0" rIns="0" bIns="0" rtlCol="0" anchor="ctr"/>
          <a:lstStyle/>
          <a:p>
            <a:pPr marL="0" indent="0">
              <a:buNone/>
            </a:pPr>
            <a:r>
              <a:rPr lang="en-US" sz="1200" dirty="0">
                <a:solidFill>
                  <a:srgbClr val="BBCEDA"/>
                </a:solidFill>
                <a:latin typeface="Calibri" pitchFamily="34" charset="0"/>
                <a:ea typeface="Calibri" pitchFamily="34" charset="-122"/>
                <a:cs typeface="Calibri" pitchFamily="34" charset="-120"/>
              </a:rPr>
              <a:t>núcleo obligatorio e incremental</a:t>
            </a:r>
            <a:endParaRPr lang="en-US" sz="1200" dirty="0"/>
          </a:p>
        </p:txBody>
      </p:sp>
      <p:sp>
        <p:nvSpPr>
          <p:cNvPr id="11" name="Text 8"/>
          <p:cNvSpPr/>
          <p:nvPr/>
        </p:nvSpPr>
        <p:spPr>
          <a:xfrm>
            <a:off x="868680" y="5715000"/>
            <a:ext cx="54864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Gracias · Preguntas</a:t>
            </a:r>
            <a:endParaRPr lang="en-US" sz="1500" dirty="0"/>
          </a:p>
        </p:txBody>
      </p:sp>
      <p:pic>
        <p:nvPicPr>
          <p:cNvPr id="12" name="Image 1" descr="/mnt/user-data/outputs/logo/vialnex-isotipo-512.png"/>
          <p:cNvPicPr>
            <a:picLocks noChangeAspect="1"/>
          </p:cNvPicPr>
          <p:nvPr/>
        </p:nvPicPr>
        <p:blipFill>
          <a:blip r:embed="rId4">
            <a:alphaModFix amt="40000"/>
          </a:blip>
          <a:stretch>
            <a:fillRect/>
          </a:stretch>
        </p:blipFill>
        <p:spPr>
          <a:xfrm>
            <a:off x="9692640" y="2194560"/>
            <a:ext cx="1737360" cy="17373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2830</Words>
  <Application>Microsoft Office PowerPoint</Application>
  <PresentationFormat>Panorámica</PresentationFormat>
  <Paragraphs>594</Paragraphs>
  <Slides>20</Slides>
  <Notes>20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20</vt:i4>
      </vt:variant>
    </vt:vector>
  </HeadingPairs>
  <TitlesOfParts>
    <vt:vector size="23"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Morales Elgueta, Javier Alexander</cp:lastModifiedBy>
  <cp:revision>2</cp:revision>
  <dcterms:created xsi:type="dcterms:W3CDTF">2026-08-22T15:15:40Z</dcterms:created>
  <dcterms:modified xsi:type="dcterms:W3CDTF">2026-09-05T14:01:37Z</dcterms:modified>
</cp:coreProperties>
</file>